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D4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86"/>
          </a:solidFill>
          <a:ln w="12700">
            <a:solidFill>
              <a:srgbClr val="0E7C86"/>
            </a:solidFill>
            <a:prstDash val="solid"/>
          </a:ln>
        </p:spPr>
      </p:sp>
      <p:sp>
        <p:nvSpPr>
          <p:cNvPr id="3" name="Text 1"/>
          <p:cNvSpPr/>
          <p:nvPr/>
        </p:nvSpPr>
        <p:spPr>
          <a:xfrm>
            <a:off x="502920" y="914400"/>
            <a:ext cx="8138160" cy="685800"/>
          </a:xfrm>
          <a:prstGeom prst="rect">
            <a:avLst/>
          </a:prstGeom>
          <a:noFill/>
          <a:ln/>
        </p:spPr>
        <p:txBody>
          <a:bodyPr wrap="square" lIns="0" tIns="0" rIns="0" bIns="0" rtlCol="0" anchor="ctr"/>
          <a:lstStyle/>
          <a:p>
            <a:pPr algn="l" indent="0" marL="0">
              <a:buNone/>
            </a:pPr>
            <a:r>
              <a:rPr lang="en-US" sz="5000" b="1" dirty="0">
                <a:solidFill>
                  <a:srgbClr val="FFFFFF"/>
                </a:solidFill>
                <a:latin typeface="Trebuchet MS" pitchFamily="34" charset="0"/>
                <a:ea typeface="Trebuchet MS" pitchFamily="34" charset="-122"/>
                <a:cs typeface="Trebuchet MS" pitchFamily="34" charset="-120"/>
              </a:rPr>
              <a:t>Ethernet Link Health</a:t>
            </a:r>
            <a:endParaRPr lang="en-US" sz="5000" dirty="0"/>
          </a:p>
        </p:txBody>
      </p:sp>
      <p:sp>
        <p:nvSpPr>
          <p:cNvPr id="4" name="Text 2"/>
          <p:cNvSpPr/>
          <p:nvPr/>
        </p:nvSpPr>
        <p:spPr>
          <a:xfrm>
            <a:off x="502920" y="2286000"/>
            <a:ext cx="7772400" cy="777240"/>
          </a:xfrm>
          <a:prstGeom prst="rect">
            <a:avLst/>
          </a:prstGeom>
          <a:noFill/>
          <a:ln/>
        </p:spPr>
        <p:txBody>
          <a:bodyPr wrap="square" lIns="0" tIns="0" rIns="0" bIns="0" rtlCol="0" anchor="t"/>
          <a:lstStyle/>
          <a:p>
            <a:pPr algn="l" indent="0" marL="0">
              <a:buNone/>
            </a:pPr>
            <a:r>
              <a:rPr lang="en-US" sz="1700" dirty="0">
                <a:solidFill>
                  <a:srgbClr val="D6EAF8"/>
                </a:solidFill>
                <a:latin typeface="Calibri" pitchFamily="34" charset="0"/>
                <a:ea typeface="Calibri" pitchFamily="34" charset="-122"/>
                <a:cs typeface="Calibri" pitchFamily="34" charset="-120"/>
              </a:rPr>
              <a:t>Energy Efficient Ethernet  |  Low Power Idle</a:t>
            </a:r>
            <a:endParaRPr lang="en-US" sz="1700" dirty="0"/>
          </a:p>
          <a:p>
            <a:pPr algn="l" indent="0" marL="0">
              <a:buNone/>
            </a:pPr>
            <a:r>
              <a:rPr lang="en-US" sz="1700" dirty="0">
                <a:solidFill>
                  <a:srgbClr val="D6EAF8"/>
                </a:solidFill>
                <a:latin typeface="Calibri" pitchFamily="34" charset="0"/>
                <a:ea typeface="Calibri" pitchFamily="34" charset="-122"/>
                <a:cs typeface="Calibri" pitchFamily="34" charset="-120"/>
              </a:rPr>
              <a:t>Layer 1 &amp; 2 Counters  |  Insertion &amp; Return Loss</a:t>
            </a:r>
            <a:endParaRPr lang="en-US" sz="1700" dirty="0"/>
          </a:p>
        </p:txBody>
      </p:sp>
      <p:sp>
        <p:nvSpPr>
          <p:cNvPr id="5" name="Shape 3"/>
          <p:cNvSpPr/>
          <p:nvPr/>
        </p:nvSpPr>
        <p:spPr>
          <a:xfrm>
            <a:off x="502920" y="4160520"/>
            <a:ext cx="8229600" cy="658368"/>
          </a:xfrm>
          <a:prstGeom prst="rect">
            <a:avLst/>
          </a:prstGeom>
          <a:solidFill>
            <a:srgbClr val="1A4D6E"/>
          </a:solidFill>
          <a:ln w="12700">
            <a:solidFill>
              <a:srgbClr val="1A4D6E"/>
            </a:solidFill>
            <a:prstDash val="solid"/>
          </a:ln>
        </p:spPr>
      </p:sp>
      <p:sp>
        <p:nvSpPr>
          <p:cNvPr id="6" name="Text 4"/>
          <p:cNvSpPr/>
          <p:nvPr/>
        </p:nvSpPr>
        <p:spPr>
          <a:xfrm>
            <a:off x="594360" y="4187952"/>
            <a:ext cx="7955280" cy="603504"/>
          </a:xfrm>
          <a:prstGeom prst="rect">
            <a:avLst/>
          </a:prstGeom>
          <a:noFill/>
          <a:ln/>
        </p:spPr>
        <p:txBody>
          <a:bodyPr wrap="square" lIns="0" tIns="0" rIns="0" bIns="0" rtlCol="0" anchor="ctr"/>
          <a:lstStyle/>
          <a:p>
            <a:pPr algn="l" indent="0" marL="0">
              <a:buNone/>
            </a:pPr>
            <a:r>
              <a:rPr lang="en-US" sz="1300" dirty="0">
                <a:solidFill>
                  <a:srgbClr val="D6EAF8"/>
                </a:solidFill>
                <a:latin typeface="Calibri" pitchFamily="34" charset="0"/>
                <a:ea typeface="Calibri" pitchFamily="34" charset="-122"/>
                <a:cs typeface="Calibri" pitchFamily="34" charset="-120"/>
              </a:rPr>
              <a:t>How do you know whether an Ethernet link is healthy, efficient, and electrically well-behaved?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8FF"/>
        </a:solidFill>
      </p:bgPr>
    </p:bg>
    <p:spTree>
      <p:nvGrpSpPr>
        <p:cNvPr id="1" name=""/>
        <p:cNvGrpSpPr/>
        <p:nvPr/>
      </p:nvGrpSpPr>
      <p:grpSpPr>
        <a:xfrm>
          <a:off x="0" y="0"/>
          <a:ext cx="0" cy="0"/>
          <a:chOff x="0" y="0"/>
          <a:chExt cx="0" cy="0"/>
        </a:xfrm>
      </p:grpSpPr>
      <p:sp>
        <p:nvSpPr>
          <p:cNvPr id="2" name="Text 0"/>
          <p:cNvSpPr/>
          <p:nvPr/>
        </p:nvSpPr>
        <p:spPr>
          <a:xfrm>
            <a:off x="502920" y="320040"/>
            <a:ext cx="8138160" cy="685800"/>
          </a:xfrm>
          <a:prstGeom prst="rect">
            <a:avLst/>
          </a:prstGeom>
          <a:noFill/>
          <a:ln/>
        </p:spPr>
        <p:txBody>
          <a:bodyPr wrap="square" lIns="0" tIns="0" rIns="0" bIns="0" rtlCol="0" anchor="ctr"/>
          <a:lstStyle/>
          <a:p>
            <a:pPr algn="l" indent="0" marL="0">
              <a:buNone/>
            </a:pPr>
            <a:r>
              <a:rPr lang="en-US" sz="3400" b="1" dirty="0">
                <a:solidFill>
                  <a:srgbClr val="0B2D4E"/>
                </a:solidFill>
                <a:latin typeface="Trebuchet MS" pitchFamily="34" charset="0"/>
                <a:ea typeface="Trebuchet MS" pitchFamily="34" charset="-122"/>
                <a:cs typeface="Trebuchet MS" pitchFamily="34" charset="-120"/>
              </a:rPr>
              <a:t>Four Topics. One Connected Story.</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Shape 2"/>
          <p:cNvSpPr/>
          <p:nvPr/>
        </p:nvSpPr>
        <p:spPr>
          <a:xfrm>
            <a:off x="365760" y="1371600"/>
            <a:ext cx="2057400" cy="1828800"/>
          </a:xfrm>
          <a:prstGeom prst="rect">
            <a:avLst/>
          </a:prstGeom>
          <a:solidFill>
            <a:srgbClr val="0B2D4E"/>
          </a:solidFill>
          <a:ln w="12700">
            <a:solidFill>
              <a:srgbClr val="0B2D4E"/>
            </a:solidFill>
            <a:prstDash val="solid"/>
          </a:ln>
        </p:spPr>
      </p:sp>
      <p:sp>
        <p:nvSpPr>
          <p:cNvPr id="5" name="Shape 3"/>
          <p:cNvSpPr/>
          <p:nvPr/>
        </p:nvSpPr>
        <p:spPr>
          <a:xfrm>
            <a:off x="365760" y="1371600"/>
            <a:ext cx="2057400" cy="1828800"/>
          </a:xfrm>
          <a:prstGeom prst="rect">
            <a:avLst/>
          </a:prstGeom>
          <a:solidFill>
            <a:srgbClr val="0B2D4E"/>
          </a:solidFill>
          <a:ln w="25400">
            <a:solidFill>
              <a:srgbClr val="0E7C86"/>
            </a:solidFill>
            <a:prstDash val="solid"/>
          </a:ln>
        </p:spPr>
      </p:sp>
      <p:sp>
        <p:nvSpPr>
          <p:cNvPr id="6" name="Text 4"/>
          <p:cNvSpPr/>
          <p:nvPr/>
        </p:nvSpPr>
        <p:spPr>
          <a:xfrm>
            <a:off x="457200" y="1463040"/>
            <a:ext cx="187452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Energy Efficient</a:t>
            </a:r>
            <a:endParaRPr lang="en-US" sz="1400" dirty="0"/>
          </a:p>
          <a:p>
            <a:pPr algn="ctr" indent="0" marL="0">
              <a:buNone/>
            </a:pPr>
            <a:r>
              <a:rPr lang="en-US" sz="1400" b="1" dirty="0">
                <a:solidFill>
                  <a:srgbClr val="FFFFFF"/>
                </a:solidFill>
                <a:latin typeface="Trebuchet MS" pitchFamily="34" charset="0"/>
                <a:ea typeface="Trebuchet MS" pitchFamily="34" charset="-122"/>
                <a:cs typeface="Trebuchet MS" pitchFamily="34" charset="-120"/>
              </a:rPr>
              <a:t>Ethernet</a:t>
            </a:r>
            <a:endParaRPr lang="en-US" sz="1400" dirty="0"/>
          </a:p>
        </p:txBody>
      </p:sp>
      <p:sp>
        <p:nvSpPr>
          <p:cNvPr id="7" name="Shape 5"/>
          <p:cNvSpPr/>
          <p:nvPr/>
        </p:nvSpPr>
        <p:spPr>
          <a:xfrm>
            <a:off x="457200" y="2240280"/>
            <a:ext cx="1874520" cy="36576"/>
          </a:xfrm>
          <a:prstGeom prst="rect">
            <a:avLst/>
          </a:prstGeom>
          <a:solidFill>
            <a:srgbClr val="0E7C86"/>
          </a:solidFill>
          <a:ln w="12700">
            <a:solidFill>
              <a:srgbClr val="0E7C86"/>
            </a:solidFill>
            <a:prstDash val="solid"/>
          </a:ln>
        </p:spPr>
      </p:sp>
      <p:sp>
        <p:nvSpPr>
          <p:cNvPr id="8" name="Text 6"/>
          <p:cNvSpPr/>
          <p:nvPr/>
        </p:nvSpPr>
        <p:spPr>
          <a:xfrm>
            <a:off x="457200" y="2331720"/>
            <a:ext cx="1874520" cy="685800"/>
          </a:xfrm>
          <a:prstGeom prst="rect">
            <a:avLst/>
          </a:prstGeom>
          <a:noFill/>
          <a:ln/>
        </p:spPr>
        <p:txBody>
          <a:bodyPr wrap="square" lIns="0" tIns="0" rIns="0" bIns="0" rtlCol="0" anchor="t"/>
          <a:lstStyle/>
          <a:p>
            <a:pPr algn="ctr" indent="0" marL="0">
              <a:buNone/>
            </a:pPr>
            <a:r>
              <a:rPr lang="en-US" sz="1100" dirty="0">
                <a:solidFill>
                  <a:srgbClr val="D6EAF8"/>
                </a:solidFill>
                <a:latin typeface="Calibri" pitchFamily="34" charset="0"/>
                <a:ea typeface="Calibri" pitchFamily="34" charset="-122"/>
                <a:cs typeface="Calibri" pitchFamily="34" charset="-120"/>
              </a:rPr>
              <a:t>Manages power</a:t>
            </a:r>
            <a:endParaRPr lang="en-US" sz="1100" dirty="0"/>
          </a:p>
          <a:p>
            <a:pPr algn="ctr" indent="0" marL="0">
              <a:buNone/>
            </a:pPr>
            <a:r>
              <a:rPr lang="en-US" sz="1100" dirty="0">
                <a:solidFill>
                  <a:srgbClr val="D6EAF8"/>
                </a:solidFill>
                <a:latin typeface="Calibri" pitchFamily="34" charset="0"/>
                <a:ea typeface="Calibri" pitchFamily="34" charset="-122"/>
                <a:cs typeface="Calibri" pitchFamily="34" charset="-120"/>
              </a:rPr>
              <a:t>on a healthy link</a:t>
            </a:r>
            <a:endParaRPr lang="en-US" sz="1100" dirty="0"/>
          </a:p>
        </p:txBody>
      </p:sp>
      <p:sp>
        <p:nvSpPr>
          <p:cNvPr id="9" name="Text 7"/>
          <p:cNvSpPr/>
          <p:nvPr/>
        </p:nvSpPr>
        <p:spPr>
          <a:xfrm>
            <a:off x="2423160" y="2084832"/>
            <a:ext cx="594360" cy="402336"/>
          </a:xfrm>
          <a:prstGeom prst="rect">
            <a:avLst/>
          </a:prstGeom>
          <a:noFill/>
          <a:ln/>
        </p:spPr>
        <p:txBody>
          <a:bodyPr wrap="square" lIns="0" tIns="0" rIns="0" bIns="0" rtlCol="0" anchor="ctr"/>
          <a:lstStyle/>
          <a:p>
            <a:pPr algn="ctr" indent="0" marL="0">
              <a:buNone/>
            </a:pPr>
            <a:r>
              <a:rPr lang="en-US" sz="1800" b="1" dirty="0">
                <a:solidFill>
                  <a:srgbClr val="0E7C86"/>
                </a:solidFill>
                <a:latin typeface="Trebuchet MS" pitchFamily="34" charset="0"/>
                <a:ea typeface="Trebuchet MS" pitchFamily="34" charset="-122"/>
                <a:cs typeface="Trebuchet MS" pitchFamily="34" charset="-120"/>
              </a:rPr>
              <a:t>-&gt;</a:t>
            </a:r>
            <a:endParaRPr lang="en-US" sz="1800" dirty="0"/>
          </a:p>
        </p:txBody>
      </p:sp>
      <p:sp>
        <p:nvSpPr>
          <p:cNvPr id="10" name="Shape 8"/>
          <p:cNvSpPr/>
          <p:nvPr/>
        </p:nvSpPr>
        <p:spPr>
          <a:xfrm>
            <a:off x="2651760" y="1371600"/>
            <a:ext cx="2057400" cy="1828800"/>
          </a:xfrm>
          <a:prstGeom prst="rect">
            <a:avLst/>
          </a:prstGeom>
          <a:solidFill>
            <a:srgbClr val="0B2D4E"/>
          </a:solidFill>
          <a:ln w="12700">
            <a:solidFill>
              <a:srgbClr val="0B2D4E"/>
            </a:solidFill>
            <a:prstDash val="solid"/>
          </a:ln>
        </p:spPr>
      </p:sp>
      <p:sp>
        <p:nvSpPr>
          <p:cNvPr id="11" name="Shape 9"/>
          <p:cNvSpPr/>
          <p:nvPr/>
        </p:nvSpPr>
        <p:spPr>
          <a:xfrm>
            <a:off x="2651760" y="1371600"/>
            <a:ext cx="2057400" cy="1828800"/>
          </a:xfrm>
          <a:prstGeom prst="rect">
            <a:avLst/>
          </a:prstGeom>
          <a:solidFill>
            <a:srgbClr val="0B2D4E"/>
          </a:solidFill>
          <a:ln w="25400">
            <a:solidFill>
              <a:srgbClr val="0E7C86"/>
            </a:solidFill>
            <a:prstDash val="solid"/>
          </a:ln>
        </p:spPr>
      </p:sp>
      <p:sp>
        <p:nvSpPr>
          <p:cNvPr id="12" name="Text 10"/>
          <p:cNvSpPr/>
          <p:nvPr/>
        </p:nvSpPr>
        <p:spPr>
          <a:xfrm>
            <a:off x="2743200" y="1463040"/>
            <a:ext cx="187452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Low Power</a:t>
            </a:r>
            <a:endParaRPr lang="en-US" sz="1400" dirty="0"/>
          </a:p>
          <a:p>
            <a:pPr algn="ctr" indent="0" marL="0">
              <a:buNone/>
            </a:pPr>
            <a:r>
              <a:rPr lang="en-US" sz="1400" b="1" dirty="0">
                <a:solidFill>
                  <a:srgbClr val="FFFFFF"/>
                </a:solidFill>
                <a:latin typeface="Trebuchet MS" pitchFamily="34" charset="0"/>
                <a:ea typeface="Trebuchet MS" pitchFamily="34" charset="-122"/>
                <a:cs typeface="Trebuchet MS" pitchFamily="34" charset="-120"/>
              </a:rPr>
              <a:t>Idle</a:t>
            </a:r>
            <a:endParaRPr lang="en-US" sz="1400" dirty="0"/>
          </a:p>
        </p:txBody>
      </p:sp>
      <p:sp>
        <p:nvSpPr>
          <p:cNvPr id="13" name="Shape 11"/>
          <p:cNvSpPr/>
          <p:nvPr/>
        </p:nvSpPr>
        <p:spPr>
          <a:xfrm>
            <a:off x="2743200" y="2240280"/>
            <a:ext cx="1874520" cy="36576"/>
          </a:xfrm>
          <a:prstGeom prst="rect">
            <a:avLst/>
          </a:prstGeom>
          <a:solidFill>
            <a:srgbClr val="0E7C86"/>
          </a:solidFill>
          <a:ln w="12700">
            <a:solidFill>
              <a:srgbClr val="0E7C86"/>
            </a:solidFill>
            <a:prstDash val="solid"/>
          </a:ln>
        </p:spPr>
      </p:sp>
      <p:sp>
        <p:nvSpPr>
          <p:cNvPr id="14" name="Text 12"/>
          <p:cNvSpPr/>
          <p:nvPr/>
        </p:nvSpPr>
        <p:spPr>
          <a:xfrm>
            <a:off x="2743200" y="2331720"/>
            <a:ext cx="1874520" cy="685800"/>
          </a:xfrm>
          <a:prstGeom prst="rect">
            <a:avLst/>
          </a:prstGeom>
          <a:noFill/>
          <a:ln/>
        </p:spPr>
        <p:txBody>
          <a:bodyPr wrap="square" lIns="0" tIns="0" rIns="0" bIns="0" rtlCol="0" anchor="t"/>
          <a:lstStyle/>
          <a:p>
            <a:pPr algn="ctr" indent="0" marL="0">
              <a:buNone/>
            </a:pPr>
            <a:r>
              <a:rPr lang="en-US" sz="1100" dirty="0">
                <a:solidFill>
                  <a:srgbClr val="D6EAF8"/>
                </a:solidFill>
                <a:latin typeface="Calibri" pitchFamily="34" charset="0"/>
                <a:ea typeface="Calibri" pitchFamily="34" charset="-122"/>
                <a:cs typeface="Calibri" pitchFamily="34" charset="-120"/>
              </a:rPr>
              <a:t>Implements the</a:t>
            </a:r>
            <a:endParaRPr lang="en-US" sz="1100" dirty="0"/>
          </a:p>
          <a:p>
            <a:pPr algn="ctr" indent="0" marL="0">
              <a:buNone/>
            </a:pPr>
            <a:r>
              <a:rPr lang="en-US" sz="1100" dirty="0">
                <a:solidFill>
                  <a:srgbClr val="D6EAF8"/>
                </a:solidFill>
                <a:latin typeface="Calibri" pitchFamily="34" charset="0"/>
                <a:ea typeface="Calibri" pitchFamily="34" charset="-122"/>
                <a:cs typeface="Calibri" pitchFamily="34" charset="-120"/>
              </a:rPr>
              <a:t>power-saving behavior</a:t>
            </a:r>
            <a:endParaRPr lang="en-US" sz="1100" dirty="0"/>
          </a:p>
        </p:txBody>
      </p:sp>
      <p:sp>
        <p:nvSpPr>
          <p:cNvPr id="15" name="Text 13"/>
          <p:cNvSpPr/>
          <p:nvPr/>
        </p:nvSpPr>
        <p:spPr>
          <a:xfrm>
            <a:off x="4709160" y="2084832"/>
            <a:ext cx="594360" cy="402336"/>
          </a:xfrm>
          <a:prstGeom prst="rect">
            <a:avLst/>
          </a:prstGeom>
          <a:noFill/>
          <a:ln/>
        </p:spPr>
        <p:txBody>
          <a:bodyPr wrap="square" lIns="0" tIns="0" rIns="0" bIns="0" rtlCol="0" anchor="ctr"/>
          <a:lstStyle/>
          <a:p>
            <a:pPr algn="ctr" indent="0" marL="0">
              <a:buNone/>
            </a:pPr>
            <a:r>
              <a:rPr lang="en-US" sz="1800" b="1" dirty="0">
                <a:solidFill>
                  <a:srgbClr val="0E7C86"/>
                </a:solidFill>
                <a:latin typeface="Trebuchet MS" pitchFamily="34" charset="0"/>
                <a:ea typeface="Trebuchet MS" pitchFamily="34" charset="-122"/>
                <a:cs typeface="Trebuchet MS" pitchFamily="34" charset="-120"/>
              </a:rPr>
              <a:t>-&gt;</a:t>
            </a:r>
            <a:endParaRPr lang="en-US" sz="1800" dirty="0"/>
          </a:p>
        </p:txBody>
      </p:sp>
      <p:sp>
        <p:nvSpPr>
          <p:cNvPr id="16" name="Shape 14"/>
          <p:cNvSpPr/>
          <p:nvPr/>
        </p:nvSpPr>
        <p:spPr>
          <a:xfrm>
            <a:off x="4937760" y="1371600"/>
            <a:ext cx="2057400" cy="1828800"/>
          </a:xfrm>
          <a:prstGeom prst="rect">
            <a:avLst/>
          </a:prstGeom>
          <a:solidFill>
            <a:srgbClr val="1A4D6E"/>
          </a:solidFill>
          <a:ln w="12700">
            <a:solidFill>
              <a:srgbClr val="1A4D6E"/>
            </a:solidFill>
            <a:prstDash val="solid"/>
          </a:ln>
        </p:spPr>
      </p:sp>
      <p:sp>
        <p:nvSpPr>
          <p:cNvPr id="17" name="Shape 15"/>
          <p:cNvSpPr/>
          <p:nvPr/>
        </p:nvSpPr>
        <p:spPr>
          <a:xfrm>
            <a:off x="4937760" y="1371600"/>
            <a:ext cx="2057400" cy="1828800"/>
          </a:xfrm>
          <a:prstGeom prst="rect">
            <a:avLst/>
          </a:prstGeom>
          <a:solidFill>
            <a:srgbClr val="1A4D6E"/>
          </a:solidFill>
          <a:ln w="25400">
            <a:solidFill>
              <a:srgbClr val="0E7C86"/>
            </a:solidFill>
            <a:prstDash val="solid"/>
          </a:ln>
        </p:spPr>
      </p:sp>
      <p:sp>
        <p:nvSpPr>
          <p:cNvPr id="18" name="Text 16"/>
          <p:cNvSpPr/>
          <p:nvPr/>
        </p:nvSpPr>
        <p:spPr>
          <a:xfrm>
            <a:off x="5029200" y="1463040"/>
            <a:ext cx="187452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Layer 1 &amp; 2</a:t>
            </a:r>
            <a:endParaRPr lang="en-US" sz="1400" dirty="0"/>
          </a:p>
          <a:p>
            <a:pPr algn="ctr" indent="0" marL="0">
              <a:buNone/>
            </a:pPr>
            <a:r>
              <a:rPr lang="en-US" sz="1400" b="1" dirty="0">
                <a:solidFill>
                  <a:srgbClr val="FFFFFF"/>
                </a:solidFill>
                <a:latin typeface="Trebuchet MS" pitchFamily="34" charset="0"/>
                <a:ea typeface="Trebuchet MS" pitchFamily="34" charset="-122"/>
                <a:cs typeface="Trebuchet MS" pitchFamily="34" charset="-120"/>
              </a:rPr>
              <a:t>Counters</a:t>
            </a:r>
            <a:endParaRPr lang="en-US" sz="1400" dirty="0"/>
          </a:p>
        </p:txBody>
      </p:sp>
      <p:sp>
        <p:nvSpPr>
          <p:cNvPr id="19" name="Shape 17"/>
          <p:cNvSpPr/>
          <p:nvPr/>
        </p:nvSpPr>
        <p:spPr>
          <a:xfrm>
            <a:off x="5029200" y="2240280"/>
            <a:ext cx="1874520" cy="36576"/>
          </a:xfrm>
          <a:prstGeom prst="rect">
            <a:avLst/>
          </a:prstGeom>
          <a:solidFill>
            <a:srgbClr val="0E7C86"/>
          </a:solidFill>
          <a:ln w="12700">
            <a:solidFill>
              <a:srgbClr val="0E7C86"/>
            </a:solidFill>
            <a:prstDash val="solid"/>
          </a:ln>
        </p:spPr>
      </p:sp>
      <p:sp>
        <p:nvSpPr>
          <p:cNvPr id="20" name="Text 18"/>
          <p:cNvSpPr/>
          <p:nvPr/>
        </p:nvSpPr>
        <p:spPr>
          <a:xfrm>
            <a:off x="5029200" y="2331720"/>
            <a:ext cx="1874520" cy="685800"/>
          </a:xfrm>
          <a:prstGeom prst="rect">
            <a:avLst/>
          </a:prstGeom>
          <a:noFill/>
          <a:ln/>
        </p:spPr>
        <p:txBody>
          <a:bodyPr wrap="square" lIns="0" tIns="0" rIns="0" bIns="0" rtlCol="0" anchor="t"/>
          <a:lstStyle/>
          <a:p>
            <a:pPr algn="ctr" indent="0" marL="0">
              <a:buNone/>
            </a:pPr>
            <a:r>
              <a:rPr lang="en-US" sz="1100" dirty="0">
                <a:solidFill>
                  <a:srgbClr val="D6EAF8"/>
                </a:solidFill>
                <a:latin typeface="Calibri" pitchFamily="34" charset="0"/>
                <a:ea typeface="Calibri" pitchFamily="34" charset="-122"/>
                <a:cs typeface="Calibri" pitchFamily="34" charset="-120"/>
              </a:rPr>
              <a:t>Shows where</a:t>
            </a:r>
            <a:endParaRPr lang="en-US" sz="1100" dirty="0"/>
          </a:p>
          <a:p>
            <a:pPr algn="ctr" indent="0" marL="0">
              <a:buNone/>
            </a:pPr>
            <a:r>
              <a:rPr lang="en-US" sz="1100" dirty="0">
                <a:solidFill>
                  <a:srgbClr val="D6EAF8"/>
                </a:solidFill>
                <a:latin typeface="Calibri" pitchFamily="34" charset="0"/>
                <a:ea typeface="Calibri" pitchFamily="34" charset="-122"/>
                <a:cs typeface="Calibri" pitchFamily="34" charset="-120"/>
              </a:rPr>
              <a:t>failures appear</a:t>
            </a:r>
            <a:endParaRPr lang="en-US" sz="1100" dirty="0"/>
          </a:p>
        </p:txBody>
      </p:sp>
      <p:sp>
        <p:nvSpPr>
          <p:cNvPr id="21" name="Text 19"/>
          <p:cNvSpPr/>
          <p:nvPr/>
        </p:nvSpPr>
        <p:spPr>
          <a:xfrm>
            <a:off x="6995160" y="2084832"/>
            <a:ext cx="594360" cy="402336"/>
          </a:xfrm>
          <a:prstGeom prst="rect">
            <a:avLst/>
          </a:prstGeom>
          <a:noFill/>
          <a:ln/>
        </p:spPr>
        <p:txBody>
          <a:bodyPr wrap="square" lIns="0" tIns="0" rIns="0" bIns="0" rtlCol="0" anchor="ctr"/>
          <a:lstStyle/>
          <a:p>
            <a:pPr algn="ctr" indent="0" marL="0">
              <a:buNone/>
            </a:pPr>
            <a:r>
              <a:rPr lang="en-US" sz="1800" b="1" dirty="0">
                <a:solidFill>
                  <a:srgbClr val="0E7C86"/>
                </a:solidFill>
                <a:latin typeface="Trebuchet MS" pitchFamily="34" charset="0"/>
                <a:ea typeface="Trebuchet MS" pitchFamily="34" charset="-122"/>
                <a:cs typeface="Trebuchet MS" pitchFamily="34" charset="-120"/>
              </a:rPr>
              <a:t>-&gt;</a:t>
            </a:r>
            <a:endParaRPr lang="en-US" sz="1800" dirty="0"/>
          </a:p>
        </p:txBody>
      </p:sp>
      <p:sp>
        <p:nvSpPr>
          <p:cNvPr id="22" name="Shape 20"/>
          <p:cNvSpPr/>
          <p:nvPr/>
        </p:nvSpPr>
        <p:spPr>
          <a:xfrm>
            <a:off x="7223760" y="1371600"/>
            <a:ext cx="2057400" cy="1828800"/>
          </a:xfrm>
          <a:prstGeom prst="rect">
            <a:avLst/>
          </a:prstGeom>
          <a:solidFill>
            <a:srgbClr val="1A4D6E"/>
          </a:solidFill>
          <a:ln w="12700">
            <a:solidFill>
              <a:srgbClr val="1A4D6E"/>
            </a:solidFill>
            <a:prstDash val="solid"/>
          </a:ln>
        </p:spPr>
      </p:sp>
      <p:sp>
        <p:nvSpPr>
          <p:cNvPr id="23" name="Shape 21"/>
          <p:cNvSpPr/>
          <p:nvPr/>
        </p:nvSpPr>
        <p:spPr>
          <a:xfrm>
            <a:off x="7223760" y="1371600"/>
            <a:ext cx="2057400" cy="1828800"/>
          </a:xfrm>
          <a:prstGeom prst="rect">
            <a:avLst/>
          </a:prstGeom>
          <a:solidFill>
            <a:srgbClr val="1A4D6E"/>
          </a:solidFill>
          <a:ln w="25400">
            <a:solidFill>
              <a:srgbClr val="0E7C86"/>
            </a:solidFill>
            <a:prstDash val="solid"/>
          </a:ln>
        </p:spPr>
      </p:sp>
      <p:sp>
        <p:nvSpPr>
          <p:cNvPr id="24" name="Text 22"/>
          <p:cNvSpPr/>
          <p:nvPr/>
        </p:nvSpPr>
        <p:spPr>
          <a:xfrm>
            <a:off x="7315200" y="1463040"/>
            <a:ext cx="187452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Insertion &amp;</a:t>
            </a:r>
            <a:endParaRPr lang="en-US" sz="1400" dirty="0"/>
          </a:p>
          <a:p>
            <a:pPr algn="ctr" indent="0" marL="0">
              <a:buNone/>
            </a:pPr>
            <a:r>
              <a:rPr lang="en-US" sz="1400" b="1" dirty="0">
                <a:solidFill>
                  <a:srgbClr val="FFFFFF"/>
                </a:solidFill>
                <a:latin typeface="Trebuchet MS" pitchFamily="34" charset="0"/>
                <a:ea typeface="Trebuchet MS" pitchFamily="34" charset="-122"/>
                <a:cs typeface="Trebuchet MS" pitchFamily="34" charset="-120"/>
              </a:rPr>
              <a:t>Return Loss</a:t>
            </a:r>
            <a:endParaRPr lang="en-US" sz="1400" dirty="0"/>
          </a:p>
        </p:txBody>
      </p:sp>
      <p:sp>
        <p:nvSpPr>
          <p:cNvPr id="25" name="Shape 23"/>
          <p:cNvSpPr/>
          <p:nvPr/>
        </p:nvSpPr>
        <p:spPr>
          <a:xfrm>
            <a:off x="7315200" y="2240280"/>
            <a:ext cx="1874520" cy="36576"/>
          </a:xfrm>
          <a:prstGeom prst="rect">
            <a:avLst/>
          </a:prstGeom>
          <a:solidFill>
            <a:srgbClr val="0E7C86"/>
          </a:solidFill>
          <a:ln w="12700">
            <a:solidFill>
              <a:srgbClr val="0E7C86"/>
            </a:solidFill>
            <a:prstDash val="solid"/>
          </a:ln>
        </p:spPr>
      </p:sp>
      <p:sp>
        <p:nvSpPr>
          <p:cNvPr id="26" name="Text 24"/>
          <p:cNvSpPr/>
          <p:nvPr/>
        </p:nvSpPr>
        <p:spPr>
          <a:xfrm>
            <a:off x="7315200" y="2331720"/>
            <a:ext cx="1874520" cy="685800"/>
          </a:xfrm>
          <a:prstGeom prst="rect">
            <a:avLst/>
          </a:prstGeom>
          <a:noFill/>
          <a:ln/>
        </p:spPr>
        <p:txBody>
          <a:bodyPr wrap="square" lIns="0" tIns="0" rIns="0" bIns="0" rtlCol="0" anchor="t"/>
          <a:lstStyle/>
          <a:p>
            <a:pPr algn="ctr" indent="0" marL="0">
              <a:buNone/>
            </a:pPr>
            <a:r>
              <a:rPr lang="en-US" sz="1100" dirty="0">
                <a:solidFill>
                  <a:srgbClr val="D6EAF8"/>
                </a:solidFill>
                <a:latin typeface="Calibri" pitchFamily="34" charset="0"/>
                <a:ea typeface="Calibri" pitchFamily="34" charset="-122"/>
                <a:cs typeface="Calibri" pitchFamily="34" charset="-120"/>
              </a:rPr>
              <a:t>Explains why</a:t>
            </a:r>
            <a:endParaRPr lang="en-US" sz="1100" dirty="0"/>
          </a:p>
          <a:p>
            <a:pPr algn="ctr" indent="0" marL="0">
              <a:buNone/>
            </a:pPr>
            <a:r>
              <a:rPr lang="en-US" sz="1100" dirty="0">
                <a:solidFill>
                  <a:srgbClr val="D6EAF8"/>
                </a:solidFill>
                <a:latin typeface="Calibri" pitchFamily="34" charset="0"/>
                <a:ea typeface="Calibri" pitchFamily="34" charset="-122"/>
                <a:cs typeface="Calibri" pitchFamily="34" charset="-120"/>
              </a:rPr>
              <a:t>failures happen</a:t>
            </a:r>
            <a:endParaRPr lang="en-US" sz="1100" dirty="0"/>
          </a:p>
        </p:txBody>
      </p:sp>
      <p:sp>
        <p:nvSpPr>
          <p:cNvPr id="27" name="Text 25"/>
          <p:cNvSpPr/>
          <p:nvPr/>
        </p:nvSpPr>
        <p:spPr>
          <a:xfrm>
            <a:off x="365760" y="4389120"/>
            <a:ext cx="8412480" cy="457200"/>
          </a:xfrm>
          <a:prstGeom prst="rect">
            <a:avLst/>
          </a:prstGeom>
          <a:noFill/>
          <a:ln/>
        </p:spPr>
        <p:txBody>
          <a:bodyPr wrap="square" lIns="0" tIns="0" rIns="0" bIns="0" rtlCol="0" anchor="t"/>
          <a:lstStyle/>
          <a:p>
            <a:pPr algn="l" indent="0" marL="0">
              <a:buNone/>
            </a:pPr>
            <a:r>
              <a:rPr lang="en-US" sz="1200" dirty="0">
                <a:solidFill>
                  <a:srgbClr val="4A6B82"/>
                </a:solidFill>
                <a:latin typeface="Calibri" pitchFamily="34" charset="0"/>
                <a:ea typeface="Calibri" pitchFamily="34" charset="-122"/>
                <a:cs typeface="Calibri" pitchFamily="34" charset="-120"/>
              </a:rPr>
              <a:t>Electrical impairments cause physical errors, which cause frame errors. Power state affects timing.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8FF"/>
        </a:solidFill>
      </p:bgPr>
    </p:bg>
    <p:spTree>
      <p:nvGrpSpPr>
        <p:cNvPr id="1" name=""/>
        <p:cNvGrpSpPr/>
        <p:nvPr/>
      </p:nvGrpSpPr>
      <p:grpSpPr>
        <a:xfrm>
          <a:off x="0" y="0"/>
          <a:ext cx="0" cy="0"/>
          <a:chOff x="0" y="0"/>
          <a:chExt cx="0" cy="0"/>
        </a:xfrm>
      </p:grpSpPr>
      <p:sp>
        <p:nvSpPr>
          <p:cNvPr id="2" name="Text 0"/>
          <p:cNvSpPr/>
          <p:nvPr/>
        </p:nvSpPr>
        <p:spPr>
          <a:xfrm>
            <a:off x="502920" y="320040"/>
            <a:ext cx="8138160" cy="685800"/>
          </a:xfrm>
          <a:prstGeom prst="rect">
            <a:avLst/>
          </a:prstGeom>
          <a:noFill/>
          <a:ln/>
        </p:spPr>
        <p:txBody>
          <a:bodyPr wrap="square" lIns="0" tIns="0" rIns="0" bIns="0" rtlCol="0" anchor="ctr"/>
          <a:lstStyle/>
          <a:p>
            <a:pPr algn="l" indent="0" marL="0">
              <a:buNone/>
            </a:pPr>
            <a:r>
              <a:rPr lang="en-US" sz="3400" b="1" dirty="0">
                <a:solidFill>
                  <a:srgbClr val="0B2D4E"/>
                </a:solidFill>
                <a:latin typeface="Trebuchet MS" pitchFamily="34" charset="0"/>
                <a:ea typeface="Trebuchet MS" pitchFamily="34" charset="-122"/>
                <a:cs typeface="Trebuchet MS" pitchFamily="34" charset="-120"/>
              </a:rPr>
              <a:t>The Problem EEE Solves</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4114800" cy="914400"/>
          </a:xfrm>
          <a:prstGeom prst="rect">
            <a:avLst/>
          </a:prstGeom>
          <a:noFill/>
          <a:ln/>
        </p:spPr>
        <p:txBody>
          <a:bodyPr wrap="square" lIns="0" tIns="0" rIns="0" bIns="0" rtlCol="0" anchor="t"/>
          <a:lstStyle/>
          <a:p>
            <a:pPr algn="l" indent="0" marL="0">
              <a:buNone/>
            </a:pPr>
            <a:r>
              <a:rPr lang="en-US" sz="1400" dirty="0">
                <a:solidFill>
                  <a:srgbClr val="0B2D4E"/>
                </a:solidFill>
                <a:latin typeface="Calibri" pitchFamily="34" charset="0"/>
                <a:ea typeface="Calibri" pitchFamily="34" charset="-122"/>
                <a:cs typeface="Calibri" pitchFamily="34" charset="-120"/>
              </a:rPr>
              <a:t>A conventional Ethernet physical layer burns a large portion of its power budget just staying ready, even when no useful traffic is flowing.</a:t>
            </a:r>
            <a:endParaRPr lang="en-US" sz="1400" dirty="0"/>
          </a:p>
        </p:txBody>
      </p:sp>
      <p:sp>
        <p:nvSpPr>
          <p:cNvPr id="5" name="Shape 3"/>
          <p:cNvSpPr/>
          <p:nvPr/>
        </p:nvSpPr>
        <p:spPr>
          <a:xfrm>
            <a:off x="502920" y="2286000"/>
            <a:ext cx="4114800" cy="1463040"/>
          </a:xfrm>
          <a:prstGeom prst="rect">
            <a:avLst/>
          </a:prstGeom>
          <a:solidFill>
            <a:srgbClr val="0B2D4E"/>
          </a:solidFill>
          <a:ln w="12700">
            <a:solidFill>
              <a:srgbClr val="0B2D4E"/>
            </a:solidFill>
            <a:prstDash val="solid"/>
          </a:ln>
        </p:spPr>
      </p:sp>
      <p:sp>
        <p:nvSpPr>
          <p:cNvPr id="6" name="Text 4"/>
          <p:cNvSpPr/>
          <p:nvPr/>
        </p:nvSpPr>
        <p:spPr>
          <a:xfrm>
            <a:off x="594360" y="2359152"/>
            <a:ext cx="3931920" cy="384048"/>
          </a:xfrm>
          <a:prstGeom prst="rect">
            <a:avLst/>
          </a:prstGeom>
          <a:noFill/>
          <a:ln/>
        </p:spPr>
        <p:txBody>
          <a:bodyPr wrap="square" lIns="0" tIns="0" rIns="0" bIns="0" rtlCol="0" anchor="ctr"/>
          <a:lstStyle/>
          <a:p>
            <a:pPr algn="l" indent="0" marL="0">
              <a:buNone/>
            </a:pPr>
            <a:r>
              <a:rPr lang="en-US" sz="1400" b="1" dirty="0">
                <a:solidFill>
                  <a:srgbClr val="F0A500"/>
                </a:solidFill>
                <a:latin typeface="Trebuchet MS" pitchFamily="34" charset="0"/>
                <a:ea typeface="Trebuchet MS" pitchFamily="34" charset="-122"/>
                <a:cs typeface="Trebuchet MS" pitchFamily="34" charset="-120"/>
              </a:rPr>
              <a:t>Why not just shut the link off?</a:t>
            </a:r>
            <a:endParaRPr lang="en-US" sz="1400" dirty="0"/>
          </a:p>
        </p:txBody>
      </p:sp>
      <p:sp>
        <p:nvSpPr>
          <p:cNvPr id="7" name="Text 5"/>
          <p:cNvSpPr/>
          <p:nvPr/>
        </p:nvSpPr>
        <p:spPr>
          <a:xfrm>
            <a:off x="594360" y="2788920"/>
            <a:ext cx="3931920" cy="82296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The receiver maintains timing recovery, equalization, and link integrity state. A full shutdown causes retraining and looks like a link failure to higher layers.</a:t>
            </a:r>
            <a:endParaRPr lang="en-US" sz="1200" dirty="0"/>
          </a:p>
        </p:txBody>
      </p:sp>
      <p:sp>
        <p:nvSpPr>
          <p:cNvPr id="8" name="Shape 6"/>
          <p:cNvSpPr/>
          <p:nvPr/>
        </p:nvSpPr>
        <p:spPr>
          <a:xfrm>
            <a:off x="5074920" y="1234440"/>
            <a:ext cx="3657600" cy="2651760"/>
          </a:xfrm>
          <a:prstGeom prst="rect">
            <a:avLst/>
          </a:prstGeom>
          <a:solidFill>
            <a:srgbClr val="0B2D4E"/>
          </a:solidFill>
          <a:ln w="12700">
            <a:solidFill>
              <a:srgbClr val="0B2D4E"/>
            </a:solidFill>
            <a:prstDash val="solid"/>
          </a:ln>
        </p:spPr>
      </p:sp>
      <p:sp>
        <p:nvSpPr>
          <p:cNvPr id="9" name="Shape 7"/>
          <p:cNvSpPr/>
          <p:nvPr/>
        </p:nvSpPr>
        <p:spPr>
          <a:xfrm>
            <a:off x="5074920" y="1234440"/>
            <a:ext cx="3657600" cy="2651760"/>
          </a:xfrm>
          <a:prstGeom prst="rect">
            <a:avLst/>
          </a:prstGeom>
          <a:solidFill>
            <a:srgbClr val="0B2D4E"/>
          </a:solidFill>
          <a:ln w="12700">
            <a:solidFill>
              <a:srgbClr val="0E7C86"/>
            </a:solidFill>
            <a:prstDash val="solid"/>
          </a:ln>
        </p:spPr>
      </p:sp>
      <p:sp>
        <p:nvSpPr>
          <p:cNvPr id="10" name="Text 8"/>
          <p:cNvSpPr/>
          <p:nvPr/>
        </p:nvSpPr>
        <p:spPr>
          <a:xfrm>
            <a:off x="5166360" y="1325880"/>
            <a:ext cx="3474720" cy="347472"/>
          </a:xfrm>
          <a:prstGeom prst="rect">
            <a:avLst/>
          </a:prstGeom>
          <a:noFill/>
          <a:ln/>
        </p:spPr>
        <p:txBody>
          <a:bodyPr wrap="square" lIns="0" tIns="0" rIns="0" bIns="0" rtlCol="0" anchor="ctr"/>
          <a:lstStyle/>
          <a:p>
            <a:pPr algn="ctr" indent="0" marL="0">
              <a:buNone/>
            </a:pPr>
            <a:r>
              <a:rPr lang="en-US" sz="1200" b="1" dirty="0">
                <a:solidFill>
                  <a:srgbClr val="0E7C86"/>
                </a:solidFill>
                <a:latin typeface="Trebuchet MS" pitchFamily="34" charset="0"/>
                <a:ea typeface="Trebuchet MS" pitchFamily="34" charset="-122"/>
                <a:cs typeface="Trebuchet MS" pitchFamily="34" charset="-120"/>
              </a:rPr>
              <a:t>Power Budget</a:t>
            </a:r>
            <a:endParaRPr lang="en-US" sz="1200" dirty="0"/>
          </a:p>
        </p:txBody>
      </p:sp>
      <p:sp>
        <p:nvSpPr>
          <p:cNvPr id="11" name="Shape 9"/>
          <p:cNvSpPr/>
          <p:nvPr/>
        </p:nvSpPr>
        <p:spPr>
          <a:xfrm>
            <a:off x="5166360" y="1810512"/>
            <a:ext cx="2286000" cy="384048"/>
          </a:xfrm>
          <a:prstGeom prst="rect">
            <a:avLst/>
          </a:prstGeom>
          <a:solidFill>
            <a:srgbClr val="C0392B"/>
          </a:solidFill>
          <a:ln w="12700">
            <a:solidFill>
              <a:srgbClr val="C0392B"/>
            </a:solidFill>
            <a:prstDash val="solid"/>
          </a:ln>
        </p:spPr>
      </p:sp>
      <p:sp>
        <p:nvSpPr>
          <p:cNvPr id="12" name="Text 10"/>
          <p:cNvSpPr/>
          <p:nvPr/>
        </p:nvSpPr>
        <p:spPr>
          <a:xfrm>
            <a:off x="7525512" y="1847088"/>
            <a:ext cx="1097280" cy="329184"/>
          </a:xfrm>
          <a:prstGeom prst="rect">
            <a:avLst/>
          </a:prstGeom>
          <a:noFill/>
          <a:ln/>
        </p:spPr>
        <p:txBody>
          <a:bodyPr wrap="square" lIns="0" tIns="0" rIns="0" bIns="0" rtlCol="0" anchor="ctr"/>
          <a:lstStyle/>
          <a:p>
            <a:pPr algn="l" indent="0" marL="0">
              <a:buNone/>
            </a:pPr>
            <a:r>
              <a:rPr lang="en-US" sz="1000" dirty="0">
                <a:solidFill>
                  <a:srgbClr val="D6EAF8"/>
                </a:solidFill>
                <a:latin typeface="Calibri" pitchFamily="34" charset="0"/>
                <a:ea typeface="Calibri" pitchFamily="34" charset="-122"/>
                <a:cs typeface="Calibri" pitchFamily="34" charset="-120"/>
              </a:rPr>
              <a:t>Always-on PHY readiness</a:t>
            </a:r>
            <a:endParaRPr lang="en-US" sz="1000" dirty="0"/>
          </a:p>
        </p:txBody>
      </p:sp>
      <p:sp>
        <p:nvSpPr>
          <p:cNvPr id="13" name="Shape 11"/>
          <p:cNvSpPr/>
          <p:nvPr/>
        </p:nvSpPr>
        <p:spPr>
          <a:xfrm>
            <a:off x="5166360" y="2322576"/>
            <a:ext cx="685800" cy="384048"/>
          </a:xfrm>
          <a:prstGeom prst="rect">
            <a:avLst/>
          </a:prstGeom>
          <a:solidFill>
            <a:srgbClr val="1A9DAA"/>
          </a:solidFill>
          <a:ln w="12700">
            <a:solidFill>
              <a:srgbClr val="1A9DAA"/>
            </a:solidFill>
            <a:prstDash val="solid"/>
          </a:ln>
        </p:spPr>
      </p:sp>
      <p:sp>
        <p:nvSpPr>
          <p:cNvPr id="14" name="Text 12"/>
          <p:cNvSpPr/>
          <p:nvPr/>
        </p:nvSpPr>
        <p:spPr>
          <a:xfrm>
            <a:off x="5925312" y="2359152"/>
            <a:ext cx="2697480" cy="329184"/>
          </a:xfrm>
          <a:prstGeom prst="rect">
            <a:avLst/>
          </a:prstGeom>
          <a:noFill/>
          <a:ln/>
        </p:spPr>
        <p:txBody>
          <a:bodyPr wrap="square" lIns="0" tIns="0" rIns="0" bIns="0" rtlCol="0" anchor="ctr"/>
          <a:lstStyle/>
          <a:p>
            <a:pPr algn="l" indent="0" marL="0">
              <a:buNone/>
            </a:pPr>
            <a:r>
              <a:rPr lang="en-US" sz="1000" dirty="0">
                <a:solidFill>
                  <a:srgbClr val="D6EAF8"/>
                </a:solidFill>
                <a:latin typeface="Calibri" pitchFamily="34" charset="0"/>
                <a:ea typeface="Calibri" pitchFamily="34" charset="-122"/>
                <a:cs typeface="Calibri" pitchFamily="34" charset="-120"/>
              </a:rPr>
              <a:t>Active data transmission</a:t>
            </a:r>
            <a:endParaRPr lang="en-US" sz="1000" dirty="0"/>
          </a:p>
        </p:txBody>
      </p:sp>
      <p:sp>
        <p:nvSpPr>
          <p:cNvPr id="15" name="Shape 13"/>
          <p:cNvSpPr/>
          <p:nvPr/>
        </p:nvSpPr>
        <p:spPr>
          <a:xfrm>
            <a:off x="5166360" y="2834640"/>
            <a:ext cx="411480" cy="384048"/>
          </a:xfrm>
          <a:prstGeom prst="rect">
            <a:avLst/>
          </a:prstGeom>
          <a:solidFill>
            <a:srgbClr val="4A6B82"/>
          </a:solidFill>
          <a:ln w="12700">
            <a:solidFill>
              <a:srgbClr val="4A6B82"/>
            </a:solidFill>
            <a:prstDash val="solid"/>
          </a:ln>
        </p:spPr>
      </p:sp>
      <p:sp>
        <p:nvSpPr>
          <p:cNvPr id="16" name="Text 14"/>
          <p:cNvSpPr/>
          <p:nvPr/>
        </p:nvSpPr>
        <p:spPr>
          <a:xfrm>
            <a:off x="5650992" y="2871216"/>
            <a:ext cx="2971800" cy="329184"/>
          </a:xfrm>
          <a:prstGeom prst="rect">
            <a:avLst/>
          </a:prstGeom>
          <a:noFill/>
          <a:ln/>
        </p:spPr>
        <p:txBody>
          <a:bodyPr wrap="square" lIns="0" tIns="0" rIns="0" bIns="0" rtlCol="0" anchor="ctr"/>
          <a:lstStyle/>
          <a:p>
            <a:pPr algn="l" indent="0" marL="0">
              <a:buNone/>
            </a:pPr>
            <a:r>
              <a:rPr lang="en-US" sz="1000" dirty="0">
                <a:solidFill>
                  <a:srgbClr val="D6EAF8"/>
                </a:solidFill>
                <a:latin typeface="Calibri" pitchFamily="34" charset="0"/>
                <a:ea typeface="Calibri" pitchFamily="34" charset="-122"/>
                <a:cs typeface="Calibri" pitchFamily="34" charset="-120"/>
              </a:rPr>
              <a:t>Management overhead</a:t>
            </a:r>
            <a:endParaRPr lang="en-US" sz="1000" dirty="0"/>
          </a:p>
        </p:txBody>
      </p:sp>
      <p:sp>
        <p:nvSpPr>
          <p:cNvPr id="17" name="Text 15"/>
          <p:cNvSpPr/>
          <p:nvPr/>
        </p:nvSpPr>
        <p:spPr>
          <a:xfrm>
            <a:off x="5166360" y="3547872"/>
            <a:ext cx="3474720" cy="274320"/>
          </a:xfrm>
          <a:prstGeom prst="rect">
            <a:avLst/>
          </a:prstGeom>
          <a:noFill/>
          <a:ln/>
        </p:spPr>
        <p:txBody>
          <a:bodyPr wrap="square" lIns="0" tIns="0" rIns="0" bIns="0" rtlCol="0" anchor="ctr"/>
          <a:lstStyle/>
          <a:p>
            <a:pPr algn="ctr" indent="0" marL="0">
              <a:buNone/>
            </a:pPr>
            <a:r>
              <a:rPr lang="en-US" sz="1100" dirty="0">
                <a:solidFill>
                  <a:srgbClr val="F0A500"/>
                </a:solidFill>
                <a:latin typeface="Calibri" pitchFamily="34" charset="0"/>
                <a:ea typeface="Calibri" pitchFamily="34" charset="-122"/>
                <a:cs typeface="Calibri" pitchFamily="34" charset="-120"/>
              </a:rPr>
              <a:t>Most power wasted at 0% load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D4E"/>
        </a:solidFill>
      </p:bgPr>
    </p:bg>
    <p:spTree>
      <p:nvGrpSpPr>
        <p:cNvPr id="1" name=""/>
        <p:cNvGrpSpPr/>
        <p:nvPr/>
      </p:nvGrpSpPr>
      <p:grpSpPr>
        <a:xfrm>
          <a:off x="0" y="0"/>
          <a:ext cx="0" cy="0"/>
          <a:chOff x="0" y="0"/>
          <a:chExt cx="0" cy="0"/>
        </a:xfrm>
      </p:grpSpPr>
      <p:sp>
        <p:nvSpPr>
          <p:cNvPr id="2" name="Text 0"/>
          <p:cNvSpPr/>
          <p:nvPr/>
        </p:nvSpPr>
        <p:spPr>
          <a:xfrm>
            <a:off x="502920" y="320040"/>
            <a:ext cx="8138160" cy="685800"/>
          </a:xfrm>
          <a:prstGeom prst="rect">
            <a:avLst/>
          </a:prstGeom>
          <a:noFill/>
          <a:ln/>
        </p:spPr>
        <p:txBody>
          <a:bodyPr wrap="square" lIns="0" tIns="0" rIns="0" bIns="0"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EEE Answer: Controlled Low-Power Mode</a:t>
            </a:r>
            <a:endParaRPr lang="en-US" sz="32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Shape 2"/>
          <p:cNvSpPr/>
          <p:nvPr/>
        </p:nvSpPr>
        <p:spPr>
          <a:xfrm>
            <a:off x="502920" y="1234440"/>
            <a:ext cx="8138160" cy="502920"/>
          </a:xfrm>
          <a:prstGeom prst="rect">
            <a:avLst/>
          </a:prstGeom>
          <a:solidFill>
            <a:srgbClr val="1A4D6E"/>
          </a:solidFill>
          <a:ln w="12700">
            <a:solidFill>
              <a:srgbClr val="1A4D6E"/>
            </a:solidFill>
            <a:prstDash val="solid"/>
          </a:ln>
        </p:spPr>
      </p:sp>
      <p:sp>
        <p:nvSpPr>
          <p:cNvPr id="5" name="Text 3"/>
          <p:cNvSpPr/>
          <p:nvPr/>
        </p:nvSpPr>
        <p:spPr>
          <a:xfrm>
            <a:off x="594360" y="1261872"/>
            <a:ext cx="7955280" cy="438912"/>
          </a:xfrm>
          <a:prstGeom prst="rect">
            <a:avLst/>
          </a:prstGeom>
          <a:noFill/>
          <a:ln/>
        </p:spPr>
        <p:txBody>
          <a:bodyPr wrap="square" lIns="0" tIns="0" rIns="0" bIns="0" rtlCol="0" anchor="ctr"/>
          <a:lstStyle/>
          <a:p>
            <a:pPr algn="ctr" indent="0" marL="0">
              <a:buNone/>
            </a:pPr>
            <a:r>
              <a:rPr lang="en-US" sz="1300" dirty="0">
                <a:solidFill>
                  <a:srgbClr val="D6EAF8"/>
                </a:solidFill>
                <a:latin typeface="Calibri" pitchFamily="34" charset="0"/>
                <a:ea typeface="Calibri" pitchFamily="34" charset="-122"/>
                <a:cs typeface="Calibri" pitchFamily="34" charset="-120"/>
              </a:rPr>
              <a:t>IEEE 802.3az-2010: transition to lower power without appearing as a link-down event to higher layers</a:t>
            </a:r>
            <a:endParaRPr lang="en-US" sz="1300" dirty="0"/>
          </a:p>
        </p:txBody>
      </p:sp>
      <p:sp>
        <p:nvSpPr>
          <p:cNvPr id="6" name="Shape 4"/>
          <p:cNvSpPr/>
          <p:nvPr/>
        </p:nvSpPr>
        <p:spPr>
          <a:xfrm>
            <a:off x="502920" y="1920240"/>
            <a:ext cx="3931920" cy="1051560"/>
          </a:xfrm>
          <a:prstGeom prst="rect">
            <a:avLst/>
          </a:prstGeom>
          <a:solidFill>
            <a:srgbClr val="1A4D6E"/>
          </a:solidFill>
          <a:ln w="12700">
            <a:solidFill>
              <a:srgbClr val="1A4D6E"/>
            </a:solidFill>
            <a:prstDash val="solid"/>
          </a:ln>
        </p:spPr>
      </p:sp>
      <p:sp>
        <p:nvSpPr>
          <p:cNvPr id="7" name="Shape 5"/>
          <p:cNvSpPr/>
          <p:nvPr/>
        </p:nvSpPr>
        <p:spPr>
          <a:xfrm>
            <a:off x="502920" y="1920240"/>
            <a:ext cx="54864" cy="1051560"/>
          </a:xfrm>
          <a:prstGeom prst="rect">
            <a:avLst/>
          </a:prstGeom>
          <a:solidFill>
            <a:srgbClr val="0E7C86"/>
          </a:solidFill>
          <a:ln w="12700">
            <a:solidFill>
              <a:srgbClr val="0E7C86"/>
            </a:solidFill>
            <a:prstDash val="solid"/>
          </a:ln>
        </p:spPr>
      </p:sp>
      <p:sp>
        <p:nvSpPr>
          <p:cNvPr id="8" name="Text 6"/>
          <p:cNvSpPr/>
          <p:nvPr/>
        </p:nvSpPr>
        <p:spPr>
          <a:xfrm>
            <a:off x="640080" y="2011680"/>
            <a:ext cx="3657600" cy="347472"/>
          </a:xfrm>
          <a:prstGeom prst="rect">
            <a:avLst/>
          </a:prstGeom>
          <a:noFill/>
          <a:ln/>
        </p:spPr>
        <p:txBody>
          <a:bodyPr wrap="square" lIns="0" tIns="0" rIns="0" bIns="0" rtlCol="0" anchor="ctr"/>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  Preserves logical link</a:t>
            </a:r>
            <a:endParaRPr lang="en-US" sz="1400" dirty="0"/>
          </a:p>
        </p:txBody>
      </p:sp>
      <p:sp>
        <p:nvSpPr>
          <p:cNvPr id="9" name="Text 7"/>
          <p:cNvSpPr/>
          <p:nvPr/>
        </p:nvSpPr>
        <p:spPr>
          <a:xfrm>
            <a:off x="640080" y="2395728"/>
            <a:ext cx="3657600" cy="50292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Higher-layer protocols see the link as up throughout the entire low-power cycle</a:t>
            </a:r>
            <a:endParaRPr lang="en-US" sz="1200" dirty="0"/>
          </a:p>
        </p:txBody>
      </p:sp>
      <p:sp>
        <p:nvSpPr>
          <p:cNvPr id="10" name="Shape 8"/>
          <p:cNvSpPr/>
          <p:nvPr/>
        </p:nvSpPr>
        <p:spPr>
          <a:xfrm>
            <a:off x="4663440" y="1920240"/>
            <a:ext cx="3931920" cy="1051560"/>
          </a:xfrm>
          <a:prstGeom prst="rect">
            <a:avLst/>
          </a:prstGeom>
          <a:solidFill>
            <a:srgbClr val="1A4D6E"/>
          </a:solidFill>
          <a:ln w="12700">
            <a:solidFill>
              <a:srgbClr val="1A4D6E"/>
            </a:solidFill>
            <a:prstDash val="solid"/>
          </a:ln>
        </p:spPr>
      </p:sp>
      <p:sp>
        <p:nvSpPr>
          <p:cNvPr id="11" name="Shape 9"/>
          <p:cNvSpPr/>
          <p:nvPr/>
        </p:nvSpPr>
        <p:spPr>
          <a:xfrm>
            <a:off x="4663440" y="1920240"/>
            <a:ext cx="54864" cy="1051560"/>
          </a:xfrm>
          <a:prstGeom prst="rect">
            <a:avLst/>
          </a:prstGeom>
          <a:solidFill>
            <a:srgbClr val="0E7C86"/>
          </a:solidFill>
          <a:ln w="12700">
            <a:solidFill>
              <a:srgbClr val="0E7C86"/>
            </a:solidFill>
            <a:prstDash val="solid"/>
          </a:ln>
        </p:spPr>
      </p:sp>
      <p:sp>
        <p:nvSpPr>
          <p:cNvPr id="12" name="Text 10"/>
          <p:cNvSpPr/>
          <p:nvPr/>
        </p:nvSpPr>
        <p:spPr>
          <a:xfrm>
            <a:off x="4800600" y="2011680"/>
            <a:ext cx="3657600" cy="347472"/>
          </a:xfrm>
          <a:prstGeom prst="rect">
            <a:avLst/>
          </a:prstGeom>
          <a:noFill/>
          <a:ln/>
        </p:spPr>
        <p:txBody>
          <a:bodyPr wrap="square" lIns="0" tIns="0" rIns="0" bIns="0" rtlCol="0" anchor="ctr"/>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  Scales with utilization</a:t>
            </a:r>
            <a:endParaRPr lang="en-US" sz="1400" dirty="0"/>
          </a:p>
        </p:txBody>
      </p:sp>
      <p:sp>
        <p:nvSpPr>
          <p:cNvPr id="13" name="Text 11"/>
          <p:cNvSpPr/>
          <p:nvPr/>
        </p:nvSpPr>
        <p:spPr>
          <a:xfrm>
            <a:off x="4800600" y="2395728"/>
            <a:ext cx="3657600" cy="50292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Power tracks actual traffic load rather than worst-case capacity planning</a:t>
            </a:r>
            <a:endParaRPr lang="en-US" sz="1200" dirty="0"/>
          </a:p>
        </p:txBody>
      </p:sp>
      <p:sp>
        <p:nvSpPr>
          <p:cNvPr id="14" name="Shape 12"/>
          <p:cNvSpPr/>
          <p:nvPr/>
        </p:nvSpPr>
        <p:spPr>
          <a:xfrm>
            <a:off x="502920" y="3154680"/>
            <a:ext cx="3931920" cy="1051560"/>
          </a:xfrm>
          <a:prstGeom prst="rect">
            <a:avLst/>
          </a:prstGeom>
          <a:solidFill>
            <a:srgbClr val="1A4D6E"/>
          </a:solidFill>
          <a:ln w="12700">
            <a:solidFill>
              <a:srgbClr val="1A4D6E"/>
            </a:solidFill>
            <a:prstDash val="solid"/>
          </a:ln>
        </p:spPr>
      </p:sp>
      <p:sp>
        <p:nvSpPr>
          <p:cNvPr id="15" name="Shape 13"/>
          <p:cNvSpPr/>
          <p:nvPr/>
        </p:nvSpPr>
        <p:spPr>
          <a:xfrm>
            <a:off x="502920" y="3154680"/>
            <a:ext cx="54864" cy="1051560"/>
          </a:xfrm>
          <a:prstGeom prst="rect">
            <a:avLst/>
          </a:prstGeom>
          <a:solidFill>
            <a:srgbClr val="0E7C86"/>
          </a:solidFill>
          <a:ln w="12700">
            <a:solidFill>
              <a:srgbClr val="0E7C86"/>
            </a:solidFill>
            <a:prstDash val="solid"/>
          </a:ln>
        </p:spPr>
      </p:sp>
      <p:sp>
        <p:nvSpPr>
          <p:cNvPr id="16" name="Text 14"/>
          <p:cNvSpPr/>
          <p:nvPr/>
        </p:nvSpPr>
        <p:spPr>
          <a:xfrm>
            <a:off x="640080" y="3246120"/>
            <a:ext cx="3657600" cy="347472"/>
          </a:xfrm>
          <a:prstGeom prst="rect">
            <a:avLst/>
          </a:prstGeom>
          <a:noFill/>
          <a:ln/>
        </p:spPr>
        <p:txBody>
          <a:bodyPr wrap="square" lIns="0" tIns="0" rIns="0" bIns="0" rtlCol="0" anchor="ctr"/>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  Standardized behavior</a:t>
            </a:r>
            <a:endParaRPr lang="en-US" sz="1400" dirty="0"/>
          </a:p>
        </p:txBody>
      </p:sp>
      <p:sp>
        <p:nvSpPr>
          <p:cNvPr id="17" name="Text 15"/>
          <p:cNvSpPr/>
          <p:nvPr/>
        </p:nvSpPr>
        <p:spPr>
          <a:xfrm>
            <a:off x="640080" y="3630168"/>
            <a:ext cx="3657600" cy="50292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IEEE 802.3az defines the rules so both endpoints interoperate cleanly</a:t>
            </a:r>
            <a:endParaRPr lang="en-US" sz="1200" dirty="0"/>
          </a:p>
        </p:txBody>
      </p:sp>
      <p:sp>
        <p:nvSpPr>
          <p:cNvPr id="18" name="Shape 16"/>
          <p:cNvSpPr/>
          <p:nvPr/>
        </p:nvSpPr>
        <p:spPr>
          <a:xfrm>
            <a:off x="4663440" y="3154680"/>
            <a:ext cx="3931920" cy="1051560"/>
          </a:xfrm>
          <a:prstGeom prst="rect">
            <a:avLst/>
          </a:prstGeom>
          <a:solidFill>
            <a:srgbClr val="1A4D6E"/>
          </a:solidFill>
          <a:ln w="12700">
            <a:solidFill>
              <a:srgbClr val="1A4D6E"/>
            </a:solidFill>
            <a:prstDash val="solid"/>
          </a:ln>
        </p:spPr>
      </p:sp>
      <p:sp>
        <p:nvSpPr>
          <p:cNvPr id="19" name="Shape 17"/>
          <p:cNvSpPr/>
          <p:nvPr/>
        </p:nvSpPr>
        <p:spPr>
          <a:xfrm>
            <a:off x="4663440" y="3154680"/>
            <a:ext cx="54864" cy="1051560"/>
          </a:xfrm>
          <a:prstGeom prst="rect">
            <a:avLst/>
          </a:prstGeom>
          <a:solidFill>
            <a:srgbClr val="0E7C86"/>
          </a:solidFill>
          <a:ln w="12700">
            <a:solidFill>
              <a:srgbClr val="0E7C86"/>
            </a:solidFill>
            <a:prstDash val="solid"/>
          </a:ln>
        </p:spPr>
      </p:sp>
      <p:sp>
        <p:nvSpPr>
          <p:cNvPr id="20" name="Text 18"/>
          <p:cNvSpPr/>
          <p:nvPr/>
        </p:nvSpPr>
        <p:spPr>
          <a:xfrm>
            <a:off x="4800600" y="3246120"/>
            <a:ext cx="3657600" cy="347472"/>
          </a:xfrm>
          <a:prstGeom prst="rect">
            <a:avLst/>
          </a:prstGeom>
          <a:noFill/>
          <a:ln/>
        </p:spPr>
        <p:txBody>
          <a:bodyPr wrap="square" lIns="0" tIns="0" rIns="0" bIns="0" rtlCol="0" anchor="ctr"/>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  Not a crude shutdown</a:t>
            </a:r>
            <a:endParaRPr lang="en-US" sz="1400" dirty="0"/>
          </a:p>
        </p:txBody>
      </p:sp>
      <p:sp>
        <p:nvSpPr>
          <p:cNvPr id="21" name="Text 19"/>
          <p:cNvSpPr/>
          <p:nvPr/>
        </p:nvSpPr>
        <p:spPr>
          <a:xfrm>
            <a:off x="4800600" y="3630168"/>
            <a:ext cx="3657600" cy="50292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A carefully managed low-power operating mode, not simply turning off the port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8FF"/>
        </a:solidFill>
      </p:bgPr>
    </p:bg>
    <p:spTree>
      <p:nvGrpSpPr>
        <p:cNvPr id="1" name=""/>
        <p:cNvGrpSpPr/>
        <p:nvPr/>
      </p:nvGrpSpPr>
      <p:grpSpPr>
        <a:xfrm>
          <a:off x="0" y="0"/>
          <a:ext cx="0" cy="0"/>
          <a:chOff x="0" y="0"/>
          <a:chExt cx="0" cy="0"/>
        </a:xfrm>
      </p:grpSpPr>
      <p:sp>
        <p:nvSpPr>
          <p:cNvPr id="2" name="Text 0"/>
          <p:cNvSpPr/>
          <p:nvPr/>
        </p:nvSpPr>
        <p:spPr>
          <a:xfrm>
            <a:off x="502920" y="320040"/>
            <a:ext cx="8138160" cy="685800"/>
          </a:xfrm>
          <a:prstGeom prst="rect">
            <a:avLst/>
          </a:prstGeom>
          <a:noFill/>
          <a:ln/>
        </p:spPr>
        <p:txBody>
          <a:bodyPr wrap="square" lIns="0" tIns="0" rIns="0" bIns="0" rtlCol="0" anchor="ctr"/>
          <a:lstStyle/>
          <a:p>
            <a:pPr algn="l" indent="0" marL="0">
              <a:buNone/>
            </a:pPr>
            <a:r>
              <a:rPr lang="en-US" sz="3400" b="1" dirty="0">
                <a:solidFill>
                  <a:srgbClr val="0B2D4E"/>
                </a:solidFill>
                <a:latin typeface="Trebuchet MS" pitchFamily="34" charset="0"/>
                <a:ea typeface="Trebuchet MS" pitchFamily="34" charset="-122"/>
                <a:cs typeface="Trebuchet MS" pitchFamily="34" charset="-120"/>
              </a:rPr>
              <a:t>Low Power Idle: The Core Idea</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5943600" cy="777240"/>
          </a:xfrm>
          <a:prstGeom prst="rect">
            <a:avLst/>
          </a:prstGeom>
          <a:noFill/>
          <a:ln/>
        </p:spPr>
        <p:txBody>
          <a:bodyPr wrap="square" lIns="0" tIns="0" rIns="0" bIns="0" rtlCol="0" anchor="t"/>
          <a:lstStyle/>
          <a:p>
            <a:pPr algn="l" indent="0" marL="0">
              <a:buNone/>
            </a:pPr>
            <a:r>
              <a:rPr lang="en-US" sz="1500" dirty="0">
                <a:solidFill>
                  <a:srgbClr val="0B2D4E"/>
                </a:solidFill>
                <a:latin typeface="Calibri" pitchFamily="34" charset="0"/>
                <a:ea typeface="Calibri" pitchFamily="34" charset="-122"/>
                <a:cs typeface="Calibri" pitchFamily="34" charset="-120"/>
              </a:rPr>
              <a:t>When there is traffic — run normally.</a:t>
            </a:r>
            <a:endParaRPr lang="en-US" sz="1500" dirty="0"/>
          </a:p>
          <a:p>
            <a:pPr algn="l" indent="0" marL="0">
              <a:buNone/>
            </a:pPr>
            <a:r>
              <a:rPr lang="en-US" sz="1500" dirty="0">
                <a:solidFill>
                  <a:srgbClr val="0B2D4E"/>
                </a:solidFill>
                <a:latin typeface="Calibri" pitchFamily="34" charset="0"/>
                <a:ea typeface="Calibri" pitchFamily="34" charset="-122"/>
                <a:cs typeface="Calibri" pitchFamily="34" charset="-120"/>
              </a:rPr>
              <a:t>When there is no traffic — enter a controlled low-power mode and wake rapidly when needed.</a:t>
            </a:r>
            <a:endParaRPr lang="en-US" sz="1500" dirty="0"/>
          </a:p>
        </p:txBody>
      </p:sp>
      <p:sp>
        <p:nvSpPr>
          <p:cNvPr id="5" name="Shape 3"/>
          <p:cNvSpPr/>
          <p:nvPr/>
        </p:nvSpPr>
        <p:spPr>
          <a:xfrm>
            <a:off x="502920" y="2148840"/>
            <a:ext cx="8229600" cy="566928"/>
          </a:xfrm>
          <a:prstGeom prst="rect">
            <a:avLst/>
          </a:prstGeom>
          <a:solidFill>
            <a:srgbClr val="0B2D4E"/>
          </a:solidFill>
          <a:ln w="12700">
            <a:solidFill>
              <a:srgbClr val="0B2D4E"/>
            </a:solidFill>
            <a:prstDash val="solid"/>
          </a:ln>
        </p:spPr>
      </p:sp>
      <p:sp>
        <p:nvSpPr>
          <p:cNvPr id="6" name="Text 4"/>
          <p:cNvSpPr/>
          <p:nvPr/>
        </p:nvSpPr>
        <p:spPr>
          <a:xfrm>
            <a:off x="594360" y="2176272"/>
            <a:ext cx="8046720" cy="512064"/>
          </a:xfrm>
          <a:prstGeom prst="rect">
            <a:avLst/>
          </a:prstGeom>
          <a:noFill/>
          <a:ln/>
        </p:spPr>
        <p:txBody>
          <a:bodyPr wrap="square" lIns="0" tIns="0" rIns="0" bIns="0" rtlCol="0" anchor="ctr"/>
          <a:lstStyle/>
          <a:p>
            <a:pPr algn="ctr" indent="0" marL="0">
              <a:buNone/>
            </a:pPr>
            <a:r>
              <a:rPr lang="en-US" sz="1400" b="1" dirty="0">
                <a:solidFill>
                  <a:srgbClr val="F0A500"/>
                </a:solidFill>
                <a:latin typeface="Trebuchet MS" pitchFamily="34" charset="0"/>
                <a:ea typeface="Trebuchet MS" pitchFamily="34" charset="-122"/>
                <a:cs typeface="Trebuchet MS" pitchFamily="34" charset="-120"/>
              </a:rPr>
              <a:t>IEEE: "Transmit data as fast as possible, then return to Low Power Idle"</a:t>
            </a:r>
            <a:endParaRPr lang="en-US" sz="1400" dirty="0"/>
          </a:p>
        </p:txBody>
      </p:sp>
      <p:sp>
        <p:nvSpPr>
          <p:cNvPr id="7" name="Shape 5"/>
          <p:cNvSpPr/>
          <p:nvPr/>
        </p:nvSpPr>
        <p:spPr>
          <a:xfrm>
            <a:off x="502920" y="2880360"/>
            <a:ext cx="3977640" cy="384048"/>
          </a:xfrm>
          <a:prstGeom prst="rect">
            <a:avLst/>
          </a:prstGeom>
          <a:solidFill>
            <a:srgbClr val="C0392B"/>
          </a:solidFill>
          <a:ln w="12700">
            <a:solidFill>
              <a:srgbClr val="C0392B"/>
            </a:solidFill>
            <a:prstDash val="solid"/>
          </a:ln>
        </p:spPr>
      </p:sp>
      <p:sp>
        <p:nvSpPr>
          <p:cNvPr id="8" name="Text 6"/>
          <p:cNvSpPr/>
          <p:nvPr/>
        </p:nvSpPr>
        <p:spPr>
          <a:xfrm>
            <a:off x="594360" y="2880360"/>
            <a:ext cx="37947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Traditional Ethernet Idle</a:t>
            </a:r>
            <a:endParaRPr lang="en-US" sz="1300" dirty="0"/>
          </a:p>
        </p:txBody>
      </p:sp>
      <p:sp>
        <p:nvSpPr>
          <p:cNvPr id="9" name="Text 7"/>
          <p:cNvSpPr/>
          <p:nvPr/>
        </p:nvSpPr>
        <p:spPr>
          <a:xfrm>
            <a:off x="640080" y="3355848"/>
            <a:ext cx="3749040" cy="292608"/>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Keeps all circuits active</a:t>
            </a:r>
            <a:endParaRPr lang="en-US" sz="1300" dirty="0"/>
          </a:p>
        </p:txBody>
      </p:sp>
      <p:sp>
        <p:nvSpPr>
          <p:cNvPr id="10" name="Text 8"/>
          <p:cNvSpPr/>
          <p:nvPr/>
        </p:nvSpPr>
        <p:spPr>
          <a:xfrm>
            <a:off x="640080" y="3666744"/>
            <a:ext cx="3749040" cy="292608"/>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Continuous signalling</a:t>
            </a:r>
            <a:endParaRPr lang="en-US" sz="1300" dirty="0"/>
          </a:p>
        </p:txBody>
      </p:sp>
      <p:sp>
        <p:nvSpPr>
          <p:cNvPr id="11" name="Text 9"/>
          <p:cNvSpPr/>
          <p:nvPr/>
        </p:nvSpPr>
        <p:spPr>
          <a:xfrm>
            <a:off x="640080" y="3977640"/>
            <a:ext cx="3749040" cy="292608"/>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Full power at 0% load</a:t>
            </a:r>
            <a:endParaRPr lang="en-US" sz="1300" dirty="0"/>
          </a:p>
        </p:txBody>
      </p:sp>
      <p:sp>
        <p:nvSpPr>
          <p:cNvPr id="12" name="Text 10"/>
          <p:cNvSpPr/>
          <p:nvPr/>
        </p:nvSpPr>
        <p:spPr>
          <a:xfrm>
            <a:off x="640080" y="4288536"/>
            <a:ext cx="3749040" cy="292608"/>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No wake delay</a:t>
            </a:r>
            <a:endParaRPr lang="en-US" sz="1300" dirty="0"/>
          </a:p>
        </p:txBody>
      </p:sp>
      <p:sp>
        <p:nvSpPr>
          <p:cNvPr id="13" name="Shape 11"/>
          <p:cNvSpPr/>
          <p:nvPr/>
        </p:nvSpPr>
        <p:spPr>
          <a:xfrm>
            <a:off x="4709160" y="2880360"/>
            <a:ext cx="3977640" cy="384048"/>
          </a:xfrm>
          <a:prstGeom prst="rect">
            <a:avLst/>
          </a:prstGeom>
          <a:solidFill>
            <a:srgbClr val="0E7C86"/>
          </a:solidFill>
          <a:ln w="12700">
            <a:solidFill>
              <a:srgbClr val="0E7C86"/>
            </a:solidFill>
            <a:prstDash val="solid"/>
          </a:ln>
        </p:spPr>
      </p:sp>
      <p:sp>
        <p:nvSpPr>
          <p:cNvPr id="14" name="Text 12"/>
          <p:cNvSpPr/>
          <p:nvPr/>
        </p:nvSpPr>
        <p:spPr>
          <a:xfrm>
            <a:off x="4800600" y="2880360"/>
            <a:ext cx="37947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Low Power Idle</a:t>
            </a:r>
            <a:endParaRPr lang="en-US" sz="1300" dirty="0"/>
          </a:p>
        </p:txBody>
      </p:sp>
      <p:sp>
        <p:nvSpPr>
          <p:cNvPr id="15" name="Text 13"/>
          <p:cNvSpPr/>
          <p:nvPr/>
        </p:nvSpPr>
        <p:spPr>
          <a:xfrm>
            <a:off x="4846320" y="3355848"/>
            <a:ext cx="3749040" cy="292608"/>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Powers down unused circuits</a:t>
            </a:r>
            <a:endParaRPr lang="en-US" sz="1300" dirty="0"/>
          </a:p>
        </p:txBody>
      </p:sp>
      <p:sp>
        <p:nvSpPr>
          <p:cNvPr id="16" name="Text 14"/>
          <p:cNvSpPr/>
          <p:nvPr/>
        </p:nvSpPr>
        <p:spPr>
          <a:xfrm>
            <a:off x="4846320" y="3666744"/>
            <a:ext cx="3749040" cy="292608"/>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Periodic refresh only</a:t>
            </a:r>
            <a:endParaRPr lang="en-US" sz="1300" dirty="0"/>
          </a:p>
        </p:txBody>
      </p:sp>
      <p:sp>
        <p:nvSpPr>
          <p:cNvPr id="17" name="Text 15"/>
          <p:cNvSpPr/>
          <p:nvPr/>
        </p:nvSpPr>
        <p:spPr>
          <a:xfrm>
            <a:off x="4846320" y="3977640"/>
            <a:ext cx="3749040" cy="292608"/>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Power scales with load</a:t>
            </a:r>
            <a:endParaRPr lang="en-US" sz="1300" dirty="0"/>
          </a:p>
        </p:txBody>
      </p:sp>
      <p:sp>
        <p:nvSpPr>
          <p:cNvPr id="18" name="Text 16"/>
          <p:cNvSpPr/>
          <p:nvPr/>
        </p:nvSpPr>
        <p:spPr>
          <a:xfrm>
            <a:off x="4846320" y="4288536"/>
            <a:ext cx="3749040" cy="292608"/>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Small wake-up cost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D4E"/>
        </a:solidFill>
      </p:bgPr>
    </p:bg>
    <p:spTree>
      <p:nvGrpSpPr>
        <p:cNvPr id="1" name=""/>
        <p:cNvGrpSpPr/>
        <p:nvPr/>
      </p:nvGrpSpPr>
      <p:grpSpPr>
        <a:xfrm>
          <a:off x="0" y="0"/>
          <a:ext cx="0" cy="0"/>
          <a:chOff x="0" y="0"/>
          <a:chExt cx="0" cy="0"/>
        </a:xfrm>
      </p:grpSpPr>
      <p:sp>
        <p:nvSpPr>
          <p:cNvPr id="2" name="Text 0"/>
          <p:cNvSpPr/>
          <p:nvPr/>
        </p:nvSpPr>
        <p:spPr>
          <a:xfrm>
            <a:off x="502920" y="320040"/>
            <a:ext cx="8138160" cy="685800"/>
          </a:xfrm>
          <a:prstGeom prst="rect">
            <a:avLst/>
          </a:prstGeom>
          <a:noFill/>
          <a:ln/>
        </p:spPr>
        <p:txBody>
          <a:bodyPr wrap="square" lIns="0" tIns="0" rIns="0" bIns="0" rtlCol="0" anchor="ctr"/>
          <a:lstStyle/>
          <a:p>
            <a:pPr algn="l" indent="0" marL="0">
              <a:buNone/>
            </a:pPr>
            <a:r>
              <a:rPr lang="en-US" sz="3400" b="1" dirty="0">
                <a:solidFill>
                  <a:srgbClr val="FFFFFF"/>
                </a:solidFill>
                <a:latin typeface="Trebuchet MS" pitchFamily="34" charset="0"/>
                <a:ea typeface="Trebuchet MS" pitchFamily="34" charset="-122"/>
                <a:cs typeface="Trebuchet MS" pitchFamily="34" charset="-120"/>
              </a:rPr>
              <a:t>The LPI Timing Vocabulary</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320040"/>
          </a:xfrm>
          <a:prstGeom prst="rect">
            <a:avLst/>
          </a:prstGeom>
          <a:noFill/>
          <a:ln/>
        </p:spPr>
        <p:txBody>
          <a:bodyPr wrap="square" lIns="0" tIns="0" rIns="0" bIns="0" rtlCol="0" anchor="t"/>
          <a:lstStyle/>
          <a:p>
            <a:pPr algn="l" indent="0" marL="0">
              <a:buNone/>
            </a:pPr>
            <a:r>
              <a:rPr lang="en-US" sz="1400" dirty="0">
                <a:solidFill>
                  <a:srgbClr val="D6EAF8"/>
                </a:solidFill>
                <a:latin typeface="Calibri" pitchFamily="34" charset="0"/>
                <a:ea typeface="Calibri" pitchFamily="34" charset="-122"/>
                <a:cs typeface="Calibri" pitchFamily="34" charset="-120"/>
              </a:rPr>
              <a:t>To understand LPI behavior you must know these five terms:</a:t>
            </a:r>
            <a:endParaRPr lang="en-US" sz="1400" dirty="0"/>
          </a:p>
        </p:txBody>
      </p:sp>
      <p:sp>
        <p:nvSpPr>
          <p:cNvPr id="5" name="Shape 3"/>
          <p:cNvSpPr/>
          <p:nvPr/>
        </p:nvSpPr>
        <p:spPr>
          <a:xfrm>
            <a:off x="502920" y="1627632"/>
            <a:ext cx="2606040" cy="502920"/>
          </a:xfrm>
          <a:prstGeom prst="rect">
            <a:avLst/>
          </a:prstGeom>
          <a:solidFill>
            <a:srgbClr val="0E7C86"/>
          </a:solidFill>
          <a:ln w="12700">
            <a:solidFill>
              <a:srgbClr val="0E7C86"/>
            </a:solidFill>
            <a:prstDash val="solid"/>
          </a:ln>
        </p:spPr>
      </p:sp>
      <p:sp>
        <p:nvSpPr>
          <p:cNvPr id="6" name="Text 4"/>
          <p:cNvSpPr/>
          <p:nvPr/>
        </p:nvSpPr>
        <p:spPr>
          <a:xfrm>
            <a:off x="566928" y="1673352"/>
            <a:ext cx="2468880" cy="411480"/>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Ts — Sleep Time</a:t>
            </a:r>
            <a:endParaRPr lang="en-US" sz="1300" dirty="0"/>
          </a:p>
        </p:txBody>
      </p:sp>
      <p:sp>
        <p:nvSpPr>
          <p:cNvPr id="7" name="Text 5"/>
          <p:cNvSpPr/>
          <p:nvPr/>
        </p:nvSpPr>
        <p:spPr>
          <a:xfrm>
            <a:off x="3246120" y="1673352"/>
            <a:ext cx="5486400" cy="411480"/>
          </a:xfrm>
          <a:prstGeom prst="rect">
            <a:avLst/>
          </a:prstGeom>
          <a:noFill/>
          <a:ln/>
        </p:spPr>
        <p:txBody>
          <a:bodyPr wrap="square" lIns="0" tIns="0" rIns="0" bIns="0" rtlCol="0" anchor="t"/>
          <a:lstStyle/>
          <a:p>
            <a:pPr algn="l" indent="0" marL="0">
              <a:buNone/>
            </a:pPr>
            <a:r>
              <a:rPr lang="en-US" sz="1300" dirty="0">
                <a:solidFill>
                  <a:srgbClr val="D6EAF8"/>
                </a:solidFill>
                <a:latin typeface="Calibri" pitchFamily="34" charset="0"/>
                <a:ea typeface="Calibri" pitchFamily="34" charset="-122"/>
                <a:cs typeface="Calibri" pitchFamily="34" charset="-120"/>
              </a:rPr>
              <a:t>Duration the PHY sends Sleep symbols before going quiet</a:t>
            </a:r>
            <a:endParaRPr lang="en-US" sz="1300" dirty="0"/>
          </a:p>
        </p:txBody>
      </p:sp>
      <p:sp>
        <p:nvSpPr>
          <p:cNvPr id="8" name="Shape 6"/>
          <p:cNvSpPr/>
          <p:nvPr/>
        </p:nvSpPr>
        <p:spPr>
          <a:xfrm>
            <a:off x="502920" y="2267712"/>
            <a:ext cx="2606040" cy="502920"/>
          </a:xfrm>
          <a:prstGeom prst="rect">
            <a:avLst/>
          </a:prstGeom>
          <a:solidFill>
            <a:srgbClr val="0E7C86"/>
          </a:solidFill>
          <a:ln w="12700">
            <a:solidFill>
              <a:srgbClr val="0E7C86"/>
            </a:solidFill>
            <a:prstDash val="solid"/>
          </a:ln>
        </p:spPr>
      </p:sp>
      <p:sp>
        <p:nvSpPr>
          <p:cNvPr id="9" name="Text 7"/>
          <p:cNvSpPr/>
          <p:nvPr/>
        </p:nvSpPr>
        <p:spPr>
          <a:xfrm>
            <a:off x="566928" y="2313432"/>
            <a:ext cx="2468880" cy="411480"/>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Tq — Quiet Duration</a:t>
            </a:r>
            <a:endParaRPr lang="en-US" sz="1300" dirty="0"/>
          </a:p>
        </p:txBody>
      </p:sp>
      <p:sp>
        <p:nvSpPr>
          <p:cNvPr id="10" name="Text 8"/>
          <p:cNvSpPr/>
          <p:nvPr/>
        </p:nvSpPr>
        <p:spPr>
          <a:xfrm>
            <a:off x="3246120" y="2313432"/>
            <a:ext cx="5486400" cy="411480"/>
          </a:xfrm>
          <a:prstGeom prst="rect">
            <a:avLst/>
          </a:prstGeom>
          <a:noFill/>
          <a:ln/>
        </p:spPr>
        <p:txBody>
          <a:bodyPr wrap="square" lIns="0" tIns="0" rIns="0" bIns="0" rtlCol="0" anchor="t"/>
          <a:lstStyle/>
          <a:p>
            <a:pPr algn="l" indent="0" marL="0">
              <a:buNone/>
            </a:pPr>
            <a:r>
              <a:rPr lang="en-US" sz="1300" dirty="0">
                <a:solidFill>
                  <a:srgbClr val="D6EAF8"/>
                </a:solidFill>
                <a:latin typeface="Calibri" pitchFamily="34" charset="0"/>
                <a:ea typeface="Calibri" pitchFamily="34" charset="-122"/>
                <a:cs typeface="Calibri" pitchFamily="34" charset="-120"/>
              </a:rPr>
              <a:t>Duration the PHY remains quiet before a mandatory refresh</a:t>
            </a:r>
            <a:endParaRPr lang="en-US" sz="1300" dirty="0"/>
          </a:p>
        </p:txBody>
      </p:sp>
      <p:sp>
        <p:nvSpPr>
          <p:cNvPr id="11" name="Shape 9"/>
          <p:cNvSpPr/>
          <p:nvPr/>
        </p:nvSpPr>
        <p:spPr>
          <a:xfrm>
            <a:off x="502920" y="2907792"/>
            <a:ext cx="2606040" cy="502920"/>
          </a:xfrm>
          <a:prstGeom prst="rect">
            <a:avLst/>
          </a:prstGeom>
          <a:solidFill>
            <a:srgbClr val="0E7C86"/>
          </a:solidFill>
          <a:ln w="12700">
            <a:solidFill>
              <a:srgbClr val="0E7C86"/>
            </a:solidFill>
            <a:prstDash val="solid"/>
          </a:ln>
        </p:spPr>
      </p:sp>
      <p:sp>
        <p:nvSpPr>
          <p:cNvPr id="12" name="Text 10"/>
          <p:cNvSpPr/>
          <p:nvPr/>
        </p:nvSpPr>
        <p:spPr>
          <a:xfrm>
            <a:off x="566928" y="2953512"/>
            <a:ext cx="2468880" cy="411480"/>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Tr — Refresh Duration</a:t>
            </a:r>
            <a:endParaRPr lang="en-US" sz="1300" dirty="0"/>
          </a:p>
        </p:txBody>
      </p:sp>
      <p:sp>
        <p:nvSpPr>
          <p:cNvPr id="13" name="Text 11"/>
          <p:cNvSpPr/>
          <p:nvPr/>
        </p:nvSpPr>
        <p:spPr>
          <a:xfrm>
            <a:off x="3246120" y="2953512"/>
            <a:ext cx="5486400" cy="411480"/>
          </a:xfrm>
          <a:prstGeom prst="rect">
            <a:avLst/>
          </a:prstGeom>
          <a:noFill/>
          <a:ln/>
        </p:spPr>
        <p:txBody>
          <a:bodyPr wrap="square" lIns="0" tIns="0" rIns="0" bIns="0" rtlCol="0" anchor="t"/>
          <a:lstStyle/>
          <a:p>
            <a:pPr algn="l" indent="0" marL="0">
              <a:buNone/>
            </a:pPr>
            <a:r>
              <a:rPr lang="en-US" sz="1300" dirty="0">
                <a:solidFill>
                  <a:srgbClr val="D6EAF8"/>
                </a:solidFill>
                <a:latin typeface="Calibri" pitchFamily="34" charset="0"/>
                <a:ea typeface="Calibri" pitchFamily="34" charset="-122"/>
                <a:cs typeface="Calibri" pitchFamily="34" charset="-120"/>
              </a:rPr>
              <a:t>Duration of Refresh symbols sent for timing recovery and coefficient sync</a:t>
            </a:r>
            <a:endParaRPr lang="en-US" sz="1300" dirty="0"/>
          </a:p>
        </p:txBody>
      </p:sp>
      <p:sp>
        <p:nvSpPr>
          <p:cNvPr id="14" name="Shape 12"/>
          <p:cNvSpPr/>
          <p:nvPr/>
        </p:nvSpPr>
        <p:spPr>
          <a:xfrm>
            <a:off x="502920" y="3547872"/>
            <a:ext cx="2606040" cy="502920"/>
          </a:xfrm>
          <a:prstGeom prst="rect">
            <a:avLst/>
          </a:prstGeom>
          <a:solidFill>
            <a:srgbClr val="0E7C86"/>
          </a:solidFill>
          <a:ln w="12700">
            <a:solidFill>
              <a:srgbClr val="0E7C86"/>
            </a:solidFill>
            <a:prstDash val="solid"/>
          </a:ln>
        </p:spPr>
      </p:sp>
      <p:sp>
        <p:nvSpPr>
          <p:cNvPr id="15" name="Text 13"/>
          <p:cNvSpPr/>
          <p:nvPr/>
        </p:nvSpPr>
        <p:spPr>
          <a:xfrm>
            <a:off x="566928" y="3593592"/>
            <a:ext cx="2468880" cy="411480"/>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Tw_PHY — PHY Wake Time</a:t>
            </a:r>
            <a:endParaRPr lang="en-US" sz="1300" dirty="0"/>
          </a:p>
        </p:txBody>
      </p:sp>
      <p:sp>
        <p:nvSpPr>
          <p:cNvPr id="16" name="Text 14"/>
          <p:cNvSpPr/>
          <p:nvPr/>
        </p:nvSpPr>
        <p:spPr>
          <a:xfrm>
            <a:off x="3246120" y="3593592"/>
            <a:ext cx="5486400" cy="411480"/>
          </a:xfrm>
          <a:prstGeom prst="rect">
            <a:avLst/>
          </a:prstGeom>
          <a:noFill/>
          <a:ln/>
        </p:spPr>
        <p:txBody>
          <a:bodyPr wrap="square" lIns="0" tIns="0" rIns="0" bIns="0" rtlCol="0" anchor="t"/>
          <a:lstStyle/>
          <a:p>
            <a:pPr algn="l" indent="0" marL="0">
              <a:buNone/>
            </a:pPr>
            <a:r>
              <a:rPr lang="en-US" sz="1300" dirty="0">
                <a:solidFill>
                  <a:srgbClr val="D6EAF8"/>
                </a:solidFill>
                <a:latin typeface="Calibri" pitchFamily="34" charset="0"/>
                <a:ea typeface="Calibri" pitchFamily="34" charset="-122"/>
                <a:cs typeface="Calibri" pitchFamily="34" charset="-120"/>
              </a:rPr>
              <a:t>Time the physical layer itself needs to resume active state</a:t>
            </a:r>
            <a:endParaRPr lang="en-US" sz="1300" dirty="0"/>
          </a:p>
        </p:txBody>
      </p:sp>
      <p:sp>
        <p:nvSpPr>
          <p:cNvPr id="17" name="Shape 15"/>
          <p:cNvSpPr/>
          <p:nvPr/>
        </p:nvSpPr>
        <p:spPr>
          <a:xfrm>
            <a:off x="502920" y="4187952"/>
            <a:ext cx="2606040" cy="502920"/>
          </a:xfrm>
          <a:prstGeom prst="rect">
            <a:avLst/>
          </a:prstGeom>
          <a:solidFill>
            <a:srgbClr val="0E7C86"/>
          </a:solidFill>
          <a:ln w="12700">
            <a:solidFill>
              <a:srgbClr val="0E7C86"/>
            </a:solidFill>
            <a:prstDash val="solid"/>
          </a:ln>
        </p:spPr>
      </p:sp>
      <p:sp>
        <p:nvSpPr>
          <p:cNvPr id="18" name="Text 16"/>
          <p:cNvSpPr/>
          <p:nvPr/>
        </p:nvSpPr>
        <p:spPr>
          <a:xfrm>
            <a:off x="566928" y="4233672"/>
            <a:ext cx="2468880" cy="411480"/>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Tw_Sys — System Wake</a:t>
            </a:r>
            <a:endParaRPr lang="en-US" sz="1300" dirty="0"/>
          </a:p>
        </p:txBody>
      </p:sp>
      <p:sp>
        <p:nvSpPr>
          <p:cNvPr id="19" name="Text 17"/>
          <p:cNvSpPr/>
          <p:nvPr/>
        </p:nvSpPr>
        <p:spPr>
          <a:xfrm>
            <a:off x="3246120" y="4233672"/>
            <a:ext cx="5486400" cy="411480"/>
          </a:xfrm>
          <a:prstGeom prst="rect">
            <a:avLst/>
          </a:prstGeom>
          <a:noFill/>
          <a:ln/>
        </p:spPr>
        <p:txBody>
          <a:bodyPr wrap="square" lIns="0" tIns="0" rIns="0" bIns="0" rtlCol="0" anchor="t"/>
          <a:lstStyle/>
          <a:p>
            <a:pPr algn="l" indent="0" marL="0">
              <a:buNone/>
            </a:pPr>
            <a:r>
              <a:rPr lang="en-US" sz="1300" dirty="0">
                <a:solidFill>
                  <a:srgbClr val="D6EAF8"/>
                </a:solidFill>
                <a:latin typeface="Calibri" pitchFamily="34" charset="0"/>
                <a:ea typeface="Calibri" pitchFamily="34" charset="-122"/>
                <a:cs typeface="Calibri" pitchFamily="34" charset="-120"/>
              </a:rPr>
              <a:t>Extra wait after PHY wakes before data is sent, lets receiving system become ready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8FF"/>
        </a:solidFill>
      </p:bgPr>
    </p:bg>
    <p:spTree>
      <p:nvGrpSpPr>
        <p:cNvPr id="1" name=""/>
        <p:cNvGrpSpPr/>
        <p:nvPr/>
      </p:nvGrpSpPr>
      <p:grpSpPr>
        <a:xfrm>
          <a:off x="0" y="0"/>
          <a:ext cx="0" cy="0"/>
          <a:chOff x="0" y="0"/>
          <a:chExt cx="0" cy="0"/>
        </a:xfrm>
      </p:grpSpPr>
      <p:sp>
        <p:nvSpPr>
          <p:cNvPr id="2" name="Text 0"/>
          <p:cNvSpPr/>
          <p:nvPr/>
        </p:nvSpPr>
        <p:spPr>
          <a:xfrm>
            <a:off x="502920" y="320040"/>
            <a:ext cx="8138160" cy="685800"/>
          </a:xfrm>
          <a:prstGeom prst="rect">
            <a:avLst/>
          </a:prstGeom>
          <a:noFill/>
          <a:ln/>
        </p:spPr>
        <p:txBody>
          <a:bodyPr wrap="square" lIns="0" tIns="0" rIns="0" bIns="0" rtlCol="0" anchor="ctr"/>
          <a:lstStyle/>
          <a:p>
            <a:pPr algn="l" indent="0" marL="0">
              <a:buNone/>
            </a:pPr>
            <a:r>
              <a:rPr lang="en-US" sz="3400" b="1" dirty="0">
                <a:solidFill>
                  <a:srgbClr val="0B2D4E"/>
                </a:solidFill>
                <a:latin typeface="Trebuchet MS" pitchFamily="34" charset="0"/>
                <a:ea typeface="Trebuchet MS" pitchFamily="34" charset="-122"/>
                <a:cs typeface="Trebuchet MS" pitchFamily="34" charset="-120"/>
              </a:rPr>
              <a:t>The LPI State Machine</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229600" cy="347472"/>
          </a:xfrm>
          <a:prstGeom prst="rect">
            <a:avLst/>
          </a:prstGeom>
          <a:noFill/>
          <a:ln/>
        </p:spPr>
        <p:txBody>
          <a:bodyPr wrap="square" lIns="0" tIns="0" rIns="0" bIns="0" rtlCol="0" anchor="t"/>
          <a:lstStyle/>
          <a:p>
            <a:pPr algn="l" indent="0" marL="0">
              <a:buNone/>
            </a:pPr>
            <a:r>
              <a:rPr lang="en-US" sz="1400" dirty="0">
                <a:solidFill>
                  <a:srgbClr val="0B2D4E"/>
                </a:solidFill>
                <a:latin typeface="Calibri" pitchFamily="34" charset="0"/>
                <a:ea typeface="Calibri" pitchFamily="34" charset="-122"/>
                <a:cs typeface="Calibri" pitchFamily="34" charset="-120"/>
              </a:rPr>
              <a:t>The transmit side cycles through a managed sequence, not a simple on/off switch:</a:t>
            </a:r>
            <a:endParaRPr lang="en-US" sz="1400" dirty="0"/>
          </a:p>
        </p:txBody>
      </p:sp>
      <p:sp>
        <p:nvSpPr>
          <p:cNvPr id="5" name="Shape 3"/>
          <p:cNvSpPr/>
          <p:nvPr/>
        </p:nvSpPr>
        <p:spPr>
          <a:xfrm>
            <a:off x="137160" y="1737360"/>
            <a:ext cx="1371600" cy="822960"/>
          </a:xfrm>
          <a:prstGeom prst="rect">
            <a:avLst/>
          </a:prstGeom>
          <a:solidFill>
            <a:srgbClr val="1A9DAA"/>
          </a:solidFill>
          <a:ln w="12700">
            <a:solidFill>
              <a:srgbClr val="1A9DAA"/>
            </a:solidFill>
            <a:prstDash val="solid"/>
          </a:ln>
        </p:spPr>
      </p:sp>
      <p:sp>
        <p:nvSpPr>
          <p:cNvPr id="6" name="Text 4"/>
          <p:cNvSpPr/>
          <p:nvPr/>
        </p:nvSpPr>
        <p:spPr>
          <a:xfrm>
            <a:off x="164592" y="1773936"/>
            <a:ext cx="1316736"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ACTIVE</a:t>
            </a:r>
            <a:endParaRPr lang="en-US" sz="1200" dirty="0"/>
          </a:p>
        </p:txBody>
      </p:sp>
      <p:sp>
        <p:nvSpPr>
          <p:cNvPr id="7" name="Text 5"/>
          <p:cNvSpPr/>
          <p:nvPr/>
        </p:nvSpPr>
        <p:spPr>
          <a:xfrm>
            <a:off x="164592" y="2148840"/>
            <a:ext cx="1316736" cy="38404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Normal traffic</a:t>
            </a:r>
            <a:endParaRPr lang="en-US" sz="1000" dirty="0"/>
          </a:p>
        </p:txBody>
      </p:sp>
      <p:sp>
        <p:nvSpPr>
          <p:cNvPr id="8" name="Text 6"/>
          <p:cNvSpPr/>
          <p:nvPr/>
        </p:nvSpPr>
        <p:spPr>
          <a:xfrm>
            <a:off x="1508760" y="1920240"/>
            <a:ext cx="128016" cy="411480"/>
          </a:xfrm>
          <a:prstGeom prst="rect">
            <a:avLst/>
          </a:prstGeom>
          <a:noFill/>
          <a:ln/>
        </p:spPr>
        <p:txBody>
          <a:bodyPr wrap="square" lIns="0" tIns="0" rIns="0" bIns="0" rtlCol="0" anchor="ctr"/>
          <a:lstStyle/>
          <a:p>
            <a:pPr algn="ctr" indent="0" marL="0">
              <a:buNone/>
            </a:pPr>
            <a:r>
              <a:rPr lang="en-US" sz="1600" b="1" dirty="0">
                <a:solidFill>
                  <a:srgbClr val="0E7C86"/>
                </a:solidFill>
                <a:latin typeface="Trebuchet MS" pitchFamily="34" charset="0"/>
                <a:ea typeface="Trebuchet MS" pitchFamily="34" charset="-122"/>
                <a:cs typeface="Trebuchet MS" pitchFamily="34" charset="-120"/>
              </a:rPr>
              <a:t>-&gt;</a:t>
            </a:r>
            <a:endParaRPr lang="en-US" sz="1600" dirty="0"/>
          </a:p>
        </p:txBody>
      </p:sp>
      <p:sp>
        <p:nvSpPr>
          <p:cNvPr id="9" name="Shape 7"/>
          <p:cNvSpPr/>
          <p:nvPr/>
        </p:nvSpPr>
        <p:spPr>
          <a:xfrm>
            <a:off x="1636776" y="1737360"/>
            <a:ext cx="1371600" cy="822960"/>
          </a:xfrm>
          <a:prstGeom prst="rect">
            <a:avLst/>
          </a:prstGeom>
          <a:solidFill>
            <a:srgbClr val="E67E22"/>
          </a:solidFill>
          <a:ln w="12700">
            <a:solidFill>
              <a:srgbClr val="E67E22"/>
            </a:solidFill>
            <a:prstDash val="solid"/>
          </a:ln>
        </p:spPr>
      </p:sp>
      <p:sp>
        <p:nvSpPr>
          <p:cNvPr id="10" name="Text 8"/>
          <p:cNvSpPr/>
          <p:nvPr/>
        </p:nvSpPr>
        <p:spPr>
          <a:xfrm>
            <a:off x="1664208" y="1773936"/>
            <a:ext cx="1316736"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SLEEP</a:t>
            </a:r>
            <a:endParaRPr lang="en-US" sz="1200" dirty="0"/>
          </a:p>
        </p:txBody>
      </p:sp>
      <p:sp>
        <p:nvSpPr>
          <p:cNvPr id="11" name="Text 9"/>
          <p:cNvSpPr/>
          <p:nvPr/>
        </p:nvSpPr>
        <p:spPr>
          <a:xfrm>
            <a:off x="1664208" y="2148840"/>
            <a:ext cx="1316736" cy="38404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Assert LPI intent</a:t>
            </a:r>
            <a:endParaRPr lang="en-US" sz="1000" dirty="0"/>
          </a:p>
        </p:txBody>
      </p:sp>
      <p:sp>
        <p:nvSpPr>
          <p:cNvPr id="12" name="Text 10"/>
          <p:cNvSpPr/>
          <p:nvPr/>
        </p:nvSpPr>
        <p:spPr>
          <a:xfrm>
            <a:off x="3008376" y="1920240"/>
            <a:ext cx="128016" cy="411480"/>
          </a:xfrm>
          <a:prstGeom prst="rect">
            <a:avLst/>
          </a:prstGeom>
          <a:noFill/>
          <a:ln/>
        </p:spPr>
        <p:txBody>
          <a:bodyPr wrap="square" lIns="0" tIns="0" rIns="0" bIns="0" rtlCol="0" anchor="ctr"/>
          <a:lstStyle/>
          <a:p>
            <a:pPr algn="ctr" indent="0" marL="0">
              <a:buNone/>
            </a:pPr>
            <a:r>
              <a:rPr lang="en-US" sz="1600" b="1" dirty="0">
                <a:solidFill>
                  <a:srgbClr val="0E7C86"/>
                </a:solidFill>
                <a:latin typeface="Trebuchet MS" pitchFamily="34" charset="0"/>
                <a:ea typeface="Trebuchet MS" pitchFamily="34" charset="-122"/>
                <a:cs typeface="Trebuchet MS" pitchFamily="34" charset="-120"/>
              </a:rPr>
              <a:t>-&gt;</a:t>
            </a:r>
            <a:endParaRPr lang="en-US" sz="1600" dirty="0"/>
          </a:p>
        </p:txBody>
      </p:sp>
      <p:sp>
        <p:nvSpPr>
          <p:cNvPr id="13" name="Shape 11"/>
          <p:cNvSpPr/>
          <p:nvPr/>
        </p:nvSpPr>
        <p:spPr>
          <a:xfrm>
            <a:off x="3136392" y="1737360"/>
            <a:ext cx="1371600" cy="822960"/>
          </a:xfrm>
          <a:prstGeom prst="rect">
            <a:avLst/>
          </a:prstGeom>
          <a:solidFill>
            <a:srgbClr val="2980B9"/>
          </a:solidFill>
          <a:ln w="12700">
            <a:solidFill>
              <a:srgbClr val="2980B9"/>
            </a:solidFill>
            <a:prstDash val="solid"/>
          </a:ln>
        </p:spPr>
      </p:sp>
      <p:sp>
        <p:nvSpPr>
          <p:cNvPr id="14" name="Text 12"/>
          <p:cNvSpPr/>
          <p:nvPr/>
        </p:nvSpPr>
        <p:spPr>
          <a:xfrm>
            <a:off x="3163824" y="1773936"/>
            <a:ext cx="1316736"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QUIET</a:t>
            </a:r>
            <a:endParaRPr lang="en-US" sz="1200" dirty="0"/>
          </a:p>
        </p:txBody>
      </p:sp>
      <p:sp>
        <p:nvSpPr>
          <p:cNvPr id="15" name="Text 13"/>
          <p:cNvSpPr/>
          <p:nvPr/>
        </p:nvSpPr>
        <p:spPr>
          <a:xfrm>
            <a:off x="3163824" y="2148840"/>
            <a:ext cx="1316736" cy="38404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Power saved here</a:t>
            </a:r>
            <a:endParaRPr lang="en-US" sz="1000" dirty="0"/>
          </a:p>
        </p:txBody>
      </p:sp>
      <p:sp>
        <p:nvSpPr>
          <p:cNvPr id="16" name="Text 14"/>
          <p:cNvSpPr/>
          <p:nvPr/>
        </p:nvSpPr>
        <p:spPr>
          <a:xfrm>
            <a:off x="4507992" y="1920240"/>
            <a:ext cx="128016" cy="411480"/>
          </a:xfrm>
          <a:prstGeom prst="rect">
            <a:avLst/>
          </a:prstGeom>
          <a:noFill/>
          <a:ln/>
        </p:spPr>
        <p:txBody>
          <a:bodyPr wrap="square" lIns="0" tIns="0" rIns="0" bIns="0" rtlCol="0" anchor="ctr"/>
          <a:lstStyle/>
          <a:p>
            <a:pPr algn="ctr" indent="0" marL="0">
              <a:buNone/>
            </a:pPr>
            <a:r>
              <a:rPr lang="en-US" sz="1600" b="1" dirty="0">
                <a:solidFill>
                  <a:srgbClr val="0E7C86"/>
                </a:solidFill>
                <a:latin typeface="Trebuchet MS" pitchFamily="34" charset="0"/>
                <a:ea typeface="Trebuchet MS" pitchFamily="34" charset="-122"/>
                <a:cs typeface="Trebuchet MS" pitchFamily="34" charset="-120"/>
              </a:rPr>
              <a:t>-&gt;</a:t>
            </a:r>
            <a:endParaRPr lang="en-US" sz="1600" dirty="0"/>
          </a:p>
        </p:txBody>
      </p:sp>
      <p:sp>
        <p:nvSpPr>
          <p:cNvPr id="17" name="Shape 15"/>
          <p:cNvSpPr/>
          <p:nvPr/>
        </p:nvSpPr>
        <p:spPr>
          <a:xfrm>
            <a:off x="4636008" y="1737360"/>
            <a:ext cx="1371600" cy="822960"/>
          </a:xfrm>
          <a:prstGeom prst="rect">
            <a:avLst/>
          </a:prstGeom>
          <a:solidFill>
            <a:srgbClr val="8E44AD"/>
          </a:solidFill>
          <a:ln w="12700">
            <a:solidFill>
              <a:srgbClr val="8E44AD"/>
            </a:solidFill>
            <a:prstDash val="solid"/>
          </a:ln>
        </p:spPr>
      </p:sp>
      <p:sp>
        <p:nvSpPr>
          <p:cNvPr id="18" name="Text 16"/>
          <p:cNvSpPr/>
          <p:nvPr/>
        </p:nvSpPr>
        <p:spPr>
          <a:xfrm>
            <a:off x="4663440" y="1773936"/>
            <a:ext cx="1316736"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REFRESH</a:t>
            </a:r>
            <a:endParaRPr lang="en-US" sz="1200" dirty="0"/>
          </a:p>
        </p:txBody>
      </p:sp>
      <p:sp>
        <p:nvSpPr>
          <p:cNvPr id="19" name="Text 17"/>
          <p:cNvSpPr/>
          <p:nvPr/>
        </p:nvSpPr>
        <p:spPr>
          <a:xfrm>
            <a:off x="4663440" y="2148840"/>
            <a:ext cx="1316736" cy="38404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Maintain receiver state</a:t>
            </a:r>
            <a:endParaRPr lang="en-US" sz="1000" dirty="0"/>
          </a:p>
        </p:txBody>
      </p:sp>
      <p:sp>
        <p:nvSpPr>
          <p:cNvPr id="20" name="Text 18"/>
          <p:cNvSpPr/>
          <p:nvPr/>
        </p:nvSpPr>
        <p:spPr>
          <a:xfrm>
            <a:off x="6007608" y="1920240"/>
            <a:ext cx="128016" cy="411480"/>
          </a:xfrm>
          <a:prstGeom prst="rect">
            <a:avLst/>
          </a:prstGeom>
          <a:noFill/>
          <a:ln/>
        </p:spPr>
        <p:txBody>
          <a:bodyPr wrap="square" lIns="0" tIns="0" rIns="0" bIns="0" rtlCol="0" anchor="ctr"/>
          <a:lstStyle/>
          <a:p>
            <a:pPr algn="ctr" indent="0" marL="0">
              <a:buNone/>
            </a:pPr>
            <a:r>
              <a:rPr lang="en-US" sz="1600" b="1" dirty="0">
                <a:solidFill>
                  <a:srgbClr val="0E7C86"/>
                </a:solidFill>
                <a:latin typeface="Trebuchet MS" pitchFamily="34" charset="0"/>
                <a:ea typeface="Trebuchet MS" pitchFamily="34" charset="-122"/>
                <a:cs typeface="Trebuchet MS" pitchFamily="34" charset="-120"/>
              </a:rPr>
              <a:t>-&gt;</a:t>
            </a:r>
            <a:endParaRPr lang="en-US" sz="1600" dirty="0"/>
          </a:p>
        </p:txBody>
      </p:sp>
      <p:sp>
        <p:nvSpPr>
          <p:cNvPr id="21" name="Shape 19"/>
          <p:cNvSpPr/>
          <p:nvPr/>
        </p:nvSpPr>
        <p:spPr>
          <a:xfrm>
            <a:off x="6135624" y="1737360"/>
            <a:ext cx="1371600" cy="822960"/>
          </a:xfrm>
          <a:prstGeom prst="rect">
            <a:avLst/>
          </a:prstGeom>
          <a:solidFill>
            <a:srgbClr val="E67E22"/>
          </a:solidFill>
          <a:ln w="12700">
            <a:solidFill>
              <a:srgbClr val="E67E22"/>
            </a:solidFill>
            <a:prstDash val="solid"/>
          </a:ln>
        </p:spPr>
      </p:sp>
      <p:sp>
        <p:nvSpPr>
          <p:cNvPr id="22" name="Text 20"/>
          <p:cNvSpPr/>
          <p:nvPr/>
        </p:nvSpPr>
        <p:spPr>
          <a:xfrm>
            <a:off x="6163056" y="1773936"/>
            <a:ext cx="1316736"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WAKE</a:t>
            </a:r>
            <a:endParaRPr lang="en-US" sz="1200" dirty="0"/>
          </a:p>
        </p:txBody>
      </p:sp>
      <p:sp>
        <p:nvSpPr>
          <p:cNvPr id="23" name="Text 21"/>
          <p:cNvSpPr/>
          <p:nvPr/>
        </p:nvSpPr>
        <p:spPr>
          <a:xfrm>
            <a:off x="6163056" y="2148840"/>
            <a:ext cx="1316736" cy="38404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Transition back</a:t>
            </a:r>
            <a:endParaRPr lang="en-US" sz="1000" dirty="0"/>
          </a:p>
        </p:txBody>
      </p:sp>
      <p:sp>
        <p:nvSpPr>
          <p:cNvPr id="24" name="Text 22"/>
          <p:cNvSpPr/>
          <p:nvPr/>
        </p:nvSpPr>
        <p:spPr>
          <a:xfrm>
            <a:off x="7507224" y="1920240"/>
            <a:ext cx="128016" cy="411480"/>
          </a:xfrm>
          <a:prstGeom prst="rect">
            <a:avLst/>
          </a:prstGeom>
          <a:noFill/>
          <a:ln/>
        </p:spPr>
        <p:txBody>
          <a:bodyPr wrap="square" lIns="0" tIns="0" rIns="0" bIns="0" rtlCol="0" anchor="ctr"/>
          <a:lstStyle/>
          <a:p>
            <a:pPr algn="ctr" indent="0" marL="0">
              <a:buNone/>
            </a:pPr>
            <a:r>
              <a:rPr lang="en-US" sz="1600" b="1" dirty="0">
                <a:solidFill>
                  <a:srgbClr val="0E7C86"/>
                </a:solidFill>
                <a:latin typeface="Trebuchet MS" pitchFamily="34" charset="0"/>
                <a:ea typeface="Trebuchet MS" pitchFamily="34" charset="-122"/>
                <a:cs typeface="Trebuchet MS" pitchFamily="34" charset="-120"/>
              </a:rPr>
              <a:t>-&gt;</a:t>
            </a:r>
            <a:endParaRPr lang="en-US" sz="1600" dirty="0"/>
          </a:p>
        </p:txBody>
      </p:sp>
      <p:sp>
        <p:nvSpPr>
          <p:cNvPr id="25" name="Shape 23"/>
          <p:cNvSpPr/>
          <p:nvPr/>
        </p:nvSpPr>
        <p:spPr>
          <a:xfrm>
            <a:off x="7635240" y="1737360"/>
            <a:ext cx="1371600" cy="822960"/>
          </a:xfrm>
          <a:prstGeom prst="rect">
            <a:avLst/>
          </a:prstGeom>
          <a:solidFill>
            <a:srgbClr val="1A9DAA"/>
          </a:solidFill>
          <a:ln w="12700">
            <a:solidFill>
              <a:srgbClr val="1A9DAA"/>
            </a:solidFill>
            <a:prstDash val="solid"/>
          </a:ln>
        </p:spPr>
      </p:sp>
      <p:sp>
        <p:nvSpPr>
          <p:cNvPr id="26" name="Text 24"/>
          <p:cNvSpPr/>
          <p:nvPr/>
        </p:nvSpPr>
        <p:spPr>
          <a:xfrm>
            <a:off x="7662672" y="1773936"/>
            <a:ext cx="1316736"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ACTIVE</a:t>
            </a:r>
            <a:endParaRPr lang="en-US" sz="1200" dirty="0"/>
          </a:p>
        </p:txBody>
      </p:sp>
      <p:sp>
        <p:nvSpPr>
          <p:cNvPr id="27" name="Text 25"/>
          <p:cNvSpPr/>
          <p:nvPr/>
        </p:nvSpPr>
        <p:spPr>
          <a:xfrm>
            <a:off x="7662672" y="2148840"/>
            <a:ext cx="1316736" cy="38404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Resume traffic</a:t>
            </a:r>
            <a:endParaRPr lang="en-US" sz="1000" dirty="0"/>
          </a:p>
        </p:txBody>
      </p:sp>
      <p:sp>
        <p:nvSpPr>
          <p:cNvPr id="28" name="Shape 26"/>
          <p:cNvSpPr/>
          <p:nvPr/>
        </p:nvSpPr>
        <p:spPr>
          <a:xfrm>
            <a:off x="137160" y="2788920"/>
            <a:ext cx="2697480" cy="36576"/>
          </a:xfrm>
          <a:prstGeom prst="rect">
            <a:avLst/>
          </a:prstGeom>
          <a:solidFill>
            <a:srgbClr val="2980B9"/>
          </a:solidFill>
          <a:ln w="12700">
            <a:solidFill>
              <a:srgbClr val="2980B9"/>
            </a:solidFill>
            <a:prstDash val="solid"/>
          </a:ln>
        </p:spPr>
      </p:sp>
      <p:sp>
        <p:nvSpPr>
          <p:cNvPr id="29" name="Text 27"/>
          <p:cNvSpPr/>
          <p:nvPr/>
        </p:nvSpPr>
        <p:spPr>
          <a:xfrm>
            <a:off x="137160" y="2871216"/>
            <a:ext cx="2697480" cy="310896"/>
          </a:xfrm>
          <a:prstGeom prst="rect">
            <a:avLst/>
          </a:prstGeom>
          <a:noFill/>
          <a:ln/>
        </p:spPr>
        <p:txBody>
          <a:bodyPr wrap="square" lIns="0" tIns="0" rIns="0" bIns="0" rtlCol="0" anchor="ctr"/>
          <a:lstStyle/>
          <a:p>
            <a:pPr algn="ctr" indent="0" marL="0">
              <a:buNone/>
            </a:pPr>
            <a:r>
              <a:rPr lang="en-US" sz="1100" dirty="0">
                <a:solidFill>
                  <a:srgbClr val="2980B9"/>
                </a:solidFill>
                <a:latin typeface="Calibri" pitchFamily="34" charset="0"/>
                <a:ea typeface="Calibri" pitchFamily="34" charset="-122"/>
                <a:cs typeface="Calibri" pitchFamily="34" charset="-120"/>
              </a:rPr>
              <a:t>Most energy saved in QUIET</a:t>
            </a:r>
            <a:endParaRPr lang="en-US" sz="1100" dirty="0"/>
          </a:p>
        </p:txBody>
      </p:sp>
      <p:sp>
        <p:nvSpPr>
          <p:cNvPr id="30" name="Shape 28"/>
          <p:cNvSpPr/>
          <p:nvPr/>
        </p:nvSpPr>
        <p:spPr>
          <a:xfrm>
            <a:off x="3154680" y="2788920"/>
            <a:ext cx="2697480" cy="36576"/>
          </a:xfrm>
          <a:prstGeom prst="rect">
            <a:avLst/>
          </a:prstGeom>
          <a:solidFill>
            <a:srgbClr val="8E44AD"/>
          </a:solidFill>
          <a:ln w="12700">
            <a:solidFill>
              <a:srgbClr val="8E44AD"/>
            </a:solidFill>
            <a:prstDash val="solid"/>
          </a:ln>
        </p:spPr>
      </p:sp>
      <p:sp>
        <p:nvSpPr>
          <p:cNvPr id="31" name="Text 29"/>
          <p:cNvSpPr/>
          <p:nvPr/>
        </p:nvSpPr>
        <p:spPr>
          <a:xfrm>
            <a:off x="3154680" y="2871216"/>
            <a:ext cx="2697480" cy="310896"/>
          </a:xfrm>
          <a:prstGeom prst="rect">
            <a:avLst/>
          </a:prstGeom>
          <a:noFill/>
          <a:ln/>
        </p:spPr>
        <p:txBody>
          <a:bodyPr wrap="square" lIns="0" tIns="0" rIns="0" bIns="0" rtlCol="0" anchor="ctr"/>
          <a:lstStyle/>
          <a:p>
            <a:pPr algn="ctr" indent="0" marL="0">
              <a:buNone/>
            </a:pPr>
            <a:r>
              <a:rPr lang="en-US" sz="1100" dirty="0">
                <a:solidFill>
                  <a:srgbClr val="8E44AD"/>
                </a:solidFill>
                <a:latin typeface="Calibri" pitchFamily="34" charset="0"/>
                <a:ea typeface="Calibri" pitchFamily="34" charset="-122"/>
                <a:cs typeface="Calibri" pitchFamily="34" charset="-120"/>
              </a:rPr>
              <a:t>REFRESH prevents receiver loss</a:t>
            </a:r>
            <a:endParaRPr lang="en-US" sz="1100" dirty="0"/>
          </a:p>
        </p:txBody>
      </p:sp>
      <p:sp>
        <p:nvSpPr>
          <p:cNvPr id="32" name="Shape 30"/>
          <p:cNvSpPr/>
          <p:nvPr/>
        </p:nvSpPr>
        <p:spPr>
          <a:xfrm>
            <a:off x="6035040" y="2788920"/>
            <a:ext cx="2697480" cy="36576"/>
          </a:xfrm>
          <a:prstGeom prst="rect">
            <a:avLst/>
          </a:prstGeom>
          <a:solidFill>
            <a:srgbClr val="E67E22"/>
          </a:solidFill>
          <a:ln w="12700">
            <a:solidFill>
              <a:srgbClr val="E67E22"/>
            </a:solidFill>
            <a:prstDash val="solid"/>
          </a:ln>
        </p:spPr>
      </p:sp>
      <p:sp>
        <p:nvSpPr>
          <p:cNvPr id="33" name="Text 31"/>
          <p:cNvSpPr/>
          <p:nvPr/>
        </p:nvSpPr>
        <p:spPr>
          <a:xfrm>
            <a:off x="6035040" y="2871216"/>
            <a:ext cx="2697480" cy="310896"/>
          </a:xfrm>
          <a:prstGeom prst="rect">
            <a:avLst/>
          </a:prstGeom>
          <a:noFill/>
          <a:ln/>
        </p:spPr>
        <p:txBody>
          <a:bodyPr wrap="square" lIns="0" tIns="0" rIns="0" bIns="0" rtlCol="0" anchor="ctr"/>
          <a:lstStyle/>
          <a:p>
            <a:pPr algn="ctr" indent="0" marL="0">
              <a:buNone/>
            </a:pPr>
            <a:r>
              <a:rPr lang="en-US" sz="1100" dirty="0">
                <a:solidFill>
                  <a:srgbClr val="E67E22"/>
                </a:solidFill>
                <a:latin typeface="Calibri" pitchFamily="34" charset="0"/>
                <a:ea typeface="Calibri" pitchFamily="34" charset="-122"/>
                <a:cs typeface="Calibri" pitchFamily="34" charset="-120"/>
              </a:rPr>
              <a:t>WAKE ensures safe resume</a:t>
            </a:r>
            <a:endParaRPr lang="en-US" sz="1100" dirty="0"/>
          </a:p>
        </p:txBody>
      </p:sp>
      <p:sp>
        <p:nvSpPr>
          <p:cNvPr id="34" name="Shape 32"/>
          <p:cNvSpPr/>
          <p:nvPr/>
        </p:nvSpPr>
        <p:spPr>
          <a:xfrm>
            <a:off x="502920" y="3310128"/>
            <a:ext cx="8138160" cy="1508760"/>
          </a:xfrm>
          <a:prstGeom prst="rect">
            <a:avLst/>
          </a:prstGeom>
          <a:solidFill>
            <a:srgbClr val="0B2D4E"/>
          </a:solidFill>
          <a:ln w="12700">
            <a:solidFill>
              <a:srgbClr val="0B2D4E"/>
            </a:solidFill>
            <a:prstDash val="solid"/>
          </a:ln>
        </p:spPr>
      </p:sp>
      <p:sp>
        <p:nvSpPr>
          <p:cNvPr id="35" name="Text 33"/>
          <p:cNvSpPr/>
          <p:nvPr/>
        </p:nvSpPr>
        <p:spPr>
          <a:xfrm>
            <a:off x="685800" y="3401568"/>
            <a:ext cx="7772400" cy="347472"/>
          </a:xfrm>
          <a:prstGeom prst="rect">
            <a:avLst/>
          </a:prstGeom>
          <a:noFill/>
          <a:ln/>
        </p:spPr>
        <p:txBody>
          <a:bodyPr wrap="square" lIns="0" tIns="0" rIns="0" bIns="0" rtlCol="0" anchor="ctr"/>
          <a:lstStyle/>
          <a:p>
            <a:pPr algn="l" indent="0" marL="0">
              <a:buNone/>
            </a:pPr>
            <a:r>
              <a:rPr lang="en-US" sz="1400" b="1" dirty="0">
                <a:solidFill>
                  <a:srgbClr val="F0A500"/>
                </a:solidFill>
                <a:latin typeface="Trebuchet MS" pitchFamily="34" charset="0"/>
                <a:ea typeface="Trebuchet MS" pitchFamily="34" charset="-122"/>
                <a:cs typeface="Trebuchet MS" pitchFamily="34" charset="-120"/>
              </a:rPr>
              <a:t>Why does REFRESH matter?</a:t>
            </a:r>
            <a:endParaRPr lang="en-US" sz="1400" dirty="0"/>
          </a:p>
        </p:txBody>
      </p:sp>
      <p:sp>
        <p:nvSpPr>
          <p:cNvPr id="36" name="Text 34"/>
          <p:cNvSpPr/>
          <p:nvPr/>
        </p:nvSpPr>
        <p:spPr>
          <a:xfrm>
            <a:off x="685800" y="3785616"/>
            <a:ext cx="7772400" cy="914400"/>
          </a:xfrm>
          <a:prstGeom prst="rect">
            <a:avLst/>
          </a:prstGeom>
          <a:noFill/>
          <a:ln/>
        </p:spPr>
        <p:txBody>
          <a:bodyPr wrap="square" lIns="0" tIns="0" rIns="0" bIns="0" rtlCol="0" anchor="t"/>
          <a:lstStyle/>
          <a:p>
            <a:pPr algn="l" indent="0" marL="0">
              <a:buNone/>
            </a:pPr>
            <a:r>
              <a:rPr lang="en-US" sz="1300" dirty="0">
                <a:solidFill>
                  <a:srgbClr val="D6EAF8"/>
                </a:solidFill>
                <a:latin typeface="Calibri" pitchFamily="34" charset="0"/>
                <a:ea typeface="Calibri" pitchFamily="34" charset="-122"/>
                <a:cs typeface="Calibri" pitchFamily="34" charset="-120"/>
              </a:rPr>
              <a:t>Without periodic refresh, the receiver gradually loses timing recovery and adaptive filter state it needs for fast reliable recovery. The quiet wire would slowly become an unusable wire.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D4E"/>
        </a:solidFill>
      </p:bgPr>
    </p:bg>
    <p:spTree>
      <p:nvGrpSpPr>
        <p:cNvPr id="1" name=""/>
        <p:cNvGrpSpPr/>
        <p:nvPr/>
      </p:nvGrpSpPr>
      <p:grpSpPr>
        <a:xfrm>
          <a:off x="0" y="0"/>
          <a:ext cx="0" cy="0"/>
          <a:chOff x="0" y="0"/>
          <a:chExt cx="0" cy="0"/>
        </a:xfrm>
      </p:grpSpPr>
      <p:sp>
        <p:nvSpPr>
          <p:cNvPr id="2" name="Text 0"/>
          <p:cNvSpPr/>
          <p:nvPr/>
        </p:nvSpPr>
        <p:spPr>
          <a:xfrm>
            <a:off x="502920" y="320040"/>
            <a:ext cx="8138160" cy="685800"/>
          </a:xfrm>
          <a:prstGeom prst="rect">
            <a:avLst/>
          </a:prstGeom>
          <a:noFill/>
          <a:ln/>
        </p:spPr>
        <p:txBody>
          <a:bodyPr wrap="square" lIns="0" tIns="0" rIns="0" bIns="0" rtlCol="0" anchor="ctr"/>
          <a:lstStyle/>
          <a:p>
            <a:pPr algn="l" indent="0" marL="0">
              <a:buNone/>
            </a:pPr>
            <a:r>
              <a:rPr lang="en-US" sz="3400" b="1" dirty="0">
                <a:solidFill>
                  <a:srgbClr val="FFFFFF"/>
                </a:solidFill>
                <a:latin typeface="Trebuchet MS" pitchFamily="34" charset="0"/>
                <a:ea typeface="Trebuchet MS" pitchFamily="34" charset="-122"/>
                <a:cs typeface="Trebuchet MS" pitchFamily="34" charset="-120"/>
              </a:rPr>
              <a:t>Energy Savings vs. Wake Latency</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475488"/>
          </a:xfrm>
          <a:prstGeom prst="rect">
            <a:avLst/>
          </a:prstGeom>
          <a:noFill/>
          <a:ln/>
        </p:spPr>
        <p:txBody>
          <a:bodyPr wrap="square" lIns="0" tIns="0" rIns="0" bIns="0" rtlCol="0" anchor="t"/>
          <a:lstStyle/>
          <a:p>
            <a:pPr algn="l" indent="0" marL="0">
              <a:buNone/>
            </a:pPr>
            <a:r>
              <a:rPr lang="en-US" sz="1400" dirty="0">
                <a:solidFill>
                  <a:srgbClr val="D6EAF8"/>
                </a:solidFill>
                <a:latin typeface="Calibri" pitchFamily="34" charset="0"/>
                <a:ea typeface="Calibri" pitchFamily="34" charset="-122"/>
                <a:cs typeface="Calibri" pitchFamily="34" charset="-120"/>
              </a:rPr>
              <a:t>Energy saving is not free. When a frame arrives during LPI, the transmitter cannot instantly return to active mode.</a:t>
            </a:r>
            <a:endParaRPr lang="en-US" sz="1400" dirty="0"/>
          </a:p>
        </p:txBody>
      </p:sp>
      <p:sp>
        <p:nvSpPr>
          <p:cNvPr id="5" name="Shape 3"/>
          <p:cNvSpPr/>
          <p:nvPr/>
        </p:nvSpPr>
        <p:spPr>
          <a:xfrm>
            <a:off x="502920" y="1874520"/>
            <a:ext cx="3657600" cy="566928"/>
          </a:xfrm>
          <a:prstGeom prst="rect">
            <a:avLst/>
          </a:prstGeom>
          <a:solidFill>
            <a:srgbClr val="1A4D6E"/>
          </a:solidFill>
          <a:ln w="12700">
            <a:solidFill>
              <a:srgbClr val="1A4D6E"/>
            </a:solidFill>
            <a:prstDash val="solid"/>
          </a:ln>
        </p:spPr>
      </p:sp>
      <p:sp>
        <p:nvSpPr>
          <p:cNvPr id="6" name="Shape 4"/>
          <p:cNvSpPr/>
          <p:nvPr/>
        </p:nvSpPr>
        <p:spPr>
          <a:xfrm>
            <a:off x="502920" y="1874520"/>
            <a:ext cx="3657600" cy="566928"/>
          </a:xfrm>
          <a:prstGeom prst="rect">
            <a:avLst/>
          </a:prstGeom>
          <a:solidFill>
            <a:srgbClr val="1A4D6E"/>
          </a:solidFill>
          <a:ln w="25400">
            <a:solidFill>
              <a:srgbClr val="1A9DAA"/>
            </a:solidFill>
            <a:prstDash val="solid"/>
          </a:ln>
        </p:spPr>
      </p:sp>
      <p:sp>
        <p:nvSpPr>
          <p:cNvPr id="7" name="Text 5"/>
          <p:cNvSpPr/>
          <p:nvPr/>
        </p:nvSpPr>
        <p:spPr>
          <a:xfrm>
            <a:off x="594360" y="1874520"/>
            <a:ext cx="3474720" cy="566928"/>
          </a:xfrm>
          <a:prstGeom prst="rect">
            <a:avLst/>
          </a:prstGeom>
          <a:noFill/>
          <a:ln/>
        </p:spPr>
        <p:txBody>
          <a:bodyPr wrap="square" lIns="0" tIns="0" rIns="0" bIns="0" rtlCol="0" anchor="ctr"/>
          <a:lstStyle/>
          <a:p>
            <a:pPr algn="ctr" indent="0" marL="0">
              <a:buNone/>
            </a:pPr>
            <a:r>
              <a:rPr lang="en-US" sz="1500" b="1" dirty="0">
                <a:solidFill>
                  <a:srgbClr val="D6EAF8"/>
                </a:solidFill>
                <a:latin typeface="Trebuchet MS" pitchFamily="34" charset="0"/>
                <a:ea typeface="Trebuchet MS" pitchFamily="34" charset="-122"/>
                <a:cs typeface="Trebuchet MS" pitchFamily="34" charset="-120"/>
              </a:rPr>
              <a:t>More Energy Saved</a:t>
            </a:r>
            <a:endParaRPr lang="en-US" sz="1500" dirty="0"/>
          </a:p>
        </p:txBody>
      </p:sp>
      <p:sp>
        <p:nvSpPr>
          <p:cNvPr id="8" name="Shape 6"/>
          <p:cNvSpPr/>
          <p:nvPr/>
        </p:nvSpPr>
        <p:spPr>
          <a:xfrm>
            <a:off x="5074920" y="1874520"/>
            <a:ext cx="3657600" cy="566928"/>
          </a:xfrm>
          <a:prstGeom prst="rect">
            <a:avLst/>
          </a:prstGeom>
          <a:solidFill>
            <a:srgbClr val="1A4D6E"/>
          </a:solidFill>
          <a:ln w="12700">
            <a:solidFill>
              <a:srgbClr val="1A4D6E"/>
            </a:solidFill>
            <a:prstDash val="solid"/>
          </a:ln>
        </p:spPr>
      </p:sp>
      <p:sp>
        <p:nvSpPr>
          <p:cNvPr id="9" name="Shape 7"/>
          <p:cNvSpPr/>
          <p:nvPr/>
        </p:nvSpPr>
        <p:spPr>
          <a:xfrm>
            <a:off x="5074920" y="1874520"/>
            <a:ext cx="3657600" cy="566928"/>
          </a:xfrm>
          <a:prstGeom prst="rect">
            <a:avLst/>
          </a:prstGeom>
          <a:solidFill>
            <a:srgbClr val="1A4D6E"/>
          </a:solidFill>
          <a:ln w="25400">
            <a:solidFill>
              <a:srgbClr val="F0A500"/>
            </a:solidFill>
            <a:prstDash val="solid"/>
          </a:ln>
        </p:spPr>
      </p:sp>
      <p:sp>
        <p:nvSpPr>
          <p:cNvPr id="10" name="Text 8"/>
          <p:cNvSpPr/>
          <p:nvPr/>
        </p:nvSpPr>
        <p:spPr>
          <a:xfrm>
            <a:off x="5166360" y="1874520"/>
            <a:ext cx="3474720" cy="566928"/>
          </a:xfrm>
          <a:prstGeom prst="rect">
            <a:avLst/>
          </a:prstGeom>
          <a:noFill/>
          <a:ln/>
        </p:spPr>
        <p:txBody>
          <a:bodyPr wrap="square" lIns="0" tIns="0" rIns="0" bIns="0" rtlCol="0" anchor="ctr"/>
          <a:lstStyle/>
          <a:p>
            <a:pPr algn="ctr" indent="0" marL="0">
              <a:buNone/>
            </a:pPr>
            <a:r>
              <a:rPr lang="en-US" sz="1500" b="1" dirty="0">
                <a:solidFill>
                  <a:srgbClr val="F0A500"/>
                </a:solidFill>
                <a:latin typeface="Trebuchet MS" pitchFamily="34" charset="0"/>
                <a:ea typeface="Trebuchet MS" pitchFamily="34" charset="-122"/>
                <a:cs typeface="Trebuchet MS" pitchFamily="34" charset="-120"/>
              </a:rPr>
              <a:t>Higher First-Frame Latency</a:t>
            </a:r>
            <a:endParaRPr lang="en-US" sz="1500" dirty="0"/>
          </a:p>
        </p:txBody>
      </p:sp>
      <p:sp>
        <p:nvSpPr>
          <p:cNvPr id="11" name="Shape 9"/>
          <p:cNvSpPr/>
          <p:nvPr/>
        </p:nvSpPr>
        <p:spPr>
          <a:xfrm>
            <a:off x="4160520" y="2121408"/>
            <a:ext cx="914400" cy="73152"/>
          </a:xfrm>
          <a:prstGeom prst="rect">
            <a:avLst/>
          </a:prstGeom>
          <a:solidFill>
            <a:srgbClr val="0E7C86"/>
          </a:solidFill>
          <a:ln w="12700">
            <a:solidFill>
              <a:srgbClr val="0E7C86"/>
            </a:solidFill>
            <a:prstDash val="solid"/>
          </a:ln>
        </p:spPr>
      </p:sp>
      <p:sp>
        <p:nvSpPr>
          <p:cNvPr id="12" name="Text 10"/>
          <p:cNvSpPr/>
          <p:nvPr/>
        </p:nvSpPr>
        <p:spPr>
          <a:xfrm>
            <a:off x="4160520" y="1920240"/>
            <a:ext cx="914400" cy="457200"/>
          </a:xfrm>
          <a:prstGeom prst="rect">
            <a:avLst/>
          </a:prstGeom>
          <a:noFill/>
          <a:ln/>
        </p:spPr>
        <p:txBody>
          <a:bodyPr wrap="square" lIns="0" tIns="0" rIns="0" bIns="0" rtlCol="0" anchor="ctr"/>
          <a:lstStyle/>
          <a:p>
            <a:pPr algn="ctr" indent="0" marL="0">
              <a:buNone/>
            </a:pPr>
            <a:r>
              <a:rPr lang="en-US" sz="1800" b="1" dirty="0">
                <a:solidFill>
                  <a:srgbClr val="0E7C86"/>
                </a:solidFill>
                <a:latin typeface="Trebuchet MS" pitchFamily="34" charset="0"/>
                <a:ea typeface="Trebuchet MS" pitchFamily="34" charset="-122"/>
                <a:cs typeface="Trebuchet MS" pitchFamily="34" charset="-120"/>
              </a:rPr>
              <a:t>&lt;--&gt;</a:t>
            </a:r>
            <a:endParaRPr lang="en-US" sz="1800" dirty="0"/>
          </a:p>
        </p:txBody>
      </p:sp>
      <p:sp>
        <p:nvSpPr>
          <p:cNvPr id="13" name="Text 11"/>
          <p:cNvSpPr/>
          <p:nvPr/>
        </p:nvSpPr>
        <p:spPr>
          <a:xfrm>
            <a:off x="502920" y="2542032"/>
            <a:ext cx="8138160" cy="347472"/>
          </a:xfrm>
          <a:prstGeom prst="rect">
            <a:avLst/>
          </a:prstGeom>
          <a:noFill/>
          <a:ln/>
        </p:spPr>
        <p:txBody>
          <a:bodyPr wrap="square" lIns="0" tIns="0" rIns="0" bIns="0" rtlCol="0" anchor="ctr"/>
          <a:lstStyle/>
          <a:p>
            <a:pPr algn="ctr" indent="0" marL="0">
              <a:buNone/>
            </a:pPr>
            <a:r>
              <a:rPr lang="en-US" sz="1300" dirty="0">
                <a:solidFill>
                  <a:srgbClr val="4A6B82"/>
                </a:solidFill>
                <a:latin typeface="Calibri" pitchFamily="34" charset="0"/>
                <a:ea typeface="Calibri" pitchFamily="34" charset="-122"/>
                <a:cs typeface="Calibri" pitchFamily="34" charset="-120"/>
              </a:rPr>
              <a:t>Longer wake times = better savings but worse first-frame delay</a:t>
            </a:r>
            <a:endParaRPr lang="en-US" sz="1300" dirty="0"/>
          </a:p>
        </p:txBody>
      </p:sp>
      <p:sp>
        <p:nvSpPr>
          <p:cNvPr id="14" name="Shape 12"/>
          <p:cNvSpPr/>
          <p:nvPr/>
        </p:nvSpPr>
        <p:spPr>
          <a:xfrm>
            <a:off x="502920" y="3063240"/>
            <a:ext cx="2651760" cy="1783080"/>
          </a:xfrm>
          <a:prstGeom prst="rect">
            <a:avLst/>
          </a:prstGeom>
          <a:solidFill>
            <a:srgbClr val="1A4D6E"/>
          </a:solidFill>
          <a:ln w="12700">
            <a:solidFill>
              <a:srgbClr val="1A4D6E"/>
            </a:solidFill>
            <a:prstDash val="solid"/>
          </a:ln>
        </p:spPr>
      </p:sp>
      <p:sp>
        <p:nvSpPr>
          <p:cNvPr id="15" name="Shape 13"/>
          <p:cNvSpPr/>
          <p:nvPr/>
        </p:nvSpPr>
        <p:spPr>
          <a:xfrm>
            <a:off x="502920" y="3063240"/>
            <a:ext cx="2651760" cy="1783080"/>
          </a:xfrm>
          <a:prstGeom prst="rect">
            <a:avLst/>
          </a:prstGeom>
          <a:solidFill>
            <a:srgbClr val="1A4D6E"/>
          </a:solidFill>
          <a:ln w="12700">
            <a:solidFill>
              <a:srgbClr val="0E7C86"/>
            </a:solidFill>
            <a:prstDash val="solid"/>
          </a:ln>
        </p:spPr>
      </p:sp>
      <p:sp>
        <p:nvSpPr>
          <p:cNvPr id="16" name="Text 14"/>
          <p:cNvSpPr/>
          <p:nvPr/>
        </p:nvSpPr>
        <p:spPr>
          <a:xfrm>
            <a:off x="594360" y="3154680"/>
            <a:ext cx="2468880" cy="384048"/>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Best fit: Bursty traffic</a:t>
            </a:r>
            <a:endParaRPr lang="en-US" sz="1300" dirty="0"/>
          </a:p>
        </p:txBody>
      </p:sp>
      <p:sp>
        <p:nvSpPr>
          <p:cNvPr id="17" name="Text 15"/>
          <p:cNvSpPr/>
          <p:nvPr/>
        </p:nvSpPr>
        <p:spPr>
          <a:xfrm>
            <a:off x="594360" y="3584448"/>
            <a:ext cx="2468880" cy="114300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Idle intervals long enough to amortize the wake cost easily</a:t>
            </a:r>
            <a:endParaRPr lang="en-US" sz="1200" dirty="0"/>
          </a:p>
        </p:txBody>
      </p:sp>
      <p:sp>
        <p:nvSpPr>
          <p:cNvPr id="18" name="Shape 16"/>
          <p:cNvSpPr/>
          <p:nvPr/>
        </p:nvSpPr>
        <p:spPr>
          <a:xfrm>
            <a:off x="3383280" y="3063240"/>
            <a:ext cx="2651760" cy="1783080"/>
          </a:xfrm>
          <a:prstGeom prst="rect">
            <a:avLst/>
          </a:prstGeom>
          <a:solidFill>
            <a:srgbClr val="1A4D6E"/>
          </a:solidFill>
          <a:ln w="12700">
            <a:solidFill>
              <a:srgbClr val="1A4D6E"/>
            </a:solidFill>
            <a:prstDash val="solid"/>
          </a:ln>
        </p:spPr>
      </p:sp>
      <p:sp>
        <p:nvSpPr>
          <p:cNvPr id="19" name="Shape 17"/>
          <p:cNvSpPr/>
          <p:nvPr/>
        </p:nvSpPr>
        <p:spPr>
          <a:xfrm>
            <a:off x="3383280" y="3063240"/>
            <a:ext cx="2651760" cy="1783080"/>
          </a:xfrm>
          <a:prstGeom prst="rect">
            <a:avLst/>
          </a:prstGeom>
          <a:solidFill>
            <a:srgbClr val="1A4D6E"/>
          </a:solidFill>
          <a:ln w="12700">
            <a:solidFill>
              <a:srgbClr val="0E7C86"/>
            </a:solidFill>
            <a:prstDash val="solid"/>
          </a:ln>
        </p:spPr>
      </p:sp>
      <p:sp>
        <p:nvSpPr>
          <p:cNvPr id="20" name="Text 18"/>
          <p:cNvSpPr/>
          <p:nvPr/>
        </p:nvSpPr>
        <p:spPr>
          <a:xfrm>
            <a:off x="3474720" y="3154680"/>
            <a:ext cx="2468880" cy="384048"/>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Poor fit: Constant streams</a:t>
            </a:r>
            <a:endParaRPr lang="en-US" sz="1300" dirty="0"/>
          </a:p>
        </p:txBody>
      </p:sp>
      <p:sp>
        <p:nvSpPr>
          <p:cNvPr id="21" name="Text 19"/>
          <p:cNvSpPr/>
          <p:nvPr/>
        </p:nvSpPr>
        <p:spPr>
          <a:xfrm>
            <a:off x="3474720" y="3584448"/>
            <a:ext cx="2468880" cy="114300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Little idle time means few savings but still adds engineering complexity</a:t>
            </a:r>
            <a:endParaRPr lang="en-US" sz="1200" dirty="0"/>
          </a:p>
        </p:txBody>
      </p:sp>
      <p:sp>
        <p:nvSpPr>
          <p:cNvPr id="22" name="Shape 20"/>
          <p:cNvSpPr/>
          <p:nvPr/>
        </p:nvSpPr>
        <p:spPr>
          <a:xfrm>
            <a:off x="6263640" y="3063240"/>
            <a:ext cx="2651760" cy="1783080"/>
          </a:xfrm>
          <a:prstGeom prst="rect">
            <a:avLst/>
          </a:prstGeom>
          <a:solidFill>
            <a:srgbClr val="1A4D6E"/>
          </a:solidFill>
          <a:ln w="12700">
            <a:solidFill>
              <a:srgbClr val="1A4D6E"/>
            </a:solidFill>
            <a:prstDash val="solid"/>
          </a:ln>
        </p:spPr>
      </p:sp>
      <p:sp>
        <p:nvSpPr>
          <p:cNvPr id="23" name="Shape 21"/>
          <p:cNvSpPr/>
          <p:nvPr/>
        </p:nvSpPr>
        <p:spPr>
          <a:xfrm>
            <a:off x="6263640" y="3063240"/>
            <a:ext cx="2651760" cy="1783080"/>
          </a:xfrm>
          <a:prstGeom prst="rect">
            <a:avLst/>
          </a:prstGeom>
          <a:solidFill>
            <a:srgbClr val="1A4D6E"/>
          </a:solidFill>
          <a:ln w="12700">
            <a:solidFill>
              <a:srgbClr val="0E7C86"/>
            </a:solidFill>
            <a:prstDash val="solid"/>
          </a:ln>
        </p:spPr>
      </p:sp>
      <p:sp>
        <p:nvSpPr>
          <p:cNvPr id="24" name="Text 22"/>
          <p:cNvSpPr/>
          <p:nvPr/>
        </p:nvSpPr>
        <p:spPr>
          <a:xfrm>
            <a:off x="6355080" y="3154680"/>
            <a:ext cx="2468880" cy="384048"/>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LLDP negotiation</a:t>
            </a:r>
            <a:endParaRPr lang="en-US" sz="1300" dirty="0"/>
          </a:p>
        </p:txBody>
      </p:sp>
      <p:sp>
        <p:nvSpPr>
          <p:cNvPr id="25" name="Text 23"/>
          <p:cNvSpPr/>
          <p:nvPr/>
        </p:nvSpPr>
        <p:spPr>
          <a:xfrm>
            <a:off x="6355080" y="3584448"/>
            <a:ext cx="2468880" cy="114300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After link establishment, LLDP can negotiate different wake times between partners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8FF"/>
        </a:solidFill>
      </p:bgPr>
    </p:bg>
    <p:spTree>
      <p:nvGrpSpPr>
        <p:cNvPr id="1" name=""/>
        <p:cNvGrpSpPr/>
        <p:nvPr/>
      </p:nvGrpSpPr>
      <p:grpSpPr>
        <a:xfrm>
          <a:off x="0" y="0"/>
          <a:ext cx="0" cy="0"/>
          <a:chOff x="0" y="0"/>
          <a:chExt cx="0" cy="0"/>
        </a:xfrm>
      </p:grpSpPr>
      <p:sp>
        <p:nvSpPr>
          <p:cNvPr id="2" name="Text 0"/>
          <p:cNvSpPr/>
          <p:nvPr/>
        </p:nvSpPr>
        <p:spPr>
          <a:xfrm>
            <a:off x="502920" y="320040"/>
            <a:ext cx="8138160" cy="685800"/>
          </a:xfrm>
          <a:prstGeom prst="rect">
            <a:avLst/>
          </a:prstGeom>
          <a:noFill/>
          <a:ln/>
        </p:spPr>
        <p:txBody>
          <a:bodyPr wrap="square" lIns="0" tIns="0" rIns="0" bIns="0" rtlCol="0" anchor="ctr"/>
          <a:lstStyle/>
          <a:p>
            <a:pPr algn="l" indent="0" marL="0">
              <a:buNone/>
            </a:pPr>
            <a:r>
              <a:rPr lang="en-US" sz="3400" b="1" dirty="0">
                <a:solidFill>
                  <a:srgbClr val="0B2D4E"/>
                </a:solidFill>
                <a:latin typeface="Trebuchet MS" pitchFamily="34" charset="0"/>
                <a:ea typeface="Trebuchet MS" pitchFamily="34" charset="-122"/>
                <a:cs typeface="Trebuchet MS" pitchFamily="34" charset="-120"/>
              </a:rPr>
              <a:t>When Should You Use EEE?</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Shape 2"/>
          <p:cNvSpPr/>
          <p:nvPr/>
        </p:nvSpPr>
        <p:spPr>
          <a:xfrm>
            <a:off x="502920" y="1234440"/>
            <a:ext cx="8138160" cy="457200"/>
          </a:xfrm>
          <a:prstGeom prst="rect">
            <a:avLst/>
          </a:prstGeom>
          <a:solidFill>
            <a:srgbClr val="0B2D4E"/>
          </a:solidFill>
          <a:ln w="12700">
            <a:solidFill>
              <a:srgbClr val="0B2D4E"/>
            </a:solidFill>
            <a:prstDash val="solid"/>
          </a:ln>
        </p:spPr>
      </p:sp>
      <p:sp>
        <p:nvSpPr>
          <p:cNvPr id="5" name="Text 3"/>
          <p:cNvSpPr/>
          <p:nvPr/>
        </p:nvSpPr>
        <p:spPr>
          <a:xfrm>
            <a:off x="594360" y="1261872"/>
            <a:ext cx="7955280" cy="402336"/>
          </a:xfrm>
          <a:prstGeom prst="rect">
            <a:avLst/>
          </a:prstGeom>
          <a:noFill/>
          <a:ln/>
        </p:spPr>
        <p:txBody>
          <a:bodyPr wrap="square" lIns="0" tIns="0" rIns="0" bIns="0" rtlCol="0" anchor="ctr"/>
          <a:lstStyle/>
          <a:p>
            <a:pPr algn="ctr" indent="0" marL="0">
              <a:buNone/>
            </a:pPr>
            <a:r>
              <a:rPr lang="en-US" sz="1300" dirty="0">
                <a:solidFill>
                  <a:srgbClr val="D6EAF8"/>
                </a:solidFill>
                <a:latin typeface="Calibri" pitchFamily="34" charset="0"/>
                <a:ea typeface="Calibri" pitchFamily="34" charset="-122"/>
                <a:cs typeface="Calibri" pitchFamily="34" charset="-120"/>
              </a:rPr>
              <a:t>Not automatically. It depends on traffic pattern, latency tolerance, wake behavior, and platform implementation.</a:t>
            </a:r>
            <a:endParaRPr lang="en-US" sz="1300" dirty="0"/>
          </a:p>
        </p:txBody>
      </p:sp>
      <p:sp>
        <p:nvSpPr>
          <p:cNvPr id="6" name="Shape 4"/>
          <p:cNvSpPr/>
          <p:nvPr/>
        </p:nvSpPr>
        <p:spPr>
          <a:xfrm>
            <a:off x="502920" y="1828800"/>
            <a:ext cx="3977640" cy="438912"/>
          </a:xfrm>
          <a:prstGeom prst="rect">
            <a:avLst/>
          </a:prstGeom>
          <a:solidFill>
            <a:srgbClr val="0E7C86"/>
          </a:solidFill>
          <a:ln w="12700">
            <a:solidFill>
              <a:srgbClr val="0E7C86"/>
            </a:solidFill>
            <a:prstDash val="solid"/>
          </a:ln>
        </p:spPr>
      </p:sp>
      <p:sp>
        <p:nvSpPr>
          <p:cNvPr id="7" name="Text 5"/>
          <p:cNvSpPr/>
          <p:nvPr/>
        </p:nvSpPr>
        <p:spPr>
          <a:xfrm>
            <a:off x="594360" y="1828800"/>
            <a:ext cx="3794760"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Good Fit</a:t>
            </a:r>
            <a:endParaRPr lang="en-US" sz="1500" dirty="0"/>
          </a:p>
        </p:txBody>
      </p:sp>
      <p:sp>
        <p:nvSpPr>
          <p:cNvPr id="8" name="Text 6"/>
          <p:cNvSpPr/>
          <p:nvPr/>
        </p:nvSpPr>
        <p:spPr>
          <a:xfrm>
            <a:off x="640080" y="2395728"/>
            <a:ext cx="3703320" cy="32004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Bursty, irregular traffic</a:t>
            </a:r>
            <a:endParaRPr lang="en-US" sz="1300" dirty="0"/>
          </a:p>
        </p:txBody>
      </p:sp>
      <p:sp>
        <p:nvSpPr>
          <p:cNvPr id="9" name="Text 7"/>
          <p:cNvSpPr/>
          <p:nvPr/>
        </p:nvSpPr>
        <p:spPr>
          <a:xfrm>
            <a:off x="640080" y="2743200"/>
            <a:ext cx="3703320" cy="32004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Latency-tolerant applications</a:t>
            </a:r>
            <a:endParaRPr lang="en-US" sz="1300" dirty="0"/>
          </a:p>
        </p:txBody>
      </p:sp>
      <p:sp>
        <p:nvSpPr>
          <p:cNvPr id="10" name="Text 8"/>
          <p:cNvSpPr/>
          <p:nvPr/>
        </p:nvSpPr>
        <p:spPr>
          <a:xfrm>
            <a:off x="640080" y="3090672"/>
            <a:ext cx="3703320" cy="32004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Low-utilization access/edge ports</a:t>
            </a:r>
            <a:endParaRPr lang="en-US" sz="1300" dirty="0"/>
          </a:p>
        </p:txBody>
      </p:sp>
      <p:sp>
        <p:nvSpPr>
          <p:cNvPr id="11" name="Text 9"/>
          <p:cNvSpPr/>
          <p:nvPr/>
        </p:nvSpPr>
        <p:spPr>
          <a:xfrm>
            <a:off x="640080" y="3438144"/>
            <a:ext cx="3703320" cy="32004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Green data center deployments</a:t>
            </a:r>
            <a:endParaRPr lang="en-US" sz="1300" dirty="0"/>
          </a:p>
        </p:txBody>
      </p:sp>
      <p:sp>
        <p:nvSpPr>
          <p:cNvPr id="12" name="Shape 10"/>
          <p:cNvSpPr/>
          <p:nvPr/>
        </p:nvSpPr>
        <p:spPr>
          <a:xfrm>
            <a:off x="4754880" y="1828800"/>
            <a:ext cx="3977640" cy="438912"/>
          </a:xfrm>
          <a:prstGeom prst="rect">
            <a:avLst/>
          </a:prstGeom>
          <a:solidFill>
            <a:srgbClr val="E67E22"/>
          </a:solidFill>
          <a:ln w="12700">
            <a:solidFill>
              <a:srgbClr val="E67E22"/>
            </a:solidFill>
            <a:prstDash val="solid"/>
          </a:ln>
        </p:spPr>
      </p:sp>
      <p:sp>
        <p:nvSpPr>
          <p:cNvPr id="13" name="Text 11"/>
          <p:cNvSpPr/>
          <p:nvPr/>
        </p:nvSpPr>
        <p:spPr>
          <a:xfrm>
            <a:off x="4846320" y="1828800"/>
            <a:ext cx="3794760"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Use With Care</a:t>
            </a:r>
            <a:endParaRPr lang="en-US" sz="1500" dirty="0"/>
          </a:p>
        </p:txBody>
      </p:sp>
      <p:sp>
        <p:nvSpPr>
          <p:cNvPr id="14" name="Text 12"/>
          <p:cNvSpPr/>
          <p:nvPr/>
        </p:nvSpPr>
        <p:spPr>
          <a:xfrm>
            <a:off x="4892040" y="2395728"/>
            <a:ext cx="3703320" cy="320040"/>
          </a:xfrm>
          <a:prstGeom prst="rect">
            <a:avLst/>
          </a:prstGeom>
          <a:noFill/>
          <a:ln/>
        </p:spPr>
        <p:txBody>
          <a:bodyPr wrap="square" lIns="0" tIns="0" rIns="0" bIns="0" rtlCol="0" anchor="ctr"/>
          <a:lstStyle/>
          <a:p>
            <a:pPr indent="0" marL="0">
              <a:buNone/>
            </a:pPr>
            <a:r>
              <a:rPr lang="en-US" sz="1300" b="1" dirty="0">
                <a:solidFill>
                  <a:srgbClr val="E67E22"/>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Latency-sensitive real-time flows</a:t>
            </a:r>
            <a:endParaRPr lang="en-US" sz="1300" dirty="0"/>
          </a:p>
        </p:txBody>
      </p:sp>
      <p:sp>
        <p:nvSpPr>
          <p:cNvPr id="15" name="Text 13"/>
          <p:cNvSpPr/>
          <p:nvPr/>
        </p:nvSpPr>
        <p:spPr>
          <a:xfrm>
            <a:off x="4892040" y="2743200"/>
            <a:ext cx="3703320" cy="320040"/>
          </a:xfrm>
          <a:prstGeom prst="rect">
            <a:avLst/>
          </a:prstGeom>
          <a:noFill/>
          <a:ln/>
        </p:spPr>
        <p:txBody>
          <a:bodyPr wrap="square" lIns="0" tIns="0" rIns="0" bIns="0" rtlCol="0" anchor="ctr"/>
          <a:lstStyle/>
          <a:p>
            <a:pPr indent="0" marL="0">
              <a:buNone/>
            </a:pPr>
            <a:r>
              <a:rPr lang="en-US" sz="1300" b="1" dirty="0">
                <a:solidFill>
                  <a:srgbClr val="E67E22"/>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Links near saturation (little idle time)</a:t>
            </a:r>
            <a:endParaRPr lang="en-US" sz="1300" dirty="0"/>
          </a:p>
        </p:txBody>
      </p:sp>
      <p:sp>
        <p:nvSpPr>
          <p:cNvPr id="16" name="Text 14"/>
          <p:cNvSpPr/>
          <p:nvPr/>
        </p:nvSpPr>
        <p:spPr>
          <a:xfrm>
            <a:off x="4892040" y="3090672"/>
            <a:ext cx="3703320" cy="320040"/>
          </a:xfrm>
          <a:prstGeom prst="rect">
            <a:avLst/>
          </a:prstGeom>
          <a:noFill/>
          <a:ln/>
        </p:spPr>
        <p:txBody>
          <a:bodyPr wrap="square" lIns="0" tIns="0" rIns="0" bIns="0" rtlCol="0" anchor="ctr"/>
          <a:lstStyle/>
          <a:p>
            <a:pPr indent="0" marL="0">
              <a:buNone/>
            </a:pPr>
            <a:r>
              <a:rPr lang="en-US" sz="1300" b="1" dirty="0">
                <a:solidFill>
                  <a:srgbClr val="E67E22"/>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Platforms with slow wake policy</a:t>
            </a:r>
            <a:endParaRPr lang="en-US" sz="1300" dirty="0"/>
          </a:p>
        </p:txBody>
      </p:sp>
      <p:sp>
        <p:nvSpPr>
          <p:cNvPr id="17" name="Text 15"/>
          <p:cNvSpPr/>
          <p:nvPr/>
        </p:nvSpPr>
        <p:spPr>
          <a:xfrm>
            <a:off x="4892040" y="3438144"/>
            <a:ext cx="3703320" cy="320040"/>
          </a:xfrm>
          <a:prstGeom prst="rect">
            <a:avLst/>
          </a:prstGeom>
          <a:noFill/>
          <a:ln/>
        </p:spPr>
        <p:txBody>
          <a:bodyPr wrap="square" lIns="0" tIns="0" rIns="0" bIns="0" rtlCol="0" anchor="ctr"/>
          <a:lstStyle/>
          <a:p>
            <a:pPr indent="0" marL="0">
              <a:buNone/>
            </a:pPr>
            <a:r>
              <a:rPr lang="en-US" sz="1300" b="1" dirty="0">
                <a:solidFill>
                  <a:srgbClr val="E67E22"/>
                </a:solidFill>
                <a:latin typeface="Calibri" pitchFamily="34" charset="0"/>
                <a:ea typeface="Calibri" pitchFamily="34" charset="-122"/>
                <a:cs typeface="Calibri" pitchFamily="34" charset="-120"/>
              </a:rPr>
              <a:t>·  </a:t>
            </a:r>
            <a:pPr indent="0" marL="0">
              <a:buNone/>
            </a:pPr>
            <a:r>
              <a:rPr lang="en-US" sz="1300" dirty="0">
                <a:solidFill>
                  <a:srgbClr val="0B2D4E"/>
                </a:solidFill>
                <a:latin typeface="Calibri" pitchFamily="34" charset="0"/>
                <a:ea typeface="Calibri" pitchFamily="34" charset="-122"/>
                <a:cs typeface="Calibri" pitchFamily="34" charset="-120"/>
              </a:rPr>
              <a:t>Partners with mismatched EEE support</a:t>
            </a:r>
            <a:endParaRPr lang="en-US" sz="1300" dirty="0"/>
          </a:p>
        </p:txBody>
      </p:sp>
      <p:sp>
        <p:nvSpPr>
          <p:cNvPr id="18" name="Text 16"/>
          <p:cNvSpPr/>
          <p:nvPr/>
        </p:nvSpPr>
        <p:spPr>
          <a:xfrm>
            <a:off x="502920" y="4572000"/>
            <a:ext cx="8138160" cy="347472"/>
          </a:xfrm>
          <a:prstGeom prst="rect">
            <a:avLst/>
          </a:prstGeom>
          <a:noFill/>
          <a:ln/>
        </p:spPr>
        <p:txBody>
          <a:bodyPr wrap="square" lIns="0" tIns="0" rIns="0" bIns="0" rtlCol="0" anchor="t"/>
          <a:lstStyle/>
          <a:p>
            <a:pPr algn="l" indent="0" marL="0">
              <a:buNone/>
            </a:pPr>
            <a:r>
              <a:rPr lang="en-US" sz="1100" dirty="0">
                <a:solidFill>
                  <a:srgbClr val="4A6B82"/>
                </a:solidFill>
                <a:latin typeface="Calibri" pitchFamily="34" charset="0"/>
                <a:ea typeface="Calibri" pitchFamily="34" charset="-122"/>
                <a:cs typeface="Calibri" pitchFamily="34" charset="-120"/>
              </a:rPr>
              <a:t>EEE mainly saves physical-layer power. System-level savings depend on how well the platform implements policies around it.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D4E"/>
        </a:solidFill>
      </p:bgPr>
    </p:bg>
    <p:spTree>
      <p:nvGrpSpPr>
        <p:cNvPr id="1" name=""/>
        <p:cNvGrpSpPr/>
        <p:nvPr/>
      </p:nvGrpSpPr>
      <p:grpSpPr>
        <a:xfrm>
          <a:off x="0" y="0"/>
          <a:ext cx="0" cy="0"/>
          <a:chOff x="0" y="0"/>
          <a:chExt cx="0" cy="0"/>
        </a:xfrm>
      </p:grpSpPr>
      <p:sp>
        <p:nvSpPr>
          <p:cNvPr id="2" name="Text 0"/>
          <p:cNvSpPr/>
          <p:nvPr/>
        </p:nvSpPr>
        <p:spPr>
          <a:xfrm>
            <a:off x="502920" y="320040"/>
            <a:ext cx="813816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Trebuchet MS" pitchFamily="34" charset="0"/>
                <a:ea typeface="Trebuchet MS" pitchFamily="34" charset="-122"/>
                <a:cs typeface="Trebuchet MS" pitchFamily="34" charset="-120"/>
              </a:rPr>
              <a:t>Shift to Observability: L1 and L2 Counters</a:t>
            </a:r>
            <a:endParaRPr lang="en-US" sz="30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384048"/>
          </a:xfrm>
          <a:prstGeom prst="rect">
            <a:avLst/>
          </a:prstGeom>
          <a:noFill/>
          <a:ln/>
        </p:spPr>
        <p:txBody>
          <a:bodyPr wrap="square" lIns="0" tIns="0" rIns="0" bIns="0" rtlCol="0" anchor="t"/>
          <a:lstStyle/>
          <a:p>
            <a:pPr algn="l" indent="0" marL="0">
              <a:buNone/>
            </a:pPr>
            <a:r>
              <a:rPr lang="en-US" sz="1400" dirty="0">
                <a:solidFill>
                  <a:srgbClr val="D6EAF8"/>
                </a:solidFill>
                <a:latin typeface="Calibri" pitchFamily="34" charset="0"/>
                <a:ea typeface="Calibri" pitchFamily="34" charset="-122"/>
                <a:cs typeface="Calibri" pitchFamily="34" charset="-120"/>
              </a:rPr>
              <a:t>Counters tell you where a failure appears, not always why. But knowing where is the essential first step.</a:t>
            </a:r>
            <a:endParaRPr lang="en-US" sz="1400" dirty="0"/>
          </a:p>
        </p:txBody>
      </p:sp>
      <p:sp>
        <p:nvSpPr>
          <p:cNvPr id="5" name="Shape 3"/>
          <p:cNvSpPr/>
          <p:nvPr/>
        </p:nvSpPr>
        <p:spPr>
          <a:xfrm>
            <a:off x="502920" y="1755648"/>
            <a:ext cx="4114800" cy="402336"/>
          </a:xfrm>
          <a:prstGeom prst="rect">
            <a:avLst/>
          </a:prstGeom>
          <a:solidFill>
            <a:srgbClr val="1A9DAA"/>
          </a:solidFill>
          <a:ln w="12700">
            <a:solidFill>
              <a:srgbClr val="1A9DAA"/>
            </a:solidFill>
            <a:prstDash val="solid"/>
          </a:ln>
        </p:spPr>
      </p:sp>
      <p:sp>
        <p:nvSpPr>
          <p:cNvPr id="6" name="Text 4"/>
          <p:cNvSpPr/>
          <p:nvPr/>
        </p:nvSpPr>
        <p:spPr>
          <a:xfrm>
            <a:off x="594360" y="1755648"/>
            <a:ext cx="3931920"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Layer 1 Counters</a:t>
            </a:r>
            <a:endParaRPr lang="en-US" sz="1500" dirty="0"/>
          </a:p>
        </p:txBody>
      </p:sp>
      <p:sp>
        <p:nvSpPr>
          <p:cNvPr id="7" name="Text 5"/>
          <p:cNvSpPr/>
          <p:nvPr/>
        </p:nvSpPr>
        <p:spPr>
          <a:xfrm>
            <a:off x="594360" y="2249424"/>
            <a:ext cx="3931920" cy="347472"/>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-&gt; Is the physical link healthy?</a:t>
            </a:r>
            <a:endParaRPr lang="en-US" sz="1200" dirty="0"/>
          </a:p>
        </p:txBody>
      </p:sp>
      <p:sp>
        <p:nvSpPr>
          <p:cNvPr id="8" name="Text 6"/>
          <p:cNvSpPr/>
          <p:nvPr/>
        </p:nvSpPr>
        <p:spPr>
          <a:xfrm>
            <a:off x="594360" y="2706624"/>
            <a:ext cx="3931920" cy="320040"/>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Is the link up or flapping?</a:t>
            </a:r>
            <a:endParaRPr lang="en-US" sz="1200" dirty="0"/>
          </a:p>
        </p:txBody>
      </p:sp>
      <p:sp>
        <p:nvSpPr>
          <p:cNvPr id="9" name="Text 7"/>
          <p:cNvSpPr/>
          <p:nvPr/>
        </p:nvSpPr>
        <p:spPr>
          <a:xfrm>
            <a:off x="594360" y="3054096"/>
            <a:ext cx="3931920" cy="320040"/>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Is the receiver seeing clean signalling?</a:t>
            </a:r>
            <a:endParaRPr lang="en-US" sz="1200" dirty="0"/>
          </a:p>
        </p:txBody>
      </p:sp>
      <p:sp>
        <p:nvSpPr>
          <p:cNvPr id="10" name="Text 8"/>
          <p:cNvSpPr/>
          <p:nvPr/>
        </p:nvSpPr>
        <p:spPr>
          <a:xfrm>
            <a:off x="594360" y="3401568"/>
            <a:ext cx="3931920" cy="320040"/>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Are symbols or coding blocks being lost?</a:t>
            </a:r>
            <a:endParaRPr lang="en-US" sz="1200" dirty="0"/>
          </a:p>
        </p:txBody>
      </p:sp>
      <p:sp>
        <p:nvSpPr>
          <p:cNvPr id="11" name="Text 9"/>
          <p:cNvSpPr/>
          <p:nvPr/>
        </p:nvSpPr>
        <p:spPr>
          <a:xfrm>
            <a:off x="594360" y="3749040"/>
            <a:ext cx="3931920" cy="320040"/>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Is the problem electrical or transceiver-related?</a:t>
            </a:r>
            <a:endParaRPr lang="en-US" sz="1200" dirty="0"/>
          </a:p>
        </p:txBody>
      </p:sp>
      <p:sp>
        <p:nvSpPr>
          <p:cNvPr id="12" name="Shape 10"/>
          <p:cNvSpPr/>
          <p:nvPr/>
        </p:nvSpPr>
        <p:spPr>
          <a:xfrm>
            <a:off x="4846320" y="1755648"/>
            <a:ext cx="4114800" cy="402336"/>
          </a:xfrm>
          <a:prstGeom prst="rect">
            <a:avLst/>
          </a:prstGeom>
          <a:solidFill>
            <a:srgbClr val="8E44AD"/>
          </a:solidFill>
          <a:ln w="12700">
            <a:solidFill>
              <a:srgbClr val="8E44AD"/>
            </a:solidFill>
            <a:prstDash val="solid"/>
          </a:ln>
        </p:spPr>
      </p:sp>
      <p:sp>
        <p:nvSpPr>
          <p:cNvPr id="13" name="Text 11"/>
          <p:cNvSpPr/>
          <p:nvPr/>
        </p:nvSpPr>
        <p:spPr>
          <a:xfrm>
            <a:off x="4937760" y="1755648"/>
            <a:ext cx="3931920"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Layer 2 Counters</a:t>
            </a:r>
            <a:endParaRPr lang="en-US" sz="1500" dirty="0"/>
          </a:p>
        </p:txBody>
      </p:sp>
      <p:sp>
        <p:nvSpPr>
          <p:cNvPr id="14" name="Text 12"/>
          <p:cNvSpPr/>
          <p:nvPr/>
        </p:nvSpPr>
        <p:spPr>
          <a:xfrm>
            <a:off x="4937760" y="2249424"/>
            <a:ext cx="3931920" cy="347472"/>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-&gt; Are Ethernet frames arriving intact?</a:t>
            </a:r>
            <a:endParaRPr lang="en-US" sz="1200" dirty="0"/>
          </a:p>
        </p:txBody>
      </p:sp>
      <p:sp>
        <p:nvSpPr>
          <p:cNvPr id="15" name="Text 13"/>
          <p:cNvSpPr/>
          <p:nvPr/>
        </p:nvSpPr>
        <p:spPr>
          <a:xfrm>
            <a:off x="4937760" y="2706624"/>
            <a:ext cx="3931920" cy="320040"/>
          </a:xfrm>
          <a:prstGeom prst="rect">
            <a:avLst/>
          </a:prstGeom>
          <a:noFill/>
          <a:ln/>
        </p:spPr>
        <p:txBody>
          <a:bodyPr wrap="square" lIns="0" tIns="0" rIns="0" bIns="0" rtlCol="0" anchor="ctr"/>
          <a:lstStyle/>
          <a:p>
            <a:pPr indent="0" marL="0">
              <a:buNone/>
            </a:pPr>
            <a:r>
              <a:rPr lang="en-US" sz="1200" b="1" dirty="0">
                <a:solidFill>
                  <a:srgbClr val="8E44AD"/>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Are valid frames being received?</a:t>
            </a:r>
            <a:endParaRPr lang="en-US" sz="1200" dirty="0"/>
          </a:p>
        </p:txBody>
      </p:sp>
      <p:sp>
        <p:nvSpPr>
          <p:cNvPr id="16" name="Text 14"/>
          <p:cNvSpPr/>
          <p:nvPr/>
        </p:nvSpPr>
        <p:spPr>
          <a:xfrm>
            <a:off x="4937760" y="3054096"/>
            <a:ext cx="3931920" cy="320040"/>
          </a:xfrm>
          <a:prstGeom prst="rect">
            <a:avLst/>
          </a:prstGeom>
          <a:noFill/>
          <a:ln/>
        </p:spPr>
        <p:txBody>
          <a:bodyPr wrap="square" lIns="0" tIns="0" rIns="0" bIns="0" rtlCol="0" anchor="ctr"/>
          <a:lstStyle/>
          <a:p>
            <a:pPr indent="0" marL="0">
              <a:buNone/>
            </a:pPr>
            <a:r>
              <a:rPr lang="en-US" sz="1200" b="1" dirty="0">
                <a:solidFill>
                  <a:srgbClr val="8E44AD"/>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Are Frame Check Sequences failing?</a:t>
            </a:r>
            <a:endParaRPr lang="en-US" sz="1200" dirty="0"/>
          </a:p>
        </p:txBody>
      </p:sp>
      <p:sp>
        <p:nvSpPr>
          <p:cNvPr id="17" name="Text 15"/>
          <p:cNvSpPr/>
          <p:nvPr/>
        </p:nvSpPr>
        <p:spPr>
          <a:xfrm>
            <a:off x="4937760" y="3401568"/>
            <a:ext cx="3931920" cy="320040"/>
          </a:xfrm>
          <a:prstGeom prst="rect">
            <a:avLst/>
          </a:prstGeom>
          <a:noFill/>
          <a:ln/>
        </p:spPr>
        <p:txBody>
          <a:bodyPr wrap="square" lIns="0" tIns="0" rIns="0" bIns="0" rtlCol="0" anchor="ctr"/>
          <a:lstStyle/>
          <a:p>
            <a:pPr indent="0" marL="0">
              <a:buNone/>
            </a:pPr>
            <a:r>
              <a:rPr lang="en-US" sz="1200" b="1" dirty="0">
                <a:solidFill>
                  <a:srgbClr val="8E44AD"/>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Are frame sizes malformed?</a:t>
            </a:r>
            <a:endParaRPr lang="en-US" sz="1200" dirty="0"/>
          </a:p>
        </p:txBody>
      </p:sp>
      <p:sp>
        <p:nvSpPr>
          <p:cNvPr id="18" name="Text 16"/>
          <p:cNvSpPr/>
          <p:nvPr/>
        </p:nvSpPr>
        <p:spPr>
          <a:xfrm>
            <a:off x="4937760" y="3749040"/>
            <a:ext cx="3931920" cy="320040"/>
          </a:xfrm>
          <a:prstGeom prst="rect">
            <a:avLst/>
          </a:prstGeom>
          <a:noFill/>
          <a:ln/>
        </p:spPr>
        <p:txBody>
          <a:bodyPr wrap="square" lIns="0" tIns="0" rIns="0" bIns="0" rtlCol="0" anchor="ctr"/>
          <a:lstStyle/>
          <a:p>
            <a:pPr indent="0" marL="0">
              <a:buNone/>
            </a:pPr>
            <a:r>
              <a:rPr lang="en-US" sz="1200" b="1" dirty="0">
                <a:solidFill>
                  <a:srgbClr val="8E44AD"/>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Are PAUSE frames being exchanged?</a:t>
            </a:r>
            <a:endParaRPr lang="en-US" sz="1200" dirty="0"/>
          </a:p>
        </p:txBody>
      </p:sp>
      <p:sp>
        <p:nvSpPr>
          <p:cNvPr id="19" name="Shape 17"/>
          <p:cNvSpPr/>
          <p:nvPr/>
        </p:nvSpPr>
        <p:spPr>
          <a:xfrm>
            <a:off x="502920" y="4572000"/>
            <a:ext cx="8138160" cy="347472"/>
          </a:xfrm>
          <a:prstGeom prst="rect">
            <a:avLst/>
          </a:prstGeom>
          <a:solidFill>
            <a:srgbClr val="1A4D6E"/>
          </a:solidFill>
          <a:ln w="12700">
            <a:solidFill>
              <a:srgbClr val="1A4D6E"/>
            </a:solidFill>
            <a:prstDash val="solid"/>
          </a:ln>
        </p:spPr>
      </p:sp>
      <p:sp>
        <p:nvSpPr>
          <p:cNvPr id="20" name="Text 18"/>
          <p:cNvSpPr/>
          <p:nvPr/>
        </p:nvSpPr>
        <p:spPr>
          <a:xfrm>
            <a:off x="594360" y="4590288"/>
            <a:ext cx="7955280" cy="310896"/>
          </a:xfrm>
          <a:prstGeom prst="rect">
            <a:avLst/>
          </a:prstGeom>
          <a:noFill/>
          <a:ln/>
        </p:spPr>
        <p:txBody>
          <a:bodyPr wrap="square" lIns="0" tIns="0" rIns="0" bIns="0" rtlCol="0" anchor="ctr"/>
          <a:lstStyle/>
          <a:p>
            <a:pPr algn="ctr" indent="0" marL="0">
              <a:buNone/>
            </a:pPr>
            <a:r>
              <a:rPr lang="en-US" sz="1200" b="1" dirty="0">
                <a:solidFill>
                  <a:srgbClr val="F0A500"/>
                </a:solidFill>
                <a:latin typeface="Trebuchet MS" pitchFamily="34" charset="0"/>
                <a:ea typeface="Trebuchet MS" pitchFamily="34" charset="-122"/>
                <a:cs typeface="Trebuchet MS" pitchFamily="34" charset="-120"/>
              </a:rPr>
              <a:t>Electrical problems usually start as Layer 1 trouble and later manifest as Layer 2 damage.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8FF"/>
        </a:solidFill>
      </p:bgPr>
    </p:bg>
    <p:spTree>
      <p:nvGrpSpPr>
        <p:cNvPr id="1" name=""/>
        <p:cNvGrpSpPr/>
        <p:nvPr/>
      </p:nvGrpSpPr>
      <p:grpSpPr>
        <a:xfrm>
          <a:off x="0" y="0"/>
          <a:ext cx="0" cy="0"/>
          <a:chOff x="0" y="0"/>
          <a:chExt cx="0" cy="0"/>
        </a:xfrm>
      </p:grpSpPr>
      <p:sp>
        <p:nvSpPr>
          <p:cNvPr id="2" name="Text 0"/>
          <p:cNvSpPr/>
          <p:nvPr/>
        </p:nvSpPr>
        <p:spPr>
          <a:xfrm>
            <a:off x="502920" y="320040"/>
            <a:ext cx="8138160" cy="685800"/>
          </a:xfrm>
          <a:prstGeom prst="rect">
            <a:avLst/>
          </a:prstGeom>
          <a:noFill/>
          <a:ln/>
        </p:spPr>
        <p:txBody>
          <a:bodyPr wrap="square" lIns="0" tIns="0" rIns="0" bIns="0" rtlCol="0" anchor="ctr"/>
          <a:lstStyle/>
          <a:p>
            <a:pPr algn="l" indent="0" marL="0">
              <a:buNone/>
            </a:pPr>
            <a:r>
              <a:rPr lang="en-US" sz="3000" b="1" dirty="0">
                <a:solidFill>
                  <a:srgbClr val="0B2D4E"/>
                </a:solidFill>
                <a:latin typeface="Trebuchet MS" pitchFamily="34" charset="0"/>
                <a:ea typeface="Trebuchet MS" pitchFamily="34" charset="-122"/>
                <a:cs typeface="Trebuchet MS" pitchFamily="34" charset="-120"/>
              </a:rPr>
              <a:t>Layer 1 Counters: Measuring Signalling Health</a:t>
            </a:r>
            <a:endParaRPr lang="en-US" sz="30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Shape 2"/>
          <p:cNvSpPr/>
          <p:nvPr/>
        </p:nvSpPr>
        <p:spPr>
          <a:xfrm>
            <a:off x="502920" y="1234440"/>
            <a:ext cx="8138160" cy="438912"/>
          </a:xfrm>
          <a:prstGeom prst="rect">
            <a:avLst/>
          </a:prstGeom>
          <a:solidFill>
            <a:srgbClr val="1A9DAA"/>
          </a:solidFill>
          <a:ln w="12700">
            <a:solidFill>
              <a:srgbClr val="1A9DAA"/>
            </a:solidFill>
            <a:prstDash val="solid"/>
          </a:ln>
        </p:spPr>
      </p:sp>
      <p:sp>
        <p:nvSpPr>
          <p:cNvPr id="5" name="Text 3"/>
          <p:cNvSpPr/>
          <p:nvPr/>
        </p:nvSpPr>
        <p:spPr>
          <a:xfrm>
            <a:off x="594360" y="1261872"/>
            <a:ext cx="7955280"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"The link is up" is a very weak health test.</a:t>
            </a:r>
            <a:endParaRPr lang="en-US" sz="1500" dirty="0"/>
          </a:p>
        </p:txBody>
      </p:sp>
      <p:sp>
        <p:nvSpPr>
          <p:cNvPr id="6" name="Text 4"/>
          <p:cNvSpPr/>
          <p:nvPr/>
        </p:nvSpPr>
        <p:spPr>
          <a:xfrm>
            <a:off x="502920" y="1828800"/>
            <a:ext cx="5303520" cy="1005840"/>
          </a:xfrm>
          <a:prstGeom prst="rect">
            <a:avLst/>
          </a:prstGeom>
          <a:noFill/>
          <a:ln/>
        </p:spPr>
        <p:txBody>
          <a:bodyPr wrap="square" lIns="0" tIns="0" rIns="0" bIns="0" rtlCol="0" anchor="t"/>
          <a:lstStyle/>
          <a:p>
            <a:pPr algn="l" indent="0" marL="0">
              <a:buNone/>
            </a:pPr>
            <a:r>
              <a:rPr lang="en-US" sz="1400" dirty="0">
                <a:solidFill>
                  <a:srgbClr val="0B2D4E"/>
                </a:solidFill>
                <a:latin typeface="Calibri" pitchFamily="34" charset="0"/>
                <a:ea typeface="Calibri" pitchFamily="34" charset="-122"/>
                <a:cs typeface="Calibri" pitchFamily="34" charset="-120"/>
              </a:rPr>
              <a:t>A link can be up while the physical receiver fights errors continuously. Some are corrected, some discarded before a valid frame forms, some propagate upward as broken frames. Layer 1 counters catch degradation early.</a:t>
            </a:r>
            <a:endParaRPr lang="en-US" sz="1400" dirty="0"/>
          </a:p>
        </p:txBody>
      </p:sp>
      <p:sp>
        <p:nvSpPr>
          <p:cNvPr id="7" name="Text 5"/>
          <p:cNvSpPr/>
          <p:nvPr/>
        </p:nvSpPr>
        <p:spPr>
          <a:xfrm>
            <a:off x="5989320" y="1828800"/>
            <a:ext cx="2743200" cy="320040"/>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-&gt; </a:t>
            </a:r>
            <a:pPr indent="0" marL="0">
              <a:buNone/>
            </a:pPr>
            <a:r>
              <a:rPr lang="en-US" sz="1200" dirty="0">
                <a:solidFill>
                  <a:srgbClr val="0B2D4E"/>
                </a:solidFill>
                <a:latin typeface="Calibri" pitchFamily="34" charset="0"/>
                <a:ea typeface="Calibri" pitchFamily="34" charset="-122"/>
                <a:cs typeface="Calibri" pitchFamily="34" charset="-120"/>
              </a:rPr>
              <a:t>Link up / down transition count</a:t>
            </a:r>
            <a:endParaRPr lang="en-US" sz="1200" dirty="0"/>
          </a:p>
        </p:txBody>
      </p:sp>
      <p:sp>
        <p:nvSpPr>
          <p:cNvPr id="8" name="Text 6"/>
          <p:cNvSpPr/>
          <p:nvPr/>
        </p:nvSpPr>
        <p:spPr>
          <a:xfrm>
            <a:off x="5989320" y="2176272"/>
            <a:ext cx="2743200" cy="320040"/>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-&gt; </a:t>
            </a:r>
            <a:pPr indent="0" marL="0">
              <a:buNone/>
            </a:pPr>
            <a:r>
              <a:rPr lang="en-US" sz="1200" dirty="0">
                <a:solidFill>
                  <a:srgbClr val="0B2D4E"/>
                </a:solidFill>
                <a:latin typeface="Calibri" pitchFamily="34" charset="0"/>
                <a:ea typeface="Calibri" pitchFamily="34" charset="-122"/>
                <a:cs typeface="Calibri" pitchFamily="34" charset="-120"/>
              </a:rPr>
              <a:t>Carrier-loss conditions</a:t>
            </a:r>
            <a:endParaRPr lang="en-US" sz="1200" dirty="0"/>
          </a:p>
        </p:txBody>
      </p:sp>
      <p:sp>
        <p:nvSpPr>
          <p:cNvPr id="9" name="Text 7"/>
          <p:cNvSpPr/>
          <p:nvPr/>
        </p:nvSpPr>
        <p:spPr>
          <a:xfrm>
            <a:off x="5989320" y="2523744"/>
            <a:ext cx="2743200" cy="320040"/>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-&gt; </a:t>
            </a:r>
            <a:pPr indent="0" marL="0">
              <a:buNone/>
            </a:pPr>
            <a:r>
              <a:rPr lang="en-US" sz="1200" dirty="0">
                <a:solidFill>
                  <a:srgbClr val="0B2D4E"/>
                </a:solidFill>
                <a:latin typeface="Calibri" pitchFamily="34" charset="0"/>
                <a:ea typeface="Calibri" pitchFamily="34" charset="-122"/>
                <a:cs typeface="Calibri" pitchFamily="34" charset="-120"/>
              </a:rPr>
              <a:t>Physical receive errors</a:t>
            </a:r>
            <a:endParaRPr lang="en-US" sz="1200" dirty="0"/>
          </a:p>
        </p:txBody>
      </p:sp>
      <p:sp>
        <p:nvSpPr>
          <p:cNvPr id="10" name="Text 8"/>
          <p:cNvSpPr/>
          <p:nvPr/>
        </p:nvSpPr>
        <p:spPr>
          <a:xfrm>
            <a:off x="5989320" y="1828800"/>
            <a:ext cx="2743200" cy="320040"/>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-&gt; </a:t>
            </a:r>
            <a:pPr indent="0" marL="0">
              <a:buNone/>
            </a:pPr>
            <a:r>
              <a:rPr lang="en-US" sz="1200" dirty="0">
                <a:solidFill>
                  <a:srgbClr val="0B2D4E"/>
                </a:solidFill>
                <a:latin typeface="Calibri" pitchFamily="34" charset="0"/>
                <a:ea typeface="Calibri" pitchFamily="34" charset="-122"/>
                <a:cs typeface="Calibri" pitchFamily="34" charset="-120"/>
              </a:rPr>
              <a:t>Symbol or code-group errors</a:t>
            </a:r>
            <a:endParaRPr lang="en-US" sz="1200" dirty="0"/>
          </a:p>
        </p:txBody>
      </p:sp>
      <p:sp>
        <p:nvSpPr>
          <p:cNvPr id="11" name="Text 9"/>
          <p:cNvSpPr/>
          <p:nvPr/>
        </p:nvSpPr>
        <p:spPr>
          <a:xfrm>
            <a:off x="5989320" y="2176272"/>
            <a:ext cx="2743200" cy="320040"/>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-&gt; </a:t>
            </a:r>
            <a:pPr indent="0" marL="0">
              <a:buNone/>
            </a:pPr>
            <a:r>
              <a:rPr lang="en-US" sz="1200" dirty="0">
                <a:solidFill>
                  <a:srgbClr val="0B2D4E"/>
                </a:solidFill>
                <a:latin typeface="Calibri" pitchFamily="34" charset="0"/>
                <a:ea typeface="Calibri" pitchFamily="34" charset="-122"/>
                <a:cs typeface="Calibri" pitchFamily="34" charset="-120"/>
              </a:rPr>
              <a:t>Synchronization loss events</a:t>
            </a:r>
            <a:endParaRPr lang="en-US" sz="1200" dirty="0"/>
          </a:p>
        </p:txBody>
      </p:sp>
      <p:sp>
        <p:nvSpPr>
          <p:cNvPr id="12" name="Text 10"/>
          <p:cNvSpPr/>
          <p:nvPr/>
        </p:nvSpPr>
        <p:spPr>
          <a:xfrm>
            <a:off x="5989320" y="2523744"/>
            <a:ext cx="2743200" cy="320040"/>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-&gt; </a:t>
            </a:r>
            <a:pPr indent="0" marL="0">
              <a:buNone/>
            </a:pPr>
            <a:r>
              <a:rPr lang="en-US" sz="1200" dirty="0">
                <a:solidFill>
                  <a:srgbClr val="0B2D4E"/>
                </a:solidFill>
                <a:latin typeface="Calibri" pitchFamily="34" charset="0"/>
                <a:ea typeface="Calibri" pitchFamily="34" charset="-122"/>
                <a:cs typeface="Calibri" pitchFamily="34" charset="-120"/>
              </a:rPr>
              <a:t>PHY coding sublayer error counts</a:t>
            </a:r>
            <a:endParaRPr lang="en-US" sz="1200" dirty="0"/>
          </a:p>
        </p:txBody>
      </p:sp>
      <p:sp>
        <p:nvSpPr>
          <p:cNvPr id="13" name="Shape 11"/>
          <p:cNvSpPr/>
          <p:nvPr/>
        </p:nvSpPr>
        <p:spPr>
          <a:xfrm>
            <a:off x="502920" y="3017520"/>
            <a:ext cx="5120640" cy="1783080"/>
          </a:xfrm>
          <a:prstGeom prst="rect">
            <a:avLst/>
          </a:prstGeom>
          <a:solidFill>
            <a:srgbClr val="0B2D4E"/>
          </a:solidFill>
          <a:ln w="12700">
            <a:solidFill>
              <a:srgbClr val="0B2D4E"/>
            </a:solidFill>
            <a:prstDash val="solid"/>
          </a:ln>
        </p:spPr>
      </p:sp>
      <p:sp>
        <p:nvSpPr>
          <p:cNvPr id="14" name="Text 12"/>
          <p:cNvSpPr/>
          <p:nvPr/>
        </p:nvSpPr>
        <p:spPr>
          <a:xfrm>
            <a:off x="640080" y="3108960"/>
            <a:ext cx="4846320" cy="347472"/>
          </a:xfrm>
          <a:prstGeom prst="rect">
            <a:avLst/>
          </a:prstGeom>
          <a:noFill/>
          <a:ln/>
        </p:spPr>
        <p:txBody>
          <a:bodyPr wrap="square" lIns="0" tIns="0" rIns="0" bIns="0" rtlCol="0" anchor="ctr"/>
          <a:lstStyle/>
          <a:p>
            <a:pPr algn="l" indent="0" marL="0">
              <a:buNone/>
            </a:pPr>
            <a:r>
              <a:rPr lang="en-US" sz="1300" b="1" dirty="0">
                <a:solidFill>
                  <a:srgbClr val="F0A500"/>
                </a:solidFill>
                <a:latin typeface="Trebuchet MS" pitchFamily="34" charset="0"/>
                <a:ea typeface="Trebuchet MS" pitchFamily="34" charset="-122"/>
                <a:cs typeface="Trebuchet MS" pitchFamily="34" charset="-120"/>
              </a:rPr>
              <a:t>Why L1 counters matter more than you think:</a:t>
            </a:r>
            <a:endParaRPr lang="en-US" sz="1300" dirty="0"/>
          </a:p>
        </p:txBody>
      </p:sp>
      <p:sp>
        <p:nvSpPr>
          <p:cNvPr id="15" name="Text 13"/>
          <p:cNvSpPr/>
          <p:nvPr/>
        </p:nvSpPr>
        <p:spPr>
          <a:xfrm>
            <a:off x="640080" y="3502152"/>
            <a:ext cx="4846320" cy="118872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A link at barely acceptable margin may show zero Layer 2 errors for hours while Layer 1 counters quietly climb. Catching that early is the difference between planned maintenance and an unexpected outage.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D4E"/>
        </a:solidFill>
      </p:bgPr>
    </p:bg>
    <p:spTree>
      <p:nvGrpSpPr>
        <p:cNvPr id="1" name=""/>
        <p:cNvGrpSpPr/>
        <p:nvPr/>
      </p:nvGrpSpPr>
      <p:grpSpPr>
        <a:xfrm>
          <a:off x="0" y="0"/>
          <a:ext cx="0" cy="0"/>
          <a:chOff x="0" y="0"/>
          <a:chExt cx="0" cy="0"/>
        </a:xfrm>
      </p:grpSpPr>
      <p:sp>
        <p:nvSpPr>
          <p:cNvPr id="2" name="Text 0"/>
          <p:cNvSpPr/>
          <p:nvPr/>
        </p:nvSpPr>
        <p:spPr>
          <a:xfrm>
            <a:off x="502920" y="320040"/>
            <a:ext cx="813816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Trebuchet MS" pitchFamily="34" charset="0"/>
                <a:ea typeface="Trebuchet MS" pitchFamily="34" charset="-122"/>
                <a:cs typeface="Trebuchet MS" pitchFamily="34" charset="-120"/>
              </a:rPr>
              <a:t>Layer 2 Counters: What Each One Tells You</a:t>
            </a:r>
            <a:endParaRPr lang="en-US" sz="30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Shape 2"/>
          <p:cNvSpPr/>
          <p:nvPr/>
        </p:nvSpPr>
        <p:spPr>
          <a:xfrm>
            <a:off x="502920" y="1325880"/>
            <a:ext cx="201168" cy="566928"/>
          </a:xfrm>
          <a:prstGeom prst="rect">
            <a:avLst/>
          </a:prstGeom>
          <a:solidFill>
            <a:srgbClr val="C0392B"/>
          </a:solidFill>
          <a:ln w="12700">
            <a:solidFill>
              <a:srgbClr val="C0392B"/>
            </a:solidFill>
            <a:prstDash val="solid"/>
          </a:ln>
        </p:spPr>
      </p:sp>
      <p:sp>
        <p:nvSpPr>
          <p:cNvPr id="5" name="Text 3"/>
          <p:cNvSpPr/>
          <p:nvPr/>
        </p:nvSpPr>
        <p:spPr>
          <a:xfrm>
            <a:off x="822960" y="1362456"/>
            <a:ext cx="2560320" cy="274320"/>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FCS / CRC Errors</a:t>
            </a:r>
            <a:endParaRPr lang="en-US" sz="1300" dirty="0"/>
          </a:p>
        </p:txBody>
      </p:sp>
      <p:sp>
        <p:nvSpPr>
          <p:cNvPr id="6" name="Text 4"/>
          <p:cNvSpPr/>
          <p:nvPr/>
        </p:nvSpPr>
        <p:spPr>
          <a:xfrm>
            <a:off x="822960" y="1636776"/>
            <a:ext cx="7909560" cy="329184"/>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Valid-size frames with a failed integrity check. Points to corruption in transit: physical issues or duplex mismatch.</a:t>
            </a:r>
            <a:endParaRPr lang="en-US" sz="1200" dirty="0"/>
          </a:p>
        </p:txBody>
      </p:sp>
      <p:sp>
        <p:nvSpPr>
          <p:cNvPr id="7" name="Shape 5"/>
          <p:cNvSpPr/>
          <p:nvPr/>
        </p:nvSpPr>
        <p:spPr>
          <a:xfrm>
            <a:off x="502920" y="2057400"/>
            <a:ext cx="201168" cy="566928"/>
          </a:xfrm>
          <a:prstGeom prst="rect">
            <a:avLst/>
          </a:prstGeom>
          <a:solidFill>
            <a:srgbClr val="E67E22"/>
          </a:solidFill>
          <a:ln w="12700">
            <a:solidFill>
              <a:srgbClr val="E67E22"/>
            </a:solidFill>
            <a:prstDash val="solid"/>
          </a:ln>
        </p:spPr>
      </p:sp>
      <p:sp>
        <p:nvSpPr>
          <p:cNvPr id="8" name="Text 6"/>
          <p:cNvSpPr/>
          <p:nvPr/>
        </p:nvSpPr>
        <p:spPr>
          <a:xfrm>
            <a:off x="822960" y="2093976"/>
            <a:ext cx="2560320" cy="274320"/>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Alignment / Frame Errors</a:t>
            </a:r>
            <a:endParaRPr lang="en-US" sz="1300" dirty="0"/>
          </a:p>
        </p:txBody>
      </p:sp>
      <p:sp>
        <p:nvSpPr>
          <p:cNvPr id="9" name="Text 7"/>
          <p:cNvSpPr/>
          <p:nvPr/>
        </p:nvSpPr>
        <p:spPr>
          <a:xfrm>
            <a:off x="822960" y="2368296"/>
            <a:ext cx="7909560" cy="329184"/>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CRC error plus non-integer octet count. Receiver failed to reconstruct a clean frame boundary, usually physical trouble.</a:t>
            </a:r>
            <a:endParaRPr lang="en-US" sz="1200" dirty="0"/>
          </a:p>
        </p:txBody>
      </p:sp>
      <p:sp>
        <p:nvSpPr>
          <p:cNvPr id="10" name="Shape 8"/>
          <p:cNvSpPr/>
          <p:nvPr/>
        </p:nvSpPr>
        <p:spPr>
          <a:xfrm>
            <a:off x="502920" y="2788920"/>
            <a:ext cx="201168" cy="566928"/>
          </a:xfrm>
          <a:prstGeom prst="rect">
            <a:avLst/>
          </a:prstGeom>
          <a:solidFill>
            <a:srgbClr val="1A9DAA"/>
          </a:solidFill>
          <a:ln w="12700">
            <a:solidFill>
              <a:srgbClr val="1A9DAA"/>
            </a:solidFill>
            <a:prstDash val="solid"/>
          </a:ln>
        </p:spPr>
      </p:sp>
      <p:sp>
        <p:nvSpPr>
          <p:cNvPr id="11" name="Text 9"/>
          <p:cNvSpPr/>
          <p:nvPr/>
        </p:nvSpPr>
        <p:spPr>
          <a:xfrm>
            <a:off x="822960" y="2825496"/>
            <a:ext cx="2560320" cy="274320"/>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Runts and Giants</a:t>
            </a:r>
            <a:endParaRPr lang="en-US" sz="1300" dirty="0"/>
          </a:p>
        </p:txBody>
      </p:sp>
      <p:sp>
        <p:nvSpPr>
          <p:cNvPr id="12" name="Text 10"/>
          <p:cNvSpPr/>
          <p:nvPr/>
        </p:nvSpPr>
        <p:spPr>
          <a:xfrm>
            <a:off x="822960" y="3099816"/>
            <a:ext cx="7909560" cy="329184"/>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Frames outside size limits. Giants exceed max IEEE 802.3 size with bad FCS: corrupt transmission or severe payload distortion.</a:t>
            </a:r>
            <a:endParaRPr lang="en-US" sz="1200" dirty="0"/>
          </a:p>
        </p:txBody>
      </p:sp>
      <p:sp>
        <p:nvSpPr>
          <p:cNvPr id="13" name="Shape 11"/>
          <p:cNvSpPr/>
          <p:nvPr/>
        </p:nvSpPr>
        <p:spPr>
          <a:xfrm>
            <a:off x="502920" y="3520440"/>
            <a:ext cx="201168" cy="566928"/>
          </a:xfrm>
          <a:prstGeom prst="rect">
            <a:avLst/>
          </a:prstGeom>
          <a:solidFill>
            <a:srgbClr val="8E44AD"/>
          </a:solidFill>
          <a:ln w="12700">
            <a:solidFill>
              <a:srgbClr val="8E44AD"/>
            </a:solidFill>
            <a:prstDash val="solid"/>
          </a:ln>
        </p:spPr>
      </p:sp>
      <p:sp>
        <p:nvSpPr>
          <p:cNvPr id="14" name="Text 12"/>
          <p:cNvSpPr/>
          <p:nvPr/>
        </p:nvSpPr>
        <p:spPr>
          <a:xfrm>
            <a:off x="822960" y="3557016"/>
            <a:ext cx="2560320" cy="274320"/>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PAUSE / Flow Control</a:t>
            </a:r>
            <a:endParaRPr lang="en-US" sz="1300" dirty="0"/>
          </a:p>
        </p:txBody>
      </p:sp>
      <p:sp>
        <p:nvSpPr>
          <p:cNvPr id="15" name="Text 13"/>
          <p:cNvSpPr/>
          <p:nvPr/>
        </p:nvSpPr>
        <p:spPr>
          <a:xfrm>
            <a:off x="822960" y="3831336"/>
            <a:ext cx="7909560" cy="329184"/>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One side is requesting silence. Not a fault by itself, but a strong signal of buffer pressure or pipeline stress downstream.</a:t>
            </a:r>
            <a:endParaRPr lang="en-US" sz="1200" dirty="0"/>
          </a:p>
        </p:txBody>
      </p:sp>
      <p:sp>
        <p:nvSpPr>
          <p:cNvPr id="16" name="Shape 14"/>
          <p:cNvSpPr/>
          <p:nvPr/>
        </p:nvSpPr>
        <p:spPr>
          <a:xfrm>
            <a:off x="502920" y="4251960"/>
            <a:ext cx="201168" cy="566928"/>
          </a:xfrm>
          <a:prstGeom prst="rect">
            <a:avLst/>
          </a:prstGeom>
          <a:solidFill>
            <a:srgbClr val="1A4D6E"/>
          </a:solidFill>
          <a:ln w="12700">
            <a:solidFill>
              <a:srgbClr val="1A4D6E"/>
            </a:solidFill>
            <a:prstDash val="solid"/>
          </a:ln>
        </p:spPr>
      </p:sp>
      <p:sp>
        <p:nvSpPr>
          <p:cNvPr id="17" name="Text 15"/>
          <p:cNvSpPr/>
          <p:nvPr/>
        </p:nvSpPr>
        <p:spPr>
          <a:xfrm>
            <a:off x="822960" y="4288536"/>
            <a:ext cx="2560320" cy="274320"/>
          </a:xfrm>
          <a:prstGeom prst="rect">
            <a:avLst/>
          </a:prstGeom>
          <a:noFill/>
          <a:ln/>
        </p:spPr>
        <p:txBody>
          <a:bodyPr wrap="square" lIns="0" tIns="0" rIns="0" bIns="0" rtlCol="0" anchor="ct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Summary Input Errors</a:t>
            </a:r>
            <a:endParaRPr lang="en-US" sz="1300" dirty="0"/>
          </a:p>
        </p:txBody>
      </p:sp>
      <p:sp>
        <p:nvSpPr>
          <p:cNvPr id="18" name="Text 16"/>
          <p:cNvSpPr/>
          <p:nvPr/>
        </p:nvSpPr>
        <p:spPr>
          <a:xfrm>
            <a:off x="822960" y="4562856"/>
            <a:ext cx="7909560" cy="329184"/>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Aggregates multiple specific categories. Not a clean arithmetic sum of visible counters, so read it carefully.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8FF"/>
        </a:solidFill>
      </p:bgPr>
    </p:bg>
    <p:spTree>
      <p:nvGrpSpPr>
        <p:cNvPr id="1" name=""/>
        <p:cNvGrpSpPr/>
        <p:nvPr/>
      </p:nvGrpSpPr>
      <p:grpSpPr>
        <a:xfrm>
          <a:off x="0" y="0"/>
          <a:ext cx="0" cy="0"/>
          <a:chOff x="0" y="0"/>
          <a:chExt cx="0" cy="0"/>
        </a:xfrm>
      </p:grpSpPr>
      <p:sp>
        <p:nvSpPr>
          <p:cNvPr id="2" name="Text 0"/>
          <p:cNvSpPr/>
          <p:nvPr/>
        </p:nvSpPr>
        <p:spPr>
          <a:xfrm>
            <a:off x="502920" y="320040"/>
            <a:ext cx="8138160" cy="685800"/>
          </a:xfrm>
          <a:prstGeom prst="rect">
            <a:avLst/>
          </a:prstGeom>
          <a:noFill/>
          <a:ln/>
        </p:spPr>
        <p:txBody>
          <a:bodyPr wrap="square" lIns="0" tIns="0" rIns="0" bIns="0" rtlCol="0" anchor="ctr"/>
          <a:lstStyle/>
          <a:p>
            <a:pPr algn="l" indent="0" marL="0">
              <a:buNone/>
            </a:pPr>
            <a:r>
              <a:rPr lang="en-US" sz="3000" b="1" dirty="0">
                <a:solidFill>
                  <a:srgbClr val="0B2D4E"/>
                </a:solidFill>
                <a:latin typeface="Trebuchet MS" pitchFamily="34" charset="0"/>
                <a:ea typeface="Trebuchet MS" pitchFamily="34" charset="-122"/>
                <a:cs typeface="Trebuchet MS" pitchFamily="34" charset="-120"/>
              </a:rPr>
              <a:t>The Chain: L1 Problems Become L2 Damage</a:t>
            </a:r>
            <a:endParaRPr lang="en-US" sz="30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384048"/>
          </a:xfrm>
          <a:prstGeom prst="rect">
            <a:avLst/>
          </a:prstGeom>
          <a:noFill/>
          <a:ln/>
        </p:spPr>
        <p:txBody>
          <a:bodyPr wrap="square" lIns="0" tIns="0" rIns="0" bIns="0" rtlCol="0" anchor="t"/>
          <a:lstStyle/>
          <a:p>
            <a:pPr algn="l" indent="0" marL="0">
              <a:buNone/>
            </a:pPr>
            <a:r>
              <a:rPr lang="en-US" sz="1400" dirty="0">
                <a:solidFill>
                  <a:srgbClr val="0B2D4E"/>
                </a:solidFill>
                <a:latin typeface="Calibri" pitchFamily="34" charset="0"/>
                <a:ea typeface="Calibri" pitchFamily="34" charset="-122"/>
                <a:cs typeface="Calibri" pitchFamily="34" charset="-120"/>
              </a:rPr>
              <a:t>Physical layer impairments do not stay contained. They propagate upward through a predictable sequence:</a:t>
            </a:r>
            <a:endParaRPr lang="en-US" sz="1400" dirty="0"/>
          </a:p>
        </p:txBody>
      </p:sp>
      <p:sp>
        <p:nvSpPr>
          <p:cNvPr id="5" name="Shape 3"/>
          <p:cNvSpPr/>
          <p:nvPr/>
        </p:nvSpPr>
        <p:spPr>
          <a:xfrm>
            <a:off x="228600" y="1755648"/>
            <a:ext cx="1554480" cy="1207008"/>
          </a:xfrm>
          <a:prstGeom prst="rect">
            <a:avLst/>
          </a:prstGeom>
          <a:solidFill>
            <a:srgbClr val="C0392B"/>
          </a:solidFill>
          <a:ln w="12700">
            <a:solidFill>
              <a:srgbClr val="C0392B"/>
            </a:solidFill>
            <a:prstDash val="solid"/>
          </a:ln>
        </p:spPr>
      </p:sp>
      <p:sp>
        <p:nvSpPr>
          <p:cNvPr id="6" name="Text 4"/>
          <p:cNvSpPr/>
          <p:nvPr/>
        </p:nvSpPr>
        <p:spPr>
          <a:xfrm>
            <a:off x="274320" y="1801368"/>
            <a:ext cx="146304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Electrical</a:t>
            </a:r>
            <a:endParaRPr lang="en-US" sz="1200" dirty="0"/>
          </a:p>
          <a:p>
            <a:pPr algn="ctr" indent="0" marL="0">
              <a:buNone/>
            </a:pPr>
            <a:r>
              <a:rPr lang="en-US" sz="1200" b="1" dirty="0">
                <a:solidFill>
                  <a:srgbClr val="FFFFFF"/>
                </a:solidFill>
                <a:latin typeface="Trebuchet MS" pitchFamily="34" charset="0"/>
                <a:ea typeface="Trebuchet MS" pitchFamily="34" charset="-122"/>
                <a:cs typeface="Trebuchet MS" pitchFamily="34" charset="-120"/>
              </a:rPr>
              <a:t>Impairment</a:t>
            </a:r>
            <a:endParaRPr lang="en-US" sz="1200" dirty="0"/>
          </a:p>
        </p:txBody>
      </p:sp>
      <p:sp>
        <p:nvSpPr>
          <p:cNvPr id="7" name="Shape 5"/>
          <p:cNvSpPr/>
          <p:nvPr/>
        </p:nvSpPr>
        <p:spPr>
          <a:xfrm>
            <a:off x="292608" y="2286000"/>
            <a:ext cx="1426464" cy="36576"/>
          </a:xfrm>
          <a:prstGeom prst="rect">
            <a:avLst/>
          </a:prstGeom>
          <a:solidFill>
            <a:srgbClr val="FFFFFF"/>
          </a:solidFill>
          <a:ln w="12700">
            <a:solidFill>
              <a:srgbClr val="FFFFFF"/>
            </a:solidFill>
            <a:prstDash val="solid"/>
          </a:ln>
        </p:spPr>
      </p:sp>
      <p:sp>
        <p:nvSpPr>
          <p:cNvPr id="8" name="Text 6"/>
          <p:cNvSpPr/>
          <p:nvPr/>
        </p:nvSpPr>
        <p:spPr>
          <a:xfrm>
            <a:off x="274320" y="2340864"/>
            <a:ext cx="1463040" cy="56692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High insertion loss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Poor return loss</a:t>
            </a:r>
            <a:endParaRPr lang="en-US" sz="1000" dirty="0"/>
          </a:p>
        </p:txBody>
      </p:sp>
      <p:sp>
        <p:nvSpPr>
          <p:cNvPr id="9" name="Text 7"/>
          <p:cNvSpPr/>
          <p:nvPr/>
        </p:nvSpPr>
        <p:spPr>
          <a:xfrm>
            <a:off x="1783080" y="2103120"/>
            <a:ext cx="219456" cy="402336"/>
          </a:xfrm>
          <a:prstGeom prst="rect">
            <a:avLst/>
          </a:prstGeom>
          <a:noFill/>
          <a:ln/>
        </p:spPr>
        <p:txBody>
          <a:bodyPr wrap="square" lIns="0" tIns="0" rIns="0" bIns="0" rtlCol="0" anchor="ctr"/>
          <a:lstStyle/>
          <a:p>
            <a:pPr algn="ctr" indent="0" marL="0">
              <a:buNone/>
            </a:pPr>
            <a:r>
              <a:rPr lang="en-US" sz="1800" b="1" dirty="0">
                <a:solidFill>
                  <a:srgbClr val="0E7C86"/>
                </a:solidFill>
                <a:latin typeface="Trebuchet MS" pitchFamily="34" charset="0"/>
                <a:ea typeface="Trebuchet MS" pitchFamily="34" charset="-122"/>
                <a:cs typeface="Trebuchet MS" pitchFamily="34" charset="-120"/>
              </a:rPr>
              <a:t>-&gt;</a:t>
            </a:r>
            <a:endParaRPr lang="en-US" sz="1800" dirty="0"/>
          </a:p>
        </p:txBody>
      </p:sp>
      <p:sp>
        <p:nvSpPr>
          <p:cNvPr id="10" name="Shape 8"/>
          <p:cNvSpPr/>
          <p:nvPr/>
        </p:nvSpPr>
        <p:spPr>
          <a:xfrm>
            <a:off x="2002536" y="1755648"/>
            <a:ext cx="1554480" cy="1207008"/>
          </a:xfrm>
          <a:prstGeom prst="rect">
            <a:avLst/>
          </a:prstGeom>
          <a:solidFill>
            <a:srgbClr val="E67E22"/>
          </a:solidFill>
          <a:ln w="12700">
            <a:solidFill>
              <a:srgbClr val="E67E22"/>
            </a:solidFill>
            <a:prstDash val="solid"/>
          </a:ln>
        </p:spPr>
      </p:sp>
      <p:sp>
        <p:nvSpPr>
          <p:cNvPr id="11" name="Text 9"/>
          <p:cNvSpPr/>
          <p:nvPr/>
        </p:nvSpPr>
        <p:spPr>
          <a:xfrm>
            <a:off x="2048256" y="1801368"/>
            <a:ext cx="146304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PHY Decoding</a:t>
            </a:r>
            <a:endParaRPr lang="en-US" sz="1200" dirty="0"/>
          </a:p>
          <a:p>
            <a:pPr algn="ctr" indent="0" marL="0">
              <a:buNone/>
            </a:pPr>
            <a:r>
              <a:rPr lang="en-US" sz="1200" b="1" dirty="0">
                <a:solidFill>
                  <a:srgbClr val="FFFFFF"/>
                </a:solidFill>
                <a:latin typeface="Trebuchet MS" pitchFamily="34" charset="0"/>
                <a:ea typeface="Trebuchet MS" pitchFamily="34" charset="-122"/>
                <a:cs typeface="Trebuchet MS" pitchFamily="34" charset="-120"/>
              </a:rPr>
              <a:t>Stress</a:t>
            </a:r>
            <a:endParaRPr lang="en-US" sz="1200" dirty="0"/>
          </a:p>
        </p:txBody>
      </p:sp>
      <p:sp>
        <p:nvSpPr>
          <p:cNvPr id="12" name="Shape 10"/>
          <p:cNvSpPr/>
          <p:nvPr/>
        </p:nvSpPr>
        <p:spPr>
          <a:xfrm>
            <a:off x="2066544" y="2286000"/>
            <a:ext cx="1426464" cy="36576"/>
          </a:xfrm>
          <a:prstGeom prst="rect">
            <a:avLst/>
          </a:prstGeom>
          <a:solidFill>
            <a:srgbClr val="FFFFFF"/>
          </a:solidFill>
          <a:ln w="12700">
            <a:solidFill>
              <a:srgbClr val="FFFFFF"/>
            </a:solidFill>
            <a:prstDash val="solid"/>
          </a:ln>
        </p:spPr>
      </p:sp>
      <p:sp>
        <p:nvSpPr>
          <p:cNvPr id="13" name="Text 11"/>
          <p:cNvSpPr/>
          <p:nvPr/>
        </p:nvSpPr>
        <p:spPr>
          <a:xfrm>
            <a:off x="2048256" y="2340864"/>
            <a:ext cx="1463040" cy="56692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Reduced eye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Equalization strain</a:t>
            </a:r>
            <a:endParaRPr lang="en-US" sz="1000" dirty="0"/>
          </a:p>
        </p:txBody>
      </p:sp>
      <p:sp>
        <p:nvSpPr>
          <p:cNvPr id="14" name="Text 12"/>
          <p:cNvSpPr/>
          <p:nvPr/>
        </p:nvSpPr>
        <p:spPr>
          <a:xfrm>
            <a:off x="3557016" y="2103120"/>
            <a:ext cx="219456" cy="402336"/>
          </a:xfrm>
          <a:prstGeom prst="rect">
            <a:avLst/>
          </a:prstGeom>
          <a:noFill/>
          <a:ln/>
        </p:spPr>
        <p:txBody>
          <a:bodyPr wrap="square" lIns="0" tIns="0" rIns="0" bIns="0" rtlCol="0" anchor="ctr"/>
          <a:lstStyle/>
          <a:p>
            <a:pPr algn="ctr" indent="0" marL="0">
              <a:buNone/>
            </a:pPr>
            <a:r>
              <a:rPr lang="en-US" sz="1800" b="1" dirty="0">
                <a:solidFill>
                  <a:srgbClr val="0E7C86"/>
                </a:solidFill>
                <a:latin typeface="Trebuchet MS" pitchFamily="34" charset="0"/>
                <a:ea typeface="Trebuchet MS" pitchFamily="34" charset="-122"/>
                <a:cs typeface="Trebuchet MS" pitchFamily="34" charset="-120"/>
              </a:rPr>
              <a:t>-&gt;</a:t>
            </a:r>
            <a:endParaRPr lang="en-US" sz="1800" dirty="0"/>
          </a:p>
        </p:txBody>
      </p:sp>
      <p:sp>
        <p:nvSpPr>
          <p:cNvPr id="15" name="Shape 13"/>
          <p:cNvSpPr/>
          <p:nvPr/>
        </p:nvSpPr>
        <p:spPr>
          <a:xfrm>
            <a:off x="3776472" y="1755648"/>
            <a:ext cx="1554480" cy="1207008"/>
          </a:xfrm>
          <a:prstGeom prst="rect">
            <a:avLst/>
          </a:prstGeom>
          <a:solidFill>
            <a:srgbClr val="1A9DAA"/>
          </a:solidFill>
          <a:ln w="12700">
            <a:solidFill>
              <a:srgbClr val="1A9DAA"/>
            </a:solidFill>
            <a:prstDash val="solid"/>
          </a:ln>
        </p:spPr>
      </p:sp>
      <p:sp>
        <p:nvSpPr>
          <p:cNvPr id="16" name="Text 14"/>
          <p:cNvSpPr/>
          <p:nvPr/>
        </p:nvSpPr>
        <p:spPr>
          <a:xfrm>
            <a:off x="3822192" y="1801368"/>
            <a:ext cx="146304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Symbol /</a:t>
            </a:r>
            <a:endParaRPr lang="en-US" sz="1200" dirty="0"/>
          </a:p>
          <a:p>
            <a:pPr algn="ctr" indent="0" marL="0">
              <a:buNone/>
            </a:pPr>
            <a:r>
              <a:rPr lang="en-US" sz="1200" b="1" dirty="0">
                <a:solidFill>
                  <a:srgbClr val="FFFFFF"/>
                </a:solidFill>
                <a:latin typeface="Trebuchet MS" pitchFamily="34" charset="0"/>
                <a:ea typeface="Trebuchet MS" pitchFamily="34" charset="-122"/>
                <a:cs typeface="Trebuchet MS" pitchFamily="34" charset="-120"/>
              </a:rPr>
              <a:t>Carrier Errors</a:t>
            </a:r>
            <a:endParaRPr lang="en-US" sz="1200" dirty="0"/>
          </a:p>
        </p:txBody>
      </p:sp>
      <p:sp>
        <p:nvSpPr>
          <p:cNvPr id="17" name="Shape 15"/>
          <p:cNvSpPr/>
          <p:nvPr/>
        </p:nvSpPr>
        <p:spPr>
          <a:xfrm>
            <a:off x="3840480" y="2286000"/>
            <a:ext cx="1426464" cy="36576"/>
          </a:xfrm>
          <a:prstGeom prst="rect">
            <a:avLst/>
          </a:prstGeom>
          <a:solidFill>
            <a:srgbClr val="FFFFFF"/>
          </a:solidFill>
          <a:ln w="12700">
            <a:solidFill>
              <a:srgbClr val="FFFFFF"/>
            </a:solidFill>
            <a:prstDash val="solid"/>
          </a:ln>
        </p:spPr>
      </p:sp>
      <p:sp>
        <p:nvSpPr>
          <p:cNvPr id="18" name="Text 16"/>
          <p:cNvSpPr/>
          <p:nvPr/>
        </p:nvSpPr>
        <p:spPr>
          <a:xfrm>
            <a:off x="3822192" y="2340864"/>
            <a:ext cx="1463040" cy="56692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L1 counters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begin climbing</a:t>
            </a:r>
            <a:endParaRPr lang="en-US" sz="1000" dirty="0"/>
          </a:p>
        </p:txBody>
      </p:sp>
      <p:sp>
        <p:nvSpPr>
          <p:cNvPr id="19" name="Text 17"/>
          <p:cNvSpPr/>
          <p:nvPr/>
        </p:nvSpPr>
        <p:spPr>
          <a:xfrm>
            <a:off x="5330952" y="2103120"/>
            <a:ext cx="219456" cy="402336"/>
          </a:xfrm>
          <a:prstGeom prst="rect">
            <a:avLst/>
          </a:prstGeom>
          <a:noFill/>
          <a:ln/>
        </p:spPr>
        <p:txBody>
          <a:bodyPr wrap="square" lIns="0" tIns="0" rIns="0" bIns="0" rtlCol="0" anchor="ctr"/>
          <a:lstStyle/>
          <a:p>
            <a:pPr algn="ctr" indent="0" marL="0">
              <a:buNone/>
            </a:pPr>
            <a:r>
              <a:rPr lang="en-US" sz="1800" b="1" dirty="0">
                <a:solidFill>
                  <a:srgbClr val="0E7C86"/>
                </a:solidFill>
                <a:latin typeface="Trebuchet MS" pitchFamily="34" charset="0"/>
                <a:ea typeface="Trebuchet MS" pitchFamily="34" charset="-122"/>
                <a:cs typeface="Trebuchet MS" pitchFamily="34" charset="-120"/>
              </a:rPr>
              <a:t>-&gt;</a:t>
            </a:r>
            <a:endParaRPr lang="en-US" sz="1800" dirty="0"/>
          </a:p>
        </p:txBody>
      </p:sp>
      <p:sp>
        <p:nvSpPr>
          <p:cNvPr id="20" name="Shape 18"/>
          <p:cNvSpPr/>
          <p:nvPr/>
        </p:nvSpPr>
        <p:spPr>
          <a:xfrm>
            <a:off x="5550408" y="1755648"/>
            <a:ext cx="1554480" cy="1207008"/>
          </a:xfrm>
          <a:prstGeom prst="rect">
            <a:avLst/>
          </a:prstGeom>
          <a:solidFill>
            <a:srgbClr val="8E44AD"/>
          </a:solidFill>
          <a:ln w="12700">
            <a:solidFill>
              <a:srgbClr val="8E44AD"/>
            </a:solidFill>
            <a:prstDash val="solid"/>
          </a:ln>
        </p:spPr>
      </p:sp>
      <p:sp>
        <p:nvSpPr>
          <p:cNvPr id="21" name="Text 19"/>
          <p:cNvSpPr/>
          <p:nvPr/>
        </p:nvSpPr>
        <p:spPr>
          <a:xfrm>
            <a:off x="5596128" y="1801368"/>
            <a:ext cx="146304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Bad FCS /</a:t>
            </a:r>
            <a:endParaRPr lang="en-US" sz="1200" dirty="0"/>
          </a:p>
          <a:p>
            <a:pPr algn="ctr" indent="0" marL="0">
              <a:buNone/>
            </a:pPr>
            <a:r>
              <a:rPr lang="en-US" sz="1200" b="1" dirty="0">
                <a:solidFill>
                  <a:srgbClr val="FFFFFF"/>
                </a:solidFill>
                <a:latin typeface="Trebuchet MS" pitchFamily="34" charset="0"/>
                <a:ea typeface="Trebuchet MS" pitchFamily="34" charset="-122"/>
                <a:cs typeface="Trebuchet MS" pitchFamily="34" charset="-120"/>
              </a:rPr>
              <a:t>Malformed Frame</a:t>
            </a:r>
            <a:endParaRPr lang="en-US" sz="1200" dirty="0"/>
          </a:p>
        </p:txBody>
      </p:sp>
      <p:sp>
        <p:nvSpPr>
          <p:cNvPr id="22" name="Shape 20"/>
          <p:cNvSpPr/>
          <p:nvPr/>
        </p:nvSpPr>
        <p:spPr>
          <a:xfrm>
            <a:off x="5614416" y="2286000"/>
            <a:ext cx="1426464" cy="36576"/>
          </a:xfrm>
          <a:prstGeom prst="rect">
            <a:avLst/>
          </a:prstGeom>
          <a:solidFill>
            <a:srgbClr val="FFFFFF"/>
          </a:solidFill>
          <a:ln w="12700">
            <a:solidFill>
              <a:srgbClr val="FFFFFF"/>
            </a:solidFill>
            <a:prstDash val="solid"/>
          </a:ln>
        </p:spPr>
      </p:sp>
      <p:sp>
        <p:nvSpPr>
          <p:cNvPr id="23" name="Text 21"/>
          <p:cNvSpPr/>
          <p:nvPr/>
        </p:nvSpPr>
        <p:spPr>
          <a:xfrm>
            <a:off x="5596128" y="2340864"/>
            <a:ext cx="1463040" cy="56692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L2 counters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now increasing</a:t>
            </a:r>
            <a:endParaRPr lang="en-US" sz="1000" dirty="0"/>
          </a:p>
        </p:txBody>
      </p:sp>
      <p:sp>
        <p:nvSpPr>
          <p:cNvPr id="24" name="Text 22"/>
          <p:cNvSpPr/>
          <p:nvPr/>
        </p:nvSpPr>
        <p:spPr>
          <a:xfrm>
            <a:off x="7104888" y="2103120"/>
            <a:ext cx="219456" cy="402336"/>
          </a:xfrm>
          <a:prstGeom prst="rect">
            <a:avLst/>
          </a:prstGeom>
          <a:noFill/>
          <a:ln/>
        </p:spPr>
        <p:txBody>
          <a:bodyPr wrap="square" lIns="0" tIns="0" rIns="0" bIns="0" rtlCol="0" anchor="ctr"/>
          <a:lstStyle/>
          <a:p>
            <a:pPr algn="ctr" indent="0" marL="0">
              <a:buNone/>
            </a:pPr>
            <a:r>
              <a:rPr lang="en-US" sz="1800" b="1" dirty="0">
                <a:solidFill>
                  <a:srgbClr val="0E7C86"/>
                </a:solidFill>
                <a:latin typeface="Trebuchet MS" pitchFamily="34" charset="0"/>
                <a:ea typeface="Trebuchet MS" pitchFamily="34" charset="-122"/>
                <a:cs typeface="Trebuchet MS" pitchFamily="34" charset="-120"/>
              </a:rPr>
              <a:t>-&gt;</a:t>
            </a:r>
            <a:endParaRPr lang="en-US" sz="1800" dirty="0"/>
          </a:p>
        </p:txBody>
      </p:sp>
      <p:sp>
        <p:nvSpPr>
          <p:cNvPr id="25" name="Shape 23"/>
          <p:cNvSpPr/>
          <p:nvPr/>
        </p:nvSpPr>
        <p:spPr>
          <a:xfrm>
            <a:off x="7324344" y="1755648"/>
            <a:ext cx="1554480" cy="1207008"/>
          </a:xfrm>
          <a:prstGeom prst="rect">
            <a:avLst/>
          </a:prstGeom>
          <a:solidFill>
            <a:srgbClr val="0B2D4E"/>
          </a:solidFill>
          <a:ln w="12700">
            <a:solidFill>
              <a:srgbClr val="0B2D4E"/>
            </a:solidFill>
            <a:prstDash val="solid"/>
          </a:ln>
        </p:spPr>
      </p:sp>
      <p:sp>
        <p:nvSpPr>
          <p:cNvPr id="26" name="Text 24"/>
          <p:cNvSpPr/>
          <p:nvPr/>
        </p:nvSpPr>
        <p:spPr>
          <a:xfrm>
            <a:off x="7370064" y="1801368"/>
            <a:ext cx="146304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Packet Loss</a:t>
            </a:r>
            <a:endParaRPr lang="en-US" sz="1200" dirty="0"/>
          </a:p>
          <a:p>
            <a:pPr algn="ctr" indent="0" marL="0">
              <a:buNone/>
            </a:pPr>
            <a:r>
              <a:rPr lang="en-US" sz="1200" b="1" dirty="0">
                <a:solidFill>
                  <a:srgbClr val="FFFFFF"/>
                </a:solidFill>
                <a:latin typeface="Trebuchet MS" pitchFamily="34" charset="0"/>
                <a:ea typeface="Trebuchet MS" pitchFamily="34" charset="-122"/>
                <a:cs typeface="Trebuchet MS" pitchFamily="34" charset="-120"/>
              </a:rPr>
              <a:t>or Retries</a:t>
            </a:r>
            <a:endParaRPr lang="en-US" sz="1200" dirty="0"/>
          </a:p>
        </p:txBody>
      </p:sp>
      <p:sp>
        <p:nvSpPr>
          <p:cNvPr id="27" name="Shape 25"/>
          <p:cNvSpPr/>
          <p:nvPr/>
        </p:nvSpPr>
        <p:spPr>
          <a:xfrm>
            <a:off x="7388352" y="2286000"/>
            <a:ext cx="1426464" cy="36576"/>
          </a:xfrm>
          <a:prstGeom prst="rect">
            <a:avLst/>
          </a:prstGeom>
          <a:solidFill>
            <a:srgbClr val="FFFFFF"/>
          </a:solidFill>
          <a:ln w="12700">
            <a:solidFill>
              <a:srgbClr val="FFFFFF"/>
            </a:solidFill>
            <a:prstDash val="solid"/>
          </a:ln>
        </p:spPr>
      </p:sp>
      <p:sp>
        <p:nvSpPr>
          <p:cNvPr id="28" name="Text 26"/>
          <p:cNvSpPr/>
          <p:nvPr/>
        </p:nvSpPr>
        <p:spPr>
          <a:xfrm>
            <a:off x="7370064" y="2340864"/>
            <a:ext cx="1463040" cy="56692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Application sees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performance issues</a:t>
            </a:r>
            <a:endParaRPr lang="en-US" sz="1000" dirty="0"/>
          </a:p>
        </p:txBody>
      </p:sp>
      <p:sp>
        <p:nvSpPr>
          <p:cNvPr id="29" name="Shape 27"/>
          <p:cNvSpPr/>
          <p:nvPr/>
        </p:nvSpPr>
        <p:spPr>
          <a:xfrm>
            <a:off x="502920" y="3182112"/>
            <a:ext cx="8138160" cy="1645920"/>
          </a:xfrm>
          <a:prstGeom prst="rect">
            <a:avLst/>
          </a:prstGeom>
          <a:solidFill>
            <a:srgbClr val="0B2D4E"/>
          </a:solidFill>
          <a:ln w="12700">
            <a:solidFill>
              <a:srgbClr val="0B2D4E"/>
            </a:solidFill>
            <a:prstDash val="solid"/>
          </a:ln>
        </p:spPr>
      </p:sp>
      <p:sp>
        <p:nvSpPr>
          <p:cNvPr id="30" name="Text 28"/>
          <p:cNvSpPr/>
          <p:nvPr/>
        </p:nvSpPr>
        <p:spPr>
          <a:xfrm>
            <a:off x="640080" y="3273552"/>
            <a:ext cx="7772400" cy="347472"/>
          </a:xfrm>
          <a:prstGeom prst="rect">
            <a:avLst/>
          </a:prstGeom>
          <a:noFill/>
          <a:ln/>
        </p:spPr>
        <p:txBody>
          <a:bodyPr wrap="square" lIns="0" tIns="0" rIns="0" bIns="0" rtlCol="0" anchor="ctr"/>
          <a:lstStyle/>
          <a:p>
            <a:pPr algn="l" indent="0" marL="0">
              <a:buNone/>
            </a:pPr>
            <a:r>
              <a:rPr lang="en-US" sz="1400" b="1" dirty="0">
                <a:solidFill>
                  <a:srgbClr val="F0A500"/>
                </a:solidFill>
                <a:latin typeface="Trebuchet MS" pitchFamily="34" charset="0"/>
                <a:ea typeface="Trebuchet MS" pitchFamily="34" charset="-122"/>
                <a:cs typeface="Trebuchet MS" pitchFamily="34" charset="-120"/>
              </a:rPr>
              <a:t>Why this chain matters for troubleshooting:</a:t>
            </a:r>
            <a:endParaRPr lang="en-US" sz="1400" dirty="0"/>
          </a:p>
        </p:txBody>
      </p:sp>
      <p:sp>
        <p:nvSpPr>
          <p:cNvPr id="31" name="Text 29"/>
          <p:cNvSpPr/>
          <p:nvPr/>
        </p:nvSpPr>
        <p:spPr>
          <a:xfrm>
            <a:off x="640080" y="3657600"/>
            <a:ext cx="7772400" cy="1051560"/>
          </a:xfrm>
          <a:prstGeom prst="rect">
            <a:avLst/>
          </a:prstGeom>
          <a:noFill/>
          <a:ln/>
        </p:spPr>
        <p:txBody>
          <a:bodyPr wrap="square" lIns="0" tIns="0" rIns="0" bIns="0" rtlCol="0" anchor="t"/>
          <a:lstStyle/>
          <a:p>
            <a:pPr algn="l" indent="0" marL="0">
              <a:buNone/>
            </a:pPr>
            <a:r>
              <a:rPr lang="en-US" sz="1300" dirty="0">
                <a:solidFill>
                  <a:srgbClr val="D6EAF8"/>
                </a:solidFill>
                <a:latin typeface="Calibri" pitchFamily="34" charset="0"/>
                <a:ea typeface="Calibri" pitchFamily="34" charset="-122"/>
                <a:cs typeface="Calibri" pitchFamily="34" charset="-120"/>
              </a:rPr>
              <a:t>If you see rising FCS errors but have no concept of return loss or insertion loss, you are treating symptoms without understanding cause. The counters are downstream effects of physics happening at the signal level.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D4E"/>
        </a:solidFill>
      </p:bgPr>
    </p:bg>
    <p:spTree>
      <p:nvGrpSpPr>
        <p:cNvPr id="1" name=""/>
        <p:cNvGrpSpPr/>
        <p:nvPr/>
      </p:nvGrpSpPr>
      <p:grpSpPr>
        <a:xfrm>
          <a:off x="0" y="0"/>
          <a:ext cx="0" cy="0"/>
          <a:chOff x="0" y="0"/>
          <a:chExt cx="0" cy="0"/>
        </a:xfrm>
      </p:grpSpPr>
      <p:sp>
        <p:nvSpPr>
          <p:cNvPr id="2" name="Text 0"/>
          <p:cNvSpPr/>
          <p:nvPr/>
        </p:nvSpPr>
        <p:spPr>
          <a:xfrm>
            <a:off x="502920" y="320040"/>
            <a:ext cx="8138160" cy="685800"/>
          </a:xfrm>
          <a:prstGeom prst="rect">
            <a:avLst/>
          </a:prstGeom>
          <a:noFill/>
          <a:ln/>
        </p:spPr>
        <p:txBody>
          <a:bodyPr wrap="square" lIns="0" tIns="0" rIns="0" bIns="0" rtlCol="0" anchor="ctr"/>
          <a:lstStyle/>
          <a:p>
            <a:pPr algn="l" indent="0" marL="0">
              <a:buNone/>
            </a:pPr>
            <a:r>
              <a:rPr lang="en-US" sz="3400" b="1" dirty="0">
                <a:solidFill>
                  <a:srgbClr val="FFFFFF"/>
                </a:solidFill>
                <a:latin typeface="Trebuchet MS" pitchFamily="34" charset="0"/>
                <a:ea typeface="Trebuchet MS" pitchFamily="34" charset="-122"/>
                <a:cs typeface="Trebuchet MS" pitchFamily="34" charset="-120"/>
              </a:rPr>
              <a:t>Insertion Loss: Forward Attenuation</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188720"/>
            <a:ext cx="8138160" cy="365760"/>
          </a:xfrm>
          <a:prstGeom prst="rect">
            <a:avLst/>
          </a:prstGeom>
          <a:noFill/>
          <a:ln/>
        </p:spPr>
        <p:txBody>
          <a:bodyPr wrap="square" lIns="0" tIns="0" rIns="0" bIns="0" rtlCol="0" anchor="t"/>
          <a:lstStyle/>
          <a:p>
            <a:pPr algn="l" indent="0" marL="0">
              <a:buNone/>
            </a:pPr>
            <a:r>
              <a:rPr lang="en-US" sz="1400" dirty="0">
                <a:solidFill>
                  <a:srgbClr val="D6EAF8"/>
                </a:solidFill>
                <a:latin typeface="Calibri" pitchFamily="34" charset="0"/>
                <a:ea typeface="Calibri" pitchFamily="34" charset="-122"/>
                <a:cs typeface="Calibri" pitchFamily="34" charset="-120"/>
              </a:rPr>
              <a:t>How much signal power is lost as it travels from transmitter to receiver?</a:t>
            </a:r>
            <a:endParaRPr lang="en-US" sz="1400" dirty="0"/>
          </a:p>
        </p:txBody>
      </p:sp>
      <p:sp>
        <p:nvSpPr>
          <p:cNvPr id="5" name="Shape 3"/>
          <p:cNvSpPr/>
          <p:nvPr/>
        </p:nvSpPr>
        <p:spPr>
          <a:xfrm>
            <a:off x="502920" y="1737360"/>
            <a:ext cx="1097280" cy="640080"/>
          </a:xfrm>
          <a:prstGeom prst="rect">
            <a:avLst/>
          </a:prstGeom>
          <a:solidFill>
            <a:srgbClr val="1A9DAA"/>
          </a:solidFill>
          <a:ln w="12700">
            <a:solidFill>
              <a:srgbClr val="1A9DAA"/>
            </a:solidFill>
            <a:prstDash val="solid"/>
          </a:ln>
        </p:spPr>
      </p:sp>
      <p:sp>
        <p:nvSpPr>
          <p:cNvPr id="6" name="Text 4"/>
          <p:cNvSpPr/>
          <p:nvPr/>
        </p:nvSpPr>
        <p:spPr>
          <a:xfrm>
            <a:off x="502920" y="1737360"/>
            <a:ext cx="10972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TX</a:t>
            </a:r>
            <a:endParaRPr lang="en-US" sz="2000" dirty="0"/>
          </a:p>
        </p:txBody>
      </p:sp>
      <p:sp>
        <p:nvSpPr>
          <p:cNvPr id="7" name="Shape 5"/>
          <p:cNvSpPr/>
          <p:nvPr/>
        </p:nvSpPr>
        <p:spPr>
          <a:xfrm>
            <a:off x="1600200" y="2057400"/>
            <a:ext cx="6035040" cy="0"/>
          </a:xfrm>
          <a:prstGeom prst="line">
            <a:avLst/>
          </a:prstGeom>
          <a:noFill/>
          <a:ln w="38100">
            <a:solidFill>
              <a:srgbClr val="0E7C86"/>
            </a:solidFill>
            <a:prstDash val="solid"/>
          </a:ln>
        </p:spPr>
      </p:sp>
      <p:sp>
        <p:nvSpPr>
          <p:cNvPr id="8" name="Text 6"/>
          <p:cNvSpPr/>
          <p:nvPr/>
        </p:nvSpPr>
        <p:spPr>
          <a:xfrm>
            <a:off x="1600200" y="2212848"/>
            <a:ext cx="1463040" cy="256032"/>
          </a:xfrm>
          <a:prstGeom prst="rect">
            <a:avLst/>
          </a:prstGeom>
          <a:noFill/>
          <a:ln/>
        </p:spPr>
        <p:txBody>
          <a:bodyPr wrap="square" lIns="0" tIns="0" rIns="0" bIns="0" rtlCol="0" anchor="ctr"/>
          <a:lstStyle/>
          <a:p>
            <a:pPr algn="ctr" indent="0" marL="0">
              <a:buNone/>
            </a:pPr>
            <a:r>
              <a:rPr lang="en-US" sz="1000" dirty="0">
                <a:solidFill>
                  <a:srgbClr val="D6EAF8"/>
                </a:solidFill>
                <a:latin typeface="Calibri" pitchFamily="34" charset="0"/>
                <a:ea typeface="Calibri" pitchFamily="34" charset="-122"/>
                <a:cs typeface="Calibri" pitchFamily="34" charset="-120"/>
              </a:rPr>
              <a:t>Cable</a:t>
            </a:r>
            <a:endParaRPr lang="en-US" sz="1000" dirty="0"/>
          </a:p>
        </p:txBody>
      </p:sp>
      <p:sp>
        <p:nvSpPr>
          <p:cNvPr id="9" name="Text 7"/>
          <p:cNvSpPr/>
          <p:nvPr/>
        </p:nvSpPr>
        <p:spPr>
          <a:xfrm>
            <a:off x="3108960" y="2212848"/>
            <a:ext cx="1463040" cy="256032"/>
          </a:xfrm>
          <a:prstGeom prst="rect">
            <a:avLst/>
          </a:prstGeom>
          <a:noFill/>
          <a:ln/>
        </p:spPr>
        <p:txBody>
          <a:bodyPr wrap="square" lIns="0" tIns="0" rIns="0" bIns="0" rtlCol="0" anchor="ctr"/>
          <a:lstStyle/>
          <a:p>
            <a:pPr algn="ctr" indent="0" marL="0">
              <a:buNone/>
            </a:pPr>
            <a:r>
              <a:rPr lang="en-US" sz="1000" dirty="0">
                <a:solidFill>
                  <a:srgbClr val="D6EAF8"/>
                </a:solidFill>
                <a:latin typeface="Calibri" pitchFamily="34" charset="0"/>
                <a:ea typeface="Calibri" pitchFamily="34" charset="-122"/>
                <a:cs typeface="Calibri" pitchFamily="34" charset="-120"/>
              </a:rPr>
              <a:t>Connector</a:t>
            </a:r>
            <a:endParaRPr lang="en-US" sz="1000" dirty="0"/>
          </a:p>
        </p:txBody>
      </p:sp>
      <p:sp>
        <p:nvSpPr>
          <p:cNvPr id="10" name="Text 8"/>
          <p:cNvSpPr/>
          <p:nvPr/>
        </p:nvSpPr>
        <p:spPr>
          <a:xfrm>
            <a:off x="4617720" y="2212848"/>
            <a:ext cx="1463040" cy="256032"/>
          </a:xfrm>
          <a:prstGeom prst="rect">
            <a:avLst/>
          </a:prstGeom>
          <a:noFill/>
          <a:ln/>
        </p:spPr>
        <p:txBody>
          <a:bodyPr wrap="square" lIns="0" tIns="0" rIns="0" bIns="0" rtlCol="0" anchor="ctr"/>
          <a:lstStyle/>
          <a:p>
            <a:pPr algn="ctr" indent="0" marL="0">
              <a:buNone/>
            </a:pPr>
            <a:r>
              <a:rPr lang="en-US" sz="1000" dirty="0">
                <a:solidFill>
                  <a:srgbClr val="D6EAF8"/>
                </a:solidFill>
                <a:latin typeface="Calibri" pitchFamily="34" charset="0"/>
                <a:ea typeface="Calibri" pitchFamily="34" charset="-122"/>
                <a:cs typeface="Calibri" pitchFamily="34" charset="-120"/>
              </a:rPr>
              <a:t>PCB via</a:t>
            </a:r>
            <a:endParaRPr lang="en-US" sz="1000" dirty="0"/>
          </a:p>
        </p:txBody>
      </p:sp>
      <p:sp>
        <p:nvSpPr>
          <p:cNvPr id="11" name="Text 9"/>
          <p:cNvSpPr/>
          <p:nvPr/>
        </p:nvSpPr>
        <p:spPr>
          <a:xfrm>
            <a:off x="6126480" y="2212848"/>
            <a:ext cx="1463040" cy="256032"/>
          </a:xfrm>
          <a:prstGeom prst="rect">
            <a:avLst/>
          </a:prstGeom>
          <a:noFill/>
          <a:ln/>
        </p:spPr>
        <p:txBody>
          <a:bodyPr wrap="square" lIns="0" tIns="0" rIns="0" bIns="0" rtlCol="0" anchor="ctr"/>
          <a:lstStyle/>
          <a:p>
            <a:pPr algn="ctr" indent="0" marL="0">
              <a:buNone/>
            </a:pPr>
            <a:r>
              <a:rPr lang="en-US" sz="1000" dirty="0">
                <a:solidFill>
                  <a:srgbClr val="D6EAF8"/>
                </a:solidFill>
                <a:latin typeface="Calibri" pitchFamily="34" charset="0"/>
                <a:ea typeface="Calibri" pitchFamily="34" charset="-122"/>
                <a:cs typeface="Calibri" pitchFamily="34" charset="-120"/>
              </a:rPr>
              <a:t>Magnetics</a:t>
            </a:r>
            <a:endParaRPr lang="en-US" sz="1000" dirty="0"/>
          </a:p>
        </p:txBody>
      </p:sp>
      <p:sp>
        <p:nvSpPr>
          <p:cNvPr id="12" name="Shape 10"/>
          <p:cNvSpPr/>
          <p:nvPr/>
        </p:nvSpPr>
        <p:spPr>
          <a:xfrm>
            <a:off x="7635240" y="1737360"/>
            <a:ext cx="1097280" cy="640080"/>
          </a:xfrm>
          <a:prstGeom prst="rect">
            <a:avLst/>
          </a:prstGeom>
          <a:solidFill>
            <a:srgbClr val="1A4D6E"/>
          </a:solidFill>
          <a:ln w="12700">
            <a:solidFill>
              <a:srgbClr val="1A4D6E"/>
            </a:solidFill>
            <a:prstDash val="solid"/>
          </a:ln>
        </p:spPr>
      </p:sp>
      <p:sp>
        <p:nvSpPr>
          <p:cNvPr id="13" name="Shape 11"/>
          <p:cNvSpPr/>
          <p:nvPr/>
        </p:nvSpPr>
        <p:spPr>
          <a:xfrm>
            <a:off x="7635240" y="1737360"/>
            <a:ext cx="1097280" cy="640080"/>
          </a:xfrm>
          <a:prstGeom prst="rect">
            <a:avLst/>
          </a:prstGeom>
          <a:solidFill>
            <a:srgbClr val="1A4D6E"/>
          </a:solidFill>
          <a:ln w="12700">
            <a:solidFill>
              <a:srgbClr val="0E7C86"/>
            </a:solidFill>
            <a:prstDash val="solid"/>
          </a:ln>
        </p:spPr>
      </p:sp>
      <p:sp>
        <p:nvSpPr>
          <p:cNvPr id="14" name="Text 12"/>
          <p:cNvSpPr/>
          <p:nvPr/>
        </p:nvSpPr>
        <p:spPr>
          <a:xfrm>
            <a:off x="7635240" y="1737360"/>
            <a:ext cx="1097280" cy="640080"/>
          </a:xfrm>
          <a:prstGeom prst="rect">
            <a:avLst/>
          </a:prstGeom>
          <a:noFill/>
          <a:ln/>
        </p:spPr>
        <p:txBody>
          <a:bodyPr wrap="square" lIns="0" tIns="0" rIns="0" bIns="0" rtlCol="0" anchor="ctr"/>
          <a:lstStyle/>
          <a:p>
            <a:pPr algn="ctr" indent="0" marL="0">
              <a:buNone/>
            </a:pPr>
            <a:r>
              <a:rPr lang="en-US" sz="1100" b="1" dirty="0">
                <a:solidFill>
                  <a:srgbClr val="D6EAF8"/>
                </a:solidFill>
                <a:latin typeface="Trebuchet MS" pitchFamily="34" charset="0"/>
                <a:ea typeface="Trebuchet MS" pitchFamily="34" charset="-122"/>
                <a:cs typeface="Trebuchet MS" pitchFamily="34" charset="-120"/>
              </a:rPr>
              <a:t>RX</a:t>
            </a:r>
            <a:endParaRPr lang="en-US" sz="1100" dirty="0"/>
          </a:p>
          <a:p>
            <a:pPr algn="ctr" indent="0" marL="0">
              <a:buNone/>
            </a:pPr>
            <a:r>
              <a:rPr lang="en-US" sz="1100" b="1" dirty="0">
                <a:solidFill>
                  <a:srgbClr val="D6EAF8"/>
                </a:solidFill>
                <a:latin typeface="Trebuchet MS" pitchFamily="34" charset="0"/>
                <a:ea typeface="Trebuchet MS" pitchFamily="34" charset="-122"/>
                <a:cs typeface="Trebuchet MS" pitchFamily="34" charset="-120"/>
              </a:rPr>
              <a:t>(weaker)</a:t>
            </a:r>
            <a:endParaRPr lang="en-US" sz="1100" dirty="0"/>
          </a:p>
        </p:txBody>
      </p:sp>
      <p:sp>
        <p:nvSpPr>
          <p:cNvPr id="15" name="Text 13"/>
          <p:cNvSpPr/>
          <p:nvPr/>
        </p:nvSpPr>
        <p:spPr>
          <a:xfrm>
            <a:off x="1600200" y="2578608"/>
            <a:ext cx="6035040" cy="274320"/>
          </a:xfrm>
          <a:prstGeom prst="rect">
            <a:avLst/>
          </a:prstGeom>
          <a:noFill/>
          <a:ln/>
        </p:spPr>
        <p:txBody>
          <a:bodyPr wrap="square" lIns="0" tIns="0" rIns="0" bIns="0" rtlCol="0" anchor="ctr"/>
          <a:lstStyle/>
          <a:p>
            <a:pPr algn="ctr" indent="0" marL="0">
              <a:buNone/>
            </a:pPr>
            <a:r>
              <a:rPr lang="en-US" sz="1100" dirty="0">
                <a:solidFill>
                  <a:srgbClr val="0E7C86"/>
                </a:solidFill>
                <a:latin typeface="Calibri" pitchFamily="34" charset="0"/>
                <a:ea typeface="Calibri" pitchFamily="34" charset="-122"/>
                <a:cs typeface="Calibri" pitchFamily="34" charset="-120"/>
              </a:rPr>
              <a:t>Signal attenuated across the full path -&gt;</a:t>
            </a:r>
            <a:endParaRPr lang="en-US" sz="1100" dirty="0"/>
          </a:p>
        </p:txBody>
      </p:sp>
      <p:sp>
        <p:nvSpPr>
          <p:cNvPr id="16" name="Shape 14"/>
          <p:cNvSpPr/>
          <p:nvPr/>
        </p:nvSpPr>
        <p:spPr>
          <a:xfrm>
            <a:off x="502920" y="3017520"/>
            <a:ext cx="2651760" cy="1783080"/>
          </a:xfrm>
          <a:prstGeom prst="rect">
            <a:avLst/>
          </a:prstGeom>
          <a:solidFill>
            <a:srgbClr val="1A4D6E"/>
          </a:solidFill>
          <a:ln w="12700">
            <a:solidFill>
              <a:srgbClr val="1A4D6E"/>
            </a:solidFill>
            <a:prstDash val="solid"/>
          </a:ln>
        </p:spPr>
      </p:sp>
      <p:sp>
        <p:nvSpPr>
          <p:cNvPr id="17" name="Shape 15"/>
          <p:cNvSpPr/>
          <p:nvPr/>
        </p:nvSpPr>
        <p:spPr>
          <a:xfrm>
            <a:off x="502920" y="3017520"/>
            <a:ext cx="2651760" cy="1783080"/>
          </a:xfrm>
          <a:prstGeom prst="rect">
            <a:avLst/>
          </a:prstGeom>
          <a:solidFill>
            <a:srgbClr val="1A4D6E"/>
          </a:solidFill>
          <a:ln w="12700">
            <a:solidFill>
              <a:srgbClr val="1A9DAA"/>
            </a:solidFill>
            <a:prstDash val="solid"/>
          </a:ln>
        </p:spPr>
      </p:sp>
      <p:sp>
        <p:nvSpPr>
          <p:cNvPr id="18" name="Text 16"/>
          <p:cNvSpPr/>
          <p:nvPr/>
        </p:nvSpPr>
        <p:spPr>
          <a:xfrm>
            <a:off x="594360" y="3108960"/>
            <a:ext cx="2468880" cy="438912"/>
          </a:xfrm>
          <a:prstGeom prst="rect">
            <a:avLst/>
          </a:prstGeom>
          <a:noFill/>
          <a:ln/>
        </p:spPr>
        <p:txBody>
          <a:bodyPr wrap="square" lIns="0" tIns="0" rIns="0" bIns="0" rtlCol="0" anchor="ctr"/>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Low = Better</a:t>
            </a:r>
            <a:endParaRPr lang="en-US" sz="1400" dirty="0"/>
          </a:p>
        </p:txBody>
      </p:sp>
      <p:sp>
        <p:nvSpPr>
          <p:cNvPr id="19" name="Text 17"/>
          <p:cNvSpPr/>
          <p:nvPr/>
        </p:nvSpPr>
        <p:spPr>
          <a:xfrm>
            <a:off x="594360" y="3584448"/>
            <a:ext cx="2468880" cy="109728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Less signal is lost along the path; receiver gets more margin</a:t>
            </a:r>
            <a:endParaRPr lang="en-US" sz="1200" dirty="0"/>
          </a:p>
        </p:txBody>
      </p:sp>
      <p:sp>
        <p:nvSpPr>
          <p:cNvPr id="20" name="Shape 18"/>
          <p:cNvSpPr/>
          <p:nvPr/>
        </p:nvSpPr>
        <p:spPr>
          <a:xfrm>
            <a:off x="3383280" y="3017520"/>
            <a:ext cx="2651760" cy="1783080"/>
          </a:xfrm>
          <a:prstGeom prst="rect">
            <a:avLst/>
          </a:prstGeom>
          <a:solidFill>
            <a:srgbClr val="1A4D6E"/>
          </a:solidFill>
          <a:ln w="12700">
            <a:solidFill>
              <a:srgbClr val="1A4D6E"/>
            </a:solidFill>
            <a:prstDash val="solid"/>
          </a:ln>
        </p:spPr>
      </p:sp>
      <p:sp>
        <p:nvSpPr>
          <p:cNvPr id="21" name="Shape 19"/>
          <p:cNvSpPr/>
          <p:nvPr/>
        </p:nvSpPr>
        <p:spPr>
          <a:xfrm>
            <a:off x="3383280" y="3017520"/>
            <a:ext cx="2651760" cy="1783080"/>
          </a:xfrm>
          <a:prstGeom prst="rect">
            <a:avLst/>
          </a:prstGeom>
          <a:solidFill>
            <a:srgbClr val="1A4D6E"/>
          </a:solidFill>
          <a:ln w="12700">
            <a:solidFill>
              <a:srgbClr val="E67E22"/>
            </a:solidFill>
            <a:prstDash val="solid"/>
          </a:ln>
        </p:spPr>
      </p:sp>
      <p:sp>
        <p:nvSpPr>
          <p:cNvPr id="22" name="Text 20"/>
          <p:cNvSpPr/>
          <p:nvPr/>
        </p:nvSpPr>
        <p:spPr>
          <a:xfrm>
            <a:off x="3474720" y="3108960"/>
            <a:ext cx="2468880" cy="438912"/>
          </a:xfrm>
          <a:prstGeom prst="rect">
            <a:avLst/>
          </a:prstGeom>
          <a:noFill/>
          <a:ln/>
        </p:spPr>
        <p:txBody>
          <a:bodyPr wrap="square" lIns="0" tIns="0" rIns="0" bIns="0" rtlCol="0" anchor="ctr"/>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Length Matters</a:t>
            </a:r>
            <a:endParaRPr lang="en-US" sz="1400" dirty="0"/>
          </a:p>
        </p:txBody>
      </p:sp>
      <p:sp>
        <p:nvSpPr>
          <p:cNvPr id="23" name="Text 21"/>
          <p:cNvSpPr/>
          <p:nvPr/>
        </p:nvSpPr>
        <p:spPr>
          <a:xfrm>
            <a:off x="3474720" y="3584448"/>
            <a:ext cx="2468880" cy="109728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More conductor length, more attenuation along the way</a:t>
            </a:r>
            <a:endParaRPr lang="en-US" sz="1200" dirty="0"/>
          </a:p>
        </p:txBody>
      </p:sp>
      <p:sp>
        <p:nvSpPr>
          <p:cNvPr id="24" name="Shape 22"/>
          <p:cNvSpPr/>
          <p:nvPr/>
        </p:nvSpPr>
        <p:spPr>
          <a:xfrm>
            <a:off x="6263640" y="3017520"/>
            <a:ext cx="2651760" cy="1783080"/>
          </a:xfrm>
          <a:prstGeom prst="rect">
            <a:avLst/>
          </a:prstGeom>
          <a:solidFill>
            <a:srgbClr val="1A4D6E"/>
          </a:solidFill>
          <a:ln w="12700">
            <a:solidFill>
              <a:srgbClr val="1A4D6E"/>
            </a:solidFill>
            <a:prstDash val="solid"/>
          </a:ln>
        </p:spPr>
      </p:sp>
      <p:sp>
        <p:nvSpPr>
          <p:cNvPr id="25" name="Shape 23"/>
          <p:cNvSpPr/>
          <p:nvPr/>
        </p:nvSpPr>
        <p:spPr>
          <a:xfrm>
            <a:off x="6263640" y="3017520"/>
            <a:ext cx="2651760" cy="1783080"/>
          </a:xfrm>
          <a:prstGeom prst="rect">
            <a:avLst/>
          </a:prstGeom>
          <a:solidFill>
            <a:srgbClr val="1A4D6E"/>
          </a:solidFill>
          <a:ln w="12700">
            <a:solidFill>
              <a:srgbClr val="C0392B"/>
            </a:solidFill>
            <a:prstDash val="solid"/>
          </a:ln>
        </p:spPr>
      </p:sp>
      <p:sp>
        <p:nvSpPr>
          <p:cNvPr id="26" name="Text 24"/>
          <p:cNvSpPr/>
          <p:nvPr/>
        </p:nvSpPr>
        <p:spPr>
          <a:xfrm>
            <a:off x="6355080" y="3108960"/>
            <a:ext cx="2468880" cy="438912"/>
          </a:xfrm>
          <a:prstGeom prst="rect">
            <a:avLst/>
          </a:prstGeom>
          <a:noFill/>
          <a:ln/>
        </p:spPr>
        <p:txBody>
          <a:bodyPr wrap="square" lIns="0" tIns="0" rIns="0" bIns="0" rtlCol="0" anchor="ctr"/>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Freq. Matters</a:t>
            </a:r>
            <a:endParaRPr lang="en-US" sz="1400" dirty="0"/>
          </a:p>
        </p:txBody>
      </p:sp>
      <p:sp>
        <p:nvSpPr>
          <p:cNvPr id="27" name="Text 25"/>
          <p:cNvSpPr/>
          <p:nvPr/>
        </p:nvSpPr>
        <p:spPr>
          <a:xfrm>
            <a:off x="6355080" y="3584448"/>
            <a:ext cx="2468880" cy="109728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Standards note: impairments increase with frequency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8FF"/>
        </a:solidFill>
      </p:bgPr>
    </p:bg>
    <p:spTree>
      <p:nvGrpSpPr>
        <p:cNvPr id="1" name=""/>
        <p:cNvGrpSpPr/>
        <p:nvPr/>
      </p:nvGrpSpPr>
      <p:grpSpPr>
        <a:xfrm>
          <a:off x="0" y="0"/>
          <a:ext cx="0" cy="0"/>
          <a:chOff x="0" y="0"/>
          <a:chExt cx="0" cy="0"/>
        </a:xfrm>
      </p:grpSpPr>
      <p:sp>
        <p:nvSpPr>
          <p:cNvPr id="2" name="Text 0"/>
          <p:cNvSpPr/>
          <p:nvPr/>
        </p:nvSpPr>
        <p:spPr>
          <a:xfrm>
            <a:off x="502920" y="320040"/>
            <a:ext cx="8138160" cy="685800"/>
          </a:xfrm>
          <a:prstGeom prst="rect">
            <a:avLst/>
          </a:prstGeom>
          <a:noFill/>
          <a:ln/>
        </p:spPr>
        <p:txBody>
          <a:bodyPr wrap="square" lIns="0" tIns="0" rIns="0" bIns="0" rtlCol="0" anchor="ctr"/>
          <a:lstStyle/>
          <a:p>
            <a:pPr algn="l" indent="0" marL="0">
              <a:buNone/>
            </a:pPr>
            <a:r>
              <a:rPr lang="en-US" sz="3200" b="1" dirty="0">
                <a:solidFill>
                  <a:srgbClr val="0B2D4E"/>
                </a:solidFill>
                <a:latin typeface="Trebuchet MS" pitchFamily="34" charset="0"/>
                <a:ea typeface="Trebuchet MS" pitchFamily="34" charset="-122"/>
                <a:cs typeface="Trebuchet MS" pitchFamily="34" charset="-120"/>
              </a:rPr>
              <a:t>Return Loss: Reflections from Mismatch</a:t>
            </a:r>
            <a:endParaRPr lang="en-US" sz="32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365760"/>
          </a:xfrm>
          <a:prstGeom prst="rect">
            <a:avLst/>
          </a:prstGeom>
          <a:noFill/>
          <a:ln/>
        </p:spPr>
        <p:txBody>
          <a:bodyPr wrap="square" lIns="0" tIns="0" rIns="0" bIns="0" rtlCol="0" anchor="t"/>
          <a:lstStyle/>
          <a:p>
            <a:pPr algn="l" indent="0" marL="0">
              <a:buNone/>
            </a:pPr>
            <a:r>
              <a:rPr lang="en-US" sz="1400" dirty="0">
                <a:solidFill>
                  <a:srgbClr val="0B2D4E"/>
                </a:solidFill>
                <a:latin typeface="Calibri" pitchFamily="34" charset="0"/>
                <a:ea typeface="Calibri" pitchFamily="34" charset="-122"/>
                <a:cs typeface="Calibri" pitchFamily="34" charset="-120"/>
              </a:rPr>
              <a:t>How much of the transmitted signal bounces back because the channel impedance is not uniform?</a:t>
            </a:r>
            <a:endParaRPr lang="en-US" sz="1400" dirty="0"/>
          </a:p>
        </p:txBody>
      </p:sp>
      <p:sp>
        <p:nvSpPr>
          <p:cNvPr id="5" name="Shape 3"/>
          <p:cNvSpPr/>
          <p:nvPr/>
        </p:nvSpPr>
        <p:spPr>
          <a:xfrm>
            <a:off x="502920" y="1847088"/>
            <a:ext cx="1097280" cy="621792"/>
          </a:xfrm>
          <a:prstGeom prst="rect">
            <a:avLst/>
          </a:prstGeom>
          <a:solidFill>
            <a:srgbClr val="0B2D4E"/>
          </a:solidFill>
          <a:ln w="12700">
            <a:solidFill>
              <a:srgbClr val="0B2D4E"/>
            </a:solidFill>
            <a:prstDash val="solid"/>
          </a:ln>
        </p:spPr>
      </p:sp>
      <p:sp>
        <p:nvSpPr>
          <p:cNvPr id="6" name="Text 4"/>
          <p:cNvSpPr/>
          <p:nvPr/>
        </p:nvSpPr>
        <p:spPr>
          <a:xfrm>
            <a:off x="502920" y="1847088"/>
            <a:ext cx="1097280"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TX</a:t>
            </a:r>
            <a:endParaRPr lang="en-US" sz="2000" dirty="0"/>
          </a:p>
        </p:txBody>
      </p:sp>
      <p:sp>
        <p:nvSpPr>
          <p:cNvPr id="7" name="Shape 5"/>
          <p:cNvSpPr/>
          <p:nvPr/>
        </p:nvSpPr>
        <p:spPr>
          <a:xfrm>
            <a:off x="1600200" y="2103120"/>
            <a:ext cx="3200400" cy="0"/>
          </a:xfrm>
          <a:prstGeom prst="line">
            <a:avLst/>
          </a:prstGeom>
          <a:noFill/>
          <a:ln w="38100">
            <a:solidFill>
              <a:srgbClr val="1A9DAA"/>
            </a:solidFill>
            <a:prstDash val="solid"/>
          </a:ln>
        </p:spPr>
      </p:sp>
      <p:sp>
        <p:nvSpPr>
          <p:cNvPr id="8" name="Text 6"/>
          <p:cNvSpPr/>
          <p:nvPr/>
        </p:nvSpPr>
        <p:spPr>
          <a:xfrm>
            <a:off x="1600200" y="2176272"/>
            <a:ext cx="3200400" cy="256032"/>
          </a:xfrm>
          <a:prstGeom prst="rect">
            <a:avLst/>
          </a:prstGeom>
          <a:noFill/>
          <a:ln/>
        </p:spPr>
        <p:txBody>
          <a:bodyPr wrap="square" lIns="0" tIns="0" rIns="0" bIns="0" rtlCol="0" anchor="ctr"/>
          <a:lstStyle/>
          <a:p>
            <a:pPr algn="ctr" indent="0" marL="0">
              <a:buNone/>
            </a:pPr>
            <a:r>
              <a:rPr lang="en-US" sz="1100" dirty="0">
                <a:solidFill>
                  <a:srgbClr val="1A9DAA"/>
                </a:solidFill>
                <a:latin typeface="Calibri" pitchFamily="34" charset="0"/>
                <a:ea typeface="Calibri" pitchFamily="34" charset="-122"/>
                <a:cs typeface="Calibri" pitchFamily="34" charset="-120"/>
              </a:rPr>
              <a:t>-&gt; Incident signal</a:t>
            </a:r>
            <a:endParaRPr lang="en-US" sz="1100" dirty="0"/>
          </a:p>
        </p:txBody>
      </p:sp>
      <p:sp>
        <p:nvSpPr>
          <p:cNvPr id="9" name="Shape 7"/>
          <p:cNvSpPr/>
          <p:nvPr/>
        </p:nvSpPr>
        <p:spPr>
          <a:xfrm>
            <a:off x="4800600" y="1664208"/>
            <a:ext cx="548640" cy="1115568"/>
          </a:xfrm>
          <a:prstGeom prst="rect">
            <a:avLst/>
          </a:prstGeom>
          <a:solidFill>
            <a:srgbClr val="F0A500"/>
          </a:solidFill>
          <a:ln w="12700">
            <a:solidFill>
              <a:srgbClr val="F0A500"/>
            </a:solidFill>
            <a:prstDash val="solid"/>
          </a:ln>
        </p:spPr>
      </p:sp>
      <p:sp>
        <p:nvSpPr>
          <p:cNvPr id="10" name="Text 8"/>
          <p:cNvSpPr/>
          <p:nvPr/>
        </p:nvSpPr>
        <p:spPr>
          <a:xfrm>
            <a:off x="4800600" y="1664208"/>
            <a:ext cx="548640" cy="1115568"/>
          </a:xfrm>
          <a:prstGeom prst="rect">
            <a:avLst/>
          </a:prstGeom>
          <a:noFill/>
          <a:ln/>
        </p:spPr>
        <p:txBody>
          <a:bodyPr wrap="square" lIns="0" tIns="0" rIns="0" bIns="0" rtlCol="0" anchor="ctr"/>
          <a:lstStyle/>
          <a:p>
            <a:pPr algn="ctr" indent="0" marL="0">
              <a:buNone/>
            </a:pPr>
            <a:r>
              <a:rPr lang="en-US" sz="800" b="1" dirty="0">
                <a:solidFill>
                  <a:srgbClr val="FFFFFF"/>
                </a:solidFill>
                <a:latin typeface="Trebuchet MS" pitchFamily="34" charset="0"/>
                <a:ea typeface="Trebuchet MS" pitchFamily="34" charset="-122"/>
                <a:cs typeface="Trebuchet MS" pitchFamily="34" charset="-120"/>
              </a:rPr>
              <a:t>MISMATCH</a:t>
            </a:r>
            <a:endParaRPr lang="en-US" sz="800" dirty="0"/>
          </a:p>
        </p:txBody>
      </p:sp>
      <p:sp>
        <p:nvSpPr>
          <p:cNvPr id="11" name="Shape 9"/>
          <p:cNvSpPr/>
          <p:nvPr/>
        </p:nvSpPr>
        <p:spPr>
          <a:xfrm>
            <a:off x="1600200" y="2450592"/>
            <a:ext cx="3200400" cy="0"/>
          </a:xfrm>
          <a:prstGeom prst="line">
            <a:avLst/>
          </a:prstGeom>
          <a:noFill/>
          <a:ln w="25400">
            <a:solidFill>
              <a:srgbClr val="C0392B"/>
            </a:solidFill>
            <a:prstDash val="solid"/>
          </a:ln>
        </p:spPr>
      </p:sp>
      <p:sp>
        <p:nvSpPr>
          <p:cNvPr id="12" name="Text 10"/>
          <p:cNvSpPr/>
          <p:nvPr/>
        </p:nvSpPr>
        <p:spPr>
          <a:xfrm>
            <a:off x="1600200" y="2523744"/>
            <a:ext cx="3200400" cy="256032"/>
          </a:xfrm>
          <a:prstGeom prst="rect">
            <a:avLst/>
          </a:prstGeom>
          <a:noFill/>
          <a:ln/>
        </p:spPr>
        <p:txBody>
          <a:bodyPr wrap="square" lIns="0" tIns="0" rIns="0" bIns="0" rtlCol="0" anchor="ctr"/>
          <a:lstStyle/>
          <a:p>
            <a:pPr algn="ctr" indent="0" marL="0">
              <a:buNone/>
            </a:pPr>
            <a:r>
              <a:rPr lang="en-US" sz="1100" dirty="0">
                <a:solidFill>
                  <a:srgbClr val="C0392B"/>
                </a:solidFill>
                <a:latin typeface="Calibri" pitchFamily="34" charset="0"/>
                <a:ea typeface="Calibri" pitchFamily="34" charset="-122"/>
                <a:cs typeface="Calibri" pitchFamily="34" charset="-120"/>
              </a:rPr>
              <a:t>&lt;- Reflected signal (bounces back)</a:t>
            </a:r>
            <a:endParaRPr lang="en-US" sz="1100" dirty="0"/>
          </a:p>
        </p:txBody>
      </p:sp>
      <p:sp>
        <p:nvSpPr>
          <p:cNvPr id="13" name="Shape 11"/>
          <p:cNvSpPr/>
          <p:nvPr/>
        </p:nvSpPr>
        <p:spPr>
          <a:xfrm>
            <a:off x="5349240" y="2103120"/>
            <a:ext cx="2286000" cy="0"/>
          </a:xfrm>
          <a:prstGeom prst="line">
            <a:avLst/>
          </a:prstGeom>
          <a:noFill/>
          <a:ln w="12700">
            <a:solidFill>
              <a:srgbClr val="1A9DAA"/>
            </a:solidFill>
            <a:prstDash val="solid"/>
          </a:ln>
        </p:spPr>
      </p:sp>
      <p:sp>
        <p:nvSpPr>
          <p:cNvPr id="14" name="Text 12"/>
          <p:cNvSpPr/>
          <p:nvPr/>
        </p:nvSpPr>
        <p:spPr>
          <a:xfrm>
            <a:off x="5349240" y="2176272"/>
            <a:ext cx="2286000" cy="256032"/>
          </a:xfrm>
          <a:prstGeom prst="rect">
            <a:avLst/>
          </a:prstGeom>
          <a:noFill/>
          <a:ln/>
        </p:spPr>
        <p:txBody>
          <a:bodyPr wrap="square" lIns="0" tIns="0" rIns="0" bIns="0" rtlCol="0" anchor="ctr"/>
          <a:lstStyle/>
          <a:p>
            <a:pPr algn="ctr" indent="0" marL="0">
              <a:buNone/>
            </a:pPr>
            <a:r>
              <a:rPr lang="en-US" sz="1100" dirty="0">
                <a:solidFill>
                  <a:srgbClr val="1A9DAA"/>
                </a:solidFill>
                <a:latin typeface="Calibri" pitchFamily="34" charset="0"/>
                <a:ea typeface="Calibri" pitchFamily="34" charset="-122"/>
                <a:cs typeface="Calibri" pitchFamily="34" charset="-120"/>
              </a:rPr>
              <a:t>-&gt; (reduced)</a:t>
            </a:r>
            <a:endParaRPr lang="en-US" sz="1100" dirty="0"/>
          </a:p>
        </p:txBody>
      </p:sp>
      <p:sp>
        <p:nvSpPr>
          <p:cNvPr id="15" name="Shape 13"/>
          <p:cNvSpPr/>
          <p:nvPr/>
        </p:nvSpPr>
        <p:spPr>
          <a:xfrm>
            <a:off x="7635240" y="1847088"/>
            <a:ext cx="1097280" cy="621792"/>
          </a:xfrm>
          <a:prstGeom prst="rect">
            <a:avLst/>
          </a:prstGeom>
          <a:solidFill>
            <a:srgbClr val="1A4D6E"/>
          </a:solidFill>
          <a:ln w="12700">
            <a:solidFill>
              <a:srgbClr val="1A4D6E"/>
            </a:solidFill>
            <a:prstDash val="solid"/>
          </a:ln>
        </p:spPr>
      </p:sp>
      <p:sp>
        <p:nvSpPr>
          <p:cNvPr id="16" name="Shape 14"/>
          <p:cNvSpPr/>
          <p:nvPr/>
        </p:nvSpPr>
        <p:spPr>
          <a:xfrm>
            <a:off x="7635240" y="1847088"/>
            <a:ext cx="1097280" cy="621792"/>
          </a:xfrm>
          <a:prstGeom prst="rect">
            <a:avLst/>
          </a:prstGeom>
          <a:solidFill>
            <a:srgbClr val="1A4D6E"/>
          </a:solidFill>
          <a:ln w="12700">
            <a:solidFill>
              <a:srgbClr val="0E7C86"/>
            </a:solidFill>
            <a:prstDash val="solid"/>
          </a:ln>
        </p:spPr>
      </p:sp>
      <p:sp>
        <p:nvSpPr>
          <p:cNvPr id="17" name="Text 15"/>
          <p:cNvSpPr/>
          <p:nvPr/>
        </p:nvSpPr>
        <p:spPr>
          <a:xfrm>
            <a:off x="7635240" y="1847088"/>
            <a:ext cx="1097280"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RX</a:t>
            </a:r>
            <a:endParaRPr lang="en-US" sz="2000" dirty="0"/>
          </a:p>
        </p:txBody>
      </p:sp>
      <p:sp>
        <p:nvSpPr>
          <p:cNvPr id="18" name="Shape 16"/>
          <p:cNvSpPr/>
          <p:nvPr/>
        </p:nvSpPr>
        <p:spPr>
          <a:xfrm>
            <a:off x="502920" y="3127248"/>
            <a:ext cx="2651760" cy="1691640"/>
          </a:xfrm>
          <a:prstGeom prst="rect">
            <a:avLst/>
          </a:prstGeom>
          <a:solidFill>
            <a:srgbClr val="0B2D4E"/>
          </a:solidFill>
          <a:ln w="12700">
            <a:solidFill>
              <a:srgbClr val="0B2D4E"/>
            </a:solidFill>
            <a:prstDash val="solid"/>
          </a:ln>
        </p:spPr>
      </p:sp>
      <p:sp>
        <p:nvSpPr>
          <p:cNvPr id="19" name="Shape 17"/>
          <p:cNvSpPr/>
          <p:nvPr/>
        </p:nvSpPr>
        <p:spPr>
          <a:xfrm>
            <a:off x="502920" y="3127248"/>
            <a:ext cx="2651760" cy="1691640"/>
          </a:xfrm>
          <a:prstGeom prst="rect">
            <a:avLst/>
          </a:prstGeom>
          <a:solidFill>
            <a:srgbClr val="0B2D4E"/>
          </a:solidFill>
          <a:ln w="12700">
            <a:solidFill>
              <a:srgbClr val="0E7C86"/>
            </a:solidFill>
            <a:prstDash val="solid"/>
          </a:ln>
        </p:spPr>
      </p:sp>
      <p:sp>
        <p:nvSpPr>
          <p:cNvPr id="20" name="Shape 18"/>
          <p:cNvSpPr/>
          <p:nvPr/>
        </p:nvSpPr>
        <p:spPr>
          <a:xfrm>
            <a:off x="502920" y="3127248"/>
            <a:ext cx="54864" cy="1691640"/>
          </a:xfrm>
          <a:prstGeom prst="rect">
            <a:avLst/>
          </a:prstGeom>
          <a:solidFill>
            <a:srgbClr val="0E7C86"/>
          </a:solidFill>
          <a:ln w="12700">
            <a:solidFill>
              <a:srgbClr val="0E7C86"/>
            </a:solidFill>
            <a:prstDash val="solid"/>
          </a:ln>
        </p:spPr>
      </p:sp>
      <p:sp>
        <p:nvSpPr>
          <p:cNvPr id="21" name="Text 19"/>
          <p:cNvSpPr/>
          <p:nvPr/>
        </p:nvSpPr>
        <p:spPr>
          <a:xfrm>
            <a:off x="640080" y="3218688"/>
            <a:ext cx="2423160" cy="402336"/>
          </a:xfrm>
          <a:prstGeom prst="rect">
            <a:avLst/>
          </a:prstGeom>
          <a:noFill/>
          <a:ln/>
        </p:spPr>
        <p:txBody>
          <a:bodyPr wrap="square" lIns="0" tIns="0" rIns="0" bIns="0" rtlCol="0" anchor="ctr"/>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High = Better</a:t>
            </a:r>
            <a:endParaRPr lang="en-US" sz="1400" dirty="0"/>
          </a:p>
        </p:txBody>
      </p:sp>
      <p:sp>
        <p:nvSpPr>
          <p:cNvPr id="22" name="Text 20"/>
          <p:cNvSpPr/>
          <p:nvPr/>
        </p:nvSpPr>
        <p:spPr>
          <a:xfrm>
            <a:off x="640080" y="3657600"/>
            <a:ext cx="2423160" cy="105156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Less reflected signal means more of the incident wave continues forward cleanly</a:t>
            </a:r>
            <a:endParaRPr lang="en-US" sz="1200" dirty="0"/>
          </a:p>
        </p:txBody>
      </p:sp>
      <p:sp>
        <p:nvSpPr>
          <p:cNvPr id="23" name="Shape 21"/>
          <p:cNvSpPr/>
          <p:nvPr/>
        </p:nvSpPr>
        <p:spPr>
          <a:xfrm>
            <a:off x="3383280" y="3127248"/>
            <a:ext cx="2651760" cy="1691640"/>
          </a:xfrm>
          <a:prstGeom prst="rect">
            <a:avLst/>
          </a:prstGeom>
          <a:solidFill>
            <a:srgbClr val="0B2D4E"/>
          </a:solidFill>
          <a:ln w="12700">
            <a:solidFill>
              <a:srgbClr val="0B2D4E"/>
            </a:solidFill>
            <a:prstDash val="solid"/>
          </a:ln>
        </p:spPr>
      </p:sp>
      <p:sp>
        <p:nvSpPr>
          <p:cNvPr id="24" name="Shape 22"/>
          <p:cNvSpPr/>
          <p:nvPr/>
        </p:nvSpPr>
        <p:spPr>
          <a:xfrm>
            <a:off x="3383280" y="3127248"/>
            <a:ext cx="2651760" cy="1691640"/>
          </a:xfrm>
          <a:prstGeom prst="rect">
            <a:avLst/>
          </a:prstGeom>
          <a:solidFill>
            <a:srgbClr val="0B2D4E"/>
          </a:solidFill>
          <a:ln w="12700">
            <a:solidFill>
              <a:srgbClr val="F0A500"/>
            </a:solidFill>
            <a:prstDash val="solid"/>
          </a:ln>
        </p:spPr>
      </p:sp>
      <p:sp>
        <p:nvSpPr>
          <p:cNvPr id="25" name="Shape 23"/>
          <p:cNvSpPr/>
          <p:nvPr/>
        </p:nvSpPr>
        <p:spPr>
          <a:xfrm>
            <a:off x="3383280" y="3127248"/>
            <a:ext cx="54864" cy="1691640"/>
          </a:xfrm>
          <a:prstGeom prst="rect">
            <a:avLst/>
          </a:prstGeom>
          <a:solidFill>
            <a:srgbClr val="F0A500"/>
          </a:solidFill>
          <a:ln w="12700">
            <a:solidFill>
              <a:srgbClr val="F0A500"/>
            </a:solidFill>
            <a:prstDash val="solid"/>
          </a:ln>
        </p:spPr>
      </p:sp>
      <p:sp>
        <p:nvSpPr>
          <p:cNvPr id="26" name="Text 24"/>
          <p:cNvSpPr/>
          <p:nvPr/>
        </p:nvSpPr>
        <p:spPr>
          <a:xfrm>
            <a:off x="3520440" y="3218688"/>
            <a:ext cx="2423160" cy="402336"/>
          </a:xfrm>
          <a:prstGeom prst="rect">
            <a:avLst/>
          </a:prstGeom>
          <a:noFill/>
          <a:ln/>
        </p:spPr>
        <p:txBody>
          <a:bodyPr wrap="square" lIns="0" tIns="0" rIns="0" bIns="0" rtlCol="0" anchor="ctr"/>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Reflections distort</a:t>
            </a:r>
            <a:endParaRPr lang="en-US" sz="1400" dirty="0"/>
          </a:p>
        </p:txBody>
      </p:sp>
      <p:sp>
        <p:nvSpPr>
          <p:cNvPr id="27" name="Text 25"/>
          <p:cNvSpPr/>
          <p:nvPr/>
        </p:nvSpPr>
        <p:spPr>
          <a:xfrm>
            <a:off x="3520440" y="3657600"/>
            <a:ext cx="2423160" cy="105156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Alter zero crossings and reduce receiver margin on fast differential links</a:t>
            </a:r>
            <a:endParaRPr lang="en-US" sz="1200" dirty="0"/>
          </a:p>
        </p:txBody>
      </p:sp>
      <p:sp>
        <p:nvSpPr>
          <p:cNvPr id="28" name="Shape 26"/>
          <p:cNvSpPr/>
          <p:nvPr/>
        </p:nvSpPr>
        <p:spPr>
          <a:xfrm>
            <a:off x="6263640" y="3127248"/>
            <a:ext cx="2651760" cy="1691640"/>
          </a:xfrm>
          <a:prstGeom prst="rect">
            <a:avLst/>
          </a:prstGeom>
          <a:solidFill>
            <a:srgbClr val="0B2D4E"/>
          </a:solidFill>
          <a:ln w="12700">
            <a:solidFill>
              <a:srgbClr val="0B2D4E"/>
            </a:solidFill>
            <a:prstDash val="solid"/>
          </a:ln>
        </p:spPr>
      </p:sp>
      <p:sp>
        <p:nvSpPr>
          <p:cNvPr id="29" name="Shape 27"/>
          <p:cNvSpPr/>
          <p:nvPr/>
        </p:nvSpPr>
        <p:spPr>
          <a:xfrm>
            <a:off x="6263640" y="3127248"/>
            <a:ext cx="2651760" cy="1691640"/>
          </a:xfrm>
          <a:prstGeom prst="rect">
            <a:avLst/>
          </a:prstGeom>
          <a:solidFill>
            <a:srgbClr val="0B2D4E"/>
          </a:solidFill>
          <a:ln w="12700">
            <a:solidFill>
              <a:srgbClr val="0B2D4E"/>
            </a:solidFill>
            <a:prstDash val="solid"/>
          </a:ln>
        </p:spPr>
      </p:sp>
      <p:sp>
        <p:nvSpPr>
          <p:cNvPr id="30" name="Shape 28"/>
          <p:cNvSpPr/>
          <p:nvPr/>
        </p:nvSpPr>
        <p:spPr>
          <a:xfrm>
            <a:off x="6263640" y="3127248"/>
            <a:ext cx="54864" cy="1691640"/>
          </a:xfrm>
          <a:prstGeom prst="rect">
            <a:avLst/>
          </a:prstGeom>
          <a:solidFill>
            <a:srgbClr val="0B2D4E"/>
          </a:solidFill>
          <a:ln w="12700">
            <a:solidFill>
              <a:srgbClr val="0B2D4E"/>
            </a:solidFill>
            <a:prstDash val="solid"/>
          </a:ln>
        </p:spPr>
      </p:sp>
      <p:sp>
        <p:nvSpPr>
          <p:cNvPr id="31" name="Text 29"/>
          <p:cNvSpPr/>
          <p:nvPr/>
        </p:nvSpPr>
        <p:spPr>
          <a:xfrm>
            <a:off x="6400800" y="3218688"/>
            <a:ext cx="2423160" cy="402336"/>
          </a:xfrm>
          <a:prstGeom prst="rect">
            <a:avLst/>
          </a:prstGeom>
          <a:noFill/>
          <a:ln/>
        </p:spPr>
        <p:txBody>
          <a:bodyPr wrap="square" lIns="0" tIns="0" rIns="0" bIns="0" rtlCol="0" anchor="ctr"/>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Sources: connectors</a:t>
            </a:r>
            <a:endParaRPr lang="en-US" sz="1400" dirty="0"/>
          </a:p>
        </p:txBody>
      </p:sp>
      <p:sp>
        <p:nvSpPr>
          <p:cNvPr id="32" name="Text 30"/>
          <p:cNvSpPr/>
          <p:nvPr/>
        </p:nvSpPr>
        <p:spPr>
          <a:xfrm>
            <a:off x="6400800" y="3657600"/>
            <a:ext cx="2423160" cy="105156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Vias, traces, magnetics, any impedance discontinuity is a potential reflector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D4E"/>
        </a:solidFill>
      </p:bgPr>
    </p:bg>
    <p:spTree>
      <p:nvGrpSpPr>
        <p:cNvPr id="1" name=""/>
        <p:cNvGrpSpPr/>
        <p:nvPr/>
      </p:nvGrpSpPr>
      <p:grpSpPr>
        <a:xfrm>
          <a:off x="0" y="0"/>
          <a:ext cx="0" cy="0"/>
          <a:chOff x="0" y="0"/>
          <a:chExt cx="0" cy="0"/>
        </a:xfrm>
      </p:grpSpPr>
      <p:sp>
        <p:nvSpPr>
          <p:cNvPr id="2" name="Text 0"/>
          <p:cNvSpPr/>
          <p:nvPr/>
        </p:nvSpPr>
        <p:spPr>
          <a:xfrm>
            <a:off x="502920" y="320040"/>
            <a:ext cx="8138160" cy="685800"/>
          </a:xfrm>
          <a:prstGeom prst="rect">
            <a:avLst/>
          </a:prstGeom>
          <a:noFill/>
          <a:ln/>
        </p:spPr>
        <p:txBody>
          <a:bodyPr wrap="square" lIns="0" tIns="0" rIns="0" bIns="0"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Two Different Problems, Both Required</a:t>
            </a:r>
            <a:endParaRPr lang="en-US" sz="32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Shape 2"/>
          <p:cNvSpPr/>
          <p:nvPr/>
        </p:nvSpPr>
        <p:spPr>
          <a:xfrm>
            <a:off x="502920" y="1234440"/>
            <a:ext cx="4114800" cy="1481328"/>
          </a:xfrm>
          <a:prstGeom prst="rect">
            <a:avLst/>
          </a:prstGeom>
          <a:solidFill>
            <a:srgbClr val="1A4D6E"/>
          </a:solidFill>
          <a:ln w="12700">
            <a:solidFill>
              <a:srgbClr val="1A4D6E"/>
            </a:solidFill>
            <a:prstDash val="solid"/>
          </a:ln>
        </p:spPr>
      </p:sp>
      <p:sp>
        <p:nvSpPr>
          <p:cNvPr id="5" name="Shape 3"/>
          <p:cNvSpPr/>
          <p:nvPr/>
        </p:nvSpPr>
        <p:spPr>
          <a:xfrm>
            <a:off x="502920" y="1234440"/>
            <a:ext cx="4114800" cy="1481328"/>
          </a:xfrm>
          <a:prstGeom prst="rect">
            <a:avLst/>
          </a:prstGeom>
          <a:solidFill>
            <a:srgbClr val="1A4D6E"/>
          </a:solidFill>
          <a:ln w="25400">
            <a:solidFill>
              <a:srgbClr val="1A9DAA"/>
            </a:solidFill>
            <a:prstDash val="solid"/>
          </a:ln>
        </p:spPr>
      </p:sp>
      <p:sp>
        <p:nvSpPr>
          <p:cNvPr id="6" name="Text 4"/>
          <p:cNvSpPr/>
          <p:nvPr/>
        </p:nvSpPr>
        <p:spPr>
          <a:xfrm>
            <a:off x="594360" y="1298448"/>
            <a:ext cx="3931920" cy="384048"/>
          </a:xfrm>
          <a:prstGeom prst="rect">
            <a:avLst/>
          </a:prstGeom>
          <a:noFill/>
          <a:ln/>
        </p:spPr>
        <p:txBody>
          <a:bodyPr wrap="square" lIns="0" tIns="0" rIns="0" bIns="0" rtlCol="0" anchor="ctr"/>
          <a:lstStyle/>
          <a:p>
            <a:pPr algn="l" indent="0" marL="0">
              <a:buNone/>
            </a:pPr>
            <a:r>
              <a:rPr lang="en-US" sz="1600" b="1" dirty="0">
                <a:solidFill>
                  <a:srgbClr val="1A9DAA"/>
                </a:solidFill>
                <a:latin typeface="Trebuchet MS" pitchFamily="34" charset="0"/>
                <a:ea typeface="Trebuchet MS" pitchFamily="34" charset="-122"/>
                <a:cs typeface="Trebuchet MS" pitchFamily="34" charset="-120"/>
              </a:rPr>
              <a:t>Insertion Loss</a:t>
            </a:r>
            <a:endParaRPr lang="en-US" sz="1600" dirty="0"/>
          </a:p>
        </p:txBody>
      </p:sp>
      <p:sp>
        <p:nvSpPr>
          <p:cNvPr id="7" name="Text 5"/>
          <p:cNvSpPr/>
          <p:nvPr/>
        </p:nvSpPr>
        <p:spPr>
          <a:xfrm>
            <a:off x="594360" y="1719072"/>
            <a:ext cx="3931920" cy="914400"/>
          </a:xfrm>
          <a:prstGeom prst="rect">
            <a:avLst/>
          </a:prstGeom>
          <a:noFill/>
          <a:ln/>
        </p:spPr>
        <p:txBody>
          <a:bodyPr wrap="square" lIns="0" tIns="0" rIns="0" bIns="0" rtlCol="0" anchor="t"/>
          <a:lstStyle/>
          <a:p>
            <a:pPr algn="l" indent="0" marL="0">
              <a:buNone/>
            </a:pPr>
            <a:r>
              <a:rPr lang="en-US" sz="1300" dirty="0">
                <a:solidFill>
                  <a:srgbClr val="D6EAF8"/>
                </a:solidFill>
                <a:latin typeface="Calibri" pitchFamily="34" charset="0"/>
                <a:ea typeface="Calibri" pitchFamily="34" charset="-122"/>
                <a:cs typeface="Calibri" pitchFamily="34" charset="-120"/>
              </a:rPr>
              <a:t>Forward-path attenuation.</a:t>
            </a:r>
            <a:endParaRPr lang="en-US" sz="1300" dirty="0"/>
          </a:p>
          <a:p>
            <a:pPr algn="l" indent="0" marL="0">
              <a:buNone/>
            </a:pPr>
            <a:r>
              <a:rPr lang="en-US" sz="1300" dirty="0">
                <a:solidFill>
                  <a:srgbClr val="D6EAF8"/>
                </a:solidFill>
                <a:latin typeface="Calibri" pitchFamily="34" charset="0"/>
                <a:ea typeface="Calibri" pitchFamily="34" charset="-122"/>
                <a:cs typeface="Calibri" pitchFamily="34" charset="-120"/>
              </a:rPr>
              <a:t>Signal weakens as it travels.</a:t>
            </a:r>
            <a:endParaRPr lang="en-US" sz="1300" dirty="0"/>
          </a:p>
          <a:p>
            <a:pPr algn="l" indent="0" marL="0">
              <a:buNone/>
            </a:pPr>
            <a:r>
              <a:rPr lang="en-US" sz="1300" dirty="0">
                <a:solidFill>
                  <a:srgbClr val="D6EAF8"/>
                </a:solidFill>
                <a:latin typeface="Calibri" pitchFamily="34" charset="0"/>
                <a:ea typeface="Calibri" pitchFamily="34" charset="-122"/>
                <a:cs typeface="Calibri" pitchFamily="34" charset="-120"/>
              </a:rPr>
              <a:t>Lower values are worse.</a:t>
            </a:r>
            <a:endParaRPr lang="en-US" sz="1300" dirty="0"/>
          </a:p>
        </p:txBody>
      </p:sp>
      <p:sp>
        <p:nvSpPr>
          <p:cNvPr id="8" name="Text 6"/>
          <p:cNvSpPr/>
          <p:nvPr/>
        </p:nvSpPr>
        <p:spPr>
          <a:xfrm>
            <a:off x="4572000" y="1554480"/>
            <a:ext cx="502920" cy="822960"/>
          </a:xfrm>
          <a:prstGeom prst="rect">
            <a:avLst/>
          </a:prstGeom>
          <a:noFill/>
          <a:ln/>
        </p:spPr>
        <p:txBody>
          <a:bodyPr wrap="square" lIns="0" tIns="0" rIns="0" bIns="0" rtlCol="0" anchor="ctr"/>
          <a:lstStyle/>
          <a:p>
            <a:pPr algn="ctr" indent="0" marL="0">
              <a:buNone/>
            </a:pPr>
            <a:r>
              <a:rPr lang="en-US" sz="2600" b="1" dirty="0">
                <a:solidFill>
                  <a:srgbClr val="F0A500"/>
                </a:solidFill>
                <a:latin typeface="Trebuchet MS" pitchFamily="34" charset="0"/>
                <a:ea typeface="Trebuchet MS" pitchFamily="34" charset="-122"/>
                <a:cs typeface="Trebuchet MS" pitchFamily="34" charset="-120"/>
              </a:rPr>
              <a:t>not equal</a:t>
            </a:r>
            <a:endParaRPr lang="en-US" sz="2600" dirty="0"/>
          </a:p>
        </p:txBody>
      </p:sp>
      <p:sp>
        <p:nvSpPr>
          <p:cNvPr id="9" name="Shape 7"/>
          <p:cNvSpPr/>
          <p:nvPr/>
        </p:nvSpPr>
        <p:spPr>
          <a:xfrm>
            <a:off x="5074920" y="1234440"/>
            <a:ext cx="3657600" cy="1481328"/>
          </a:xfrm>
          <a:prstGeom prst="rect">
            <a:avLst/>
          </a:prstGeom>
          <a:solidFill>
            <a:srgbClr val="1A4D6E"/>
          </a:solidFill>
          <a:ln w="12700">
            <a:solidFill>
              <a:srgbClr val="1A4D6E"/>
            </a:solidFill>
            <a:prstDash val="solid"/>
          </a:ln>
        </p:spPr>
      </p:sp>
      <p:sp>
        <p:nvSpPr>
          <p:cNvPr id="10" name="Shape 8"/>
          <p:cNvSpPr/>
          <p:nvPr/>
        </p:nvSpPr>
        <p:spPr>
          <a:xfrm>
            <a:off x="5074920" y="1234440"/>
            <a:ext cx="3657600" cy="1481328"/>
          </a:xfrm>
          <a:prstGeom prst="rect">
            <a:avLst/>
          </a:prstGeom>
          <a:solidFill>
            <a:srgbClr val="1A4D6E"/>
          </a:solidFill>
          <a:ln w="25400">
            <a:solidFill>
              <a:srgbClr val="F0A500"/>
            </a:solidFill>
            <a:prstDash val="solid"/>
          </a:ln>
        </p:spPr>
      </p:sp>
      <p:sp>
        <p:nvSpPr>
          <p:cNvPr id="11" name="Text 9"/>
          <p:cNvSpPr/>
          <p:nvPr/>
        </p:nvSpPr>
        <p:spPr>
          <a:xfrm>
            <a:off x="5166360" y="1298448"/>
            <a:ext cx="3474720" cy="384048"/>
          </a:xfrm>
          <a:prstGeom prst="rect">
            <a:avLst/>
          </a:prstGeom>
          <a:noFill/>
          <a:ln/>
        </p:spPr>
        <p:txBody>
          <a:bodyPr wrap="square" lIns="0" tIns="0" rIns="0" bIns="0" rtlCol="0" anchor="ctr"/>
          <a:lstStyle/>
          <a:p>
            <a:pPr algn="l" indent="0" marL="0">
              <a:buNone/>
            </a:pPr>
            <a:r>
              <a:rPr lang="en-US" sz="1600" b="1" dirty="0">
                <a:solidFill>
                  <a:srgbClr val="F0A500"/>
                </a:solidFill>
                <a:latin typeface="Trebuchet MS" pitchFamily="34" charset="0"/>
                <a:ea typeface="Trebuchet MS" pitchFamily="34" charset="-122"/>
                <a:cs typeface="Trebuchet MS" pitchFamily="34" charset="-120"/>
              </a:rPr>
              <a:t>Return Loss</a:t>
            </a:r>
            <a:endParaRPr lang="en-US" sz="1600" dirty="0"/>
          </a:p>
        </p:txBody>
      </p:sp>
      <p:sp>
        <p:nvSpPr>
          <p:cNvPr id="12" name="Text 10"/>
          <p:cNvSpPr/>
          <p:nvPr/>
        </p:nvSpPr>
        <p:spPr>
          <a:xfrm>
            <a:off x="5166360" y="1719072"/>
            <a:ext cx="3474720" cy="914400"/>
          </a:xfrm>
          <a:prstGeom prst="rect">
            <a:avLst/>
          </a:prstGeom>
          <a:noFill/>
          <a:ln/>
        </p:spPr>
        <p:txBody>
          <a:bodyPr wrap="square" lIns="0" tIns="0" rIns="0" bIns="0" rtlCol="0" anchor="t"/>
          <a:lstStyle/>
          <a:p>
            <a:pPr algn="l" indent="0" marL="0">
              <a:buNone/>
            </a:pPr>
            <a:r>
              <a:rPr lang="en-US" sz="1300" dirty="0">
                <a:solidFill>
                  <a:srgbClr val="D6EAF8"/>
                </a:solidFill>
                <a:latin typeface="Calibri" pitchFamily="34" charset="0"/>
                <a:ea typeface="Calibri" pitchFamily="34" charset="-122"/>
                <a:cs typeface="Calibri" pitchFamily="34" charset="-120"/>
              </a:rPr>
              <a:t>Backward reflection from mismatch.</a:t>
            </a:r>
            <a:endParaRPr lang="en-US" sz="1300" dirty="0"/>
          </a:p>
          <a:p>
            <a:pPr algn="l" indent="0" marL="0">
              <a:buNone/>
            </a:pPr>
            <a:r>
              <a:rPr lang="en-US" sz="1300" dirty="0">
                <a:solidFill>
                  <a:srgbClr val="D6EAF8"/>
                </a:solidFill>
                <a:latin typeface="Calibri" pitchFamily="34" charset="0"/>
                <a:ea typeface="Calibri" pitchFamily="34" charset="-122"/>
                <a:cs typeface="Calibri" pitchFamily="34" charset="-120"/>
              </a:rPr>
              <a:t>Signal bounces from discontinuities.</a:t>
            </a:r>
            <a:endParaRPr lang="en-US" sz="1300" dirty="0"/>
          </a:p>
          <a:p>
            <a:pPr algn="l" indent="0" marL="0">
              <a:buNone/>
            </a:pPr>
            <a:r>
              <a:rPr lang="en-US" sz="1300" dirty="0">
                <a:solidFill>
                  <a:srgbClr val="D6EAF8"/>
                </a:solidFill>
                <a:latin typeface="Calibri" pitchFamily="34" charset="0"/>
                <a:ea typeface="Calibri" pitchFamily="34" charset="-122"/>
                <a:cs typeface="Calibri" pitchFamily="34" charset="-120"/>
              </a:rPr>
              <a:t>Higher values are better.</a:t>
            </a:r>
            <a:endParaRPr lang="en-US" sz="1300" dirty="0"/>
          </a:p>
        </p:txBody>
      </p:sp>
      <p:sp>
        <p:nvSpPr>
          <p:cNvPr id="13" name="Shape 11"/>
          <p:cNvSpPr/>
          <p:nvPr/>
        </p:nvSpPr>
        <p:spPr>
          <a:xfrm>
            <a:off x="502920" y="2852928"/>
            <a:ext cx="8138160" cy="2011680"/>
          </a:xfrm>
          <a:prstGeom prst="rect">
            <a:avLst/>
          </a:prstGeom>
          <a:solidFill>
            <a:srgbClr val="1A4D6E"/>
          </a:solidFill>
          <a:ln w="12700">
            <a:solidFill>
              <a:srgbClr val="1A4D6E"/>
            </a:solidFill>
            <a:prstDash val="solid"/>
          </a:ln>
        </p:spPr>
      </p:sp>
      <p:sp>
        <p:nvSpPr>
          <p:cNvPr id="14" name="Text 12"/>
          <p:cNvSpPr/>
          <p:nvPr/>
        </p:nvSpPr>
        <p:spPr>
          <a:xfrm>
            <a:off x="640080" y="2944368"/>
            <a:ext cx="7772400" cy="347472"/>
          </a:xfrm>
          <a:prstGeom prst="rect">
            <a:avLst/>
          </a:prstGeom>
          <a:noFill/>
          <a:ln/>
        </p:spPr>
        <p:txBody>
          <a:bodyPr wrap="square" lIns="0" tIns="0" rIns="0" bIns="0" rtlCol="0" anchor="ctr"/>
          <a:lstStyle/>
          <a:p>
            <a:pPr algn="l" indent="0" marL="0">
              <a:buNone/>
            </a:pPr>
            <a:r>
              <a:rPr lang="en-US" sz="1500" b="1" dirty="0">
                <a:solidFill>
                  <a:srgbClr val="F0A500"/>
                </a:solidFill>
                <a:latin typeface="Trebuchet MS" pitchFamily="34" charset="0"/>
                <a:ea typeface="Trebuchet MS" pitchFamily="34" charset="-122"/>
                <a:cs typeface="Trebuchet MS" pitchFamily="34" charset="-120"/>
              </a:rPr>
              <a:t>They interact and can mask each other</a:t>
            </a:r>
            <a:endParaRPr lang="en-US" sz="1500" dirty="0"/>
          </a:p>
        </p:txBody>
      </p:sp>
      <p:sp>
        <p:nvSpPr>
          <p:cNvPr id="15" name="Text 13"/>
          <p:cNvSpPr/>
          <p:nvPr/>
        </p:nvSpPr>
        <p:spPr>
          <a:xfrm>
            <a:off x="640080" y="3337560"/>
            <a:ext cx="7772400" cy="1417320"/>
          </a:xfrm>
          <a:prstGeom prst="rect">
            <a:avLst/>
          </a:prstGeom>
          <a:noFill/>
          <a:ln/>
        </p:spPr>
        <p:txBody>
          <a:bodyPr wrap="square" lIns="0" tIns="0" rIns="0" bIns="0" rtlCol="0" anchor="t"/>
          <a:lstStyle/>
          <a:p>
            <a:pPr algn="l" indent="0" marL="0">
              <a:buNone/>
            </a:pPr>
            <a:r>
              <a:rPr lang="en-US" sz="1200" b="1" dirty="0">
                <a:solidFill>
                  <a:srgbClr val="FFFFFF"/>
                </a:solidFill>
                <a:latin typeface="Calibri" pitchFamily="34" charset="0"/>
                <a:ea typeface="Calibri" pitchFamily="34" charset="-122"/>
                <a:cs typeface="Calibri" pitchFamily="34" charset="-120"/>
              </a:rPr>
              <a:t>Acceptable insertion loss + poor return loss:</a:t>
            </a:r>
            <a:pPr algn="l" indent="0" marL="0">
              <a:buNone/>
            </a:pPr>
            <a:r>
              <a:rPr lang="en-US" sz="1200" dirty="0">
                <a:solidFill>
                  <a:srgbClr val="D6EAF8"/>
                </a:solidFill>
                <a:latin typeface="Calibri" pitchFamily="34" charset="0"/>
                <a:ea typeface="Calibri" pitchFamily="34" charset="-122"/>
                <a:cs typeface="Calibri" pitchFamily="34" charset="-120"/>
              </a:rPr>
              <a:t> channel passes OK signal but one connector is badly mismatched.
</a:t>
            </a:r>
            <a:pPr algn="l" indent="0" marL="0">
              <a:buNone/>
            </a:pPr>
            <a:r>
              <a:rPr lang="en-US" sz="1200" b="1" dirty="0">
                <a:solidFill>
                  <a:srgbClr val="FFFFFF"/>
                </a:solidFill>
                <a:latin typeface="Calibri" pitchFamily="34" charset="0"/>
                <a:ea typeface="Calibri" pitchFamily="34" charset="-122"/>
                <a:cs typeface="Calibri" pitchFamily="34" charset="-120"/>
              </a:rPr>
              <a:t>Very high insertion loss + masked reflections:</a:t>
            </a:r>
            <a:pPr algn="l" indent="0" marL="0">
              <a:buNone/>
            </a:pPr>
            <a:r>
              <a:rPr lang="en-US" sz="1200" dirty="0">
                <a:solidFill>
                  <a:srgbClr val="D6EAF8"/>
                </a:solidFill>
                <a:latin typeface="Calibri" pitchFamily="34" charset="0"/>
                <a:ea typeface="Calibri" pitchFamily="34" charset="-122"/>
                <a:cs typeface="Calibri" pitchFamily="34" charset="-120"/>
              </a:rPr>
              <a:t> heavy attenuation reduces visible reflection at far end, but both problems are real.
</a:t>
            </a:r>
            <a:pPr algn="l" indent="0" marL="0">
              <a:buNone/>
            </a:pPr>
            <a:r>
              <a:rPr lang="en-US" sz="1200" b="1" dirty="0">
                <a:solidFill>
                  <a:srgbClr val="F0A500"/>
                </a:solidFill>
                <a:latin typeface="Calibri" pitchFamily="34" charset="0"/>
                <a:ea typeface="Calibri" pitchFamily="34" charset="-122"/>
                <a:cs typeface="Calibri" pitchFamily="34" charset="-120"/>
              </a:rPr>
              <a:t>Conclusion: </a:t>
            </a:r>
            <a:pPr algn="l" indent="0" marL="0">
              <a:buNone/>
            </a:pPr>
            <a:r>
              <a:rPr lang="en-US" sz="1200" dirty="0">
                <a:solidFill>
                  <a:srgbClr val="D6EAF8"/>
                </a:solidFill>
                <a:latin typeface="Calibri" pitchFamily="34" charset="0"/>
                <a:ea typeface="Calibri" pitchFamily="34" charset="-122"/>
                <a:cs typeface="Calibri" pitchFamily="34" charset="-120"/>
              </a:rPr>
              <a:t>A channel can fail from too little signal, too much reflection, or both at once.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8FF"/>
        </a:solidFill>
      </p:bgPr>
    </p:bg>
    <p:spTree>
      <p:nvGrpSpPr>
        <p:cNvPr id="1" name=""/>
        <p:cNvGrpSpPr/>
        <p:nvPr/>
      </p:nvGrpSpPr>
      <p:grpSpPr>
        <a:xfrm>
          <a:off x="0" y="0"/>
          <a:ext cx="0" cy="0"/>
          <a:chOff x="0" y="0"/>
          <a:chExt cx="0" cy="0"/>
        </a:xfrm>
      </p:grpSpPr>
      <p:sp>
        <p:nvSpPr>
          <p:cNvPr id="2" name="Text 0"/>
          <p:cNvSpPr/>
          <p:nvPr/>
        </p:nvSpPr>
        <p:spPr>
          <a:xfrm>
            <a:off x="502920" y="320040"/>
            <a:ext cx="8138160" cy="685800"/>
          </a:xfrm>
          <a:prstGeom prst="rect">
            <a:avLst/>
          </a:prstGeom>
          <a:noFill/>
          <a:ln/>
        </p:spPr>
        <p:txBody>
          <a:bodyPr wrap="square" lIns="0" tIns="0" rIns="0" bIns="0" rtlCol="0" anchor="ctr"/>
          <a:lstStyle/>
          <a:p>
            <a:pPr algn="l" indent="0" marL="0">
              <a:buNone/>
            </a:pPr>
            <a:r>
              <a:rPr lang="en-US" sz="3000" b="1" dirty="0">
                <a:solidFill>
                  <a:srgbClr val="0B2D4E"/>
                </a:solidFill>
                <a:latin typeface="Trebuchet MS" pitchFamily="34" charset="0"/>
                <a:ea typeface="Trebuchet MS" pitchFamily="34" charset="-122"/>
                <a:cs typeface="Trebuchet MS" pitchFamily="34" charset="-120"/>
              </a:rPr>
              <a:t>Troubleshooting: Putting It All Together</a:t>
            </a:r>
            <a:endParaRPr lang="en-US" sz="30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475488"/>
          </a:xfrm>
          <a:prstGeom prst="rect">
            <a:avLst/>
          </a:prstGeom>
          <a:noFill/>
          <a:ln/>
        </p:spPr>
        <p:txBody>
          <a:bodyPr wrap="square" lIns="0" tIns="0" rIns="0" bIns="0" rtlCol="0" anchor="t"/>
          <a:lstStyle/>
          <a:p>
            <a:pPr algn="l" indent="0" marL="0">
              <a:buNone/>
            </a:pPr>
            <a:r>
              <a:rPr lang="en-US" sz="1400" dirty="0">
                <a:solidFill>
                  <a:srgbClr val="0B2D4E"/>
                </a:solidFill>
                <a:latin typeface="Calibri" pitchFamily="34" charset="0"/>
                <a:ea typeface="Calibri" pitchFamily="34" charset="-122"/>
                <a:cs typeface="Calibri" pitchFamily="34" charset="-120"/>
              </a:rPr>
              <a:t>When a port behaves badly, start by asking: is the problem power-state behavior, physical signalling quality, or frame integrity?</a:t>
            </a:r>
            <a:endParaRPr lang="en-US" sz="1400" dirty="0"/>
          </a:p>
        </p:txBody>
      </p:sp>
      <p:sp>
        <p:nvSpPr>
          <p:cNvPr id="5" name="Shape 3"/>
          <p:cNvSpPr/>
          <p:nvPr/>
        </p:nvSpPr>
        <p:spPr>
          <a:xfrm>
            <a:off x="502920" y="1874520"/>
            <a:ext cx="4023360" cy="1261872"/>
          </a:xfrm>
          <a:prstGeom prst="rect">
            <a:avLst/>
          </a:prstGeom>
          <a:solidFill>
            <a:srgbClr val="1A9DAA"/>
          </a:solidFill>
          <a:ln w="12700">
            <a:solidFill>
              <a:srgbClr val="1A9DAA"/>
            </a:solidFill>
            <a:prstDash val="solid"/>
          </a:ln>
        </p:spPr>
      </p:sp>
      <p:sp>
        <p:nvSpPr>
          <p:cNvPr id="6" name="Text 4"/>
          <p:cNvSpPr/>
          <p:nvPr/>
        </p:nvSpPr>
        <p:spPr>
          <a:xfrm>
            <a:off x="594360" y="1965960"/>
            <a:ext cx="457200"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1</a:t>
            </a:r>
            <a:endParaRPr lang="en-US" sz="2200" dirty="0"/>
          </a:p>
        </p:txBody>
      </p:sp>
      <p:sp>
        <p:nvSpPr>
          <p:cNvPr id="7" name="Text 5"/>
          <p:cNvSpPr/>
          <p:nvPr/>
        </p:nvSpPr>
        <p:spPr>
          <a:xfrm>
            <a:off x="1124712" y="1965960"/>
            <a:ext cx="3291840"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Wake or Latency Symptom?</a:t>
            </a:r>
            <a:endParaRPr lang="en-US" sz="1400" dirty="0"/>
          </a:p>
        </p:txBody>
      </p:sp>
      <p:sp>
        <p:nvSpPr>
          <p:cNvPr id="8" name="Text 6"/>
          <p:cNvSpPr/>
          <p:nvPr/>
        </p:nvSpPr>
        <p:spPr>
          <a:xfrm>
            <a:off x="594360" y="2441448"/>
            <a:ext cx="3840480" cy="621792"/>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Check EEE and LPI. Is wake policy too aggressive for the traffic pattern? Is the link partner implementing wake behavior poorly?</a:t>
            </a:r>
            <a:endParaRPr lang="en-US" sz="1200" dirty="0"/>
          </a:p>
        </p:txBody>
      </p:sp>
      <p:sp>
        <p:nvSpPr>
          <p:cNvPr id="9" name="Shape 7"/>
          <p:cNvSpPr/>
          <p:nvPr/>
        </p:nvSpPr>
        <p:spPr>
          <a:xfrm>
            <a:off x="4754880" y="1874520"/>
            <a:ext cx="4023360" cy="1261872"/>
          </a:xfrm>
          <a:prstGeom prst="rect">
            <a:avLst/>
          </a:prstGeom>
          <a:solidFill>
            <a:srgbClr val="F0A500"/>
          </a:solidFill>
          <a:ln w="12700">
            <a:solidFill>
              <a:srgbClr val="F0A500"/>
            </a:solidFill>
            <a:prstDash val="solid"/>
          </a:ln>
        </p:spPr>
      </p:sp>
      <p:sp>
        <p:nvSpPr>
          <p:cNvPr id="10" name="Text 8"/>
          <p:cNvSpPr/>
          <p:nvPr/>
        </p:nvSpPr>
        <p:spPr>
          <a:xfrm>
            <a:off x="4846320" y="1965960"/>
            <a:ext cx="457200"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2</a:t>
            </a:r>
            <a:endParaRPr lang="en-US" sz="2200" dirty="0"/>
          </a:p>
        </p:txBody>
      </p:sp>
      <p:sp>
        <p:nvSpPr>
          <p:cNvPr id="11" name="Text 9"/>
          <p:cNvSpPr/>
          <p:nvPr/>
        </p:nvSpPr>
        <p:spPr>
          <a:xfrm>
            <a:off x="5376672" y="1965960"/>
            <a:ext cx="3291840"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Physical Quality Symptom?</a:t>
            </a:r>
            <a:endParaRPr lang="en-US" sz="1400" dirty="0"/>
          </a:p>
        </p:txBody>
      </p:sp>
      <p:sp>
        <p:nvSpPr>
          <p:cNvPr id="12" name="Text 10"/>
          <p:cNvSpPr/>
          <p:nvPr/>
        </p:nvSpPr>
        <p:spPr>
          <a:xfrm>
            <a:off x="4846320" y="2441448"/>
            <a:ext cx="3840480" cy="621792"/>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Check Layer 1 indicators and the channel itself. Measure insertion loss and return loss. Check cabling, connectors, and partner compatibility.</a:t>
            </a:r>
            <a:endParaRPr lang="en-US" sz="1200" dirty="0"/>
          </a:p>
        </p:txBody>
      </p:sp>
      <p:sp>
        <p:nvSpPr>
          <p:cNvPr id="13" name="Shape 11"/>
          <p:cNvSpPr/>
          <p:nvPr/>
        </p:nvSpPr>
        <p:spPr>
          <a:xfrm>
            <a:off x="502920" y="3337560"/>
            <a:ext cx="4023360" cy="1261872"/>
          </a:xfrm>
          <a:prstGeom prst="rect">
            <a:avLst/>
          </a:prstGeom>
          <a:solidFill>
            <a:srgbClr val="8E44AD"/>
          </a:solidFill>
          <a:ln w="12700">
            <a:solidFill>
              <a:srgbClr val="8E44AD"/>
            </a:solidFill>
            <a:prstDash val="solid"/>
          </a:ln>
        </p:spPr>
      </p:sp>
      <p:sp>
        <p:nvSpPr>
          <p:cNvPr id="14" name="Text 12"/>
          <p:cNvSpPr/>
          <p:nvPr/>
        </p:nvSpPr>
        <p:spPr>
          <a:xfrm>
            <a:off x="594360" y="3429000"/>
            <a:ext cx="457200"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3</a:t>
            </a:r>
            <a:endParaRPr lang="en-US" sz="2200" dirty="0"/>
          </a:p>
        </p:txBody>
      </p:sp>
      <p:sp>
        <p:nvSpPr>
          <p:cNvPr id="15" name="Text 13"/>
          <p:cNvSpPr/>
          <p:nvPr/>
        </p:nvSpPr>
        <p:spPr>
          <a:xfrm>
            <a:off x="1124712" y="3429000"/>
            <a:ext cx="3291840"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Frame Integrity Symptom?</a:t>
            </a:r>
            <a:endParaRPr lang="en-US" sz="1400" dirty="0"/>
          </a:p>
        </p:txBody>
      </p:sp>
      <p:sp>
        <p:nvSpPr>
          <p:cNvPr id="16" name="Text 14"/>
          <p:cNvSpPr/>
          <p:nvPr/>
        </p:nvSpPr>
        <p:spPr>
          <a:xfrm>
            <a:off x="594360" y="3904488"/>
            <a:ext cx="3840480" cy="621792"/>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Look at Layer 2 counters: FCS/CRC errors, alignment errors, giants, runts, and pause activity. Each one tells a different story.</a:t>
            </a:r>
            <a:endParaRPr lang="en-US" sz="1200" dirty="0"/>
          </a:p>
        </p:txBody>
      </p:sp>
      <p:sp>
        <p:nvSpPr>
          <p:cNvPr id="17" name="Shape 15"/>
          <p:cNvSpPr/>
          <p:nvPr/>
        </p:nvSpPr>
        <p:spPr>
          <a:xfrm>
            <a:off x="4754880" y="3337560"/>
            <a:ext cx="4023360" cy="1261872"/>
          </a:xfrm>
          <a:prstGeom prst="rect">
            <a:avLst/>
          </a:prstGeom>
          <a:solidFill>
            <a:srgbClr val="0B2D4E"/>
          </a:solidFill>
          <a:ln w="12700">
            <a:solidFill>
              <a:srgbClr val="0B2D4E"/>
            </a:solidFill>
            <a:prstDash val="solid"/>
          </a:ln>
        </p:spPr>
      </p:sp>
      <p:sp>
        <p:nvSpPr>
          <p:cNvPr id="18" name="Text 16"/>
          <p:cNvSpPr/>
          <p:nvPr/>
        </p:nvSpPr>
        <p:spPr>
          <a:xfrm>
            <a:off x="4846320" y="3429000"/>
            <a:ext cx="457200"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4</a:t>
            </a:r>
            <a:endParaRPr lang="en-US" sz="2200" dirty="0"/>
          </a:p>
        </p:txBody>
      </p:sp>
      <p:sp>
        <p:nvSpPr>
          <p:cNvPr id="19" name="Text 17"/>
          <p:cNvSpPr/>
          <p:nvPr/>
        </p:nvSpPr>
        <p:spPr>
          <a:xfrm>
            <a:off x="5376672" y="3429000"/>
            <a:ext cx="3291840"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Correlate the Layers</a:t>
            </a:r>
            <a:endParaRPr lang="en-US" sz="1400" dirty="0"/>
          </a:p>
        </p:txBody>
      </p:sp>
      <p:sp>
        <p:nvSpPr>
          <p:cNvPr id="20" name="Text 18"/>
          <p:cNvSpPr/>
          <p:nvPr/>
        </p:nvSpPr>
        <p:spPr>
          <a:xfrm>
            <a:off x="4846320" y="3904488"/>
            <a:ext cx="3840480" cy="621792"/>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Rising FCS errors with poor return loss is a very different story from a clean physical channel with pause storms caused by downstream congestion.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D4E"/>
        </a:solidFill>
      </p:bgPr>
    </p:bg>
    <p:spTree>
      <p:nvGrpSpPr>
        <p:cNvPr id="1" name=""/>
        <p:cNvGrpSpPr/>
        <p:nvPr/>
      </p:nvGrpSpPr>
      <p:grpSpPr>
        <a:xfrm>
          <a:off x="0" y="0"/>
          <a:ext cx="0" cy="0"/>
          <a:chOff x="0" y="0"/>
          <a:chExt cx="0" cy="0"/>
        </a:xfrm>
      </p:grpSpPr>
      <p:sp>
        <p:nvSpPr>
          <p:cNvPr id="2" name="Text 0"/>
          <p:cNvSpPr/>
          <p:nvPr/>
        </p:nvSpPr>
        <p:spPr>
          <a:xfrm>
            <a:off x="502920" y="320040"/>
            <a:ext cx="8138160" cy="685800"/>
          </a:xfrm>
          <a:prstGeom prst="rect">
            <a:avLst/>
          </a:prstGeom>
          <a:noFill/>
          <a:ln/>
        </p:spPr>
        <p:txBody>
          <a:bodyPr wrap="square" lIns="0" tIns="0" rIns="0" bIns="0" rtlCol="0" anchor="ctr"/>
          <a:lstStyle/>
          <a:p>
            <a:pPr algn="l" indent="0" marL="0">
              <a:buNone/>
            </a:pPr>
            <a:r>
              <a:rPr lang="en-US" sz="3400" b="1" dirty="0">
                <a:solidFill>
                  <a:srgbClr val="FFFFFF"/>
                </a:solidFill>
                <a:latin typeface="Trebuchet MS" pitchFamily="34" charset="0"/>
                <a:ea typeface="Trebuchet MS" pitchFamily="34" charset="-122"/>
                <a:cs typeface="Trebuchet MS" pitchFamily="34" charset="-120"/>
              </a:rPr>
              <a:t>Six Misconceptions to Unlearn</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Shape 2"/>
          <p:cNvSpPr/>
          <p:nvPr/>
        </p:nvSpPr>
        <p:spPr>
          <a:xfrm>
            <a:off x="502920" y="1298448"/>
            <a:ext cx="4114800" cy="1115568"/>
          </a:xfrm>
          <a:prstGeom prst="rect">
            <a:avLst/>
          </a:prstGeom>
          <a:solidFill>
            <a:srgbClr val="1A4D6E"/>
          </a:solidFill>
          <a:ln w="12700">
            <a:solidFill>
              <a:srgbClr val="1A4D6E"/>
            </a:solidFill>
            <a:prstDash val="solid"/>
          </a:ln>
        </p:spPr>
      </p:sp>
      <p:sp>
        <p:nvSpPr>
          <p:cNvPr id="5" name="Shape 3"/>
          <p:cNvSpPr/>
          <p:nvPr/>
        </p:nvSpPr>
        <p:spPr>
          <a:xfrm>
            <a:off x="502920" y="1298448"/>
            <a:ext cx="54864" cy="1115568"/>
          </a:xfrm>
          <a:prstGeom prst="rect">
            <a:avLst/>
          </a:prstGeom>
          <a:solidFill>
            <a:srgbClr val="C0392B"/>
          </a:solidFill>
          <a:ln w="12700">
            <a:solidFill>
              <a:srgbClr val="C0392B"/>
            </a:solidFill>
            <a:prstDash val="solid"/>
          </a:ln>
        </p:spPr>
      </p:sp>
      <p:sp>
        <p:nvSpPr>
          <p:cNvPr id="6" name="Text 4"/>
          <p:cNvSpPr/>
          <p:nvPr/>
        </p:nvSpPr>
        <p:spPr>
          <a:xfrm>
            <a:off x="640080" y="1371600"/>
            <a:ext cx="3886200" cy="347472"/>
          </a:xfrm>
          <a:prstGeom prst="rect">
            <a:avLst/>
          </a:prstGeom>
          <a:noFill/>
          <a:ln/>
        </p:spPr>
        <p:txBody>
          <a:bodyPr wrap="square" lIns="0" tIns="0" rIns="0" bIns="0" rtlCol="0" anchor="ctr"/>
          <a:lstStyle/>
          <a:p>
            <a:pPr indent="0" marL="0">
              <a:buNone/>
            </a:pPr>
            <a:r>
              <a:rPr lang="en-US" sz="1200" b="1" dirty="0">
                <a:solidFill>
                  <a:srgbClr val="FF6B6B"/>
                </a:solidFill>
                <a:latin typeface="Trebuchet MS" pitchFamily="34" charset="0"/>
                <a:ea typeface="Trebuchet MS" pitchFamily="34" charset="-122"/>
                <a:cs typeface="Trebuchet MS" pitchFamily="34" charset="-120"/>
              </a:rPr>
              <a:t>X  </a:t>
            </a:r>
            <a:pPr indent="0" marL="0">
              <a:buNone/>
            </a:pPr>
            <a:r>
              <a:rPr lang="en-US" sz="1200" b="1" dirty="0">
                <a:solidFill>
                  <a:srgbClr val="FF6B6B"/>
                </a:solidFill>
                <a:latin typeface="Trebuchet MS" pitchFamily="34" charset="0"/>
                <a:ea typeface="Trebuchet MS" pitchFamily="34" charset="-122"/>
                <a:cs typeface="Trebuchet MS" pitchFamily="34" charset="-120"/>
              </a:rPr>
              <a:t>EEE just shuts the link off when idle</a:t>
            </a:r>
            <a:endParaRPr lang="en-US" sz="1200" dirty="0"/>
          </a:p>
        </p:txBody>
      </p:sp>
      <p:sp>
        <p:nvSpPr>
          <p:cNvPr id="7" name="Text 5"/>
          <p:cNvSpPr/>
          <p:nvPr/>
        </p:nvSpPr>
        <p:spPr>
          <a:xfrm>
            <a:off x="640080" y="1755648"/>
            <a:ext cx="3886200" cy="585216"/>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It uses LPI, a managed cycle that preserves logical link continuity throughout.</a:t>
            </a:r>
            <a:endParaRPr lang="en-US" sz="1200" dirty="0"/>
          </a:p>
        </p:txBody>
      </p:sp>
      <p:sp>
        <p:nvSpPr>
          <p:cNvPr id="8" name="Shape 6"/>
          <p:cNvSpPr/>
          <p:nvPr/>
        </p:nvSpPr>
        <p:spPr>
          <a:xfrm>
            <a:off x="4846320" y="1298448"/>
            <a:ext cx="4114800" cy="1115568"/>
          </a:xfrm>
          <a:prstGeom prst="rect">
            <a:avLst/>
          </a:prstGeom>
          <a:solidFill>
            <a:srgbClr val="1A4D6E"/>
          </a:solidFill>
          <a:ln w="12700">
            <a:solidFill>
              <a:srgbClr val="1A4D6E"/>
            </a:solidFill>
            <a:prstDash val="solid"/>
          </a:ln>
        </p:spPr>
      </p:sp>
      <p:sp>
        <p:nvSpPr>
          <p:cNvPr id="9" name="Shape 7"/>
          <p:cNvSpPr/>
          <p:nvPr/>
        </p:nvSpPr>
        <p:spPr>
          <a:xfrm>
            <a:off x="4846320" y="1298448"/>
            <a:ext cx="54864" cy="1115568"/>
          </a:xfrm>
          <a:prstGeom prst="rect">
            <a:avLst/>
          </a:prstGeom>
          <a:solidFill>
            <a:srgbClr val="C0392B"/>
          </a:solidFill>
          <a:ln w="12700">
            <a:solidFill>
              <a:srgbClr val="C0392B"/>
            </a:solidFill>
            <a:prstDash val="solid"/>
          </a:ln>
        </p:spPr>
      </p:sp>
      <p:sp>
        <p:nvSpPr>
          <p:cNvPr id="10" name="Text 8"/>
          <p:cNvSpPr/>
          <p:nvPr/>
        </p:nvSpPr>
        <p:spPr>
          <a:xfrm>
            <a:off x="4983480" y="1371600"/>
            <a:ext cx="3886200" cy="347472"/>
          </a:xfrm>
          <a:prstGeom prst="rect">
            <a:avLst/>
          </a:prstGeom>
          <a:noFill/>
          <a:ln/>
        </p:spPr>
        <p:txBody>
          <a:bodyPr wrap="square" lIns="0" tIns="0" rIns="0" bIns="0" rtlCol="0" anchor="ctr"/>
          <a:lstStyle/>
          <a:p>
            <a:pPr indent="0" marL="0">
              <a:buNone/>
            </a:pPr>
            <a:r>
              <a:rPr lang="en-US" sz="1200" b="1" dirty="0">
                <a:solidFill>
                  <a:srgbClr val="FF6B6B"/>
                </a:solidFill>
                <a:latin typeface="Trebuchet MS" pitchFamily="34" charset="0"/>
                <a:ea typeface="Trebuchet MS" pitchFamily="34" charset="-122"/>
                <a:cs typeface="Trebuchet MS" pitchFamily="34" charset="-120"/>
              </a:rPr>
              <a:t>X  </a:t>
            </a:r>
            <a:pPr indent="0" marL="0">
              <a:buNone/>
            </a:pPr>
            <a:r>
              <a:rPr lang="en-US" sz="1200" b="1" dirty="0">
                <a:solidFill>
                  <a:srgbClr val="FF6B6B"/>
                </a:solidFill>
                <a:latin typeface="Trebuchet MS" pitchFamily="34" charset="0"/>
                <a:ea typeface="Trebuchet MS" pitchFamily="34" charset="-122"/>
                <a:cs typeface="Trebuchet MS" pitchFamily="34" charset="-120"/>
              </a:rPr>
              <a:t>LPI means complete silence</a:t>
            </a:r>
            <a:endParaRPr lang="en-US" sz="1200" dirty="0"/>
          </a:p>
        </p:txBody>
      </p:sp>
      <p:sp>
        <p:nvSpPr>
          <p:cNvPr id="11" name="Text 9"/>
          <p:cNvSpPr/>
          <p:nvPr/>
        </p:nvSpPr>
        <p:spPr>
          <a:xfrm>
            <a:off x="4983480" y="1755648"/>
            <a:ext cx="3886200" cy="585216"/>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The quiet period is interrupted by refresh signals so the far end maintains timing and adaptive state.</a:t>
            </a:r>
            <a:endParaRPr lang="en-US" sz="1200" dirty="0"/>
          </a:p>
        </p:txBody>
      </p:sp>
      <p:sp>
        <p:nvSpPr>
          <p:cNvPr id="12" name="Shape 10"/>
          <p:cNvSpPr/>
          <p:nvPr/>
        </p:nvSpPr>
        <p:spPr>
          <a:xfrm>
            <a:off x="502920" y="2532888"/>
            <a:ext cx="4114800" cy="1115568"/>
          </a:xfrm>
          <a:prstGeom prst="rect">
            <a:avLst/>
          </a:prstGeom>
          <a:solidFill>
            <a:srgbClr val="1A4D6E"/>
          </a:solidFill>
          <a:ln w="12700">
            <a:solidFill>
              <a:srgbClr val="1A4D6E"/>
            </a:solidFill>
            <a:prstDash val="solid"/>
          </a:ln>
        </p:spPr>
      </p:sp>
      <p:sp>
        <p:nvSpPr>
          <p:cNvPr id="13" name="Shape 11"/>
          <p:cNvSpPr/>
          <p:nvPr/>
        </p:nvSpPr>
        <p:spPr>
          <a:xfrm>
            <a:off x="502920" y="2532888"/>
            <a:ext cx="54864" cy="1115568"/>
          </a:xfrm>
          <a:prstGeom prst="rect">
            <a:avLst/>
          </a:prstGeom>
          <a:solidFill>
            <a:srgbClr val="C0392B"/>
          </a:solidFill>
          <a:ln w="12700">
            <a:solidFill>
              <a:srgbClr val="C0392B"/>
            </a:solidFill>
            <a:prstDash val="solid"/>
          </a:ln>
        </p:spPr>
      </p:sp>
      <p:sp>
        <p:nvSpPr>
          <p:cNvPr id="14" name="Text 12"/>
          <p:cNvSpPr/>
          <p:nvPr/>
        </p:nvSpPr>
        <p:spPr>
          <a:xfrm>
            <a:off x="640080" y="2606040"/>
            <a:ext cx="3886200" cy="347472"/>
          </a:xfrm>
          <a:prstGeom prst="rect">
            <a:avLst/>
          </a:prstGeom>
          <a:noFill/>
          <a:ln/>
        </p:spPr>
        <p:txBody>
          <a:bodyPr wrap="square" lIns="0" tIns="0" rIns="0" bIns="0" rtlCol="0" anchor="ctr"/>
          <a:lstStyle/>
          <a:p>
            <a:pPr indent="0" marL="0">
              <a:buNone/>
            </a:pPr>
            <a:r>
              <a:rPr lang="en-US" sz="1200" b="1" dirty="0">
                <a:solidFill>
                  <a:srgbClr val="FF6B6B"/>
                </a:solidFill>
                <a:latin typeface="Trebuchet MS" pitchFamily="34" charset="0"/>
                <a:ea typeface="Trebuchet MS" pitchFamily="34" charset="-122"/>
                <a:cs typeface="Trebuchet MS" pitchFamily="34" charset="-120"/>
              </a:rPr>
              <a:t>X  </a:t>
            </a:r>
            <a:pPr indent="0" marL="0">
              <a:buNone/>
            </a:pPr>
            <a:r>
              <a:rPr lang="en-US" sz="1200" b="1" dirty="0">
                <a:solidFill>
                  <a:srgbClr val="FF6B6B"/>
                </a:solidFill>
                <a:latin typeface="Trebuchet MS" pitchFamily="34" charset="0"/>
                <a:ea typeface="Trebuchet MS" pitchFamily="34" charset="-122"/>
                <a:cs typeface="Trebuchet MS" pitchFamily="34" charset="-120"/>
              </a:rPr>
              <a:t>If the link is up, the PHY is healthy</a:t>
            </a:r>
            <a:endParaRPr lang="en-US" sz="1200" dirty="0"/>
          </a:p>
        </p:txBody>
      </p:sp>
      <p:sp>
        <p:nvSpPr>
          <p:cNvPr id="15" name="Text 13"/>
          <p:cNvSpPr/>
          <p:nvPr/>
        </p:nvSpPr>
        <p:spPr>
          <a:xfrm>
            <a:off x="640080" y="2990088"/>
            <a:ext cx="3886200" cy="585216"/>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A link can be up while accumulating physical errors. L1 counters reveal that condition.</a:t>
            </a:r>
            <a:endParaRPr lang="en-US" sz="1200" dirty="0"/>
          </a:p>
        </p:txBody>
      </p:sp>
      <p:sp>
        <p:nvSpPr>
          <p:cNvPr id="16" name="Shape 14"/>
          <p:cNvSpPr/>
          <p:nvPr/>
        </p:nvSpPr>
        <p:spPr>
          <a:xfrm>
            <a:off x="4846320" y="2532888"/>
            <a:ext cx="4114800" cy="1115568"/>
          </a:xfrm>
          <a:prstGeom prst="rect">
            <a:avLst/>
          </a:prstGeom>
          <a:solidFill>
            <a:srgbClr val="1A4D6E"/>
          </a:solidFill>
          <a:ln w="12700">
            <a:solidFill>
              <a:srgbClr val="1A4D6E"/>
            </a:solidFill>
            <a:prstDash val="solid"/>
          </a:ln>
        </p:spPr>
      </p:sp>
      <p:sp>
        <p:nvSpPr>
          <p:cNvPr id="17" name="Shape 15"/>
          <p:cNvSpPr/>
          <p:nvPr/>
        </p:nvSpPr>
        <p:spPr>
          <a:xfrm>
            <a:off x="4846320" y="2532888"/>
            <a:ext cx="54864" cy="1115568"/>
          </a:xfrm>
          <a:prstGeom prst="rect">
            <a:avLst/>
          </a:prstGeom>
          <a:solidFill>
            <a:srgbClr val="C0392B"/>
          </a:solidFill>
          <a:ln w="12700">
            <a:solidFill>
              <a:srgbClr val="C0392B"/>
            </a:solidFill>
            <a:prstDash val="solid"/>
          </a:ln>
        </p:spPr>
      </p:sp>
      <p:sp>
        <p:nvSpPr>
          <p:cNvPr id="18" name="Text 16"/>
          <p:cNvSpPr/>
          <p:nvPr/>
        </p:nvSpPr>
        <p:spPr>
          <a:xfrm>
            <a:off x="4983480" y="2606040"/>
            <a:ext cx="3886200" cy="347472"/>
          </a:xfrm>
          <a:prstGeom prst="rect">
            <a:avLst/>
          </a:prstGeom>
          <a:noFill/>
          <a:ln/>
        </p:spPr>
        <p:txBody>
          <a:bodyPr wrap="square" lIns="0" tIns="0" rIns="0" bIns="0" rtlCol="0" anchor="ctr"/>
          <a:lstStyle/>
          <a:p>
            <a:pPr indent="0" marL="0">
              <a:buNone/>
            </a:pPr>
            <a:r>
              <a:rPr lang="en-US" sz="1200" b="1" dirty="0">
                <a:solidFill>
                  <a:srgbClr val="FF6B6B"/>
                </a:solidFill>
                <a:latin typeface="Trebuchet MS" pitchFamily="34" charset="0"/>
                <a:ea typeface="Trebuchet MS" pitchFamily="34" charset="-122"/>
                <a:cs typeface="Trebuchet MS" pitchFamily="34" charset="-120"/>
              </a:rPr>
              <a:t>X  </a:t>
            </a:r>
            <a:pPr indent="0" marL="0">
              <a:buNone/>
            </a:pPr>
            <a:r>
              <a:rPr lang="en-US" sz="1200" b="1" dirty="0">
                <a:solidFill>
                  <a:srgbClr val="FF6B6B"/>
                </a:solidFill>
                <a:latin typeface="Trebuchet MS" pitchFamily="34" charset="0"/>
                <a:ea typeface="Trebuchet MS" pitchFamily="34" charset="-122"/>
                <a:cs typeface="Trebuchet MS" pitchFamily="34" charset="-120"/>
              </a:rPr>
              <a:t>FCS errors are a Layer 3 or app problem</a:t>
            </a:r>
            <a:endParaRPr lang="en-US" sz="1200" dirty="0"/>
          </a:p>
        </p:txBody>
      </p:sp>
      <p:sp>
        <p:nvSpPr>
          <p:cNvPr id="19" name="Text 17"/>
          <p:cNvSpPr/>
          <p:nvPr/>
        </p:nvSpPr>
        <p:spPr>
          <a:xfrm>
            <a:off x="4983480" y="2990088"/>
            <a:ext cx="3886200" cy="585216"/>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They are Ethernet-frame integrity failures pointing back to physical transport or link behavior.</a:t>
            </a:r>
            <a:endParaRPr lang="en-US" sz="1200" dirty="0"/>
          </a:p>
        </p:txBody>
      </p:sp>
      <p:sp>
        <p:nvSpPr>
          <p:cNvPr id="20" name="Shape 18"/>
          <p:cNvSpPr/>
          <p:nvPr/>
        </p:nvSpPr>
        <p:spPr>
          <a:xfrm>
            <a:off x="502920" y="3767328"/>
            <a:ext cx="4114800" cy="1115568"/>
          </a:xfrm>
          <a:prstGeom prst="rect">
            <a:avLst/>
          </a:prstGeom>
          <a:solidFill>
            <a:srgbClr val="1A4D6E"/>
          </a:solidFill>
          <a:ln w="12700">
            <a:solidFill>
              <a:srgbClr val="1A4D6E"/>
            </a:solidFill>
            <a:prstDash val="solid"/>
          </a:ln>
        </p:spPr>
      </p:sp>
      <p:sp>
        <p:nvSpPr>
          <p:cNvPr id="21" name="Shape 19"/>
          <p:cNvSpPr/>
          <p:nvPr/>
        </p:nvSpPr>
        <p:spPr>
          <a:xfrm>
            <a:off x="502920" y="3767328"/>
            <a:ext cx="54864" cy="1115568"/>
          </a:xfrm>
          <a:prstGeom prst="rect">
            <a:avLst/>
          </a:prstGeom>
          <a:solidFill>
            <a:srgbClr val="C0392B"/>
          </a:solidFill>
          <a:ln w="12700">
            <a:solidFill>
              <a:srgbClr val="C0392B"/>
            </a:solidFill>
            <a:prstDash val="solid"/>
          </a:ln>
        </p:spPr>
      </p:sp>
      <p:sp>
        <p:nvSpPr>
          <p:cNvPr id="22" name="Text 20"/>
          <p:cNvSpPr/>
          <p:nvPr/>
        </p:nvSpPr>
        <p:spPr>
          <a:xfrm>
            <a:off x="640080" y="3840480"/>
            <a:ext cx="3886200" cy="347472"/>
          </a:xfrm>
          <a:prstGeom prst="rect">
            <a:avLst/>
          </a:prstGeom>
          <a:noFill/>
          <a:ln/>
        </p:spPr>
        <p:txBody>
          <a:bodyPr wrap="square" lIns="0" tIns="0" rIns="0" bIns="0" rtlCol="0" anchor="ctr"/>
          <a:lstStyle/>
          <a:p>
            <a:pPr indent="0" marL="0">
              <a:buNone/>
            </a:pPr>
            <a:r>
              <a:rPr lang="en-US" sz="1200" b="1" dirty="0">
                <a:solidFill>
                  <a:srgbClr val="FF6B6B"/>
                </a:solidFill>
                <a:latin typeface="Trebuchet MS" pitchFamily="34" charset="0"/>
                <a:ea typeface="Trebuchet MS" pitchFamily="34" charset="-122"/>
                <a:cs typeface="Trebuchet MS" pitchFamily="34" charset="-120"/>
              </a:rPr>
              <a:t>X  </a:t>
            </a:r>
            <a:pPr indent="0" marL="0">
              <a:buNone/>
            </a:pPr>
            <a:r>
              <a:rPr lang="en-US" sz="1200" b="1" dirty="0">
                <a:solidFill>
                  <a:srgbClr val="FF6B6B"/>
                </a:solidFill>
                <a:latin typeface="Trebuchet MS" pitchFamily="34" charset="0"/>
                <a:ea typeface="Trebuchet MS" pitchFamily="34" charset="-122"/>
                <a:cs typeface="Trebuchet MS" pitchFamily="34" charset="-120"/>
              </a:rPr>
              <a:t>Insertion loss and return loss are the same</a:t>
            </a:r>
            <a:endParaRPr lang="en-US" sz="1200" dirty="0"/>
          </a:p>
        </p:txBody>
      </p:sp>
      <p:sp>
        <p:nvSpPr>
          <p:cNvPr id="23" name="Text 21"/>
          <p:cNvSpPr/>
          <p:nvPr/>
        </p:nvSpPr>
        <p:spPr>
          <a:xfrm>
            <a:off x="640080" y="4224528"/>
            <a:ext cx="3886200" cy="585216"/>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Insertion loss is forward attenuation. Return loss is reflection from mismatch. Different causes, different fixes.</a:t>
            </a:r>
            <a:endParaRPr lang="en-US" sz="1200" dirty="0"/>
          </a:p>
        </p:txBody>
      </p:sp>
      <p:sp>
        <p:nvSpPr>
          <p:cNvPr id="24" name="Shape 22"/>
          <p:cNvSpPr/>
          <p:nvPr/>
        </p:nvSpPr>
        <p:spPr>
          <a:xfrm>
            <a:off x="4846320" y="3767328"/>
            <a:ext cx="4114800" cy="1115568"/>
          </a:xfrm>
          <a:prstGeom prst="rect">
            <a:avLst/>
          </a:prstGeom>
          <a:solidFill>
            <a:srgbClr val="1A4D6E"/>
          </a:solidFill>
          <a:ln w="12700">
            <a:solidFill>
              <a:srgbClr val="1A4D6E"/>
            </a:solidFill>
            <a:prstDash val="solid"/>
          </a:ln>
        </p:spPr>
      </p:sp>
      <p:sp>
        <p:nvSpPr>
          <p:cNvPr id="25" name="Shape 23"/>
          <p:cNvSpPr/>
          <p:nvPr/>
        </p:nvSpPr>
        <p:spPr>
          <a:xfrm>
            <a:off x="4846320" y="3767328"/>
            <a:ext cx="54864" cy="1115568"/>
          </a:xfrm>
          <a:prstGeom prst="rect">
            <a:avLst/>
          </a:prstGeom>
          <a:solidFill>
            <a:srgbClr val="C0392B"/>
          </a:solidFill>
          <a:ln w="12700">
            <a:solidFill>
              <a:srgbClr val="C0392B"/>
            </a:solidFill>
            <a:prstDash val="solid"/>
          </a:ln>
        </p:spPr>
      </p:sp>
      <p:sp>
        <p:nvSpPr>
          <p:cNvPr id="26" name="Text 24"/>
          <p:cNvSpPr/>
          <p:nvPr/>
        </p:nvSpPr>
        <p:spPr>
          <a:xfrm>
            <a:off x="4983480" y="3840480"/>
            <a:ext cx="3886200" cy="347472"/>
          </a:xfrm>
          <a:prstGeom prst="rect">
            <a:avLst/>
          </a:prstGeom>
          <a:noFill/>
          <a:ln/>
        </p:spPr>
        <p:txBody>
          <a:bodyPr wrap="square" lIns="0" tIns="0" rIns="0" bIns="0" rtlCol="0" anchor="ctr"/>
          <a:lstStyle/>
          <a:p>
            <a:pPr indent="0" marL="0">
              <a:buNone/>
            </a:pPr>
            <a:r>
              <a:rPr lang="en-US" sz="1200" b="1" dirty="0">
                <a:solidFill>
                  <a:srgbClr val="FF6B6B"/>
                </a:solidFill>
                <a:latin typeface="Trebuchet MS" pitchFamily="34" charset="0"/>
                <a:ea typeface="Trebuchet MS" pitchFamily="34" charset="-122"/>
                <a:cs typeface="Trebuchet MS" pitchFamily="34" charset="-120"/>
              </a:rPr>
              <a:t>X  </a:t>
            </a:r>
            <a:pPr indent="0" marL="0">
              <a:buNone/>
            </a:pPr>
            <a:r>
              <a:rPr lang="en-US" sz="1200" b="1" dirty="0">
                <a:solidFill>
                  <a:srgbClr val="FF6B6B"/>
                </a:solidFill>
                <a:latin typeface="Trebuchet MS" pitchFamily="34" charset="0"/>
                <a:ea typeface="Trebuchet MS" pitchFamily="34" charset="-122"/>
                <a:cs typeface="Trebuchet MS" pitchFamily="34" charset="-120"/>
              </a:rPr>
              <a:t>Lower return loss is better</a:t>
            </a:r>
            <a:endParaRPr lang="en-US" sz="1200" dirty="0"/>
          </a:p>
        </p:txBody>
      </p:sp>
      <p:sp>
        <p:nvSpPr>
          <p:cNvPr id="27" name="Text 25"/>
          <p:cNvSpPr/>
          <p:nvPr/>
        </p:nvSpPr>
        <p:spPr>
          <a:xfrm>
            <a:off x="4983480" y="4224528"/>
            <a:ext cx="3886200" cy="585216"/>
          </a:xfrm>
          <a:prstGeom prst="rect">
            <a:avLst/>
          </a:prstGeom>
          <a:noFill/>
          <a:ln/>
        </p:spPr>
        <p:txBody>
          <a:bodyPr wrap="square" lIns="0" tIns="0" rIns="0" bIns="0" rtlCol="0" anchor="ctr"/>
          <a:lstStyle/>
          <a:p>
            <a:pPr indent="0" marL="0">
              <a:buNone/>
            </a:pPr>
            <a:r>
              <a:rPr lang="en-US" sz="1200" b="1" dirty="0">
                <a:solidFill>
                  <a:srgbClr val="1A9DAA"/>
                </a:solidFill>
                <a:latin typeface="Calibri" pitchFamily="34" charset="0"/>
                <a:ea typeface="Calibri" pitchFamily="34" charset="-122"/>
                <a:cs typeface="Calibri" pitchFamily="34" charset="-120"/>
              </a:rPr>
              <a:t>✓  </a:t>
            </a:r>
            <a:pPr indent="0" marL="0">
              <a:buNone/>
            </a:pPr>
            <a:r>
              <a:rPr lang="en-US" sz="1200" dirty="0">
                <a:solidFill>
                  <a:srgbClr val="D6EAF8"/>
                </a:solidFill>
                <a:latin typeface="Calibri" pitchFamily="34" charset="0"/>
                <a:ea typeface="Calibri" pitchFamily="34" charset="-122"/>
                <a:cs typeface="Calibri" pitchFamily="34" charset="-120"/>
              </a:rPr>
              <a:t>Wrong direction. A higher return-loss value means less reflected signal, which is better.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2D4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86"/>
          </a:solidFill>
          <a:ln w="12700">
            <a:solidFill>
              <a:srgbClr val="0E7C86"/>
            </a:solidFill>
            <a:prstDash val="solid"/>
          </a:ln>
        </p:spPr>
      </p:sp>
      <p:sp>
        <p:nvSpPr>
          <p:cNvPr id="3" name="Text 1"/>
          <p:cNvSpPr/>
          <p:nvPr/>
        </p:nvSpPr>
        <p:spPr>
          <a:xfrm>
            <a:off x="502920" y="365760"/>
            <a:ext cx="8138160" cy="685800"/>
          </a:xfrm>
          <a:prstGeom prst="rect">
            <a:avLst/>
          </a:prstGeom>
          <a:noFill/>
          <a:ln/>
        </p:spPr>
        <p:txBody>
          <a:bodyPr wrap="square" lIns="0" tIns="0" rIns="0" bIns="0" rtlCol="0" anchor="ctr"/>
          <a:lstStyle/>
          <a:p>
            <a:pPr algn="l" indent="0" marL="0">
              <a:buNone/>
            </a:pPr>
            <a:r>
              <a:rPr lang="en-US" sz="4200" b="1" dirty="0">
                <a:solidFill>
                  <a:srgbClr val="FFFFFF"/>
                </a:solidFill>
                <a:latin typeface="Trebuchet MS" pitchFamily="34" charset="0"/>
                <a:ea typeface="Trebuchet MS" pitchFamily="34" charset="-122"/>
                <a:cs typeface="Trebuchet MS" pitchFamily="34" charset="-120"/>
              </a:rPr>
              <a:t>One Connected Story</a:t>
            </a:r>
            <a:endParaRPr lang="en-US" sz="4200" dirty="0"/>
          </a:p>
        </p:txBody>
      </p:sp>
      <p:sp>
        <p:nvSpPr>
          <p:cNvPr id="4" name="Shape 2"/>
          <p:cNvSpPr/>
          <p:nvPr/>
        </p:nvSpPr>
        <p:spPr>
          <a:xfrm>
            <a:off x="502920" y="1261872"/>
            <a:ext cx="4069080" cy="1170432"/>
          </a:xfrm>
          <a:prstGeom prst="rect">
            <a:avLst/>
          </a:prstGeom>
          <a:solidFill>
            <a:srgbClr val="1A4D6E"/>
          </a:solidFill>
          <a:ln w="12700">
            <a:solidFill>
              <a:srgbClr val="1A4D6E"/>
            </a:solidFill>
            <a:prstDash val="solid"/>
          </a:ln>
        </p:spPr>
      </p:sp>
      <p:sp>
        <p:nvSpPr>
          <p:cNvPr id="5" name="Shape 3"/>
          <p:cNvSpPr/>
          <p:nvPr/>
        </p:nvSpPr>
        <p:spPr>
          <a:xfrm>
            <a:off x="502920" y="1261872"/>
            <a:ext cx="4069080" cy="1170432"/>
          </a:xfrm>
          <a:prstGeom prst="rect">
            <a:avLst/>
          </a:prstGeom>
          <a:solidFill>
            <a:srgbClr val="1A4D6E"/>
          </a:solidFill>
          <a:ln w="25400">
            <a:solidFill>
              <a:srgbClr val="1A9DAA"/>
            </a:solidFill>
            <a:prstDash val="solid"/>
          </a:ln>
        </p:spPr>
      </p:sp>
      <p:sp>
        <p:nvSpPr>
          <p:cNvPr id="6" name="Text 4"/>
          <p:cNvSpPr/>
          <p:nvPr/>
        </p:nvSpPr>
        <p:spPr>
          <a:xfrm>
            <a:off x="640080" y="1353312"/>
            <a:ext cx="3840480"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Energy Efficient Ethernet</a:t>
            </a:r>
            <a:endParaRPr lang="en-US" sz="1400" dirty="0"/>
          </a:p>
        </p:txBody>
      </p:sp>
      <p:sp>
        <p:nvSpPr>
          <p:cNvPr id="7" name="Text 5"/>
          <p:cNvSpPr/>
          <p:nvPr/>
        </p:nvSpPr>
        <p:spPr>
          <a:xfrm>
            <a:off x="640080" y="1792224"/>
            <a:ext cx="3840480" cy="54864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Links spend real time idle and can save power without pretending to go down</a:t>
            </a:r>
            <a:endParaRPr lang="en-US" sz="1200" dirty="0"/>
          </a:p>
        </p:txBody>
      </p:sp>
      <p:sp>
        <p:nvSpPr>
          <p:cNvPr id="8" name="Shape 6"/>
          <p:cNvSpPr/>
          <p:nvPr/>
        </p:nvSpPr>
        <p:spPr>
          <a:xfrm>
            <a:off x="4846320" y="1261872"/>
            <a:ext cx="4069080" cy="1170432"/>
          </a:xfrm>
          <a:prstGeom prst="rect">
            <a:avLst/>
          </a:prstGeom>
          <a:solidFill>
            <a:srgbClr val="1A4D6E"/>
          </a:solidFill>
          <a:ln w="12700">
            <a:solidFill>
              <a:srgbClr val="1A4D6E"/>
            </a:solidFill>
            <a:prstDash val="solid"/>
          </a:ln>
        </p:spPr>
      </p:sp>
      <p:sp>
        <p:nvSpPr>
          <p:cNvPr id="9" name="Shape 7"/>
          <p:cNvSpPr/>
          <p:nvPr/>
        </p:nvSpPr>
        <p:spPr>
          <a:xfrm>
            <a:off x="4846320" y="1261872"/>
            <a:ext cx="4069080" cy="1170432"/>
          </a:xfrm>
          <a:prstGeom prst="rect">
            <a:avLst/>
          </a:prstGeom>
          <a:solidFill>
            <a:srgbClr val="1A4D6E"/>
          </a:solidFill>
          <a:ln w="25400">
            <a:solidFill>
              <a:srgbClr val="F0A500"/>
            </a:solidFill>
            <a:prstDash val="solid"/>
          </a:ln>
        </p:spPr>
      </p:sp>
      <p:sp>
        <p:nvSpPr>
          <p:cNvPr id="10" name="Text 8"/>
          <p:cNvSpPr/>
          <p:nvPr/>
        </p:nvSpPr>
        <p:spPr>
          <a:xfrm>
            <a:off x="4983480" y="1353312"/>
            <a:ext cx="3840480"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Low Power Idle</a:t>
            </a:r>
            <a:endParaRPr lang="en-US" sz="1400" dirty="0"/>
          </a:p>
        </p:txBody>
      </p:sp>
      <p:sp>
        <p:nvSpPr>
          <p:cNvPr id="11" name="Text 9"/>
          <p:cNvSpPr/>
          <p:nvPr/>
        </p:nvSpPr>
        <p:spPr>
          <a:xfrm>
            <a:off x="4983480" y="1792224"/>
            <a:ext cx="3840480" cy="54864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The managed state machine: Sleep, Quiet, Refresh, Wake — preserving receiver readiness</a:t>
            </a:r>
            <a:endParaRPr lang="en-US" sz="1200" dirty="0"/>
          </a:p>
        </p:txBody>
      </p:sp>
      <p:sp>
        <p:nvSpPr>
          <p:cNvPr id="12" name="Shape 10"/>
          <p:cNvSpPr/>
          <p:nvPr/>
        </p:nvSpPr>
        <p:spPr>
          <a:xfrm>
            <a:off x="502920" y="2615184"/>
            <a:ext cx="4069080" cy="1170432"/>
          </a:xfrm>
          <a:prstGeom prst="rect">
            <a:avLst/>
          </a:prstGeom>
          <a:solidFill>
            <a:srgbClr val="1A4D6E"/>
          </a:solidFill>
          <a:ln w="12700">
            <a:solidFill>
              <a:srgbClr val="1A4D6E"/>
            </a:solidFill>
            <a:prstDash val="solid"/>
          </a:ln>
        </p:spPr>
      </p:sp>
      <p:sp>
        <p:nvSpPr>
          <p:cNvPr id="13" name="Shape 11"/>
          <p:cNvSpPr/>
          <p:nvPr/>
        </p:nvSpPr>
        <p:spPr>
          <a:xfrm>
            <a:off x="502920" y="2615184"/>
            <a:ext cx="4069080" cy="1170432"/>
          </a:xfrm>
          <a:prstGeom prst="rect">
            <a:avLst/>
          </a:prstGeom>
          <a:solidFill>
            <a:srgbClr val="1A4D6E"/>
          </a:solidFill>
          <a:ln w="25400">
            <a:solidFill>
              <a:srgbClr val="8E44AD"/>
            </a:solidFill>
            <a:prstDash val="solid"/>
          </a:ln>
        </p:spPr>
      </p:sp>
      <p:sp>
        <p:nvSpPr>
          <p:cNvPr id="14" name="Text 12"/>
          <p:cNvSpPr/>
          <p:nvPr/>
        </p:nvSpPr>
        <p:spPr>
          <a:xfrm>
            <a:off x="640080" y="2706624"/>
            <a:ext cx="3840480"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Layer 1 and 2 Counters</a:t>
            </a:r>
            <a:endParaRPr lang="en-US" sz="1400" dirty="0"/>
          </a:p>
        </p:txBody>
      </p:sp>
      <p:sp>
        <p:nvSpPr>
          <p:cNvPr id="15" name="Text 13"/>
          <p:cNvSpPr/>
          <p:nvPr/>
        </p:nvSpPr>
        <p:spPr>
          <a:xfrm>
            <a:off x="640080" y="3145536"/>
            <a:ext cx="3840480" cy="54864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Operational evidence of whether signalling and frame delivery are actually healthy</a:t>
            </a:r>
            <a:endParaRPr lang="en-US" sz="1200" dirty="0"/>
          </a:p>
        </p:txBody>
      </p:sp>
      <p:sp>
        <p:nvSpPr>
          <p:cNvPr id="16" name="Shape 14"/>
          <p:cNvSpPr/>
          <p:nvPr/>
        </p:nvSpPr>
        <p:spPr>
          <a:xfrm>
            <a:off x="4846320" y="2615184"/>
            <a:ext cx="4069080" cy="1170432"/>
          </a:xfrm>
          <a:prstGeom prst="rect">
            <a:avLst/>
          </a:prstGeom>
          <a:solidFill>
            <a:srgbClr val="1A4D6E"/>
          </a:solidFill>
          <a:ln w="12700">
            <a:solidFill>
              <a:srgbClr val="1A4D6E"/>
            </a:solidFill>
            <a:prstDash val="solid"/>
          </a:ln>
        </p:spPr>
      </p:sp>
      <p:sp>
        <p:nvSpPr>
          <p:cNvPr id="17" name="Shape 15"/>
          <p:cNvSpPr/>
          <p:nvPr/>
        </p:nvSpPr>
        <p:spPr>
          <a:xfrm>
            <a:off x="4846320" y="2615184"/>
            <a:ext cx="4069080" cy="1170432"/>
          </a:xfrm>
          <a:prstGeom prst="rect">
            <a:avLst/>
          </a:prstGeom>
          <a:solidFill>
            <a:srgbClr val="1A4D6E"/>
          </a:solidFill>
          <a:ln w="25400">
            <a:solidFill>
              <a:srgbClr val="C0392B"/>
            </a:solidFill>
            <a:prstDash val="solid"/>
          </a:ln>
        </p:spPr>
      </p:sp>
      <p:sp>
        <p:nvSpPr>
          <p:cNvPr id="18" name="Text 16"/>
          <p:cNvSpPr/>
          <p:nvPr/>
        </p:nvSpPr>
        <p:spPr>
          <a:xfrm>
            <a:off x="4983480" y="2706624"/>
            <a:ext cx="3840480"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Trebuchet MS" pitchFamily="34" charset="0"/>
                <a:ea typeface="Trebuchet MS" pitchFamily="34" charset="-122"/>
                <a:cs typeface="Trebuchet MS" pitchFamily="34" charset="-120"/>
              </a:rPr>
              <a:t>Insertion and Return Loss</a:t>
            </a:r>
            <a:endParaRPr lang="en-US" sz="1400" dirty="0"/>
          </a:p>
        </p:txBody>
      </p:sp>
      <p:sp>
        <p:nvSpPr>
          <p:cNvPr id="19" name="Text 17"/>
          <p:cNvSpPr/>
          <p:nvPr/>
        </p:nvSpPr>
        <p:spPr>
          <a:xfrm>
            <a:off x="4983480" y="3145536"/>
            <a:ext cx="3840480" cy="548640"/>
          </a:xfrm>
          <a:prstGeom prst="rect">
            <a:avLst/>
          </a:prstGeom>
          <a:noFill/>
          <a:ln/>
        </p:spPr>
        <p:txBody>
          <a:bodyPr wrap="square" lIns="0" tIns="0" rIns="0" bIns="0" rtlCol="0" anchor="t"/>
          <a:lstStyle/>
          <a:p>
            <a:pPr algn="l" indent="0" marL="0">
              <a:buNone/>
            </a:pPr>
            <a:r>
              <a:rPr lang="en-US" sz="1200" dirty="0">
                <a:solidFill>
                  <a:srgbClr val="D6EAF8"/>
                </a:solidFill>
                <a:latin typeface="Calibri" pitchFamily="34" charset="0"/>
                <a:ea typeface="Calibri" pitchFamily="34" charset="-122"/>
                <a:cs typeface="Calibri" pitchFamily="34" charset="-120"/>
              </a:rPr>
              <a:t>Core electrical reasons why healthy signalling either succeeds or fails</a:t>
            </a:r>
            <a:endParaRPr lang="en-US" sz="1200" dirty="0"/>
          </a:p>
        </p:txBody>
      </p:sp>
      <p:sp>
        <p:nvSpPr>
          <p:cNvPr id="20" name="Shape 18"/>
          <p:cNvSpPr/>
          <p:nvPr/>
        </p:nvSpPr>
        <p:spPr>
          <a:xfrm>
            <a:off x="502920" y="4160520"/>
            <a:ext cx="8138160" cy="676656"/>
          </a:xfrm>
          <a:prstGeom prst="rect">
            <a:avLst/>
          </a:prstGeom>
          <a:solidFill>
            <a:srgbClr val="0E7C86"/>
          </a:solidFill>
          <a:ln w="12700">
            <a:solidFill>
              <a:srgbClr val="0E7C86"/>
            </a:solidFill>
            <a:prstDash val="solid"/>
          </a:ln>
        </p:spPr>
      </p:sp>
      <p:sp>
        <p:nvSpPr>
          <p:cNvPr id="21" name="Text 19"/>
          <p:cNvSpPr/>
          <p:nvPr/>
        </p:nvSpPr>
        <p:spPr>
          <a:xfrm>
            <a:off x="594360" y="4187952"/>
            <a:ext cx="795528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Stop treating network problems as isolated counters. Read them as symptoms of underlying link physics.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Ethernet Link Health</dc:title>
  <dc:subject>PptxGenJS Presentation</dc:subject>
  <dc:creator>PptxGenJS</dc:creator>
  <cp:lastModifiedBy>PptxGenJS</cp:lastModifiedBy>
  <cp:revision>1</cp:revision>
  <dcterms:created xsi:type="dcterms:W3CDTF">2026-04-20T16:22:29Z</dcterms:created>
  <dcterms:modified xsi:type="dcterms:W3CDTF">2026-04-20T16:22:29Z</dcterms:modified>
</cp:coreProperties>
</file>