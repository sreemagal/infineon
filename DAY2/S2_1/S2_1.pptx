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94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25932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10BASE-T1S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219456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Physical Layer Collision Avoidance, OPEN Alliance TC14,</a:t>
            </a:r>
            <a:endParaRPr lang="en-US" sz="2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and TC10 Sleep/Wake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32918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8FA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 Technical Deep Dive for Automotive Ethernet Edge Networks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22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011680"/>
            <a:ext cx="4572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at the Vehicle Edge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A8FA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Why CAN and LIN are no longer enough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412480" y="466344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 at the Vehicle Edge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7A8FA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These devices do not need 100 Mbps or 1 Gbps.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7A8FA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They need modest bandwidth, low wiring cost, and simple integration.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920240"/>
            <a:ext cx="137160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13716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 Module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331720" y="1920240"/>
            <a:ext cx="137160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8" name="Shape 6"/>
          <p:cNvSpPr/>
          <p:nvPr/>
        </p:nvSpPr>
        <p:spPr>
          <a:xfrm>
            <a:off x="2331720" y="1920240"/>
            <a:ext cx="1371600" cy="54864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9" name="Text 7"/>
          <p:cNvSpPr/>
          <p:nvPr/>
        </p:nvSpPr>
        <p:spPr>
          <a:xfrm>
            <a:off x="2331720" y="210312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 Controller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931920" y="1920240"/>
            <a:ext cx="137160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11" name="Shape 9"/>
          <p:cNvSpPr/>
          <p:nvPr/>
        </p:nvSpPr>
        <p:spPr>
          <a:xfrm>
            <a:off x="3931920" y="1920240"/>
            <a:ext cx="13716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2" name="Text 10"/>
          <p:cNvSpPr/>
          <p:nvPr/>
        </p:nvSpPr>
        <p:spPr>
          <a:xfrm>
            <a:off x="3931920" y="210312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Lighting Controller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532120" y="1920240"/>
            <a:ext cx="137160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14" name="Shape 12"/>
          <p:cNvSpPr/>
          <p:nvPr/>
        </p:nvSpPr>
        <p:spPr>
          <a:xfrm>
            <a:off x="5532120" y="1920240"/>
            <a:ext cx="1371600" cy="54864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5" name="Text 13"/>
          <p:cNvSpPr/>
          <p:nvPr/>
        </p:nvSpPr>
        <p:spPr>
          <a:xfrm>
            <a:off x="5532120" y="210312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Cluster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132320" y="1920240"/>
            <a:ext cx="137160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17" name="Shape 15"/>
          <p:cNvSpPr/>
          <p:nvPr/>
        </p:nvSpPr>
        <p:spPr>
          <a:xfrm>
            <a:off x="7132320" y="1920240"/>
            <a:ext cx="13716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8" name="Text 16"/>
          <p:cNvSpPr/>
          <p:nvPr/>
        </p:nvSpPr>
        <p:spPr>
          <a:xfrm>
            <a:off x="7132320" y="210312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Actuator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34747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Historically served by CAN and LIN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31520" y="40233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1B28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10BASE-T1S brings Ethernet framing and tooling into this low-cost domain</a:t>
            </a:r>
            <a:endParaRPr lang="en-US" sz="13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1B28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without forcing every node onto a switched point-to-point link.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412480" y="466344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10BASE-T1S is not 'cheap Ethernet'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7A8FA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It is Ethernet redesigned for a very specific physical situation: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97280" y="2011680"/>
            <a:ext cx="6949440" cy="1828800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5" name="Shape 3"/>
          <p:cNvSpPr/>
          <p:nvPr/>
        </p:nvSpPr>
        <p:spPr>
          <a:xfrm>
            <a:off x="1097280" y="2011680"/>
            <a:ext cx="73152" cy="18288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6" name="Text 4"/>
          <p:cNvSpPr/>
          <p:nvPr/>
        </p:nvSpPr>
        <p:spPr>
          <a:xfrm>
            <a:off x="1463040" y="2011680"/>
            <a:ext cx="6217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 short-reach, single twisted-pair segment</a:t>
            </a:r>
            <a:endParaRPr lang="en-US" sz="2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where multiple nodes share the same medium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41148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7A8FA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That shared-medium part is why you cannot understand 10BASE-T1S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7A8FA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without understanding what happens when multiple nodes want to talk.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0" y="466344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22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011680"/>
            <a:ext cx="4572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Worlds Under One Name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A8FA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Point-to-point vs. multidrop operation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412480" y="466344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Point-to-Point vs. Multidrop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POINT-TO-POINT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097280" y="1737360"/>
            <a:ext cx="1097280" cy="731520"/>
          </a:xfrm>
          <a:prstGeom prst="rect">
            <a:avLst/>
          </a:prstGeom>
          <a:solidFill>
            <a:srgbClr val="0077B6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5" name="Text 3"/>
          <p:cNvSpPr/>
          <p:nvPr/>
        </p:nvSpPr>
        <p:spPr>
          <a:xfrm>
            <a:off x="1097280" y="173736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194560" y="2103120"/>
            <a:ext cx="914400" cy="0"/>
          </a:xfrm>
          <a:prstGeom prst="line">
            <a:avLst/>
          </a:prstGeom>
          <a:noFill/>
          <a:ln w="381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7" name="Shape 5"/>
          <p:cNvSpPr/>
          <p:nvPr/>
        </p:nvSpPr>
        <p:spPr>
          <a:xfrm>
            <a:off x="3108960" y="1737360"/>
            <a:ext cx="1097280" cy="731520"/>
          </a:xfrm>
          <a:prstGeom prst="rect">
            <a:avLst/>
          </a:prstGeom>
          <a:solidFill>
            <a:srgbClr val="0077B6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8" name="Text 6"/>
          <p:cNvSpPr/>
          <p:nvPr/>
        </p:nvSpPr>
        <p:spPr>
          <a:xfrm>
            <a:off x="3108960" y="173736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B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6517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A8FA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Full-duplex or half-duplex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A8FA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Two nodes, one pair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MULTIDROP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0" y="2286000"/>
            <a:ext cx="3657600" cy="0"/>
          </a:xfrm>
          <a:prstGeom prst="line">
            <a:avLst/>
          </a:prstGeom>
          <a:noFill/>
          <a:ln w="381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2" name="Shape 10"/>
          <p:cNvSpPr/>
          <p:nvPr/>
        </p:nvSpPr>
        <p:spPr>
          <a:xfrm>
            <a:off x="5486400" y="1965960"/>
            <a:ext cx="0" cy="320040"/>
          </a:xfrm>
          <a:prstGeom prst="line">
            <a:avLst/>
          </a:prstGeom>
          <a:noFill/>
          <a:ln w="19050">
            <a:solidFill>
              <a:srgbClr val="7A8FA0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3" name="Shape 11"/>
          <p:cNvSpPr/>
          <p:nvPr/>
        </p:nvSpPr>
        <p:spPr>
          <a:xfrm>
            <a:off x="5212080" y="1508760"/>
            <a:ext cx="548640" cy="457200"/>
          </a:xfrm>
          <a:prstGeom prst="rect">
            <a:avLst/>
          </a:prstGeom>
          <a:solidFill>
            <a:srgbClr val="0077B6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14" name="Text 12"/>
          <p:cNvSpPr/>
          <p:nvPr/>
        </p:nvSpPr>
        <p:spPr>
          <a:xfrm>
            <a:off x="5212080" y="15087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N0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263640" y="1965960"/>
            <a:ext cx="0" cy="320040"/>
          </a:xfrm>
          <a:prstGeom prst="line">
            <a:avLst/>
          </a:prstGeom>
          <a:noFill/>
          <a:ln w="19050">
            <a:solidFill>
              <a:srgbClr val="7A8FA0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6" name="Shape 14"/>
          <p:cNvSpPr/>
          <p:nvPr/>
        </p:nvSpPr>
        <p:spPr>
          <a:xfrm>
            <a:off x="5989320" y="1508760"/>
            <a:ext cx="548640" cy="457200"/>
          </a:xfrm>
          <a:prstGeom prst="rect">
            <a:avLst/>
          </a:prstGeom>
          <a:solidFill>
            <a:srgbClr val="0077B6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17" name="Text 15"/>
          <p:cNvSpPr/>
          <p:nvPr/>
        </p:nvSpPr>
        <p:spPr>
          <a:xfrm>
            <a:off x="5989320" y="15087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N1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040880" y="1965960"/>
            <a:ext cx="0" cy="320040"/>
          </a:xfrm>
          <a:prstGeom prst="line">
            <a:avLst/>
          </a:prstGeom>
          <a:noFill/>
          <a:ln w="19050">
            <a:solidFill>
              <a:srgbClr val="7A8FA0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9" name="Shape 17"/>
          <p:cNvSpPr/>
          <p:nvPr/>
        </p:nvSpPr>
        <p:spPr>
          <a:xfrm>
            <a:off x="6766560" y="1508760"/>
            <a:ext cx="548640" cy="457200"/>
          </a:xfrm>
          <a:prstGeom prst="rect">
            <a:avLst/>
          </a:prstGeom>
          <a:solidFill>
            <a:srgbClr val="0077B6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20" name="Text 18"/>
          <p:cNvSpPr/>
          <p:nvPr/>
        </p:nvSpPr>
        <p:spPr>
          <a:xfrm>
            <a:off x="6766560" y="15087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N2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818120" y="1965960"/>
            <a:ext cx="0" cy="320040"/>
          </a:xfrm>
          <a:prstGeom prst="line">
            <a:avLst/>
          </a:prstGeom>
          <a:noFill/>
          <a:ln w="19050">
            <a:solidFill>
              <a:srgbClr val="7A8FA0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2" name="Shape 20"/>
          <p:cNvSpPr/>
          <p:nvPr/>
        </p:nvSpPr>
        <p:spPr>
          <a:xfrm>
            <a:off x="7543800" y="1508760"/>
            <a:ext cx="548640" cy="457200"/>
          </a:xfrm>
          <a:prstGeom prst="rect">
            <a:avLst/>
          </a:prstGeom>
          <a:solidFill>
            <a:srgbClr val="0077B6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23" name="Text 21"/>
          <p:cNvSpPr/>
          <p:nvPr/>
        </p:nvSpPr>
        <p:spPr>
          <a:xfrm>
            <a:off x="7543800" y="15087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N3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8595360" y="1965960"/>
            <a:ext cx="0" cy="320040"/>
          </a:xfrm>
          <a:prstGeom prst="line">
            <a:avLst/>
          </a:prstGeom>
          <a:noFill/>
          <a:ln w="19050">
            <a:solidFill>
              <a:srgbClr val="7A8FA0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5" name="Shape 23"/>
          <p:cNvSpPr/>
          <p:nvPr/>
        </p:nvSpPr>
        <p:spPr>
          <a:xfrm>
            <a:off x="8321040" y="1508760"/>
            <a:ext cx="548640" cy="457200"/>
          </a:xfrm>
          <a:prstGeom prst="rect">
            <a:avLst/>
          </a:prstGeom>
          <a:solidFill>
            <a:srgbClr val="0077B6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26" name="Text 24"/>
          <p:cNvSpPr/>
          <p:nvPr/>
        </p:nvSpPr>
        <p:spPr>
          <a:xfrm>
            <a:off x="8321040" y="15087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754880" y="26517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A8FA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Half-duplex only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A8FA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8+ inline PHYs, 25 m topology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31520" y="3474720"/>
            <a:ext cx="768096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29" name="Shape 27"/>
          <p:cNvSpPr/>
          <p:nvPr/>
        </p:nvSpPr>
        <p:spPr>
          <a:xfrm>
            <a:off x="731520" y="3474720"/>
            <a:ext cx="73152" cy="10972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30" name="Text 28"/>
          <p:cNvSpPr/>
          <p:nvPr/>
        </p:nvSpPr>
        <p:spPr>
          <a:xfrm>
            <a:off x="1097280" y="352044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B28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interesting engineering starts with multidrop.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B28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 shared medium immediately raises one question: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097280" y="406908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two nodes want to transmit at nearly the same time, who gets the cable first?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412480" y="466344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Shared Medium Is Hard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365760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SWITCHED NETWORK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14400" y="17373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1B28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Every link gets its own</a:t>
            </a:r>
            <a:endParaRPr lang="en-US" sz="13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1B28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collision-free point-to-point channel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collisions by design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0" y="18288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65760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9" name="Text 7"/>
          <p:cNvSpPr/>
          <p:nvPr/>
        </p:nvSpPr>
        <p:spPr>
          <a:xfrm>
            <a:off x="4754880" y="1280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MULTIDROP BUS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937760" y="17373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1B28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If two nodes launch energy</a:t>
            </a:r>
            <a:endParaRPr lang="en-US" sz="13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1B28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at the wrong time, waveforms interfere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24688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Collision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3474720"/>
            <a:ext cx="768096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13" name="Shape 11"/>
          <p:cNvSpPr/>
          <p:nvPr/>
        </p:nvSpPr>
        <p:spPr>
          <a:xfrm>
            <a:off x="731520" y="3474720"/>
            <a:ext cx="73152" cy="11887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4" name="Text 12"/>
          <p:cNvSpPr/>
          <p:nvPr/>
        </p:nvSpPr>
        <p:spPr>
          <a:xfrm>
            <a:off x="1097280" y="356616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CSMA/CD: Listen → Transmit → Detect collision → Back off → Retry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97280" y="402336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7A8FA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This works, but access time is no longer bounded by a fixed schedule.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7A8FA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Collisions and random backoff stretch latency and create unfairness.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412480" y="466344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22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011680"/>
            <a:ext cx="4572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Clause 147 and Clause 148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A8FA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PHY foundation and the arbitration discipline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412480" y="466344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Clause 147: What Happens on the Wire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365760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73152" cy="219456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5" name="Text 3"/>
          <p:cNvSpPr/>
          <p:nvPr/>
        </p:nvSpPr>
        <p:spPr>
          <a:xfrm>
            <a:off x="1051560" y="1280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Differential Manchester Encoding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51560" y="173736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8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Two-level DME at 12.5 megabaud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8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Self-clocking: timing embedded in transitions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8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Intrinsically balanced signal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8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Robust clock and data recovery in noisy environments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365760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73152" cy="219456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9" name="Text 7"/>
          <p:cNvSpPr/>
          <p:nvPr/>
        </p:nvSpPr>
        <p:spPr>
          <a:xfrm>
            <a:off x="5074920" y="1280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4B/5B Coding in PCS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74920" y="173736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8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Improved EMC performance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8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Supports out-of-band signalling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8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Not raw unsupervised logic bits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8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Built for harsh automotive cable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3749040"/>
            <a:ext cx="7680960" cy="1005840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2" name="Text 10"/>
          <p:cNvSpPr/>
          <p:nvPr/>
        </p:nvSpPr>
        <p:spPr>
          <a:xfrm>
            <a:off x="1097280" y="374904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Clause 147 mentions optional PLCA support,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but Clause 147 alone does not give collision-free multidrop behaviour.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412480" y="466344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Foundational Split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3657600" cy="1828800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36576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5" name="Text 3"/>
          <p:cNvSpPr/>
          <p:nvPr/>
        </p:nvSpPr>
        <p:spPr>
          <a:xfrm>
            <a:off x="914400" y="14630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Clause 147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192024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shared Ethernet</a:t>
            </a:r>
            <a:endParaRPr lang="en-US" sz="16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physical layer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754880" y="1280160"/>
            <a:ext cx="3657600" cy="1828800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8" name="Shape 6"/>
          <p:cNvSpPr/>
          <p:nvPr/>
        </p:nvSpPr>
        <p:spPr>
          <a:xfrm>
            <a:off x="4754880" y="1280160"/>
            <a:ext cx="3657600" cy="5486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9" name="Text 7"/>
          <p:cNvSpPr/>
          <p:nvPr/>
        </p:nvSpPr>
        <p:spPr>
          <a:xfrm>
            <a:off x="4937760" y="14630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Clause 148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937760" y="192024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disciplined way to use</a:t>
            </a:r>
            <a:endParaRPr lang="en-US" sz="16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that shared medium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35661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400" dirty="0">
                <a:solidFill>
                  <a:srgbClr val="7A8FA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PLCA is optional. It improves throughput, fairness, and latency.</a:t>
            </a:r>
            <a:endParaRPr lang="en-US" sz="14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400" dirty="0">
                <a:solidFill>
                  <a:srgbClr val="7A8FA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It works with CSMA/CD — it does not replace Ethernet.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412480" y="466344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PLCA Really Does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7680960" cy="91440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4" name="Text 2"/>
          <p:cNvSpPr/>
          <p:nvPr/>
        </p:nvSpPr>
        <p:spPr>
          <a:xfrm>
            <a:off x="1097280" y="118872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PLCA controls permission to start transmitting.</a:t>
            </a:r>
            <a:endParaRPr lang="en-US" sz="15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does not change the frame format. The frames are still Ethernet frames.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2468880"/>
            <a:ext cx="365760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PLCA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292608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dirty="0">
                <a:solidFill>
                  <a:srgbClr val="1B28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All nodes may try at once.</a:t>
            </a:r>
            <a:endParaRPr lang="en-US" sz="13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300" dirty="0">
                <a:solidFill>
                  <a:srgbClr val="1B28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Collisions resolved after the fact.</a:t>
            </a:r>
            <a:endParaRPr lang="en-US" sz="13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300" dirty="0">
                <a:solidFill>
                  <a:srgbClr val="1B28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Random backoff stretches latency.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2468880"/>
            <a:ext cx="365760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9" name="Text 7"/>
          <p:cNvSpPr/>
          <p:nvPr/>
        </p:nvSpPr>
        <p:spPr>
          <a:xfrm>
            <a:off x="4754880" y="2560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PLCA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937760" y="292608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dirty="0">
                <a:solidFill>
                  <a:srgbClr val="1B28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Only one node has the right</a:t>
            </a:r>
            <a:endParaRPr lang="en-US" sz="13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300" dirty="0">
                <a:solidFill>
                  <a:srgbClr val="1B28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 start at a given moment.</a:t>
            </a:r>
            <a:endParaRPr lang="en-US" sz="13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300" dirty="0">
                <a:solidFill>
                  <a:srgbClr val="1B28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 physical collisions on the line.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412480" y="466344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PLCA Cycle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645920"/>
            <a:ext cx="1097280" cy="6400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BEACON</a:t>
            </a:r>
            <a:endParaRPr lang="en-US" sz="1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(Node 0)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828800" y="1965960"/>
            <a:ext cx="274320" cy="0"/>
          </a:xfrm>
          <a:prstGeom prst="line">
            <a:avLst/>
          </a:prstGeom>
          <a:noFill/>
          <a:ln w="19050">
            <a:solidFill>
              <a:srgbClr val="7A8FA0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" name="Shape 4"/>
          <p:cNvSpPr/>
          <p:nvPr/>
        </p:nvSpPr>
        <p:spPr>
          <a:xfrm>
            <a:off x="2103120" y="1645920"/>
            <a:ext cx="914400" cy="64008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7" name="Text 5"/>
          <p:cNvSpPr/>
          <p:nvPr/>
        </p:nvSpPr>
        <p:spPr>
          <a:xfrm>
            <a:off x="2103120" y="16459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103120" y="19659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Send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017520" y="1965960"/>
            <a:ext cx="182880" cy="0"/>
          </a:xfrm>
          <a:prstGeom prst="line">
            <a:avLst/>
          </a:prstGeom>
          <a:noFill/>
          <a:ln w="12700">
            <a:solidFill>
              <a:srgbClr val="7A8FA0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0" name="Shape 8"/>
          <p:cNvSpPr/>
          <p:nvPr/>
        </p:nvSpPr>
        <p:spPr>
          <a:xfrm>
            <a:off x="3200400" y="1645920"/>
            <a:ext cx="914400" cy="640080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1" name="Text 9"/>
          <p:cNvSpPr/>
          <p:nvPr/>
        </p:nvSpPr>
        <p:spPr>
          <a:xfrm>
            <a:off x="3200400" y="16459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00400" y="19659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BBC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Idle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114800" y="1965960"/>
            <a:ext cx="182880" cy="0"/>
          </a:xfrm>
          <a:prstGeom prst="line">
            <a:avLst/>
          </a:prstGeom>
          <a:noFill/>
          <a:ln w="12700">
            <a:solidFill>
              <a:srgbClr val="7A8FA0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4" name="Shape 12"/>
          <p:cNvSpPr/>
          <p:nvPr/>
        </p:nvSpPr>
        <p:spPr>
          <a:xfrm>
            <a:off x="4297680" y="1645920"/>
            <a:ext cx="914400" cy="640080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5" name="Text 13"/>
          <p:cNvSpPr/>
          <p:nvPr/>
        </p:nvSpPr>
        <p:spPr>
          <a:xfrm>
            <a:off x="4297680" y="16459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297680" y="19659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BBC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Idle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212080" y="1965960"/>
            <a:ext cx="182880" cy="0"/>
          </a:xfrm>
          <a:prstGeom prst="line">
            <a:avLst/>
          </a:prstGeom>
          <a:noFill/>
          <a:ln w="12700">
            <a:solidFill>
              <a:srgbClr val="7A8FA0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8" name="Shape 16"/>
          <p:cNvSpPr/>
          <p:nvPr/>
        </p:nvSpPr>
        <p:spPr>
          <a:xfrm>
            <a:off x="5394960" y="1645920"/>
            <a:ext cx="914400" cy="64008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9" name="Text 17"/>
          <p:cNvSpPr/>
          <p:nvPr/>
        </p:nvSpPr>
        <p:spPr>
          <a:xfrm>
            <a:off x="5394960" y="16459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394960" y="19659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Send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309360" y="1965960"/>
            <a:ext cx="182880" cy="0"/>
          </a:xfrm>
          <a:prstGeom prst="line">
            <a:avLst/>
          </a:prstGeom>
          <a:noFill/>
          <a:ln w="12700">
            <a:solidFill>
              <a:srgbClr val="7A8FA0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2" name="Shape 20"/>
          <p:cNvSpPr/>
          <p:nvPr/>
        </p:nvSpPr>
        <p:spPr>
          <a:xfrm>
            <a:off x="6492240" y="1645920"/>
            <a:ext cx="914400" cy="640080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23" name="Text 21"/>
          <p:cNvSpPr/>
          <p:nvPr/>
        </p:nvSpPr>
        <p:spPr>
          <a:xfrm>
            <a:off x="6492240" y="16459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...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406640" y="1965960"/>
            <a:ext cx="182880" cy="0"/>
          </a:xfrm>
          <a:prstGeom prst="line">
            <a:avLst/>
          </a:prstGeom>
          <a:noFill/>
          <a:ln w="12700">
            <a:solidFill>
              <a:srgbClr val="7A8FA0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5" name="Shape 23"/>
          <p:cNvSpPr/>
          <p:nvPr/>
        </p:nvSpPr>
        <p:spPr>
          <a:xfrm>
            <a:off x="7589520" y="1645920"/>
            <a:ext cx="914400" cy="640080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26" name="Text 24"/>
          <p:cNvSpPr/>
          <p:nvPr/>
        </p:nvSpPr>
        <p:spPr>
          <a:xfrm>
            <a:off x="7589520" y="16459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589520" y="19659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BBC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Idle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31520" y="25603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PLCA cycle = 1 Beacon + (N+1) Transmit Opportunities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31520" y="3108960"/>
            <a:ext cx="73152" cy="4572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30" name="Text 28"/>
          <p:cNvSpPr/>
          <p:nvPr/>
        </p:nvSpPr>
        <p:spPr>
          <a:xfrm>
            <a:off x="1005840" y="31089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node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560320" y="310896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8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Node 3 has data. It waits through TO 0-2, then transmits during TO 3.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31520" y="3703320"/>
            <a:ext cx="73152" cy="4572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33" name="Text 31"/>
          <p:cNvSpPr/>
          <p:nvPr/>
        </p:nvSpPr>
        <p:spPr>
          <a:xfrm>
            <a:off x="1005840" y="37033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2560320" y="370332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8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If MAC needs time before data appears, PHY sends COMMIT to hold the turn.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731520" y="4297680"/>
            <a:ext cx="73152" cy="4572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36" name="Text 34"/>
          <p:cNvSpPr/>
          <p:nvPr/>
        </p:nvSpPr>
        <p:spPr>
          <a:xfrm>
            <a:off x="1005840" y="42976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 node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2560320" y="429768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8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Has nothing to send. Opportunity timer expires quickly. Cycle moves on.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412480" y="466344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PLCA Is Not TDMA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TDMA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1417320" cy="548640"/>
          </a:xfrm>
          <a:prstGeom prst="rect">
            <a:avLst/>
          </a:prstGeom>
          <a:solidFill>
            <a:srgbClr val="1E3A5F"/>
          </a:solidFill>
          <a:ln w="12700">
            <a:solidFill>
              <a:srgbClr val="334455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 0</a:t>
            </a:r>
            <a:endParaRPr lang="en-US" sz="9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0" y="1645920"/>
            <a:ext cx="1417320" cy="548640"/>
          </a:xfrm>
          <a:prstGeom prst="rect">
            <a:avLst/>
          </a:prstGeom>
          <a:solidFill>
            <a:srgbClr val="111A25"/>
          </a:solidFill>
          <a:ln w="12700">
            <a:solidFill>
              <a:srgbClr val="334455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7" name="Text 5"/>
          <p:cNvSpPr/>
          <p:nvPr/>
        </p:nvSpPr>
        <p:spPr>
          <a:xfrm>
            <a:off x="2286000" y="164592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 1</a:t>
            </a:r>
            <a:endParaRPr lang="en-US" sz="9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40480" y="1645920"/>
            <a:ext cx="1417320" cy="548640"/>
          </a:xfrm>
          <a:prstGeom prst="rect">
            <a:avLst/>
          </a:prstGeom>
          <a:solidFill>
            <a:srgbClr val="111A25"/>
          </a:solidFill>
          <a:ln w="12700">
            <a:solidFill>
              <a:srgbClr val="334455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9" name="Text 7"/>
          <p:cNvSpPr/>
          <p:nvPr/>
        </p:nvSpPr>
        <p:spPr>
          <a:xfrm>
            <a:off x="3840480" y="164592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 2</a:t>
            </a:r>
            <a:endParaRPr lang="en-US" sz="9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394960" y="1645920"/>
            <a:ext cx="1417320" cy="548640"/>
          </a:xfrm>
          <a:prstGeom prst="rect">
            <a:avLst/>
          </a:prstGeom>
          <a:solidFill>
            <a:srgbClr val="1E3A5F"/>
          </a:solidFill>
          <a:ln w="12700">
            <a:solidFill>
              <a:srgbClr val="334455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1" name="Text 9"/>
          <p:cNvSpPr/>
          <p:nvPr/>
        </p:nvSpPr>
        <p:spPr>
          <a:xfrm>
            <a:off x="5394960" y="164592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 3</a:t>
            </a:r>
            <a:endParaRPr lang="en-US" sz="9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949440" y="1645920"/>
            <a:ext cx="1417320" cy="548640"/>
          </a:xfrm>
          <a:prstGeom prst="rect">
            <a:avLst/>
          </a:prstGeom>
          <a:solidFill>
            <a:srgbClr val="111A25"/>
          </a:solidFill>
          <a:ln w="12700">
            <a:solidFill>
              <a:srgbClr val="334455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3" name="Text 11"/>
          <p:cNvSpPr/>
          <p:nvPr/>
        </p:nvSpPr>
        <p:spPr>
          <a:xfrm>
            <a:off x="6949440" y="164592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 4</a:t>
            </a:r>
            <a:endParaRPr lang="en-US" sz="9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31520" y="22860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FA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Fixed slots reserved whether data exists or not → bandwidth wasted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28346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PLCA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3291840"/>
            <a:ext cx="1417320" cy="548640"/>
          </a:xfrm>
          <a:prstGeom prst="rect">
            <a:avLst/>
          </a:prstGeom>
          <a:solidFill>
            <a:srgbClr val="0E3B1F"/>
          </a:solidFill>
          <a:ln w="12700">
            <a:solidFill>
              <a:srgbClr val="334455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7" name="Text 15"/>
          <p:cNvSpPr/>
          <p:nvPr/>
        </p:nvSpPr>
        <p:spPr>
          <a:xfrm>
            <a:off x="731520" y="329184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0</a:t>
            </a:r>
            <a:endParaRPr lang="en-US" sz="9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286000" y="3291840"/>
            <a:ext cx="365760" cy="548640"/>
          </a:xfrm>
          <a:prstGeom prst="rect">
            <a:avLst/>
          </a:prstGeom>
          <a:solidFill>
            <a:srgbClr val="111A25"/>
          </a:solidFill>
          <a:ln w="12700">
            <a:solidFill>
              <a:srgbClr val="334455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9" name="Text 17"/>
          <p:cNvSpPr/>
          <p:nvPr/>
        </p:nvSpPr>
        <p:spPr>
          <a:xfrm>
            <a:off x="2286000" y="329184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1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88920" y="3291840"/>
            <a:ext cx="365760" cy="548640"/>
          </a:xfrm>
          <a:prstGeom prst="rect">
            <a:avLst/>
          </a:prstGeom>
          <a:solidFill>
            <a:srgbClr val="111A25"/>
          </a:solidFill>
          <a:ln w="12700">
            <a:solidFill>
              <a:srgbClr val="334455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1" name="Text 19"/>
          <p:cNvSpPr/>
          <p:nvPr/>
        </p:nvSpPr>
        <p:spPr>
          <a:xfrm>
            <a:off x="2788920" y="329184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2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91840" y="3291840"/>
            <a:ext cx="1417320" cy="548640"/>
          </a:xfrm>
          <a:prstGeom prst="rect">
            <a:avLst/>
          </a:prstGeom>
          <a:solidFill>
            <a:srgbClr val="0E3B1F"/>
          </a:solidFill>
          <a:ln w="12700">
            <a:solidFill>
              <a:srgbClr val="334455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3" name="Text 21"/>
          <p:cNvSpPr/>
          <p:nvPr/>
        </p:nvSpPr>
        <p:spPr>
          <a:xfrm>
            <a:off x="3291840" y="329184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3</a:t>
            </a:r>
            <a:endParaRPr lang="en-US" sz="9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46320" y="3291840"/>
            <a:ext cx="365760" cy="548640"/>
          </a:xfrm>
          <a:prstGeom prst="rect">
            <a:avLst/>
          </a:prstGeom>
          <a:solidFill>
            <a:srgbClr val="111A25"/>
          </a:solidFill>
          <a:ln w="12700">
            <a:solidFill>
              <a:srgbClr val="334455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5" name="Text 23"/>
          <p:cNvSpPr/>
          <p:nvPr/>
        </p:nvSpPr>
        <p:spPr>
          <a:xfrm>
            <a:off x="4846320" y="329184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31520" y="39319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FA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Only right-to-start is reserved. Idle turns yield quickly → bandwidth preserved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31520" y="43891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Edge networks are bursty. PLCA gives a cheaper compromise</a:t>
            </a:r>
            <a:endParaRPr lang="en-US" sz="13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between totally random access and hard scheduled bus.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412480" y="466344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22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011680"/>
            <a:ext cx="4572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Parameters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A8FA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knobs engineers actually set in a real device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412480" y="466344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Identity and Count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365760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36576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5" name="Text 3"/>
          <p:cNvSpPr/>
          <p:nvPr/>
        </p:nvSpPr>
        <p:spPr>
          <a:xfrm>
            <a:off x="914400" y="13716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— Node Identifier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18288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B28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Must be unique across the multidrop segment for collision-free operation.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3774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= 0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011680" y="23774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8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Coordinator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27432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= 255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011680" y="27432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8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PLCA suspended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32918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modes: duplicate IDs, or nodes accidentally left at 255.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188720"/>
            <a:ext cx="365760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13" name="Shape 11"/>
          <p:cNvSpPr/>
          <p:nvPr/>
        </p:nvSpPr>
        <p:spPr>
          <a:xfrm>
            <a:off x="4754880" y="1188720"/>
            <a:ext cx="36576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4" name="Text 12"/>
          <p:cNvSpPr/>
          <p:nvPr/>
        </p:nvSpPr>
        <p:spPr>
          <a:xfrm>
            <a:off x="4937760" y="13716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NCNT — Node Count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37760" y="18288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B28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Set on the coordinator. Must cover the maximum installed population.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37760" y="23774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B28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Determines how many transmit opportunities exist per cycle.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28346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affects worst-case access latency.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37760" y="32918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too low → some nodes never get a turn.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412480" y="466344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 and Burst Configuration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768096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73152" cy="11887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5" name="Text 3"/>
          <p:cNvSpPr/>
          <p:nvPr/>
        </p:nvSpPr>
        <p:spPr>
          <a:xfrm>
            <a:off x="105156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 — Transmit Opportunity Timer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0" y="1188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Default: 32 bit-times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51560" y="160020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B28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Must be set equally across all nodes for collision-free operation.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B28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Default guarantees proper operation over a 25 m twisted-pair inline topology.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2560320"/>
            <a:ext cx="365760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9" name="Shape 7"/>
          <p:cNvSpPr/>
          <p:nvPr/>
        </p:nvSpPr>
        <p:spPr>
          <a:xfrm>
            <a:off x="731520" y="2560320"/>
            <a:ext cx="73152" cy="146304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0" name="Text 8"/>
          <p:cNvSpPr/>
          <p:nvPr/>
        </p:nvSpPr>
        <p:spPr>
          <a:xfrm>
            <a:off x="1051560" y="26517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MAXBC — Burst Count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51560" y="30175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B28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How many additional packets a node may send during its own TO.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B28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Set to 0 = burst mode off.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2560320"/>
            <a:ext cx="365760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13" name="Shape 11"/>
          <p:cNvSpPr/>
          <p:nvPr/>
        </p:nvSpPr>
        <p:spPr>
          <a:xfrm>
            <a:off x="4754880" y="2560320"/>
            <a:ext cx="73152" cy="146304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4" name="Text 12"/>
          <p:cNvSpPr/>
          <p:nvPr/>
        </p:nvSpPr>
        <p:spPr>
          <a:xfrm>
            <a:off x="5074920" y="26517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BTMR — Burst Timer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74920" y="30175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B28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Wait time for MAC to deliver the next packet before yielding.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B28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Must exceed MAC IPG + added TX latency.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4297680"/>
            <a:ext cx="7680960" cy="548640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7" name="Text 15"/>
          <p:cNvSpPr/>
          <p:nvPr/>
        </p:nvSpPr>
        <p:spPr>
          <a:xfrm>
            <a:off x="1097280" y="429768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Tradeoff: more burst capability improves efficiency for a busy producer, but lengthens the wait for other nodes.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412480" y="466344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Bits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8FA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Real bring-up failure signatures, not theoretical edge cases.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768096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73152" cy="86868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6" name="Text 4"/>
          <p:cNvSpPr/>
          <p:nvPr/>
        </p:nvSpPr>
        <p:spPr>
          <a:xfrm>
            <a:off x="1051560" y="16002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RXINTO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468880" y="160020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8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Received a packet during own transmit opportunity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468880" y="201168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Duplicate node ID on the segment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2606040"/>
            <a:ext cx="768096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10" name="Shape 8"/>
          <p:cNvSpPr/>
          <p:nvPr/>
        </p:nvSpPr>
        <p:spPr>
          <a:xfrm>
            <a:off x="731520" y="2606040"/>
            <a:ext cx="73152" cy="8686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1" name="Text 9"/>
          <p:cNvSpPr/>
          <p:nvPr/>
        </p:nvSpPr>
        <p:spPr>
          <a:xfrm>
            <a:off x="1051560" y="26517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UNEXPB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468880" y="265176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8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Unexpected beacon detected on the coordinator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468880" y="306324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More than one coordinator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3657600"/>
            <a:ext cx="768096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15" name="Shape 13"/>
          <p:cNvSpPr/>
          <p:nvPr/>
        </p:nvSpPr>
        <p:spPr>
          <a:xfrm>
            <a:off x="731520" y="3657600"/>
            <a:ext cx="73152" cy="8686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6" name="Text 14"/>
          <p:cNvSpPr/>
          <p:nvPr/>
        </p:nvSpPr>
        <p:spPr>
          <a:xfrm>
            <a:off x="1051560" y="37033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BCNBFTO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468880" y="370332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8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Beacon arrived before this node received its turn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468880" y="411480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NCNT misconfiguration on coordinator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412480" y="466344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122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011680"/>
            <a:ext cx="4572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Alliance TC14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A8FA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Turning the IEEE foundation into an automotive ecosystem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412480" y="466344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TC14 Adds Beyond the IEEE Clauses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7A8FA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IEEE tells you how the PHY works. It does not tell you how to build,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7A8FA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debug, sleep, wake, and interop-test an automotive controller-transceiver combination.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280160" y="1920240"/>
            <a:ext cx="182880" cy="1828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5" name="Text 3"/>
          <p:cNvSpPr/>
          <p:nvPr/>
        </p:nvSpPr>
        <p:spPr>
          <a:xfrm>
            <a:off x="1691640" y="18288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8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Conformance and interoperability test specifications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280160" y="2331720"/>
            <a:ext cx="182880" cy="1828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7" name="Text 5"/>
          <p:cNvSpPr/>
          <p:nvPr/>
        </p:nvSpPr>
        <p:spPr>
          <a:xfrm>
            <a:off x="1691640" y="22402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8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Advanced diagnostic features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280160" y="2743200"/>
            <a:ext cx="182880" cy="1828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9" name="Text 7"/>
          <p:cNvSpPr/>
          <p:nvPr/>
        </p:nvSpPr>
        <p:spPr>
          <a:xfrm>
            <a:off x="1691640" y="2651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8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System implementation specification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280160" y="3154680"/>
            <a:ext cx="182880" cy="1828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1" name="Text 9"/>
          <p:cNvSpPr/>
          <p:nvPr/>
        </p:nvSpPr>
        <p:spPr>
          <a:xfrm>
            <a:off x="1691640" y="30632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8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PMD transceiver interface definition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280160" y="3566160"/>
            <a:ext cx="182880" cy="1828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3" name="Text 11"/>
          <p:cNvSpPr/>
          <p:nvPr/>
        </p:nvSpPr>
        <p:spPr>
          <a:xfrm>
            <a:off x="1691640" y="34747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8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PLCA management registers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280160" y="3977640"/>
            <a:ext cx="182880" cy="1828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5" name="Text 13"/>
          <p:cNvSpPr/>
          <p:nvPr/>
        </p:nvSpPr>
        <p:spPr>
          <a:xfrm>
            <a:off x="1691640" y="38862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8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Topology discovery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280160" y="4389120"/>
            <a:ext cx="182880" cy="1828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7" name="Text 15"/>
          <p:cNvSpPr/>
          <p:nvPr/>
        </p:nvSpPr>
        <p:spPr>
          <a:xfrm>
            <a:off x="1691640" y="42976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8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Sleep/wake collaboration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31520" y="4206240"/>
            <a:ext cx="7680960" cy="640080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9" name="Shape 17"/>
          <p:cNvSpPr/>
          <p:nvPr/>
        </p:nvSpPr>
        <p:spPr>
          <a:xfrm>
            <a:off x="731520" y="4206240"/>
            <a:ext cx="73152" cy="6400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20" name="Text 18"/>
          <p:cNvSpPr/>
          <p:nvPr/>
        </p:nvSpPr>
        <p:spPr>
          <a:xfrm>
            <a:off x="1097280" y="420624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"TC14 v1.5" is not one PDF. TC14 is a family of specs. Version 1.5 applies to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PMD interface and interop test suite. Other TC14 docs have different versions.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412480" y="466344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PMD Transceiver Interface (v1.5)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7A8FA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v1.5 added: topology discovery, RX-pin RZI encoding,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7A8FA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Energy Detect pin filtering, and wake/sleep support.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14400" y="1828800"/>
            <a:ext cx="2743200" cy="2286000"/>
          </a:xfrm>
          <a:prstGeom prst="rect">
            <a:avLst/>
          </a:prstGeom>
          <a:solidFill>
            <a:srgbClr val="0077B6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2743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</a:t>
            </a:r>
            <a:endParaRPr lang="en-US" sz="16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0" y="1828800"/>
            <a:ext cx="2743200" cy="2286000"/>
          </a:xfrm>
          <a:prstGeom prst="rect">
            <a:avLst/>
          </a:prstGeom>
          <a:solidFill>
            <a:srgbClr val="00B4D8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7" name="Text 5"/>
          <p:cNvSpPr/>
          <p:nvPr/>
        </p:nvSpPr>
        <p:spPr>
          <a:xfrm>
            <a:off x="5486400" y="1828800"/>
            <a:ext cx="2743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10BASE-T1S</a:t>
            </a:r>
            <a:endParaRPr lang="en-US" sz="16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TRANSCEIVER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657600" y="2377440"/>
            <a:ext cx="1828800" cy="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9" name="Text 7"/>
          <p:cNvSpPr/>
          <p:nvPr/>
        </p:nvSpPr>
        <p:spPr>
          <a:xfrm>
            <a:off x="3840480" y="21031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RX pin (data)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0" y="2926080"/>
            <a:ext cx="1828800" cy="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1" name="Text 9"/>
          <p:cNvSpPr/>
          <p:nvPr/>
        </p:nvSpPr>
        <p:spPr>
          <a:xfrm>
            <a:off x="3840480" y="26517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Detect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0" y="3474720"/>
            <a:ext cx="182880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dash"/>
          </a:ln>
        </p:spPr>
        <p:txBody>
          <a:bodyPr/>
          <a:lstStyle/>
          <a:p>
            <a:endParaRPr lang="en-SG"/>
          </a:p>
        </p:txBody>
      </p:sp>
      <p:sp>
        <p:nvSpPr>
          <p:cNvPr id="13" name="Text 11"/>
          <p:cNvSpPr/>
          <p:nvPr/>
        </p:nvSpPr>
        <p:spPr>
          <a:xfrm>
            <a:off x="3749040" y="3246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MDC / MDIO</a:t>
            </a:r>
            <a:endParaRPr lang="en-US" sz="9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(config mode)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A8FA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Same physical pins serve dual roles: data mode vs. configuration mode.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412480" y="466344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Mental Model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371600" y="1280160"/>
            <a:ext cx="6400800" cy="10972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4" name="Text 2"/>
          <p:cNvSpPr/>
          <p:nvPr/>
        </p:nvSpPr>
        <p:spPr>
          <a:xfrm>
            <a:off x="1371600" y="128016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Alliance TC14</a:t>
            </a:r>
            <a:endParaRPr lang="en-US" sz="15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Automotive Integration Ecosystem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371600" y="2468880"/>
            <a:ext cx="6400800" cy="91440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6" name="Text 4"/>
          <p:cNvSpPr/>
          <p:nvPr/>
        </p:nvSpPr>
        <p:spPr>
          <a:xfrm>
            <a:off x="1371600" y="246888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Clause 148 — PLCA</a:t>
            </a:r>
            <a:endParaRPr lang="en-US" sz="15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Arbitration Discipline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371600" y="3474720"/>
            <a:ext cx="6400800" cy="914400"/>
          </a:xfrm>
          <a:prstGeom prst="rect">
            <a:avLst/>
          </a:prstGeom>
          <a:solidFill>
            <a:srgbClr val="0A3055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8" name="Text 6"/>
          <p:cNvSpPr/>
          <p:nvPr/>
        </p:nvSpPr>
        <p:spPr>
          <a:xfrm>
            <a:off x="1371600" y="347472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Clause 147 — 10BASE-T1S PHY</a:t>
            </a:r>
            <a:endParaRPr lang="en-US" sz="15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Shared-Medium Ethernet Foundation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114800" y="22402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114800" y="32461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412480" y="466344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122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011680"/>
            <a:ext cx="4572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TC10 Sleep/Wake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A8FA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Why automotive Ethernet needed its own power-state protocol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412480" y="466344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Sleep/Wake Is Not Just "Power Down the PHY"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7A8FA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It must be a coordinated signalling system that avoids false wake-ups,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7A8FA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supports partial networking, and works across PHYs and switches.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280160" y="1901952"/>
            <a:ext cx="164592" cy="164592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5" name="Text 3"/>
          <p:cNvSpPr/>
          <p:nvPr/>
        </p:nvSpPr>
        <p:spPr>
          <a:xfrm>
            <a:off x="1691640" y="18288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8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CSMA/CD MAC compliance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280160" y="2313432"/>
            <a:ext cx="164592" cy="164592"/>
          </a:xfrm>
          <a:prstGeom prst="ellipse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7" name="Text 5"/>
          <p:cNvSpPr/>
          <p:nvPr/>
        </p:nvSpPr>
        <p:spPr>
          <a:xfrm>
            <a:off x="1691640" y="22402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8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MII-family compliance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280160" y="2724912"/>
            <a:ext cx="164592" cy="164592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9" name="Text 7"/>
          <p:cNvSpPr/>
          <p:nvPr/>
        </p:nvSpPr>
        <p:spPr>
          <a:xfrm>
            <a:off x="1691640" y="2651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8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Global network wake-up &lt; 250 ms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280160" y="3136392"/>
            <a:ext cx="164592" cy="164592"/>
          </a:xfrm>
          <a:prstGeom prst="ellipse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1" name="Text 9"/>
          <p:cNvSpPr/>
          <p:nvPr/>
        </p:nvSpPr>
        <p:spPr>
          <a:xfrm>
            <a:off x="1691640" y="30632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8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Wake-up fully at physical layer level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280160" y="3547872"/>
            <a:ext cx="164592" cy="164592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3" name="Text 11"/>
          <p:cNvSpPr/>
          <p:nvPr/>
        </p:nvSpPr>
        <p:spPr>
          <a:xfrm>
            <a:off x="1691640" y="34747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8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Controlled selective shutdown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280160" y="3959352"/>
            <a:ext cx="164592" cy="164592"/>
          </a:xfrm>
          <a:prstGeom prst="ellipse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5" name="Text 13"/>
          <p:cNvSpPr/>
          <p:nvPr/>
        </p:nvSpPr>
        <p:spPr>
          <a:xfrm>
            <a:off x="1691640" y="38862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8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AUTOSAR network management compliance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280160" y="4370832"/>
            <a:ext cx="164592" cy="164592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7" name="Text 15"/>
          <p:cNvSpPr/>
          <p:nvPr/>
        </p:nvSpPr>
        <p:spPr>
          <a:xfrm>
            <a:off x="1691640" y="42976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8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 unwanted wake-ups from noise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412480" y="466344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TC10: Three Commands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8FA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point-to-point sleep/wake handshake model.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768096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73152" cy="82296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6" name="Text 4"/>
          <p:cNvSpPr/>
          <p:nvPr/>
        </p:nvSpPr>
        <p:spPr>
          <a:xfrm>
            <a:off x="1051560" y="16002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011680" y="1600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Power Sleep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011680" y="196596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8FA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Requests sleep. Both partners must exchange LPS for the handshake to complete.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2560320"/>
            <a:ext cx="768096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10" name="Shape 8"/>
          <p:cNvSpPr/>
          <p:nvPr/>
        </p:nvSpPr>
        <p:spPr>
          <a:xfrm>
            <a:off x="731520" y="2560320"/>
            <a:ext cx="73152" cy="82296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1" name="Text 9"/>
          <p:cNvSpPr/>
          <p:nvPr/>
        </p:nvSpPr>
        <p:spPr>
          <a:xfrm>
            <a:off x="1051560" y="26060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WUR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011680" y="26060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Wake-Up Request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011680" y="297180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8FA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Propagates a wake request over an active link between two partners.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3566160"/>
            <a:ext cx="768096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15" name="Shape 13"/>
          <p:cNvSpPr/>
          <p:nvPr/>
        </p:nvSpPr>
        <p:spPr>
          <a:xfrm>
            <a:off x="731520" y="3566160"/>
            <a:ext cx="73152" cy="8229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6" name="Text 14"/>
          <p:cNvSpPr/>
          <p:nvPr/>
        </p:nvSpPr>
        <p:spPr>
          <a:xfrm>
            <a:off x="1051560" y="36118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WUP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011680" y="36118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Wake-Up Pulse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011680" y="397764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8FA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Wakes a passive or sleeping link. The electrical signal that rouses a dormant PHY.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" y="4206240"/>
            <a:ext cx="7680960" cy="640080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20" name="Text 18"/>
          <p:cNvSpPr/>
          <p:nvPr/>
        </p:nvSpPr>
        <p:spPr>
          <a:xfrm>
            <a:off x="1097280" y="420624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If the handshake fails, the PHY returns to normal operation — never leaves the link half-dead.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412480" y="466344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10BASE-T1S Sleep/Wake Is Different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7A8FA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 10BASE-T1S segment is not a simple point-to-point link.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3657600" cy="1463040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5" name="Shape 3"/>
          <p:cNvSpPr/>
          <p:nvPr/>
        </p:nvSpPr>
        <p:spPr>
          <a:xfrm>
            <a:off x="731520" y="1737360"/>
            <a:ext cx="3657600" cy="54864"/>
          </a:xfrm>
          <a:prstGeom prst="rect">
            <a:avLst/>
          </a:prstGeom>
          <a:solidFill>
            <a:srgbClr val="7A8FA0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6" name="Text 4"/>
          <p:cNvSpPr/>
          <p:nvPr/>
        </p:nvSpPr>
        <p:spPr>
          <a:xfrm>
            <a:off x="914400" y="19202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P2P TC10 Problem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2860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How do two ends of one link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sleep and wake correctly?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1737360"/>
            <a:ext cx="3657600" cy="1463040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9" name="Shape 7"/>
          <p:cNvSpPr/>
          <p:nvPr/>
        </p:nvSpPr>
        <p:spPr>
          <a:xfrm>
            <a:off x="4754880" y="1737360"/>
            <a:ext cx="36576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0" name="Text 8"/>
          <p:cNvSpPr/>
          <p:nvPr/>
        </p:nvSpPr>
        <p:spPr>
          <a:xfrm>
            <a:off x="4937760" y="19202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10BASE-T1S Problem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22860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How do many nodes on one shared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segment sleep and wake without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corrupting traffic or confusing each other?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35661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10BASE-T1S spec adds: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39319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 dedicated Power Management Client model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One segment wake-up command: Wake-Up Pulse (WUP)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 new set of service primitives for shared-segment operation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412480" y="466344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Primitives: Local Control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8FA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Control and report the state of the local PHY only.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768096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73152" cy="137160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6" name="Text 4"/>
          <p:cNvSpPr/>
          <p:nvPr/>
        </p:nvSpPr>
        <p:spPr>
          <a:xfrm>
            <a:off x="1051560" y="1554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LowPowerEntryLocal.request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19659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"Put my local PHY into low power."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" y="23317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7A8FA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Shuts down the local PHY in a controlled way without corrupting ongoing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7A8FA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transmissions on the link segment. This is not "turn the whole network off."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3108960"/>
            <a:ext cx="768096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10" name="Shape 8"/>
          <p:cNvSpPr/>
          <p:nvPr/>
        </p:nvSpPr>
        <p:spPr>
          <a:xfrm>
            <a:off x="731520" y="3108960"/>
            <a:ext cx="73152" cy="13716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1" name="Text 9"/>
          <p:cNvSpPr/>
          <p:nvPr/>
        </p:nvSpPr>
        <p:spPr>
          <a:xfrm>
            <a:off x="1051560" y="3200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WakeupLocal.request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51560" y="36118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"Wake my local PHY back up from low power."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1560" y="39776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7A8FA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Purely local wake request. Triggered by ECU logic, ignition, or a local wake pin.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7A8FA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Transitions only the local PHY out of low power.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412480" y="466344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Primitives: Segment Wake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768096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73152" cy="14630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5" name="Text 3"/>
          <p:cNvSpPr/>
          <p:nvPr/>
        </p:nvSpPr>
        <p:spPr>
          <a:xfrm>
            <a:off x="1051560" y="1188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Wakeup.request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51560" y="16002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"Send a wake-up onto the segment so all supported nodes can wake."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51560" y="19659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7A8FA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Requests a Wake-Up Pulse be communicated to all nodes on the segment.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7A8FA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If the device is itself in low power, this implicitly means WakeupLocal first, then Wakeup.request.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2834640"/>
            <a:ext cx="768096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9" name="Shape 7"/>
          <p:cNvSpPr/>
          <p:nvPr/>
        </p:nvSpPr>
        <p:spPr>
          <a:xfrm>
            <a:off x="731520" y="2834640"/>
            <a:ext cx="73152" cy="146304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0" name="Text 8"/>
          <p:cNvSpPr/>
          <p:nvPr/>
        </p:nvSpPr>
        <p:spPr>
          <a:xfrm>
            <a:off x="105156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Wakeup.indication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51560" y="33375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wake-up event has been detected."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51560" y="37033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7A8FA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Covers both a WUP detected on the segment and one from a local wake pin.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7A8FA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Reports that wake-up happened regardless of whether the source was local or from the wire.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412480" y="466344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Wake Forwarding in a Multiport Switch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2286000"/>
            <a:ext cx="1645920" cy="731520"/>
          </a:xfrm>
          <a:prstGeom prst="rect">
            <a:avLst/>
          </a:prstGeom>
          <a:solidFill>
            <a:srgbClr val="10B981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A</a:t>
            </a:r>
            <a:endParaRPr lang="en-US" sz="1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(wake source)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103120" y="2651760"/>
            <a:ext cx="1097280" cy="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" name="Text 4"/>
          <p:cNvSpPr/>
          <p:nvPr/>
        </p:nvSpPr>
        <p:spPr>
          <a:xfrm>
            <a:off x="2194560" y="21031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WakeupFwd</a:t>
            </a:r>
            <a:endParaRPr lang="en-US" sz="8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.indication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0" y="1828800"/>
            <a:ext cx="2743200" cy="1645920"/>
          </a:xfrm>
          <a:prstGeom prst="rect">
            <a:avLst/>
          </a:prstGeom>
          <a:solidFill>
            <a:srgbClr val="0077B6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8" name="Text 6"/>
          <p:cNvSpPr/>
          <p:nvPr/>
        </p:nvSpPr>
        <p:spPr>
          <a:xfrm>
            <a:off x="3200400" y="182880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ZONAL SWITCH</a:t>
            </a:r>
            <a:endParaRPr lang="en-US" sz="12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Management Logic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43600" y="2286000"/>
            <a:ext cx="109728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0" name="Text 8"/>
          <p:cNvSpPr/>
          <p:nvPr/>
        </p:nvSpPr>
        <p:spPr>
          <a:xfrm>
            <a:off x="6035040" y="17373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WakeupFwd</a:t>
            </a:r>
            <a:endParaRPr lang="en-US" sz="8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.request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7040880" y="1920240"/>
            <a:ext cx="1645920" cy="731520"/>
          </a:xfrm>
          <a:prstGeom prst="rect">
            <a:avLst/>
          </a:prstGeom>
          <a:solidFill>
            <a:srgbClr val="00B4D8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12" name="Text 10"/>
          <p:cNvSpPr/>
          <p:nvPr/>
        </p:nvSpPr>
        <p:spPr>
          <a:xfrm>
            <a:off x="7040880" y="19202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B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0" y="3017520"/>
            <a:ext cx="109728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4" name="Text 12"/>
          <p:cNvSpPr/>
          <p:nvPr/>
        </p:nvSpPr>
        <p:spPr>
          <a:xfrm>
            <a:off x="6035040" y="31089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WakeupFwd</a:t>
            </a:r>
            <a:endParaRPr lang="en-US" sz="8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.request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7040880" y="2834640"/>
            <a:ext cx="1645920" cy="731520"/>
          </a:xfrm>
          <a:prstGeom prst="rect">
            <a:avLst/>
          </a:prstGeom>
          <a:solidFill>
            <a:srgbClr val="00B4D8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16" name="Text 14"/>
          <p:cNvSpPr/>
          <p:nvPr/>
        </p:nvSpPr>
        <p:spPr>
          <a:xfrm>
            <a:off x="7040880" y="28346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C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3931920"/>
            <a:ext cx="768096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18" name="Shape 16"/>
          <p:cNvSpPr/>
          <p:nvPr/>
        </p:nvSpPr>
        <p:spPr>
          <a:xfrm>
            <a:off x="731520" y="3931920"/>
            <a:ext cx="73152" cy="82296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9" name="Text 17"/>
          <p:cNvSpPr/>
          <p:nvPr/>
        </p:nvSpPr>
        <p:spPr>
          <a:xfrm>
            <a:off x="1051560" y="3931920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B28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WakeupForward.indication = wake event arrived here, to be relayed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B28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WakeupForward.request = propagate that wake event out on this port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412480" y="466344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Wake-Up Pulse Pattern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8FA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 structured signal: electrically distinctive yet short enough not to damage bus efficiency.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1371600" cy="128016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SUSPEND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3317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 DME T symbols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240280" y="1645920"/>
            <a:ext cx="2286000" cy="128016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8" name="Text 6"/>
          <p:cNvSpPr/>
          <p:nvPr/>
        </p:nvSpPr>
        <p:spPr>
          <a:xfrm>
            <a:off x="2240280" y="16916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Wake-Up</a:t>
            </a:r>
            <a:endParaRPr lang="en-US" sz="13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240280" y="23317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12 periods</a:t>
            </a:r>
            <a:endParaRPr lang="en-US" sz="1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625 kHz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1645920"/>
            <a:ext cx="2011680" cy="12801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1" name="Text 9"/>
          <p:cNvSpPr/>
          <p:nvPr/>
        </p:nvSpPr>
        <p:spPr>
          <a:xfrm>
            <a:off x="4663440" y="16916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63440" y="23317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24-26 DME</a:t>
            </a:r>
            <a:endParaRPr lang="en-US" sz="1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J symbols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812280" y="1645920"/>
            <a:ext cx="1371600" cy="1280160"/>
          </a:xfrm>
          <a:prstGeom prst="rect">
            <a:avLst/>
          </a:prstGeom>
          <a:solidFill>
            <a:srgbClr val="5A6B7C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4" name="Text 12"/>
          <p:cNvSpPr/>
          <p:nvPr/>
        </p:nvSpPr>
        <p:spPr>
          <a:xfrm>
            <a:off x="6812280" y="16916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ESD /</a:t>
            </a:r>
            <a:endParaRPr lang="en-US" sz="13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ESDOK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3108960"/>
            <a:ext cx="7178040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6" name="Shape 14"/>
          <p:cNvSpPr/>
          <p:nvPr/>
        </p:nvSpPr>
        <p:spPr>
          <a:xfrm>
            <a:off x="731520" y="3017520"/>
            <a:ext cx="0" cy="18288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7" name="Shape 15"/>
          <p:cNvSpPr/>
          <p:nvPr/>
        </p:nvSpPr>
        <p:spPr>
          <a:xfrm>
            <a:off x="7909560" y="3017520"/>
            <a:ext cx="0" cy="18288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8" name="Text 16"/>
          <p:cNvSpPr/>
          <p:nvPr/>
        </p:nvSpPr>
        <p:spPr>
          <a:xfrm>
            <a:off x="2286000" y="3200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32.0 — 32.8 µs total (32.4 µs typical)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31520" y="3840480"/>
            <a:ext cx="7680960" cy="822960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20" name="Shape 18"/>
          <p:cNvSpPr/>
          <p:nvPr/>
        </p:nvSpPr>
        <p:spPr>
          <a:xfrm>
            <a:off x="731520" y="3840480"/>
            <a:ext cx="73152" cy="8229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21" name="Text 19"/>
          <p:cNvSpPr/>
          <p:nvPr/>
        </p:nvSpPr>
        <p:spPr>
          <a:xfrm>
            <a:off x="1097280" y="3840480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Other nodes on the segment must not start normal transmissions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while a Wake-Up Pulse is active.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412480" y="466344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Quiet Segment vs. Partial Segment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365760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3657600" cy="54864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5" name="Text 3"/>
          <p:cNvSpPr/>
          <p:nvPr/>
        </p:nvSpPr>
        <p:spPr>
          <a:xfrm>
            <a:off x="914400" y="12801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6459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B28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 physical-medium activity.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B28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 beacons, no frames, nothing on the wire.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65760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36576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9" name="Text 7"/>
          <p:cNvSpPr/>
          <p:nvPr/>
        </p:nvSpPr>
        <p:spPr>
          <a:xfrm>
            <a:off x="4937760" y="12801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37760" y="16459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B28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At least one node transmitting, including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B28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PLCA beacons. Even beacons-only ≠ quiet.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2926080"/>
            <a:ext cx="7680960" cy="1371600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2" name="Text 10"/>
          <p:cNvSpPr/>
          <p:nvPr/>
        </p:nvSpPr>
        <p:spPr>
          <a:xfrm>
            <a:off x="1097280" y="301752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Wake-up timing on a partial segment: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" y="347472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TWU_Start_partial  &lt;  TWU_Start_quiet(max) + maxPLCACycleTime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" y="3781697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On an active segment, wake-up latency is also an arbitration problem.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wake request must respect the transmit-opportunity structure.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412480" y="466344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PLCA Pause During Wake-Up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A8FA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This detail separates "I know the acronym" from "I understand the system."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7680960" cy="1371600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73152" cy="13716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6" name="Text 4"/>
          <p:cNvSpPr/>
          <p:nvPr/>
        </p:nvSpPr>
        <p:spPr>
          <a:xfrm>
            <a:off x="1097280" y="173736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paused variable suspends transmit-opportunity generation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and stops the Reconciliation Sublayer from conveying data to the PHY.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246888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resume_timer = 240 ± 5 bit-times after wake-up reporting ends.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3291840"/>
            <a:ext cx="3657600" cy="1371600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9" name="Text 7"/>
          <p:cNvSpPr/>
          <p:nvPr/>
        </p:nvSpPr>
        <p:spPr>
          <a:xfrm>
            <a:off x="914400" y="33832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pause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37490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Normal TO generation could interfere with wake signalling on an active shared segment.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3291840"/>
            <a:ext cx="3657600" cy="1371600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2" name="Text 10"/>
          <p:cNvSpPr/>
          <p:nvPr/>
        </p:nvSpPr>
        <p:spPr>
          <a:xfrm>
            <a:off x="4937760" y="33832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pause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37760" y="37490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Wake activity temporarily takes control of the medium. Normal PLCA resumes only after wake is handled.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412480" y="466344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122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011680"/>
            <a:ext cx="4572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Bring-Up Realities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A8FA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a real engineer has to get right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412480" y="466344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Bring-Up Checklist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68680" y="1170432"/>
            <a:ext cx="201168" cy="20116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4" name="Text 2"/>
          <p:cNvSpPr/>
          <p:nvPr/>
        </p:nvSpPr>
        <p:spPr>
          <a:xfrm>
            <a:off x="1280160" y="109728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8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One node configured as coordinator (ID = 0)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68680" y="1700784"/>
            <a:ext cx="201168" cy="20116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6" name="Text 4"/>
          <p:cNvSpPr/>
          <p:nvPr/>
        </p:nvSpPr>
        <p:spPr>
          <a:xfrm>
            <a:off x="1280160" y="1627632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8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Every other node has a unique identifier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68680" y="2231136"/>
            <a:ext cx="201168" cy="20116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8" name="Text 6"/>
          <p:cNvSpPr/>
          <p:nvPr/>
        </p:nvSpPr>
        <p:spPr>
          <a:xfrm>
            <a:off x="1280160" y="2157984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8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Coordinator NCNT covers the largest installed population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68680" y="2761488"/>
            <a:ext cx="201168" cy="20116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0" name="Text 8"/>
          <p:cNvSpPr/>
          <p:nvPr/>
        </p:nvSpPr>
        <p:spPr>
          <a:xfrm>
            <a:off x="1280160" y="2688336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8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Transmit Opportunity Timer matches across all nodes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68680" y="3291840"/>
            <a:ext cx="201168" cy="20116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2" name="Text 10"/>
          <p:cNvSpPr/>
          <p:nvPr/>
        </p:nvSpPr>
        <p:spPr>
          <a:xfrm>
            <a:off x="1280160" y="3218688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8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Burst mode disabled or deliberately engineered for traffic pattern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68680" y="3822192"/>
            <a:ext cx="201168" cy="20116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4" name="Text 12"/>
          <p:cNvSpPr/>
          <p:nvPr/>
        </p:nvSpPr>
        <p:spPr>
          <a:xfrm>
            <a:off x="1280160" y="374904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8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Wake behaviour verified on both quiet and partial segments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68680" y="4352544"/>
            <a:ext cx="201168" cy="20116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6" name="Text 14"/>
          <p:cNvSpPr/>
          <p:nvPr/>
        </p:nvSpPr>
        <p:spPr>
          <a:xfrm>
            <a:off x="1280160" y="4279392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8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PMD interface: host-transceiver agreement on command timing,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8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RX-pin interpretation, Energy Detect, reset sequencing, wake handshakes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412480" y="466344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Signatures to Watch For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8FA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These look "Ethernet-like" at first, but the root cause is shared-medium orchestration.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7680960" cy="621792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73152" cy="621792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6" name="Text 4"/>
          <p:cNvSpPr/>
          <p:nvPr/>
        </p:nvSpPr>
        <p:spPr>
          <a:xfrm>
            <a:off x="1051560" y="1463040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corruption on the bus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0" y="1463040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F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Duplicate node identifiers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2212848"/>
            <a:ext cx="7680960" cy="621792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9" name="Shape 7"/>
          <p:cNvSpPr/>
          <p:nvPr/>
        </p:nvSpPr>
        <p:spPr>
          <a:xfrm>
            <a:off x="731520" y="2212848"/>
            <a:ext cx="73152" cy="62179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0" name="Text 8"/>
          <p:cNvSpPr/>
          <p:nvPr/>
        </p:nvSpPr>
        <p:spPr>
          <a:xfrm>
            <a:off x="1051560" y="2212848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access opportunities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0" y="2212848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9E0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Wrong node count (NCNT too low)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2962656"/>
            <a:ext cx="7680960" cy="621792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3" name="Shape 11"/>
          <p:cNvSpPr/>
          <p:nvPr/>
        </p:nvSpPr>
        <p:spPr>
          <a:xfrm>
            <a:off x="731520" y="2962656"/>
            <a:ext cx="73152" cy="62179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4" name="Text 12"/>
          <p:cNvSpPr/>
          <p:nvPr/>
        </p:nvSpPr>
        <p:spPr>
          <a:xfrm>
            <a:off x="1051560" y="2962656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Unstable bus behaviour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0" y="2962656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9E0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Mismatched transmit-opportunity timing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3712464"/>
            <a:ext cx="7680960" cy="621792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7" name="Shape 15"/>
          <p:cNvSpPr/>
          <p:nvPr/>
        </p:nvSpPr>
        <p:spPr>
          <a:xfrm>
            <a:off x="731520" y="3712464"/>
            <a:ext cx="73152" cy="621792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8" name="Text 16"/>
          <p:cNvSpPr/>
          <p:nvPr/>
        </p:nvSpPr>
        <p:spPr>
          <a:xfrm>
            <a:off x="1051560" y="3712464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nodes seem dead,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others appear fine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0" y="3712464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F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Incorrect wake sequencing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" y="45720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A8FA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OPEN Alliance diagnostic bits exist precisely because these are real field problems.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412480" y="466344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3" name="Text 1"/>
          <p:cNvSpPr/>
          <p:nvPr/>
        </p:nvSpPr>
        <p:spPr>
          <a:xfrm>
            <a:off x="731520" y="4572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10BASE-T1S Is a Complete Edge-Networking Concept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371600" y="1371600"/>
            <a:ext cx="6400800" cy="7315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5" name="Text 3"/>
          <p:cNvSpPr/>
          <p:nvPr/>
        </p:nvSpPr>
        <p:spPr>
          <a:xfrm>
            <a:off x="1554480" y="137160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TC10 Sleep/Wake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754880" y="137160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Coordinated power-state discipline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371600" y="2194560"/>
            <a:ext cx="6400800" cy="7315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8" name="Text 6"/>
          <p:cNvSpPr/>
          <p:nvPr/>
        </p:nvSpPr>
        <p:spPr>
          <a:xfrm>
            <a:off x="1554480" y="219456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Alliance TC14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54880" y="219456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Automotive productization ecosystem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371600" y="3017520"/>
            <a:ext cx="6400800" cy="73152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1" name="Text 9"/>
          <p:cNvSpPr/>
          <p:nvPr/>
        </p:nvSpPr>
        <p:spPr>
          <a:xfrm>
            <a:off x="1554480" y="301752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Clause 148 — PLCA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54880" y="301752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Collision-free arbitration discipline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371600" y="3840480"/>
            <a:ext cx="6400800" cy="731520"/>
          </a:xfrm>
          <a:prstGeom prst="rect">
            <a:avLst/>
          </a:prstGeom>
          <a:solidFill>
            <a:srgbClr val="0A3055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4" name="Text 12"/>
          <p:cNvSpPr/>
          <p:nvPr/>
        </p:nvSpPr>
        <p:spPr>
          <a:xfrm>
            <a:off x="1554480" y="38404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Clause 147 — 10BASE-T1S PHY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54880" y="384048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Shared-medium Ethernet foundation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412480" y="466344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2116</Words>
  <Application>Microsoft Office PowerPoint</Application>
  <PresentationFormat>On-screen Show (16:9)</PresentationFormat>
  <Paragraphs>425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10BASE-T1S, PLCA, OPEN Alliance TC14, and TC10 Sleep/Wake</dc:title>
  <dc:subject>PptxGenJS Presentation</dc:subject>
  <dc:creator>Arvind</dc:creator>
  <cp:lastModifiedBy>CHOCKALINGAM THIAGARAJAN</cp:lastModifiedBy>
  <cp:revision>2</cp:revision>
  <dcterms:created xsi:type="dcterms:W3CDTF">2026-04-20T15:08:52Z</dcterms:created>
  <dcterms:modified xsi:type="dcterms:W3CDTF">2026-04-22T03:48:20Z</dcterms:modified>
</cp:coreProperties>
</file>