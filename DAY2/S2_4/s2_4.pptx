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4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sp>
      <p:sp>
        <p:nvSpPr>
          <p:cNvPr id="3" name="Text 1"/>
          <p:cNvSpPr/>
          <p:nvPr/>
        </p:nvSpPr>
        <p:spPr>
          <a:xfrm>
            <a:off x="502920" y="868680"/>
            <a:ext cx="8138160" cy="658368"/>
          </a:xfrm>
          <a:prstGeom prst="rect">
            <a:avLst/>
          </a:prstGeom>
          <a:noFill/>
          <a:ln/>
        </p:spPr>
        <p:txBody>
          <a:bodyPr wrap="square" lIns="0" tIns="0" rIns="0" bIns="0" rtlCol="0" anchor="ctr"/>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802.1Q VLANs and Switch Internals</a:t>
            </a:r>
            <a:endParaRPr lang="en-US" sz="4400" dirty="0"/>
          </a:p>
        </p:txBody>
      </p:sp>
      <p:sp>
        <p:nvSpPr>
          <p:cNvPr id="4" name="Text 2"/>
          <p:cNvSpPr/>
          <p:nvPr/>
        </p:nvSpPr>
        <p:spPr>
          <a:xfrm>
            <a:off x="502920" y="2286000"/>
            <a:ext cx="7772400" cy="777240"/>
          </a:xfrm>
          <a:prstGeom prst="rect">
            <a:avLst/>
          </a:prstGeom>
          <a:noFill/>
          <a:ln/>
        </p:spPr>
        <p:txBody>
          <a:bodyPr wrap="square" lIns="0" tIns="0" rIns="0" bIns="0" rtlCol="0" anchor="t"/>
          <a:lstStyle/>
          <a:p>
            <a:pPr algn="l" indent="0" marL="0">
              <a:buNone/>
            </a:pPr>
            <a:r>
              <a:rPr lang="en-US" sz="1700" dirty="0">
                <a:solidFill>
                  <a:srgbClr val="D6EAF8"/>
                </a:solidFill>
                <a:latin typeface="Calibri" pitchFamily="34" charset="0"/>
                <a:ea typeface="Calibri" pitchFamily="34" charset="-122"/>
                <a:cs typeface="Calibri" pitchFamily="34" charset="-120"/>
              </a:rPr>
              <a:t>VLAN Tagging  |  Q-in-Q  |  Forwarding Database</a:t>
            </a:r>
            <a:endParaRPr lang="en-US" sz="1700" dirty="0"/>
          </a:p>
          <a:p>
            <a:pPr algn="l" indent="0" marL="0">
              <a:buNone/>
            </a:pPr>
            <a:r>
              <a:rPr lang="en-US" sz="1700" dirty="0">
                <a:solidFill>
                  <a:srgbClr val="D6EAF8"/>
                </a:solidFill>
                <a:latin typeface="Calibri" pitchFamily="34" charset="0"/>
                <a:ea typeface="Calibri" pitchFamily="34" charset="-122"/>
                <a:cs typeface="Calibri" pitchFamily="34" charset="-120"/>
              </a:rPr>
              <a:t>Store-and-Forward vs Cut-Through  |  Switch Architecture</a:t>
            </a:r>
            <a:endParaRPr lang="en-US" sz="1700" dirty="0"/>
          </a:p>
        </p:txBody>
      </p:sp>
      <p:sp>
        <p:nvSpPr>
          <p:cNvPr id="5" name="Shape 3"/>
          <p:cNvSpPr/>
          <p:nvPr/>
        </p:nvSpPr>
        <p:spPr>
          <a:xfrm>
            <a:off x="502920" y="4160520"/>
            <a:ext cx="8229600" cy="658368"/>
          </a:xfrm>
          <a:prstGeom prst="rect">
            <a:avLst/>
          </a:prstGeom>
          <a:solidFill>
            <a:srgbClr val="1A4D6E"/>
          </a:solidFill>
          <a:ln w="12700">
            <a:solidFill>
              <a:srgbClr val="1A4D6E"/>
            </a:solidFill>
            <a:prstDash val="solid"/>
          </a:ln>
        </p:spPr>
      </p:sp>
      <p:sp>
        <p:nvSpPr>
          <p:cNvPr id="6" name="Text 4"/>
          <p:cNvSpPr/>
          <p:nvPr/>
        </p:nvSpPr>
        <p:spPr>
          <a:xfrm>
            <a:off x="594360" y="4187952"/>
            <a:ext cx="7955280" cy="603504"/>
          </a:xfrm>
          <a:prstGeom prst="rect">
            <a:avLst/>
          </a:prstGeom>
          <a:noFill/>
          <a:ln/>
        </p:spPr>
        <p:txBody>
          <a:bodyPr wrap="square" lIns="0" tIns="0" rIns="0" bIns="0" rtlCol="0" anchor="ctr"/>
          <a:lstStyle/>
          <a:p>
            <a:pPr algn="l" indent="0" marL="0">
              <a:buNone/>
            </a:pPr>
            <a:r>
              <a:rPr lang="en-US" sz="1300" dirty="0">
                <a:solidFill>
                  <a:srgbClr val="D6EAF8"/>
                </a:solidFill>
                <a:latin typeface="Calibri" pitchFamily="34" charset="0"/>
                <a:ea typeface="Calibri" pitchFamily="34" charset="-122"/>
                <a:cs typeface="Calibri" pitchFamily="34" charset="-120"/>
              </a:rPr>
              <a:t>How does a switch decide what a frame means, where it belongs, and where it should go next?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200" b="1" dirty="0">
                <a:solidFill>
                  <a:srgbClr val="0B2D4E"/>
                </a:solidFill>
                <a:latin typeface="Trebuchet MS" pitchFamily="34" charset="0"/>
                <a:ea typeface="Trebuchet MS" pitchFamily="34" charset="-122"/>
                <a:cs typeface="Trebuchet MS" pitchFamily="34" charset="-120"/>
              </a:rPr>
              <a:t>IEEE 802.1Q-2022: More Than Just a Tag</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5029200" cy="109728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802.1Q is the base bridge-and-virtual-network standard for Ethernet. It specifies how bridges and switches segment traffic into virtual networks, learn device locations, forward or filter frames, and maintain orderly behavior across a multi-switch network.</a:t>
            </a:r>
            <a:endParaRPr lang="en-US" sz="1400" dirty="0"/>
          </a:p>
        </p:txBody>
      </p:sp>
      <p:sp>
        <p:nvSpPr>
          <p:cNvPr id="5" name="Shape 3"/>
          <p:cNvSpPr/>
          <p:nvPr/>
        </p:nvSpPr>
        <p:spPr>
          <a:xfrm>
            <a:off x="5715000" y="1143000"/>
            <a:ext cx="3017520" cy="3520440"/>
          </a:xfrm>
          <a:prstGeom prst="rect">
            <a:avLst/>
          </a:prstGeom>
          <a:solidFill>
            <a:srgbClr val="0B2D4E"/>
          </a:solidFill>
          <a:ln w="12700">
            <a:solidFill>
              <a:srgbClr val="0B2D4E"/>
            </a:solidFill>
            <a:prstDash val="solid"/>
          </a:ln>
        </p:spPr>
      </p:sp>
      <p:sp>
        <p:nvSpPr>
          <p:cNvPr id="6" name="Shape 4"/>
          <p:cNvSpPr/>
          <p:nvPr/>
        </p:nvSpPr>
        <p:spPr>
          <a:xfrm>
            <a:off x="5715000" y="1143000"/>
            <a:ext cx="3017520" cy="3520440"/>
          </a:xfrm>
          <a:prstGeom prst="rect">
            <a:avLst/>
          </a:prstGeom>
          <a:solidFill>
            <a:srgbClr val="0B2D4E"/>
          </a:solidFill>
          <a:ln w="25400">
            <a:solidFill>
              <a:srgbClr val="0E7C86"/>
            </a:solidFill>
            <a:prstDash val="solid"/>
          </a:ln>
        </p:spPr>
      </p:sp>
      <p:sp>
        <p:nvSpPr>
          <p:cNvPr id="7" name="Text 5"/>
          <p:cNvSpPr/>
          <p:nvPr/>
        </p:nvSpPr>
        <p:spPr>
          <a:xfrm>
            <a:off x="5852160" y="1234440"/>
            <a:ext cx="2743200" cy="347472"/>
          </a:xfrm>
          <a:prstGeom prst="rect">
            <a:avLst/>
          </a:prstGeom>
          <a:noFill/>
          <a:ln/>
        </p:spPr>
        <p:txBody>
          <a:bodyPr wrap="square" lIns="0" tIns="0" rIns="0" bIns="0" rtlCol="0" anchor="ctr"/>
          <a:lstStyle/>
          <a:p>
            <a:pPr algn="l" indent="0" marL="0">
              <a:buNone/>
            </a:pPr>
            <a:r>
              <a:rPr lang="en-US" sz="1300" b="1" dirty="0">
                <a:solidFill>
                  <a:srgbClr val="0E7C86"/>
                </a:solidFill>
                <a:latin typeface="Trebuchet MS" pitchFamily="34" charset="0"/>
                <a:ea typeface="Trebuchet MS" pitchFamily="34" charset="-122"/>
                <a:cs typeface="Trebuchet MS" pitchFamily="34" charset="-120"/>
              </a:rPr>
              <a:t>802.1Q covers:</a:t>
            </a:r>
            <a:endParaRPr lang="en-US" sz="1300" dirty="0"/>
          </a:p>
        </p:txBody>
      </p:sp>
      <p:sp>
        <p:nvSpPr>
          <p:cNvPr id="8" name="Text 6"/>
          <p:cNvSpPr/>
          <p:nvPr/>
        </p:nvSpPr>
        <p:spPr>
          <a:xfrm>
            <a:off x="5897880" y="1664208"/>
            <a:ext cx="2697480"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Classification of frames</a:t>
            </a:r>
            <a:endParaRPr lang="en-US" sz="1200" dirty="0"/>
          </a:p>
        </p:txBody>
      </p:sp>
      <p:sp>
        <p:nvSpPr>
          <p:cNvPr id="9" name="Text 7"/>
          <p:cNvSpPr/>
          <p:nvPr/>
        </p:nvSpPr>
        <p:spPr>
          <a:xfrm>
            <a:off x="5897880" y="2011680"/>
            <a:ext cx="2697480"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Forwarding decisions</a:t>
            </a:r>
            <a:endParaRPr lang="en-US" sz="1200" dirty="0"/>
          </a:p>
        </p:txBody>
      </p:sp>
      <p:sp>
        <p:nvSpPr>
          <p:cNvPr id="10" name="Text 8"/>
          <p:cNvSpPr/>
          <p:nvPr/>
        </p:nvSpPr>
        <p:spPr>
          <a:xfrm>
            <a:off x="5897880" y="2359152"/>
            <a:ext cx="2697480"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Filtering rules</a:t>
            </a:r>
            <a:endParaRPr lang="en-US" sz="1200" dirty="0"/>
          </a:p>
        </p:txBody>
      </p:sp>
      <p:sp>
        <p:nvSpPr>
          <p:cNvPr id="11" name="Text 9"/>
          <p:cNvSpPr/>
          <p:nvPr/>
        </p:nvSpPr>
        <p:spPr>
          <a:xfrm>
            <a:off x="5897880" y="2706624"/>
            <a:ext cx="2697480"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VLAN and tag handling</a:t>
            </a:r>
            <a:endParaRPr lang="en-US" sz="1200" dirty="0"/>
          </a:p>
        </p:txBody>
      </p:sp>
      <p:sp>
        <p:nvSpPr>
          <p:cNvPr id="12" name="Text 10"/>
          <p:cNvSpPr/>
          <p:nvPr/>
        </p:nvSpPr>
        <p:spPr>
          <a:xfrm>
            <a:off x="5897880" y="3054096"/>
            <a:ext cx="2697480"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Priority and QoS hints</a:t>
            </a:r>
            <a:endParaRPr lang="en-US" sz="1200" dirty="0"/>
          </a:p>
        </p:txBody>
      </p:sp>
      <p:sp>
        <p:nvSpPr>
          <p:cNvPr id="13" name="Text 11"/>
          <p:cNvSpPr/>
          <p:nvPr/>
        </p:nvSpPr>
        <p:spPr>
          <a:xfrm>
            <a:off x="5897880" y="3401568"/>
            <a:ext cx="2697480"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Management and control</a:t>
            </a:r>
            <a:endParaRPr lang="en-US" sz="1200" dirty="0"/>
          </a:p>
        </p:txBody>
      </p:sp>
      <p:sp>
        <p:nvSpPr>
          <p:cNvPr id="14" name="Shape 12"/>
          <p:cNvSpPr/>
          <p:nvPr/>
        </p:nvSpPr>
        <p:spPr>
          <a:xfrm>
            <a:off x="502920" y="2450592"/>
            <a:ext cx="5029200" cy="1481328"/>
          </a:xfrm>
          <a:prstGeom prst="rect">
            <a:avLst/>
          </a:prstGeom>
          <a:solidFill>
            <a:srgbClr val="1A4D6E"/>
          </a:solidFill>
          <a:ln w="12700">
            <a:solidFill>
              <a:srgbClr val="1A4D6E"/>
            </a:solidFill>
            <a:prstDash val="solid"/>
          </a:ln>
        </p:spPr>
      </p:sp>
      <p:sp>
        <p:nvSpPr>
          <p:cNvPr id="15" name="Text 13"/>
          <p:cNvSpPr/>
          <p:nvPr/>
        </p:nvSpPr>
        <p:spPr>
          <a:xfrm>
            <a:off x="640080" y="2542032"/>
            <a:ext cx="47548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The right question to start with:</a:t>
            </a:r>
            <a:endParaRPr lang="en-US" sz="1300" dirty="0"/>
          </a:p>
        </p:txBody>
      </p:sp>
      <p:sp>
        <p:nvSpPr>
          <p:cNvPr id="16" name="Text 14"/>
          <p:cNvSpPr/>
          <p:nvPr/>
        </p:nvSpPr>
        <p:spPr>
          <a:xfrm>
            <a:off x="640080" y="2926080"/>
            <a:ext cx="4754880" cy="91440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Not 'what does the tag look like?' but rather 'how does a switch decide what a frame means, which VLAN it belongs to, and where it should go next?'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Why Ethernet Needed 802.1Q</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77724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A plain Ethernet LAN has no concept of multiple logical broadcast domains sharing one switching fabric. Without VLANs, broadcasts, unknown unicasts, and control effects spread everywhere.</a:t>
            </a:r>
            <a:endParaRPr lang="en-US" sz="1400" dirty="0"/>
          </a:p>
        </p:txBody>
      </p:sp>
      <p:sp>
        <p:nvSpPr>
          <p:cNvPr id="5" name="Shape 3"/>
          <p:cNvSpPr/>
          <p:nvPr/>
        </p:nvSpPr>
        <p:spPr>
          <a:xfrm>
            <a:off x="502920" y="2121408"/>
            <a:ext cx="3977640" cy="2423160"/>
          </a:xfrm>
          <a:prstGeom prst="rect">
            <a:avLst/>
          </a:prstGeom>
          <a:solidFill>
            <a:srgbClr val="1A4D6E"/>
          </a:solidFill>
          <a:ln w="12700">
            <a:solidFill>
              <a:srgbClr val="1A4D6E"/>
            </a:solidFill>
            <a:prstDash val="solid"/>
          </a:ln>
        </p:spPr>
      </p:sp>
      <p:sp>
        <p:nvSpPr>
          <p:cNvPr id="6" name="Shape 4"/>
          <p:cNvSpPr/>
          <p:nvPr/>
        </p:nvSpPr>
        <p:spPr>
          <a:xfrm>
            <a:off x="502920" y="2121408"/>
            <a:ext cx="3977640" cy="2423160"/>
          </a:xfrm>
          <a:prstGeom prst="rect">
            <a:avLst/>
          </a:prstGeom>
          <a:solidFill>
            <a:srgbClr val="1A4D6E"/>
          </a:solidFill>
          <a:ln w="25400">
            <a:solidFill>
              <a:srgbClr val="C0392B"/>
            </a:solidFill>
            <a:prstDash val="solid"/>
          </a:ln>
        </p:spPr>
      </p:sp>
      <p:sp>
        <p:nvSpPr>
          <p:cNvPr id="7" name="Text 5"/>
          <p:cNvSpPr/>
          <p:nvPr/>
        </p:nvSpPr>
        <p:spPr>
          <a:xfrm>
            <a:off x="640080" y="2176272"/>
            <a:ext cx="3657600" cy="384048"/>
          </a:xfrm>
          <a:prstGeom prst="rect">
            <a:avLst/>
          </a:prstGeom>
          <a:noFill/>
          <a:ln/>
        </p:spPr>
        <p:txBody>
          <a:bodyPr wrap="square" lIns="0" tIns="0" rIns="0" bIns="0" rtlCol="0" anchor="ctr"/>
          <a:lstStyle/>
          <a:p>
            <a:pPr algn="ctr" indent="0" marL="0">
              <a:buNone/>
            </a:pPr>
            <a:r>
              <a:rPr lang="en-US" sz="1400" b="1" dirty="0">
                <a:solidFill>
                  <a:srgbClr val="FF6B6B"/>
                </a:solidFill>
                <a:latin typeface="Trebuchet MS" pitchFamily="34" charset="0"/>
                <a:ea typeface="Trebuchet MS" pitchFamily="34" charset="-122"/>
                <a:cs typeface="Trebuchet MS" pitchFamily="34" charset="-120"/>
              </a:rPr>
              <a:t>Without VLANs</a:t>
            </a:r>
            <a:endParaRPr lang="en-US" sz="1400" dirty="0"/>
          </a:p>
        </p:txBody>
      </p:sp>
      <p:sp>
        <p:nvSpPr>
          <p:cNvPr id="8" name="Shape 6"/>
          <p:cNvSpPr/>
          <p:nvPr/>
        </p:nvSpPr>
        <p:spPr>
          <a:xfrm>
            <a:off x="566928" y="2560320"/>
            <a:ext cx="3840480" cy="36576"/>
          </a:xfrm>
          <a:prstGeom prst="rect">
            <a:avLst/>
          </a:prstGeom>
          <a:solidFill>
            <a:srgbClr val="C0392B"/>
          </a:solidFill>
          <a:ln w="12700">
            <a:solidFill>
              <a:srgbClr val="C0392B"/>
            </a:solidFill>
            <a:prstDash val="solid"/>
          </a:ln>
        </p:spPr>
      </p:sp>
      <p:sp>
        <p:nvSpPr>
          <p:cNvPr id="9" name="Text 7"/>
          <p:cNvSpPr/>
          <p:nvPr/>
        </p:nvSpPr>
        <p:spPr>
          <a:xfrm>
            <a:off x="640080" y="2651760"/>
            <a:ext cx="3566160" cy="173736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One flat Layer 2 domain</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Broadcasts flood every port</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No traffic isolation</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All devices share one neighborhood</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Security and performance suffer</a:t>
            </a:r>
            <a:endParaRPr lang="en-US" sz="1300" dirty="0"/>
          </a:p>
        </p:txBody>
      </p:sp>
      <p:sp>
        <p:nvSpPr>
          <p:cNvPr id="10" name="Shape 8"/>
          <p:cNvSpPr/>
          <p:nvPr/>
        </p:nvSpPr>
        <p:spPr>
          <a:xfrm>
            <a:off x="4754880" y="2121408"/>
            <a:ext cx="3977640" cy="2423160"/>
          </a:xfrm>
          <a:prstGeom prst="rect">
            <a:avLst/>
          </a:prstGeom>
          <a:solidFill>
            <a:srgbClr val="1A4D6E"/>
          </a:solidFill>
          <a:ln w="12700">
            <a:solidFill>
              <a:srgbClr val="1A4D6E"/>
            </a:solidFill>
            <a:prstDash val="solid"/>
          </a:ln>
        </p:spPr>
      </p:sp>
      <p:sp>
        <p:nvSpPr>
          <p:cNvPr id="11" name="Shape 9"/>
          <p:cNvSpPr/>
          <p:nvPr/>
        </p:nvSpPr>
        <p:spPr>
          <a:xfrm>
            <a:off x="4754880" y="2121408"/>
            <a:ext cx="3977640" cy="2423160"/>
          </a:xfrm>
          <a:prstGeom prst="rect">
            <a:avLst/>
          </a:prstGeom>
          <a:solidFill>
            <a:srgbClr val="1A4D6E"/>
          </a:solidFill>
          <a:ln w="25400">
            <a:solidFill>
              <a:srgbClr val="0E7C86"/>
            </a:solidFill>
            <a:prstDash val="solid"/>
          </a:ln>
        </p:spPr>
      </p:sp>
      <p:sp>
        <p:nvSpPr>
          <p:cNvPr id="12" name="Text 10"/>
          <p:cNvSpPr/>
          <p:nvPr/>
        </p:nvSpPr>
        <p:spPr>
          <a:xfrm>
            <a:off x="4892040" y="2176272"/>
            <a:ext cx="3657600" cy="384048"/>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With VLANs (802.1Q)</a:t>
            </a:r>
            <a:endParaRPr lang="en-US" sz="1400" dirty="0"/>
          </a:p>
        </p:txBody>
      </p:sp>
      <p:sp>
        <p:nvSpPr>
          <p:cNvPr id="13" name="Shape 11"/>
          <p:cNvSpPr/>
          <p:nvPr/>
        </p:nvSpPr>
        <p:spPr>
          <a:xfrm>
            <a:off x="4818888" y="2560320"/>
            <a:ext cx="3840480" cy="36576"/>
          </a:xfrm>
          <a:prstGeom prst="rect">
            <a:avLst/>
          </a:prstGeom>
          <a:solidFill>
            <a:srgbClr val="0E7C86"/>
          </a:solidFill>
          <a:ln w="12700">
            <a:solidFill>
              <a:srgbClr val="0E7C86"/>
            </a:solidFill>
            <a:prstDash val="solid"/>
          </a:ln>
        </p:spPr>
      </p:sp>
      <p:sp>
        <p:nvSpPr>
          <p:cNvPr id="14" name="Text 12"/>
          <p:cNvSpPr/>
          <p:nvPr/>
        </p:nvSpPr>
        <p:spPr>
          <a:xfrm>
            <a:off x="4892040" y="2651760"/>
            <a:ext cx="3566160" cy="173736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Multiple logical broadcast domains</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Broadcasts contained within each VLAN</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Controlled traffic isolation</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Devices grouped by policy, not cable</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Security and scale improve</a:t>
            </a:r>
            <a:endParaRPr lang="en-US" sz="1300" dirty="0"/>
          </a:p>
        </p:txBody>
      </p:sp>
      <p:sp>
        <p:nvSpPr>
          <p:cNvPr id="15" name="Shape 13"/>
          <p:cNvSpPr/>
          <p:nvPr/>
        </p:nvSpPr>
        <p:spPr>
          <a:xfrm>
            <a:off x="502920" y="4645152"/>
            <a:ext cx="8138160" cy="347472"/>
          </a:xfrm>
          <a:prstGeom prst="rect">
            <a:avLst/>
          </a:prstGeom>
          <a:solidFill>
            <a:srgbClr val="1A2D1E"/>
          </a:solidFill>
          <a:ln w="12700">
            <a:solidFill>
              <a:srgbClr val="1A2D1E"/>
            </a:solidFill>
            <a:prstDash val="solid"/>
          </a:ln>
        </p:spPr>
      </p:sp>
      <p:sp>
        <p:nvSpPr>
          <p:cNvPr id="16" name="Shape 14"/>
          <p:cNvSpPr/>
          <p:nvPr/>
        </p:nvSpPr>
        <p:spPr>
          <a:xfrm>
            <a:off x="502920" y="4645152"/>
            <a:ext cx="8138160" cy="347472"/>
          </a:xfrm>
          <a:prstGeom prst="rect">
            <a:avLst/>
          </a:prstGeom>
          <a:solidFill>
            <a:srgbClr val="1A2D1E"/>
          </a:solidFill>
          <a:ln w="25400">
            <a:solidFill>
              <a:srgbClr val="0E7C86"/>
            </a:solidFill>
            <a:prstDash val="solid"/>
          </a:ln>
        </p:spPr>
      </p:sp>
      <p:sp>
        <p:nvSpPr>
          <p:cNvPr id="17" name="Text 15"/>
          <p:cNvSpPr/>
          <p:nvPr/>
        </p:nvSpPr>
        <p:spPr>
          <a:xfrm>
            <a:off x="640080" y="4663440"/>
            <a:ext cx="7863840" cy="310896"/>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A VLAN is not extra metadata. It is a rule for who is considered to be in the same Layer 2 neighborhood.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Four Big Ideas Inside 802.1Q</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36576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The standard is best understood not as a tag format, but as four coordinated behaviors:</a:t>
            </a:r>
            <a:endParaRPr lang="en-US" sz="1400" dirty="0"/>
          </a:p>
        </p:txBody>
      </p:sp>
      <p:sp>
        <p:nvSpPr>
          <p:cNvPr id="5" name="Shape 3"/>
          <p:cNvSpPr/>
          <p:nvPr/>
        </p:nvSpPr>
        <p:spPr>
          <a:xfrm>
            <a:off x="502920" y="1719072"/>
            <a:ext cx="4069080" cy="1353312"/>
          </a:xfrm>
          <a:prstGeom prst="rect">
            <a:avLst/>
          </a:prstGeom>
          <a:solidFill>
            <a:srgbClr val="1A9DAA"/>
          </a:solidFill>
          <a:ln w="12700">
            <a:solidFill>
              <a:srgbClr val="1A9DAA"/>
            </a:solidFill>
            <a:prstDash val="solid"/>
          </a:ln>
        </p:spPr>
      </p:sp>
      <p:sp>
        <p:nvSpPr>
          <p:cNvPr id="6" name="Text 4"/>
          <p:cNvSpPr/>
          <p:nvPr/>
        </p:nvSpPr>
        <p:spPr>
          <a:xfrm>
            <a:off x="612648" y="1810512"/>
            <a:ext cx="438912"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7" name="Text 5"/>
          <p:cNvSpPr/>
          <p:nvPr/>
        </p:nvSpPr>
        <p:spPr>
          <a:xfrm>
            <a:off x="1143000" y="1810512"/>
            <a:ext cx="329184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Classification</a:t>
            </a:r>
            <a:endParaRPr lang="en-US" sz="1600" dirty="0"/>
          </a:p>
        </p:txBody>
      </p:sp>
      <p:sp>
        <p:nvSpPr>
          <p:cNvPr id="8" name="Shape 6"/>
          <p:cNvSpPr/>
          <p:nvPr/>
        </p:nvSpPr>
        <p:spPr>
          <a:xfrm>
            <a:off x="612648" y="2267712"/>
            <a:ext cx="3749040" cy="36576"/>
          </a:xfrm>
          <a:prstGeom prst="rect">
            <a:avLst/>
          </a:prstGeom>
          <a:solidFill>
            <a:srgbClr val="FFFFFF"/>
          </a:solidFill>
          <a:ln w="12700">
            <a:solidFill>
              <a:srgbClr val="FFFFFF"/>
            </a:solidFill>
            <a:prstDash val="solid"/>
          </a:ln>
        </p:spPr>
      </p:sp>
      <p:sp>
        <p:nvSpPr>
          <p:cNvPr id="9" name="Text 7"/>
          <p:cNvSpPr/>
          <p:nvPr/>
        </p:nvSpPr>
        <p:spPr>
          <a:xfrm>
            <a:off x="612648" y="2340864"/>
            <a:ext cx="3794760" cy="65836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Deciding what VLAN and priority a received frame belongs to</a:t>
            </a:r>
            <a:endParaRPr lang="en-US" sz="1300" dirty="0"/>
          </a:p>
        </p:txBody>
      </p:sp>
      <p:sp>
        <p:nvSpPr>
          <p:cNvPr id="10" name="Shape 8"/>
          <p:cNvSpPr/>
          <p:nvPr/>
        </p:nvSpPr>
        <p:spPr>
          <a:xfrm>
            <a:off x="4846320" y="1719072"/>
            <a:ext cx="4069080" cy="1353312"/>
          </a:xfrm>
          <a:prstGeom prst="rect">
            <a:avLst/>
          </a:prstGeom>
          <a:solidFill>
            <a:srgbClr val="2980B9"/>
          </a:solidFill>
          <a:ln w="12700">
            <a:solidFill>
              <a:srgbClr val="2980B9"/>
            </a:solidFill>
            <a:prstDash val="solid"/>
          </a:ln>
        </p:spPr>
      </p:sp>
      <p:sp>
        <p:nvSpPr>
          <p:cNvPr id="11" name="Text 9"/>
          <p:cNvSpPr/>
          <p:nvPr/>
        </p:nvSpPr>
        <p:spPr>
          <a:xfrm>
            <a:off x="4956048" y="1810512"/>
            <a:ext cx="438912"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2" name="Text 10"/>
          <p:cNvSpPr/>
          <p:nvPr/>
        </p:nvSpPr>
        <p:spPr>
          <a:xfrm>
            <a:off x="5486400" y="1810512"/>
            <a:ext cx="329184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Forwarding</a:t>
            </a:r>
            <a:endParaRPr lang="en-US" sz="1600" dirty="0"/>
          </a:p>
        </p:txBody>
      </p:sp>
      <p:sp>
        <p:nvSpPr>
          <p:cNvPr id="13" name="Shape 11"/>
          <p:cNvSpPr/>
          <p:nvPr/>
        </p:nvSpPr>
        <p:spPr>
          <a:xfrm>
            <a:off x="4956048" y="2267712"/>
            <a:ext cx="3749040" cy="36576"/>
          </a:xfrm>
          <a:prstGeom prst="rect">
            <a:avLst/>
          </a:prstGeom>
          <a:solidFill>
            <a:srgbClr val="FFFFFF"/>
          </a:solidFill>
          <a:ln w="12700">
            <a:solidFill>
              <a:srgbClr val="FFFFFF"/>
            </a:solidFill>
            <a:prstDash val="solid"/>
          </a:ln>
        </p:spPr>
      </p:sp>
      <p:sp>
        <p:nvSpPr>
          <p:cNvPr id="14" name="Text 12"/>
          <p:cNvSpPr/>
          <p:nvPr/>
        </p:nvSpPr>
        <p:spPr>
          <a:xfrm>
            <a:off x="4956048" y="2340864"/>
            <a:ext cx="3794760" cy="65836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Deciding where a frame should go based on MAC and VLAN context</a:t>
            </a:r>
            <a:endParaRPr lang="en-US" sz="1300" dirty="0"/>
          </a:p>
        </p:txBody>
      </p:sp>
      <p:sp>
        <p:nvSpPr>
          <p:cNvPr id="15" name="Shape 13"/>
          <p:cNvSpPr/>
          <p:nvPr/>
        </p:nvSpPr>
        <p:spPr>
          <a:xfrm>
            <a:off x="502920" y="3227832"/>
            <a:ext cx="4069080" cy="1353312"/>
          </a:xfrm>
          <a:prstGeom prst="rect">
            <a:avLst/>
          </a:prstGeom>
          <a:solidFill>
            <a:srgbClr val="C0392B"/>
          </a:solidFill>
          <a:ln w="12700">
            <a:solidFill>
              <a:srgbClr val="C0392B"/>
            </a:solidFill>
            <a:prstDash val="solid"/>
          </a:ln>
        </p:spPr>
      </p:sp>
      <p:sp>
        <p:nvSpPr>
          <p:cNvPr id="16" name="Text 14"/>
          <p:cNvSpPr/>
          <p:nvPr/>
        </p:nvSpPr>
        <p:spPr>
          <a:xfrm>
            <a:off x="612648" y="3319272"/>
            <a:ext cx="438912"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17" name="Text 15"/>
          <p:cNvSpPr/>
          <p:nvPr/>
        </p:nvSpPr>
        <p:spPr>
          <a:xfrm>
            <a:off x="1143000" y="3319272"/>
            <a:ext cx="329184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Filtering</a:t>
            </a:r>
            <a:endParaRPr lang="en-US" sz="1600" dirty="0"/>
          </a:p>
        </p:txBody>
      </p:sp>
      <p:sp>
        <p:nvSpPr>
          <p:cNvPr id="18" name="Shape 16"/>
          <p:cNvSpPr/>
          <p:nvPr/>
        </p:nvSpPr>
        <p:spPr>
          <a:xfrm>
            <a:off x="612648" y="3776472"/>
            <a:ext cx="3749040" cy="36576"/>
          </a:xfrm>
          <a:prstGeom prst="rect">
            <a:avLst/>
          </a:prstGeom>
          <a:solidFill>
            <a:srgbClr val="FFFFFF"/>
          </a:solidFill>
          <a:ln w="12700">
            <a:solidFill>
              <a:srgbClr val="FFFFFF"/>
            </a:solidFill>
            <a:prstDash val="solid"/>
          </a:ln>
        </p:spPr>
      </p:sp>
      <p:sp>
        <p:nvSpPr>
          <p:cNvPr id="19" name="Text 17"/>
          <p:cNvSpPr/>
          <p:nvPr/>
        </p:nvSpPr>
        <p:spPr>
          <a:xfrm>
            <a:off x="612648" y="3849624"/>
            <a:ext cx="3794760" cy="65836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Deciding where a frame must NOT go to preserve VLAN separation</a:t>
            </a:r>
            <a:endParaRPr lang="en-US" sz="1300" dirty="0"/>
          </a:p>
        </p:txBody>
      </p:sp>
      <p:sp>
        <p:nvSpPr>
          <p:cNvPr id="20" name="Shape 18"/>
          <p:cNvSpPr/>
          <p:nvPr/>
        </p:nvSpPr>
        <p:spPr>
          <a:xfrm>
            <a:off x="4846320" y="3227832"/>
            <a:ext cx="4069080" cy="1353312"/>
          </a:xfrm>
          <a:prstGeom prst="rect">
            <a:avLst/>
          </a:prstGeom>
          <a:solidFill>
            <a:srgbClr val="8E44AD"/>
          </a:solidFill>
          <a:ln w="12700">
            <a:solidFill>
              <a:srgbClr val="8E44AD"/>
            </a:solidFill>
            <a:prstDash val="solid"/>
          </a:ln>
        </p:spPr>
      </p:sp>
      <p:sp>
        <p:nvSpPr>
          <p:cNvPr id="21" name="Text 19"/>
          <p:cNvSpPr/>
          <p:nvPr/>
        </p:nvSpPr>
        <p:spPr>
          <a:xfrm>
            <a:off x="4956048" y="3319272"/>
            <a:ext cx="438912"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22" name="Text 20"/>
          <p:cNvSpPr/>
          <p:nvPr/>
        </p:nvSpPr>
        <p:spPr>
          <a:xfrm>
            <a:off x="5486400" y="3319272"/>
            <a:ext cx="329184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Control</a:t>
            </a:r>
            <a:endParaRPr lang="en-US" sz="1600" dirty="0"/>
          </a:p>
        </p:txBody>
      </p:sp>
      <p:sp>
        <p:nvSpPr>
          <p:cNvPr id="23" name="Shape 21"/>
          <p:cNvSpPr/>
          <p:nvPr/>
        </p:nvSpPr>
        <p:spPr>
          <a:xfrm>
            <a:off x="4956048" y="3776472"/>
            <a:ext cx="3749040" cy="36576"/>
          </a:xfrm>
          <a:prstGeom prst="rect">
            <a:avLst/>
          </a:prstGeom>
          <a:solidFill>
            <a:srgbClr val="FFFFFF"/>
          </a:solidFill>
          <a:ln w="12700">
            <a:solidFill>
              <a:srgbClr val="FFFFFF"/>
            </a:solidFill>
            <a:prstDash val="solid"/>
          </a:ln>
        </p:spPr>
      </p:sp>
      <p:sp>
        <p:nvSpPr>
          <p:cNvPr id="24" name="Text 22"/>
          <p:cNvSpPr/>
          <p:nvPr/>
        </p:nvSpPr>
        <p:spPr>
          <a:xfrm>
            <a:off x="4956048" y="3849624"/>
            <a:ext cx="3794760" cy="658368"/>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Topology, tables, policy: the rules under which forwarding happens</a:t>
            </a:r>
            <a:endParaRPr lang="en-US" sz="1300" dirty="0"/>
          </a:p>
        </p:txBody>
      </p:sp>
      <p:sp>
        <p:nvSpPr>
          <p:cNvPr id="25" name="Shape 23"/>
          <p:cNvSpPr/>
          <p:nvPr/>
        </p:nvSpPr>
        <p:spPr>
          <a:xfrm>
            <a:off x="502920" y="4663440"/>
            <a:ext cx="8138160" cy="347472"/>
          </a:xfrm>
          <a:prstGeom prst="rect">
            <a:avLst/>
          </a:prstGeom>
          <a:solidFill>
            <a:srgbClr val="0B2D4E"/>
          </a:solidFill>
          <a:ln w="12700">
            <a:solidFill>
              <a:srgbClr val="0B2D4E"/>
            </a:solidFill>
            <a:prstDash val="solid"/>
          </a:ln>
        </p:spPr>
      </p:sp>
      <p:sp>
        <p:nvSpPr>
          <p:cNvPr id="26" name="Text 24"/>
          <p:cNvSpPr/>
          <p:nvPr/>
        </p:nvSpPr>
        <p:spPr>
          <a:xfrm>
            <a:off x="640080" y="4681728"/>
            <a:ext cx="7863840" cy="310896"/>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The data plane carries out classification, forwarding, and filtering. The control plane sets the rules they operate by.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The Basic Bridge Model</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77724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At its core, a switch is a bridge with multiple ports. Frames arrive on an ingress port, forwarding logic inspects them, and the switch decides: forward to one port, several ports, or none.</a:t>
            </a:r>
            <a:endParaRPr lang="en-US" sz="1400" dirty="0"/>
          </a:p>
        </p:txBody>
      </p:sp>
      <p:sp>
        <p:nvSpPr>
          <p:cNvPr id="5" name="Shape 3"/>
          <p:cNvSpPr/>
          <p:nvPr/>
        </p:nvSpPr>
        <p:spPr>
          <a:xfrm>
            <a:off x="365760" y="2194560"/>
            <a:ext cx="1097280" cy="475488"/>
          </a:xfrm>
          <a:prstGeom prst="rect">
            <a:avLst/>
          </a:prstGeom>
          <a:solidFill>
            <a:srgbClr val="1A4D6E"/>
          </a:solidFill>
          <a:ln w="12700">
            <a:solidFill>
              <a:srgbClr val="1A4D6E"/>
            </a:solidFill>
            <a:prstDash val="solid"/>
          </a:ln>
        </p:spPr>
      </p:sp>
      <p:sp>
        <p:nvSpPr>
          <p:cNvPr id="6" name="Shape 4"/>
          <p:cNvSpPr/>
          <p:nvPr/>
        </p:nvSpPr>
        <p:spPr>
          <a:xfrm>
            <a:off x="365760" y="2194560"/>
            <a:ext cx="1097280" cy="475488"/>
          </a:xfrm>
          <a:prstGeom prst="rect">
            <a:avLst/>
          </a:prstGeom>
          <a:solidFill>
            <a:srgbClr val="1A4D6E"/>
          </a:solidFill>
          <a:ln w="25400">
            <a:solidFill>
              <a:srgbClr val="0E7C86"/>
            </a:solidFill>
            <a:prstDash val="solid"/>
          </a:ln>
        </p:spPr>
      </p:sp>
      <p:sp>
        <p:nvSpPr>
          <p:cNvPr id="7" name="Text 5"/>
          <p:cNvSpPr/>
          <p:nvPr/>
        </p:nvSpPr>
        <p:spPr>
          <a:xfrm>
            <a:off x="365760" y="2194560"/>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1</a:t>
            </a:r>
            <a:endParaRPr lang="en-US" sz="1100" dirty="0"/>
          </a:p>
        </p:txBody>
      </p:sp>
      <p:sp>
        <p:nvSpPr>
          <p:cNvPr id="8" name="Shape 6"/>
          <p:cNvSpPr/>
          <p:nvPr/>
        </p:nvSpPr>
        <p:spPr>
          <a:xfrm>
            <a:off x="1463040" y="2432304"/>
            <a:ext cx="1188720" cy="0"/>
          </a:xfrm>
          <a:prstGeom prst="line">
            <a:avLst/>
          </a:prstGeom>
          <a:noFill/>
          <a:ln w="12700">
            <a:solidFill>
              <a:srgbClr val="0E7C86"/>
            </a:solidFill>
            <a:prstDash val="solid"/>
          </a:ln>
        </p:spPr>
      </p:sp>
      <p:sp>
        <p:nvSpPr>
          <p:cNvPr id="9" name="Shape 7"/>
          <p:cNvSpPr/>
          <p:nvPr/>
        </p:nvSpPr>
        <p:spPr>
          <a:xfrm>
            <a:off x="365760" y="2761488"/>
            <a:ext cx="1097280" cy="475488"/>
          </a:xfrm>
          <a:prstGeom prst="rect">
            <a:avLst/>
          </a:prstGeom>
          <a:solidFill>
            <a:srgbClr val="1A4D6E"/>
          </a:solidFill>
          <a:ln w="12700">
            <a:solidFill>
              <a:srgbClr val="1A4D6E"/>
            </a:solidFill>
            <a:prstDash val="solid"/>
          </a:ln>
        </p:spPr>
      </p:sp>
      <p:sp>
        <p:nvSpPr>
          <p:cNvPr id="10" name="Shape 8"/>
          <p:cNvSpPr/>
          <p:nvPr/>
        </p:nvSpPr>
        <p:spPr>
          <a:xfrm>
            <a:off x="365760" y="2761488"/>
            <a:ext cx="1097280" cy="475488"/>
          </a:xfrm>
          <a:prstGeom prst="rect">
            <a:avLst/>
          </a:prstGeom>
          <a:solidFill>
            <a:srgbClr val="1A4D6E"/>
          </a:solidFill>
          <a:ln w="25400">
            <a:solidFill>
              <a:srgbClr val="0E7C86"/>
            </a:solidFill>
            <a:prstDash val="solid"/>
          </a:ln>
        </p:spPr>
      </p:sp>
      <p:sp>
        <p:nvSpPr>
          <p:cNvPr id="11" name="Text 9"/>
          <p:cNvSpPr/>
          <p:nvPr/>
        </p:nvSpPr>
        <p:spPr>
          <a:xfrm>
            <a:off x="365760" y="2761488"/>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2</a:t>
            </a:r>
            <a:endParaRPr lang="en-US" sz="1100" dirty="0"/>
          </a:p>
        </p:txBody>
      </p:sp>
      <p:sp>
        <p:nvSpPr>
          <p:cNvPr id="12" name="Shape 10"/>
          <p:cNvSpPr/>
          <p:nvPr/>
        </p:nvSpPr>
        <p:spPr>
          <a:xfrm>
            <a:off x="1463040" y="2999232"/>
            <a:ext cx="1188720" cy="0"/>
          </a:xfrm>
          <a:prstGeom prst="line">
            <a:avLst/>
          </a:prstGeom>
          <a:noFill/>
          <a:ln w="12700">
            <a:solidFill>
              <a:srgbClr val="0E7C86"/>
            </a:solidFill>
            <a:prstDash val="solid"/>
          </a:ln>
        </p:spPr>
      </p:sp>
      <p:sp>
        <p:nvSpPr>
          <p:cNvPr id="13" name="Shape 11"/>
          <p:cNvSpPr/>
          <p:nvPr/>
        </p:nvSpPr>
        <p:spPr>
          <a:xfrm>
            <a:off x="365760" y="3328416"/>
            <a:ext cx="1097280" cy="475488"/>
          </a:xfrm>
          <a:prstGeom prst="rect">
            <a:avLst/>
          </a:prstGeom>
          <a:solidFill>
            <a:srgbClr val="1A4D6E"/>
          </a:solidFill>
          <a:ln w="12700">
            <a:solidFill>
              <a:srgbClr val="1A4D6E"/>
            </a:solidFill>
            <a:prstDash val="solid"/>
          </a:ln>
        </p:spPr>
      </p:sp>
      <p:sp>
        <p:nvSpPr>
          <p:cNvPr id="14" name="Shape 12"/>
          <p:cNvSpPr/>
          <p:nvPr/>
        </p:nvSpPr>
        <p:spPr>
          <a:xfrm>
            <a:off x="365760" y="3328416"/>
            <a:ext cx="1097280" cy="475488"/>
          </a:xfrm>
          <a:prstGeom prst="rect">
            <a:avLst/>
          </a:prstGeom>
          <a:solidFill>
            <a:srgbClr val="1A4D6E"/>
          </a:solidFill>
          <a:ln w="25400">
            <a:solidFill>
              <a:srgbClr val="0E7C86"/>
            </a:solidFill>
            <a:prstDash val="solid"/>
          </a:ln>
        </p:spPr>
      </p:sp>
      <p:sp>
        <p:nvSpPr>
          <p:cNvPr id="15" name="Text 13"/>
          <p:cNvSpPr/>
          <p:nvPr/>
        </p:nvSpPr>
        <p:spPr>
          <a:xfrm>
            <a:off x="365760" y="3328416"/>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3</a:t>
            </a:r>
            <a:endParaRPr lang="en-US" sz="1100" dirty="0"/>
          </a:p>
        </p:txBody>
      </p:sp>
      <p:sp>
        <p:nvSpPr>
          <p:cNvPr id="16" name="Shape 14"/>
          <p:cNvSpPr/>
          <p:nvPr/>
        </p:nvSpPr>
        <p:spPr>
          <a:xfrm>
            <a:off x="1463040" y="3566160"/>
            <a:ext cx="1188720" cy="0"/>
          </a:xfrm>
          <a:prstGeom prst="line">
            <a:avLst/>
          </a:prstGeom>
          <a:noFill/>
          <a:ln w="12700">
            <a:solidFill>
              <a:srgbClr val="0E7C86"/>
            </a:solidFill>
            <a:prstDash val="solid"/>
          </a:ln>
        </p:spPr>
      </p:sp>
      <p:sp>
        <p:nvSpPr>
          <p:cNvPr id="17" name="Shape 15"/>
          <p:cNvSpPr/>
          <p:nvPr/>
        </p:nvSpPr>
        <p:spPr>
          <a:xfrm>
            <a:off x="365760" y="3895344"/>
            <a:ext cx="1097280" cy="475488"/>
          </a:xfrm>
          <a:prstGeom prst="rect">
            <a:avLst/>
          </a:prstGeom>
          <a:solidFill>
            <a:srgbClr val="1A4D6E"/>
          </a:solidFill>
          <a:ln w="12700">
            <a:solidFill>
              <a:srgbClr val="1A4D6E"/>
            </a:solidFill>
            <a:prstDash val="solid"/>
          </a:ln>
        </p:spPr>
      </p:sp>
      <p:sp>
        <p:nvSpPr>
          <p:cNvPr id="18" name="Shape 16"/>
          <p:cNvSpPr/>
          <p:nvPr/>
        </p:nvSpPr>
        <p:spPr>
          <a:xfrm>
            <a:off x="365760" y="3895344"/>
            <a:ext cx="1097280" cy="475488"/>
          </a:xfrm>
          <a:prstGeom prst="rect">
            <a:avLst/>
          </a:prstGeom>
          <a:solidFill>
            <a:srgbClr val="1A4D6E"/>
          </a:solidFill>
          <a:ln w="25400">
            <a:solidFill>
              <a:srgbClr val="0E7C86"/>
            </a:solidFill>
            <a:prstDash val="solid"/>
          </a:ln>
        </p:spPr>
      </p:sp>
      <p:sp>
        <p:nvSpPr>
          <p:cNvPr id="19" name="Text 17"/>
          <p:cNvSpPr/>
          <p:nvPr/>
        </p:nvSpPr>
        <p:spPr>
          <a:xfrm>
            <a:off x="365760" y="3895344"/>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4</a:t>
            </a:r>
            <a:endParaRPr lang="en-US" sz="1100" dirty="0"/>
          </a:p>
        </p:txBody>
      </p:sp>
      <p:sp>
        <p:nvSpPr>
          <p:cNvPr id="20" name="Shape 18"/>
          <p:cNvSpPr/>
          <p:nvPr/>
        </p:nvSpPr>
        <p:spPr>
          <a:xfrm>
            <a:off x="1463040" y="4133088"/>
            <a:ext cx="1188720" cy="0"/>
          </a:xfrm>
          <a:prstGeom prst="line">
            <a:avLst/>
          </a:prstGeom>
          <a:noFill/>
          <a:ln w="12700">
            <a:solidFill>
              <a:srgbClr val="0E7C86"/>
            </a:solidFill>
            <a:prstDash val="solid"/>
          </a:ln>
        </p:spPr>
      </p:sp>
      <p:sp>
        <p:nvSpPr>
          <p:cNvPr id="21" name="Shape 19"/>
          <p:cNvSpPr/>
          <p:nvPr/>
        </p:nvSpPr>
        <p:spPr>
          <a:xfrm>
            <a:off x="2651760" y="2011680"/>
            <a:ext cx="2926080" cy="2926080"/>
          </a:xfrm>
          <a:prstGeom prst="rect">
            <a:avLst/>
          </a:prstGeom>
          <a:solidFill>
            <a:srgbClr val="0D3D6B"/>
          </a:solidFill>
          <a:ln w="12700">
            <a:solidFill>
              <a:srgbClr val="0D3D6B"/>
            </a:solidFill>
            <a:prstDash val="solid"/>
          </a:ln>
        </p:spPr>
      </p:sp>
      <p:sp>
        <p:nvSpPr>
          <p:cNvPr id="22" name="Shape 20"/>
          <p:cNvSpPr/>
          <p:nvPr/>
        </p:nvSpPr>
        <p:spPr>
          <a:xfrm>
            <a:off x="2651760" y="2011680"/>
            <a:ext cx="2926080" cy="2926080"/>
          </a:xfrm>
          <a:prstGeom prst="rect">
            <a:avLst/>
          </a:prstGeom>
          <a:solidFill>
            <a:srgbClr val="0D3D6B"/>
          </a:solidFill>
          <a:ln w="25400">
            <a:solidFill>
              <a:srgbClr val="1A9DAA"/>
            </a:solidFill>
            <a:prstDash val="solid"/>
          </a:ln>
        </p:spPr>
      </p:sp>
      <p:sp>
        <p:nvSpPr>
          <p:cNvPr id="23" name="Text 21"/>
          <p:cNvSpPr/>
          <p:nvPr/>
        </p:nvSpPr>
        <p:spPr>
          <a:xfrm>
            <a:off x="2651760" y="2103120"/>
            <a:ext cx="2926080" cy="411480"/>
          </a:xfrm>
          <a:prstGeom prst="rect">
            <a:avLst/>
          </a:prstGeom>
          <a:noFill/>
          <a:ln/>
        </p:spPr>
        <p:txBody>
          <a:bodyPr wrap="square" lIns="0" tIns="0" rIns="0" bIns="0" rtlCol="0" anchor="ctr"/>
          <a:lstStyle/>
          <a:p>
            <a:pPr algn="ctr" indent="0" marL="0">
              <a:buNone/>
            </a:pPr>
            <a:r>
              <a:rPr lang="en-US" sz="1400" b="1" dirty="0">
                <a:solidFill>
                  <a:srgbClr val="1A9DAA"/>
                </a:solidFill>
                <a:latin typeface="Trebuchet MS" pitchFamily="34" charset="0"/>
                <a:ea typeface="Trebuchet MS" pitchFamily="34" charset="-122"/>
                <a:cs typeface="Trebuchet MS" pitchFamily="34" charset="-120"/>
              </a:rPr>
              <a:t>MAC RELAY</a:t>
            </a:r>
            <a:endParaRPr lang="en-US" sz="1400" dirty="0"/>
          </a:p>
        </p:txBody>
      </p:sp>
      <p:sp>
        <p:nvSpPr>
          <p:cNvPr id="24" name="Shape 22"/>
          <p:cNvSpPr/>
          <p:nvPr/>
        </p:nvSpPr>
        <p:spPr>
          <a:xfrm>
            <a:off x="2743200" y="2542032"/>
            <a:ext cx="2743200" cy="36576"/>
          </a:xfrm>
          <a:prstGeom prst="rect">
            <a:avLst/>
          </a:prstGeom>
          <a:solidFill>
            <a:srgbClr val="1A9DAA"/>
          </a:solidFill>
          <a:ln w="12700">
            <a:solidFill>
              <a:srgbClr val="1A9DAA"/>
            </a:solidFill>
            <a:prstDash val="solid"/>
          </a:ln>
        </p:spPr>
      </p:sp>
      <p:sp>
        <p:nvSpPr>
          <p:cNvPr id="25" name="Shape 23"/>
          <p:cNvSpPr/>
          <p:nvPr/>
        </p:nvSpPr>
        <p:spPr>
          <a:xfrm>
            <a:off x="2788920" y="2633472"/>
            <a:ext cx="2606040" cy="475488"/>
          </a:xfrm>
          <a:prstGeom prst="rect">
            <a:avLst/>
          </a:prstGeom>
          <a:solidFill>
            <a:srgbClr val="1A4D6E"/>
          </a:solidFill>
          <a:ln w="12700">
            <a:solidFill>
              <a:srgbClr val="1A4D6E"/>
            </a:solidFill>
            <a:prstDash val="solid"/>
          </a:ln>
        </p:spPr>
      </p:sp>
      <p:sp>
        <p:nvSpPr>
          <p:cNvPr id="26" name="Text 24"/>
          <p:cNvSpPr/>
          <p:nvPr/>
        </p:nvSpPr>
        <p:spPr>
          <a:xfrm>
            <a:off x="2788920" y="2633472"/>
            <a:ext cx="2606040" cy="475488"/>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FDB Lookup</a:t>
            </a:r>
            <a:endParaRPr lang="en-US" sz="1200" dirty="0"/>
          </a:p>
        </p:txBody>
      </p:sp>
      <p:sp>
        <p:nvSpPr>
          <p:cNvPr id="27" name="Shape 25"/>
          <p:cNvSpPr/>
          <p:nvPr/>
        </p:nvSpPr>
        <p:spPr>
          <a:xfrm>
            <a:off x="2788920" y="3200400"/>
            <a:ext cx="2606040" cy="475488"/>
          </a:xfrm>
          <a:prstGeom prst="rect">
            <a:avLst/>
          </a:prstGeom>
          <a:solidFill>
            <a:srgbClr val="1A4D6E"/>
          </a:solidFill>
          <a:ln w="12700">
            <a:solidFill>
              <a:srgbClr val="1A4D6E"/>
            </a:solidFill>
            <a:prstDash val="solid"/>
          </a:ln>
        </p:spPr>
      </p:sp>
      <p:sp>
        <p:nvSpPr>
          <p:cNvPr id="28" name="Text 26"/>
          <p:cNvSpPr/>
          <p:nvPr/>
        </p:nvSpPr>
        <p:spPr>
          <a:xfrm>
            <a:off x="2788920" y="3200400"/>
            <a:ext cx="2606040" cy="475488"/>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VLAN Filtering</a:t>
            </a:r>
            <a:endParaRPr lang="en-US" sz="1200" dirty="0"/>
          </a:p>
        </p:txBody>
      </p:sp>
      <p:sp>
        <p:nvSpPr>
          <p:cNvPr id="29" name="Shape 27"/>
          <p:cNvSpPr/>
          <p:nvPr/>
        </p:nvSpPr>
        <p:spPr>
          <a:xfrm>
            <a:off x="2788920" y="3767328"/>
            <a:ext cx="2606040" cy="475488"/>
          </a:xfrm>
          <a:prstGeom prst="rect">
            <a:avLst/>
          </a:prstGeom>
          <a:solidFill>
            <a:srgbClr val="1A4D6E"/>
          </a:solidFill>
          <a:ln w="12700">
            <a:solidFill>
              <a:srgbClr val="1A4D6E"/>
            </a:solidFill>
            <a:prstDash val="solid"/>
          </a:ln>
        </p:spPr>
      </p:sp>
      <p:sp>
        <p:nvSpPr>
          <p:cNvPr id="30" name="Text 28"/>
          <p:cNvSpPr/>
          <p:nvPr/>
        </p:nvSpPr>
        <p:spPr>
          <a:xfrm>
            <a:off x="2788920" y="3767328"/>
            <a:ext cx="2606040" cy="475488"/>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Forwarding Decision</a:t>
            </a:r>
            <a:endParaRPr lang="en-US" sz="1200" dirty="0"/>
          </a:p>
        </p:txBody>
      </p:sp>
      <p:sp>
        <p:nvSpPr>
          <p:cNvPr id="31" name="Shape 29"/>
          <p:cNvSpPr/>
          <p:nvPr/>
        </p:nvSpPr>
        <p:spPr>
          <a:xfrm>
            <a:off x="5577840" y="2432304"/>
            <a:ext cx="1188720" cy="0"/>
          </a:xfrm>
          <a:prstGeom prst="line">
            <a:avLst/>
          </a:prstGeom>
          <a:noFill/>
          <a:ln w="12700">
            <a:solidFill>
              <a:srgbClr val="0E7C86"/>
            </a:solidFill>
            <a:prstDash val="solid"/>
          </a:ln>
        </p:spPr>
      </p:sp>
      <p:sp>
        <p:nvSpPr>
          <p:cNvPr id="32" name="Shape 30"/>
          <p:cNvSpPr/>
          <p:nvPr/>
        </p:nvSpPr>
        <p:spPr>
          <a:xfrm>
            <a:off x="6766560" y="2194560"/>
            <a:ext cx="1097280" cy="475488"/>
          </a:xfrm>
          <a:prstGeom prst="rect">
            <a:avLst/>
          </a:prstGeom>
          <a:solidFill>
            <a:srgbClr val="1A4D6E"/>
          </a:solidFill>
          <a:ln w="12700">
            <a:solidFill>
              <a:srgbClr val="1A4D6E"/>
            </a:solidFill>
            <a:prstDash val="solid"/>
          </a:ln>
        </p:spPr>
      </p:sp>
      <p:sp>
        <p:nvSpPr>
          <p:cNvPr id="33" name="Shape 31"/>
          <p:cNvSpPr/>
          <p:nvPr/>
        </p:nvSpPr>
        <p:spPr>
          <a:xfrm>
            <a:off x="6766560" y="2194560"/>
            <a:ext cx="1097280" cy="475488"/>
          </a:xfrm>
          <a:prstGeom prst="rect">
            <a:avLst/>
          </a:prstGeom>
          <a:solidFill>
            <a:srgbClr val="1A4D6E"/>
          </a:solidFill>
          <a:ln w="25400">
            <a:solidFill>
              <a:srgbClr val="0E7C86"/>
            </a:solidFill>
            <a:prstDash val="solid"/>
          </a:ln>
        </p:spPr>
      </p:sp>
      <p:sp>
        <p:nvSpPr>
          <p:cNvPr id="34" name="Text 32"/>
          <p:cNvSpPr/>
          <p:nvPr/>
        </p:nvSpPr>
        <p:spPr>
          <a:xfrm>
            <a:off x="6766560" y="2194560"/>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5</a:t>
            </a:r>
            <a:endParaRPr lang="en-US" sz="1100" dirty="0"/>
          </a:p>
        </p:txBody>
      </p:sp>
      <p:sp>
        <p:nvSpPr>
          <p:cNvPr id="35" name="Shape 33"/>
          <p:cNvSpPr/>
          <p:nvPr/>
        </p:nvSpPr>
        <p:spPr>
          <a:xfrm>
            <a:off x="5577840" y="2999232"/>
            <a:ext cx="1188720" cy="0"/>
          </a:xfrm>
          <a:prstGeom prst="line">
            <a:avLst/>
          </a:prstGeom>
          <a:noFill/>
          <a:ln w="12700">
            <a:solidFill>
              <a:srgbClr val="0E7C86"/>
            </a:solidFill>
            <a:prstDash val="solid"/>
          </a:ln>
        </p:spPr>
      </p:sp>
      <p:sp>
        <p:nvSpPr>
          <p:cNvPr id="36" name="Shape 34"/>
          <p:cNvSpPr/>
          <p:nvPr/>
        </p:nvSpPr>
        <p:spPr>
          <a:xfrm>
            <a:off x="6766560" y="2761488"/>
            <a:ext cx="1097280" cy="475488"/>
          </a:xfrm>
          <a:prstGeom prst="rect">
            <a:avLst/>
          </a:prstGeom>
          <a:solidFill>
            <a:srgbClr val="1A4D6E"/>
          </a:solidFill>
          <a:ln w="12700">
            <a:solidFill>
              <a:srgbClr val="1A4D6E"/>
            </a:solidFill>
            <a:prstDash val="solid"/>
          </a:ln>
        </p:spPr>
      </p:sp>
      <p:sp>
        <p:nvSpPr>
          <p:cNvPr id="37" name="Shape 35"/>
          <p:cNvSpPr/>
          <p:nvPr/>
        </p:nvSpPr>
        <p:spPr>
          <a:xfrm>
            <a:off x="6766560" y="2761488"/>
            <a:ext cx="1097280" cy="475488"/>
          </a:xfrm>
          <a:prstGeom prst="rect">
            <a:avLst/>
          </a:prstGeom>
          <a:solidFill>
            <a:srgbClr val="1A4D6E"/>
          </a:solidFill>
          <a:ln w="25400">
            <a:solidFill>
              <a:srgbClr val="0E7C86"/>
            </a:solidFill>
            <a:prstDash val="solid"/>
          </a:ln>
        </p:spPr>
      </p:sp>
      <p:sp>
        <p:nvSpPr>
          <p:cNvPr id="38" name="Text 36"/>
          <p:cNvSpPr/>
          <p:nvPr/>
        </p:nvSpPr>
        <p:spPr>
          <a:xfrm>
            <a:off x="6766560" y="2761488"/>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6</a:t>
            </a:r>
            <a:endParaRPr lang="en-US" sz="1100" dirty="0"/>
          </a:p>
        </p:txBody>
      </p:sp>
      <p:sp>
        <p:nvSpPr>
          <p:cNvPr id="39" name="Shape 37"/>
          <p:cNvSpPr/>
          <p:nvPr/>
        </p:nvSpPr>
        <p:spPr>
          <a:xfrm>
            <a:off x="5577840" y="3566160"/>
            <a:ext cx="1188720" cy="0"/>
          </a:xfrm>
          <a:prstGeom prst="line">
            <a:avLst/>
          </a:prstGeom>
          <a:noFill/>
          <a:ln w="12700">
            <a:solidFill>
              <a:srgbClr val="0E7C86"/>
            </a:solidFill>
            <a:prstDash val="solid"/>
          </a:ln>
        </p:spPr>
      </p:sp>
      <p:sp>
        <p:nvSpPr>
          <p:cNvPr id="40" name="Shape 38"/>
          <p:cNvSpPr/>
          <p:nvPr/>
        </p:nvSpPr>
        <p:spPr>
          <a:xfrm>
            <a:off x="6766560" y="3328416"/>
            <a:ext cx="1097280" cy="475488"/>
          </a:xfrm>
          <a:prstGeom prst="rect">
            <a:avLst/>
          </a:prstGeom>
          <a:solidFill>
            <a:srgbClr val="1A4D6E"/>
          </a:solidFill>
          <a:ln w="12700">
            <a:solidFill>
              <a:srgbClr val="1A4D6E"/>
            </a:solidFill>
            <a:prstDash val="solid"/>
          </a:ln>
        </p:spPr>
      </p:sp>
      <p:sp>
        <p:nvSpPr>
          <p:cNvPr id="41" name="Shape 39"/>
          <p:cNvSpPr/>
          <p:nvPr/>
        </p:nvSpPr>
        <p:spPr>
          <a:xfrm>
            <a:off x="6766560" y="3328416"/>
            <a:ext cx="1097280" cy="475488"/>
          </a:xfrm>
          <a:prstGeom prst="rect">
            <a:avLst/>
          </a:prstGeom>
          <a:solidFill>
            <a:srgbClr val="1A4D6E"/>
          </a:solidFill>
          <a:ln w="25400">
            <a:solidFill>
              <a:srgbClr val="0E7C86"/>
            </a:solidFill>
            <a:prstDash val="solid"/>
          </a:ln>
        </p:spPr>
      </p:sp>
      <p:sp>
        <p:nvSpPr>
          <p:cNvPr id="42" name="Text 40"/>
          <p:cNvSpPr/>
          <p:nvPr/>
        </p:nvSpPr>
        <p:spPr>
          <a:xfrm>
            <a:off x="6766560" y="3328416"/>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7</a:t>
            </a:r>
            <a:endParaRPr lang="en-US" sz="1100" dirty="0"/>
          </a:p>
        </p:txBody>
      </p:sp>
      <p:sp>
        <p:nvSpPr>
          <p:cNvPr id="43" name="Shape 41"/>
          <p:cNvSpPr/>
          <p:nvPr/>
        </p:nvSpPr>
        <p:spPr>
          <a:xfrm>
            <a:off x="5577840" y="4133088"/>
            <a:ext cx="1188720" cy="0"/>
          </a:xfrm>
          <a:prstGeom prst="line">
            <a:avLst/>
          </a:prstGeom>
          <a:noFill/>
          <a:ln w="12700">
            <a:solidFill>
              <a:srgbClr val="0E7C86"/>
            </a:solidFill>
            <a:prstDash val="solid"/>
          </a:ln>
        </p:spPr>
      </p:sp>
      <p:sp>
        <p:nvSpPr>
          <p:cNvPr id="44" name="Shape 42"/>
          <p:cNvSpPr/>
          <p:nvPr/>
        </p:nvSpPr>
        <p:spPr>
          <a:xfrm>
            <a:off x="6766560" y="3895344"/>
            <a:ext cx="1097280" cy="475488"/>
          </a:xfrm>
          <a:prstGeom prst="rect">
            <a:avLst/>
          </a:prstGeom>
          <a:solidFill>
            <a:srgbClr val="1A4D6E"/>
          </a:solidFill>
          <a:ln w="12700">
            <a:solidFill>
              <a:srgbClr val="1A4D6E"/>
            </a:solidFill>
            <a:prstDash val="solid"/>
          </a:ln>
        </p:spPr>
      </p:sp>
      <p:sp>
        <p:nvSpPr>
          <p:cNvPr id="45" name="Shape 43"/>
          <p:cNvSpPr/>
          <p:nvPr/>
        </p:nvSpPr>
        <p:spPr>
          <a:xfrm>
            <a:off x="6766560" y="3895344"/>
            <a:ext cx="1097280" cy="475488"/>
          </a:xfrm>
          <a:prstGeom prst="rect">
            <a:avLst/>
          </a:prstGeom>
          <a:solidFill>
            <a:srgbClr val="1A4D6E"/>
          </a:solidFill>
          <a:ln w="25400">
            <a:solidFill>
              <a:srgbClr val="0E7C86"/>
            </a:solidFill>
            <a:prstDash val="solid"/>
          </a:ln>
        </p:spPr>
      </p:sp>
      <p:sp>
        <p:nvSpPr>
          <p:cNvPr id="46" name="Text 44"/>
          <p:cNvSpPr/>
          <p:nvPr/>
        </p:nvSpPr>
        <p:spPr>
          <a:xfrm>
            <a:off x="6766560" y="3895344"/>
            <a:ext cx="1097280" cy="475488"/>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Port 8</a:t>
            </a:r>
            <a:endParaRPr lang="en-US" sz="1100" dirty="0"/>
          </a:p>
        </p:txBody>
      </p:sp>
      <p:sp>
        <p:nvSpPr>
          <p:cNvPr id="47" name="Shape 45"/>
          <p:cNvSpPr/>
          <p:nvPr/>
        </p:nvSpPr>
        <p:spPr>
          <a:xfrm>
            <a:off x="502920" y="4617720"/>
            <a:ext cx="8138160" cy="347472"/>
          </a:xfrm>
          <a:prstGeom prst="rect">
            <a:avLst/>
          </a:prstGeom>
          <a:solidFill>
            <a:srgbClr val="1A4D6E"/>
          </a:solidFill>
          <a:ln w="12700">
            <a:solidFill>
              <a:srgbClr val="1A4D6E"/>
            </a:solidFill>
            <a:prstDash val="solid"/>
          </a:ln>
        </p:spPr>
      </p:sp>
      <p:sp>
        <p:nvSpPr>
          <p:cNvPr id="48" name="Text 46"/>
          <p:cNvSpPr/>
          <p:nvPr/>
        </p:nvSpPr>
        <p:spPr>
          <a:xfrm>
            <a:off x="640080" y="4636008"/>
            <a:ext cx="7863840" cy="310896"/>
          </a:xfrm>
          <a:prstGeom prst="rect">
            <a:avLst/>
          </a:prstGeom>
          <a:noFill/>
          <a:ln/>
        </p:spPr>
        <p:txBody>
          <a:bodyPr wrap="square" lIns="0" tIns="0" rIns="0" bIns="0" rtlCol="0" anchor="ctr"/>
          <a:lstStyle/>
          <a:p>
            <a:pPr algn="ctr" indent="0" marL="0">
              <a:buNone/>
            </a:pPr>
            <a:r>
              <a:rPr lang="en-US" sz="1200" b="1" dirty="0">
                <a:solidFill>
                  <a:srgbClr val="F0A500"/>
                </a:solidFill>
                <a:latin typeface="Trebuchet MS" pitchFamily="34" charset="0"/>
                <a:ea typeface="Trebuchet MS" pitchFamily="34" charset="-122"/>
                <a:cs typeface="Trebuchet MS" pitchFamily="34" charset="-120"/>
              </a:rPr>
              <a:t>Forwarding is not just destination MAC. It is destination MAC in VLAN context. That is why VLAN support changes the bridge fundamentally.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200" b="1" dirty="0">
                <a:solidFill>
                  <a:srgbClr val="0B2D4E"/>
                </a:solidFill>
                <a:latin typeface="Trebuchet MS" pitchFamily="34" charset="0"/>
                <a:ea typeface="Trebuchet MS" pitchFamily="34" charset="-122"/>
                <a:cs typeface="Trebuchet MS" pitchFamily="34" charset="-120"/>
              </a:rPr>
              <a:t>The VLAN Tag: Four Bytes in the Right Place</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77724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A tagged frame carries an extra four-byte field inserted between the source MAC address and the original EtherType. The receiver sees MAC addresses first, then immediately learns the VLAN context before deeper forwarding logic begins.</a:t>
            </a:r>
            <a:endParaRPr lang="en-US" sz="1400" dirty="0"/>
          </a:p>
        </p:txBody>
      </p:sp>
      <p:sp>
        <p:nvSpPr>
          <p:cNvPr id="5" name="Shape 3"/>
          <p:cNvSpPr/>
          <p:nvPr/>
        </p:nvSpPr>
        <p:spPr>
          <a:xfrm>
            <a:off x="274320" y="2176272"/>
            <a:ext cx="1417320" cy="658368"/>
          </a:xfrm>
          <a:prstGeom prst="rect">
            <a:avLst/>
          </a:prstGeom>
          <a:solidFill>
            <a:srgbClr val="4A6B82"/>
          </a:solidFill>
          <a:ln w="12700">
            <a:solidFill>
              <a:srgbClr val="4A6B82"/>
            </a:solidFill>
            <a:prstDash val="solid"/>
          </a:ln>
        </p:spPr>
      </p:sp>
      <p:sp>
        <p:nvSpPr>
          <p:cNvPr id="6" name="Shape 4"/>
          <p:cNvSpPr/>
          <p:nvPr/>
        </p:nvSpPr>
        <p:spPr>
          <a:xfrm>
            <a:off x="274320" y="2176272"/>
            <a:ext cx="1417320" cy="658368"/>
          </a:xfrm>
          <a:prstGeom prst="rect">
            <a:avLst/>
          </a:prstGeom>
          <a:solidFill>
            <a:srgbClr val="4A6B82"/>
          </a:solidFill>
          <a:ln w="12700">
            <a:solidFill>
              <a:srgbClr val="FFFFFF"/>
            </a:solidFill>
            <a:prstDash val="solid"/>
          </a:ln>
        </p:spPr>
      </p:sp>
      <p:sp>
        <p:nvSpPr>
          <p:cNvPr id="7" name="Text 5"/>
          <p:cNvSpPr/>
          <p:nvPr/>
        </p:nvSpPr>
        <p:spPr>
          <a:xfrm>
            <a:off x="310896" y="2176272"/>
            <a:ext cx="13441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Dst MAC</a:t>
            </a:r>
            <a:endParaRPr lang="en-US" sz="1000" dirty="0"/>
          </a:p>
        </p:txBody>
      </p:sp>
      <p:sp>
        <p:nvSpPr>
          <p:cNvPr id="8" name="Shape 6"/>
          <p:cNvSpPr/>
          <p:nvPr/>
        </p:nvSpPr>
        <p:spPr>
          <a:xfrm>
            <a:off x="1691640" y="2176272"/>
            <a:ext cx="1417320" cy="658368"/>
          </a:xfrm>
          <a:prstGeom prst="rect">
            <a:avLst/>
          </a:prstGeom>
          <a:solidFill>
            <a:srgbClr val="4A6B82"/>
          </a:solidFill>
          <a:ln w="12700">
            <a:solidFill>
              <a:srgbClr val="4A6B82"/>
            </a:solidFill>
            <a:prstDash val="solid"/>
          </a:ln>
        </p:spPr>
      </p:sp>
      <p:sp>
        <p:nvSpPr>
          <p:cNvPr id="9" name="Shape 7"/>
          <p:cNvSpPr/>
          <p:nvPr/>
        </p:nvSpPr>
        <p:spPr>
          <a:xfrm>
            <a:off x="1691640" y="2176272"/>
            <a:ext cx="1417320" cy="658368"/>
          </a:xfrm>
          <a:prstGeom prst="rect">
            <a:avLst/>
          </a:prstGeom>
          <a:solidFill>
            <a:srgbClr val="4A6B82"/>
          </a:solidFill>
          <a:ln w="12700">
            <a:solidFill>
              <a:srgbClr val="FFFFFF"/>
            </a:solidFill>
            <a:prstDash val="solid"/>
          </a:ln>
        </p:spPr>
      </p:sp>
      <p:sp>
        <p:nvSpPr>
          <p:cNvPr id="10" name="Text 8"/>
          <p:cNvSpPr/>
          <p:nvPr/>
        </p:nvSpPr>
        <p:spPr>
          <a:xfrm>
            <a:off x="1728216" y="2176272"/>
            <a:ext cx="13441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Src MAC</a:t>
            </a:r>
            <a:endParaRPr lang="en-US" sz="1000" dirty="0"/>
          </a:p>
        </p:txBody>
      </p:sp>
      <p:sp>
        <p:nvSpPr>
          <p:cNvPr id="11" name="Shape 9"/>
          <p:cNvSpPr/>
          <p:nvPr/>
        </p:nvSpPr>
        <p:spPr>
          <a:xfrm>
            <a:off x="3108960" y="2176272"/>
            <a:ext cx="1188720" cy="658368"/>
          </a:xfrm>
          <a:prstGeom prst="rect">
            <a:avLst/>
          </a:prstGeom>
          <a:solidFill>
            <a:srgbClr val="0E7C86"/>
          </a:solidFill>
          <a:ln w="12700">
            <a:solidFill>
              <a:srgbClr val="0E7C86"/>
            </a:solidFill>
            <a:prstDash val="solid"/>
          </a:ln>
        </p:spPr>
      </p:sp>
      <p:sp>
        <p:nvSpPr>
          <p:cNvPr id="12" name="Shape 10"/>
          <p:cNvSpPr/>
          <p:nvPr/>
        </p:nvSpPr>
        <p:spPr>
          <a:xfrm>
            <a:off x="3108960" y="2176272"/>
            <a:ext cx="1188720" cy="658368"/>
          </a:xfrm>
          <a:prstGeom prst="rect">
            <a:avLst/>
          </a:prstGeom>
          <a:solidFill>
            <a:srgbClr val="0E7C86"/>
          </a:solidFill>
          <a:ln w="12700">
            <a:solidFill>
              <a:srgbClr val="FFFFFF"/>
            </a:solidFill>
            <a:prstDash val="solid"/>
          </a:ln>
        </p:spPr>
      </p:sp>
      <p:sp>
        <p:nvSpPr>
          <p:cNvPr id="13" name="Text 11"/>
          <p:cNvSpPr/>
          <p:nvPr/>
        </p:nvSpPr>
        <p:spPr>
          <a:xfrm>
            <a:off x="3145536" y="2176272"/>
            <a:ext cx="11155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TPID</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81-00 or 88-A8</a:t>
            </a:r>
            <a:endParaRPr lang="en-US" sz="1000" dirty="0"/>
          </a:p>
        </p:txBody>
      </p:sp>
      <p:sp>
        <p:nvSpPr>
          <p:cNvPr id="14" name="Shape 12"/>
          <p:cNvSpPr/>
          <p:nvPr/>
        </p:nvSpPr>
        <p:spPr>
          <a:xfrm>
            <a:off x="4297680" y="2176272"/>
            <a:ext cx="1188720" cy="658368"/>
          </a:xfrm>
          <a:prstGeom prst="rect">
            <a:avLst/>
          </a:prstGeom>
          <a:solidFill>
            <a:srgbClr val="0E7C86"/>
          </a:solidFill>
          <a:ln w="12700">
            <a:solidFill>
              <a:srgbClr val="0E7C86"/>
            </a:solidFill>
            <a:prstDash val="solid"/>
          </a:ln>
        </p:spPr>
      </p:sp>
      <p:sp>
        <p:nvSpPr>
          <p:cNvPr id="15" name="Shape 13"/>
          <p:cNvSpPr/>
          <p:nvPr/>
        </p:nvSpPr>
        <p:spPr>
          <a:xfrm>
            <a:off x="4297680" y="2176272"/>
            <a:ext cx="1188720" cy="658368"/>
          </a:xfrm>
          <a:prstGeom prst="rect">
            <a:avLst/>
          </a:prstGeom>
          <a:solidFill>
            <a:srgbClr val="0E7C86"/>
          </a:solidFill>
          <a:ln w="12700">
            <a:solidFill>
              <a:srgbClr val="FFFFFF"/>
            </a:solidFill>
            <a:prstDash val="solid"/>
          </a:ln>
        </p:spPr>
      </p:sp>
      <p:sp>
        <p:nvSpPr>
          <p:cNvPr id="16" name="Text 14"/>
          <p:cNvSpPr/>
          <p:nvPr/>
        </p:nvSpPr>
        <p:spPr>
          <a:xfrm>
            <a:off x="4334256" y="2176272"/>
            <a:ext cx="11155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TCI</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(VID+PCP+DEI)</a:t>
            </a:r>
            <a:endParaRPr lang="en-US" sz="1000" dirty="0"/>
          </a:p>
        </p:txBody>
      </p:sp>
      <p:sp>
        <p:nvSpPr>
          <p:cNvPr id="17" name="Shape 15"/>
          <p:cNvSpPr/>
          <p:nvPr/>
        </p:nvSpPr>
        <p:spPr>
          <a:xfrm>
            <a:off x="5486400" y="2176272"/>
            <a:ext cx="1371600" cy="658368"/>
          </a:xfrm>
          <a:prstGeom prst="rect">
            <a:avLst/>
          </a:prstGeom>
          <a:solidFill>
            <a:srgbClr val="4A6B82"/>
          </a:solidFill>
          <a:ln w="12700">
            <a:solidFill>
              <a:srgbClr val="4A6B82"/>
            </a:solidFill>
            <a:prstDash val="solid"/>
          </a:ln>
        </p:spPr>
      </p:sp>
      <p:sp>
        <p:nvSpPr>
          <p:cNvPr id="18" name="Shape 16"/>
          <p:cNvSpPr/>
          <p:nvPr/>
        </p:nvSpPr>
        <p:spPr>
          <a:xfrm>
            <a:off x="5486400" y="2176272"/>
            <a:ext cx="1371600" cy="658368"/>
          </a:xfrm>
          <a:prstGeom prst="rect">
            <a:avLst/>
          </a:prstGeom>
          <a:solidFill>
            <a:srgbClr val="4A6B82"/>
          </a:solidFill>
          <a:ln w="12700">
            <a:solidFill>
              <a:srgbClr val="FFFFFF"/>
            </a:solidFill>
            <a:prstDash val="solid"/>
          </a:ln>
        </p:spPr>
      </p:sp>
      <p:sp>
        <p:nvSpPr>
          <p:cNvPr id="19" name="Text 17"/>
          <p:cNvSpPr/>
          <p:nvPr/>
        </p:nvSpPr>
        <p:spPr>
          <a:xfrm>
            <a:off x="5522976" y="2176272"/>
            <a:ext cx="129844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EtherType / Length</a:t>
            </a:r>
            <a:endParaRPr lang="en-US" sz="1000" dirty="0"/>
          </a:p>
        </p:txBody>
      </p:sp>
      <p:sp>
        <p:nvSpPr>
          <p:cNvPr id="20" name="Shape 18"/>
          <p:cNvSpPr/>
          <p:nvPr/>
        </p:nvSpPr>
        <p:spPr>
          <a:xfrm>
            <a:off x="6858000" y="2176272"/>
            <a:ext cx="1371600" cy="658368"/>
          </a:xfrm>
          <a:prstGeom prst="rect">
            <a:avLst/>
          </a:prstGeom>
          <a:solidFill>
            <a:srgbClr val="3D3D3D"/>
          </a:solidFill>
          <a:ln w="12700">
            <a:solidFill>
              <a:srgbClr val="3D3D3D"/>
            </a:solidFill>
            <a:prstDash val="solid"/>
          </a:ln>
        </p:spPr>
      </p:sp>
      <p:sp>
        <p:nvSpPr>
          <p:cNvPr id="21" name="Shape 19"/>
          <p:cNvSpPr/>
          <p:nvPr/>
        </p:nvSpPr>
        <p:spPr>
          <a:xfrm>
            <a:off x="6858000" y="2176272"/>
            <a:ext cx="1371600" cy="658368"/>
          </a:xfrm>
          <a:prstGeom prst="rect">
            <a:avLst/>
          </a:prstGeom>
          <a:solidFill>
            <a:srgbClr val="3D3D3D"/>
          </a:solidFill>
          <a:ln w="12700">
            <a:solidFill>
              <a:srgbClr val="FFFFFF"/>
            </a:solidFill>
            <a:prstDash val="solid"/>
          </a:ln>
        </p:spPr>
      </p:sp>
      <p:sp>
        <p:nvSpPr>
          <p:cNvPr id="22" name="Text 20"/>
          <p:cNvSpPr/>
          <p:nvPr/>
        </p:nvSpPr>
        <p:spPr>
          <a:xfrm>
            <a:off x="6894576" y="2176272"/>
            <a:ext cx="129844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Payload ...</a:t>
            </a:r>
            <a:endParaRPr lang="en-US" sz="1000" dirty="0"/>
          </a:p>
        </p:txBody>
      </p:sp>
      <p:sp>
        <p:nvSpPr>
          <p:cNvPr id="23" name="Shape 21"/>
          <p:cNvSpPr/>
          <p:nvPr/>
        </p:nvSpPr>
        <p:spPr>
          <a:xfrm>
            <a:off x="2834640" y="2852928"/>
            <a:ext cx="2377440" cy="36576"/>
          </a:xfrm>
          <a:prstGeom prst="rect">
            <a:avLst/>
          </a:prstGeom>
          <a:solidFill>
            <a:srgbClr val="0E7C86"/>
          </a:solidFill>
          <a:ln w="12700">
            <a:solidFill>
              <a:srgbClr val="0E7C86"/>
            </a:solidFill>
            <a:prstDash val="solid"/>
          </a:ln>
        </p:spPr>
      </p:sp>
      <p:sp>
        <p:nvSpPr>
          <p:cNvPr id="24" name="Text 22"/>
          <p:cNvSpPr/>
          <p:nvPr/>
        </p:nvSpPr>
        <p:spPr>
          <a:xfrm>
            <a:off x="2834640" y="2926080"/>
            <a:ext cx="2377440" cy="274320"/>
          </a:xfrm>
          <a:prstGeom prst="rect">
            <a:avLst/>
          </a:prstGeom>
          <a:noFill/>
          <a:ln/>
        </p:spPr>
        <p:txBody>
          <a:bodyPr wrap="square" lIns="0" tIns="0" rIns="0" bIns="0" rtlCol="0" anchor="ctr"/>
          <a:lstStyle/>
          <a:p>
            <a:pPr algn="ctr" indent="0" marL="0">
              <a:buNone/>
            </a:pPr>
            <a:r>
              <a:rPr lang="en-US" sz="1100" dirty="0">
                <a:solidFill>
                  <a:srgbClr val="0E7C86"/>
                </a:solidFill>
                <a:latin typeface="Calibri" pitchFamily="34" charset="0"/>
                <a:ea typeface="Calibri" pitchFamily="34" charset="-122"/>
                <a:cs typeface="Calibri" pitchFamily="34" charset="-120"/>
              </a:rPr>
              <a:t>802.1Q Tag (4 bytes inserted here)</a:t>
            </a:r>
            <a:endParaRPr lang="en-US" sz="1100" dirty="0"/>
          </a:p>
        </p:txBody>
      </p:sp>
      <p:sp>
        <p:nvSpPr>
          <p:cNvPr id="25" name="Shape 23"/>
          <p:cNvSpPr/>
          <p:nvPr/>
        </p:nvSpPr>
        <p:spPr>
          <a:xfrm>
            <a:off x="502920" y="3310128"/>
            <a:ext cx="4069080" cy="1508760"/>
          </a:xfrm>
          <a:prstGeom prst="rect">
            <a:avLst/>
          </a:prstGeom>
          <a:solidFill>
            <a:srgbClr val="0B2D4E"/>
          </a:solidFill>
          <a:ln w="12700">
            <a:solidFill>
              <a:srgbClr val="0B2D4E"/>
            </a:solidFill>
            <a:prstDash val="solid"/>
          </a:ln>
        </p:spPr>
      </p:sp>
      <p:sp>
        <p:nvSpPr>
          <p:cNvPr id="26" name="Shape 24"/>
          <p:cNvSpPr/>
          <p:nvPr/>
        </p:nvSpPr>
        <p:spPr>
          <a:xfrm>
            <a:off x="502920" y="3310128"/>
            <a:ext cx="4069080" cy="1508760"/>
          </a:xfrm>
          <a:prstGeom prst="rect">
            <a:avLst/>
          </a:prstGeom>
          <a:solidFill>
            <a:srgbClr val="0B2D4E"/>
          </a:solidFill>
          <a:ln w="25400">
            <a:solidFill>
              <a:srgbClr val="0E7C86"/>
            </a:solidFill>
            <a:prstDash val="solid"/>
          </a:ln>
        </p:spPr>
      </p:sp>
      <p:sp>
        <p:nvSpPr>
          <p:cNvPr id="27" name="Text 25"/>
          <p:cNvSpPr/>
          <p:nvPr/>
        </p:nvSpPr>
        <p:spPr>
          <a:xfrm>
            <a:off x="612648" y="3401568"/>
            <a:ext cx="3840480" cy="384048"/>
          </a:xfrm>
          <a:prstGeom prst="rect">
            <a:avLst/>
          </a:prstGeom>
          <a:noFill/>
          <a:ln/>
        </p:spPr>
        <p:txBody>
          <a:bodyPr wrap="square" lIns="0" tIns="0" rIns="0" bIns="0" rtlCol="0" anchor="ctr"/>
          <a:lstStyle/>
          <a:p>
            <a:pPr algn="l" indent="0" marL="0">
              <a:buNone/>
            </a:pPr>
            <a:r>
              <a:rPr lang="en-US" sz="1200" b="1" dirty="0">
                <a:solidFill>
                  <a:srgbClr val="0E7C86"/>
                </a:solidFill>
                <a:latin typeface="Trebuchet MS" pitchFamily="34" charset="0"/>
                <a:ea typeface="Trebuchet MS" pitchFamily="34" charset="-122"/>
                <a:cs typeface="Trebuchet MS" pitchFamily="34" charset="-120"/>
              </a:rPr>
              <a:t>TPID — Tag Protocol Identifier (2 bytes)</a:t>
            </a:r>
            <a:endParaRPr lang="en-US" sz="1200" dirty="0"/>
          </a:p>
        </p:txBody>
      </p:sp>
      <p:sp>
        <p:nvSpPr>
          <p:cNvPr id="28" name="Shape 26"/>
          <p:cNvSpPr/>
          <p:nvPr/>
        </p:nvSpPr>
        <p:spPr>
          <a:xfrm>
            <a:off x="612648" y="3813048"/>
            <a:ext cx="3749040" cy="36576"/>
          </a:xfrm>
          <a:prstGeom prst="rect">
            <a:avLst/>
          </a:prstGeom>
          <a:solidFill>
            <a:srgbClr val="0E7C86"/>
          </a:solidFill>
          <a:ln w="12700">
            <a:solidFill>
              <a:srgbClr val="0E7C86"/>
            </a:solidFill>
            <a:prstDash val="solid"/>
          </a:ln>
        </p:spPr>
      </p:sp>
      <p:sp>
        <p:nvSpPr>
          <p:cNvPr id="29" name="Text 27"/>
          <p:cNvSpPr/>
          <p:nvPr/>
        </p:nvSpPr>
        <p:spPr>
          <a:xfrm>
            <a:off x="612648" y="3886200"/>
            <a:ext cx="3794760" cy="86868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Tells the receiver a tag is present.</a:t>
            </a:r>
            <a:endParaRPr lang="en-US" sz="1200" dirty="0"/>
          </a:p>
          <a:p>
            <a:pPr algn="l" indent="0" marL="0">
              <a:buNone/>
            </a:pPr>
            <a:r>
              <a:rPr lang="en-US" sz="1200" dirty="0">
                <a:solidFill>
                  <a:srgbClr val="D6EAF8"/>
                </a:solidFill>
                <a:latin typeface="Calibri" pitchFamily="34" charset="0"/>
                <a:ea typeface="Calibri" pitchFamily="34" charset="-122"/>
                <a:cs typeface="Calibri" pitchFamily="34" charset="-120"/>
              </a:rPr>
              <a:t>C-VLAN uses EtherType 0x81-00</a:t>
            </a:r>
            <a:endParaRPr lang="en-US" sz="1200" dirty="0"/>
          </a:p>
          <a:p>
            <a:pPr algn="l" indent="0" marL="0">
              <a:buNone/>
            </a:pPr>
            <a:r>
              <a:rPr lang="en-US" sz="1200" dirty="0">
                <a:solidFill>
                  <a:srgbClr val="D6EAF8"/>
                </a:solidFill>
                <a:latin typeface="Calibri" pitchFamily="34" charset="0"/>
                <a:ea typeface="Calibri" pitchFamily="34" charset="-122"/>
                <a:cs typeface="Calibri" pitchFamily="34" charset="-120"/>
              </a:rPr>
              <a:t>S-VLAN uses EtherType 0x88-A8 (Q-in-Q)</a:t>
            </a:r>
            <a:endParaRPr lang="en-US" sz="1200" dirty="0"/>
          </a:p>
        </p:txBody>
      </p:sp>
      <p:sp>
        <p:nvSpPr>
          <p:cNvPr id="30" name="Shape 28"/>
          <p:cNvSpPr/>
          <p:nvPr/>
        </p:nvSpPr>
        <p:spPr>
          <a:xfrm>
            <a:off x="4846320" y="3310128"/>
            <a:ext cx="4069080" cy="1508760"/>
          </a:xfrm>
          <a:prstGeom prst="rect">
            <a:avLst/>
          </a:prstGeom>
          <a:solidFill>
            <a:srgbClr val="0B2D4E"/>
          </a:solidFill>
          <a:ln w="12700">
            <a:solidFill>
              <a:srgbClr val="0B2D4E"/>
            </a:solidFill>
            <a:prstDash val="solid"/>
          </a:ln>
        </p:spPr>
      </p:sp>
      <p:sp>
        <p:nvSpPr>
          <p:cNvPr id="31" name="Shape 29"/>
          <p:cNvSpPr/>
          <p:nvPr/>
        </p:nvSpPr>
        <p:spPr>
          <a:xfrm>
            <a:off x="4846320" y="3310128"/>
            <a:ext cx="4069080" cy="1508760"/>
          </a:xfrm>
          <a:prstGeom prst="rect">
            <a:avLst/>
          </a:prstGeom>
          <a:solidFill>
            <a:srgbClr val="0B2D4E"/>
          </a:solidFill>
          <a:ln w="25400">
            <a:solidFill>
              <a:srgbClr val="F0A500"/>
            </a:solidFill>
            <a:prstDash val="solid"/>
          </a:ln>
        </p:spPr>
      </p:sp>
      <p:sp>
        <p:nvSpPr>
          <p:cNvPr id="32" name="Text 30"/>
          <p:cNvSpPr/>
          <p:nvPr/>
        </p:nvSpPr>
        <p:spPr>
          <a:xfrm>
            <a:off x="4956048" y="3401568"/>
            <a:ext cx="3840480" cy="384048"/>
          </a:xfrm>
          <a:prstGeom prst="rect">
            <a:avLst/>
          </a:prstGeom>
          <a:noFill/>
          <a:ln/>
        </p:spPr>
        <p:txBody>
          <a:bodyPr wrap="square" lIns="0" tIns="0" rIns="0" bIns="0" rtlCol="0" anchor="ctr"/>
          <a:lstStyle/>
          <a:p>
            <a:pPr algn="l" indent="0" marL="0">
              <a:buNone/>
            </a:pPr>
            <a:r>
              <a:rPr lang="en-US" sz="1200" b="1" dirty="0">
                <a:solidFill>
                  <a:srgbClr val="F0A500"/>
                </a:solidFill>
                <a:latin typeface="Trebuchet MS" pitchFamily="34" charset="0"/>
                <a:ea typeface="Trebuchet MS" pitchFamily="34" charset="-122"/>
                <a:cs typeface="Trebuchet MS" pitchFamily="34" charset="-120"/>
              </a:rPr>
              <a:t>TCI — Tag Control Information (2 bytes)</a:t>
            </a:r>
            <a:endParaRPr lang="en-US" sz="1200" dirty="0"/>
          </a:p>
        </p:txBody>
      </p:sp>
      <p:sp>
        <p:nvSpPr>
          <p:cNvPr id="33" name="Shape 31"/>
          <p:cNvSpPr/>
          <p:nvPr/>
        </p:nvSpPr>
        <p:spPr>
          <a:xfrm>
            <a:off x="4956048" y="3813048"/>
            <a:ext cx="3749040" cy="36576"/>
          </a:xfrm>
          <a:prstGeom prst="rect">
            <a:avLst/>
          </a:prstGeom>
          <a:solidFill>
            <a:srgbClr val="F0A500"/>
          </a:solidFill>
          <a:ln w="12700">
            <a:solidFill>
              <a:srgbClr val="F0A500"/>
            </a:solidFill>
            <a:prstDash val="solid"/>
          </a:ln>
        </p:spPr>
      </p:sp>
      <p:sp>
        <p:nvSpPr>
          <p:cNvPr id="34" name="Text 32"/>
          <p:cNvSpPr/>
          <p:nvPr/>
        </p:nvSpPr>
        <p:spPr>
          <a:xfrm>
            <a:off x="4956048" y="3886200"/>
            <a:ext cx="3794760" cy="86868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Carries VID (12 bits), PCP (3 bits), DEI (1 bit)</a:t>
            </a:r>
            <a:endParaRPr lang="en-US" sz="1200" dirty="0"/>
          </a:p>
          <a:p>
            <a:pPr algn="l" indent="0" marL="0">
              <a:buNone/>
            </a:pPr>
            <a:r>
              <a:rPr lang="en-US" sz="1200" dirty="0">
                <a:solidFill>
                  <a:srgbClr val="D6EAF8"/>
                </a:solidFill>
                <a:latin typeface="Calibri" pitchFamily="34" charset="0"/>
                <a:ea typeface="Calibri" pitchFamily="34" charset="-122"/>
                <a:cs typeface="Calibri" pitchFamily="34" charset="-120"/>
              </a:rPr>
              <a:t>This is where VLAN identity, priority, and drop hints live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Inside the Tag: VID, PCP, and DEI</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98448"/>
            <a:ext cx="1325880" cy="1005840"/>
          </a:xfrm>
          <a:prstGeom prst="rect">
            <a:avLst/>
          </a:prstGeom>
          <a:solidFill>
            <a:srgbClr val="1A9DAA"/>
          </a:solidFill>
          <a:ln w="12700">
            <a:solidFill>
              <a:srgbClr val="1A9DAA"/>
            </a:solidFill>
            <a:prstDash val="solid"/>
          </a:ln>
        </p:spPr>
      </p:sp>
      <p:sp>
        <p:nvSpPr>
          <p:cNvPr id="5" name="Text 3"/>
          <p:cNvSpPr/>
          <p:nvPr/>
        </p:nvSpPr>
        <p:spPr>
          <a:xfrm>
            <a:off x="502920" y="1298448"/>
            <a:ext cx="13258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VID</a:t>
            </a:r>
            <a:endParaRPr lang="en-US" sz="2000" dirty="0"/>
          </a:p>
        </p:txBody>
      </p:sp>
      <p:sp>
        <p:nvSpPr>
          <p:cNvPr id="6" name="Text 4"/>
          <p:cNvSpPr/>
          <p:nvPr/>
        </p:nvSpPr>
        <p:spPr>
          <a:xfrm>
            <a:off x="502920" y="1755648"/>
            <a:ext cx="132588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12 bits</a:t>
            </a:r>
            <a:endParaRPr lang="en-US" sz="1100" dirty="0"/>
          </a:p>
        </p:txBody>
      </p:sp>
      <p:sp>
        <p:nvSpPr>
          <p:cNvPr id="7" name="Text 5"/>
          <p:cNvSpPr/>
          <p:nvPr/>
        </p:nvSpPr>
        <p:spPr>
          <a:xfrm>
            <a:off x="1920240" y="1353312"/>
            <a:ext cx="2194560" cy="347472"/>
          </a:xfrm>
          <a:prstGeom prst="rect">
            <a:avLst/>
          </a:prstGeom>
          <a:noFill/>
          <a:ln/>
        </p:spPr>
        <p:txBody>
          <a:bodyPr wrap="square" lIns="0" tIns="0" rIns="0" bIns="0" rtlCol="0" anchor="ctr"/>
          <a:lstStyle/>
          <a:p>
            <a:pPr algn="l" indent="0" marL="0">
              <a:buNone/>
            </a:pPr>
            <a:r>
              <a:rPr lang="en-US" sz="1300" b="1" dirty="0">
                <a:solidFill>
                  <a:srgbClr val="1A9DAA"/>
                </a:solidFill>
                <a:latin typeface="Trebuchet MS" pitchFamily="34" charset="0"/>
                <a:ea typeface="Trebuchet MS" pitchFamily="34" charset="-122"/>
                <a:cs typeface="Trebuchet MS" pitchFamily="34" charset="-120"/>
              </a:rPr>
              <a:t>VLAN Identifier</a:t>
            </a:r>
            <a:endParaRPr lang="en-US" sz="1300" dirty="0"/>
          </a:p>
        </p:txBody>
      </p:sp>
      <p:sp>
        <p:nvSpPr>
          <p:cNvPr id="8" name="Text 6"/>
          <p:cNvSpPr/>
          <p:nvPr/>
        </p:nvSpPr>
        <p:spPr>
          <a:xfrm>
            <a:off x="1920240" y="1719072"/>
            <a:ext cx="2194560" cy="274320"/>
          </a:xfrm>
          <a:prstGeom prst="rect">
            <a:avLst/>
          </a:prstGeom>
          <a:noFill/>
          <a:ln/>
        </p:spPr>
        <p:txBody>
          <a:bodyPr wrap="square" lIns="0" tIns="0" rIns="0" bIns="0" rtlCol="0" anchor="ctr"/>
          <a:lstStyle/>
          <a:p>
            <a:pPr algn="l" indent="0" marL="0">
              <a:buNone/>
            </a:pPr>
            <a:r>
              <a:rPr lang="en-US" sz="1200" dirty="0">
                <a:solidFill>
                  <a:srgbClr val="D6EAF8"/>
                </a:solidFill>
                <a:latin typeface="Calibri" pitchFamily="34" charset="0"/>
                <a:ea typeface="Calibri" pitchFamily="34" charset="-122"/>
                <a:cs typeface="Calibri" pitchFamily="34" charset="-120"/>
              </a:rPr>
              <a:t>Range: 1 – 4094</a:t>
            </a:r>
            <a:endParaRPr lang="en-US" sz="1200" dirty="0"/>
          </a:p>
        </p:txBody>
      </p:sp>
      <p:sp>
        <p:nvSpPr>
          <p:cNvPr id="9" name="Text 7"/>
          <p:cNvSpPr/>
          <p:nvPr/>
        </p:nvSpPr>
        <p:spPr>
          <a:xfrm>
            <a:off x="4206240" y="1344168"/>
            <a:ext cx="457200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Membership label, not a path. Tells the switch which logical Layer 2 domain this frame belongs to. The same MAC address can appear in different VLAN contexts, and must be treated separately.</a:t>
            </a:r>
            <a:endParaRPr lang="en-US" sz="1200" dirty="0"/>
          </a:p>
        </p:txBody>
      </p:sp>
      <p:sp>
        <p:nvSpPr>
          <p:cNvPr id="10" name="Shape 8"/>
          <p:cNvSpPr/>
          <p:nvPr/>
        </p:nvSpPr>
        <p:spPr>
          <a:xfrm>
            <a:off x="502920" y="2487168"/>
            <a:ext cx="1325880" cy="1005840"/>
          </a:xfrm>
          <a:prstGeom prst="rect">
            <a:avLst/>
          </a:prstGeom>
          <a:solidFill>
            <a:srgbClr val="F0A500"/>
          </a:solidFill>
          <a:ln w="12700">
            <a:solidFill>
              <a:srgbClr val="F0A500"/>
            </a:solidFill>
            <a:prstDash val="solid"/>
          </a:ln>
        </p:spPr>
      </p:sp>
      <p:sp>
        <p:nvSpPr>
          <p:cNvPr id="11" name="Text 9"/>
          <p:cNvSpPr/>
          <p:nvPr/>
        </p:nvSpPr>
        <p:spPr>
          <a:xfrm>
            <a:off x="502920" y="2487168"/>
            <a:ext cx="13258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PCP</a:t>
            </a:r>
            <a:endParaRPr lang="en-US" sz="2000" dirty="0"/>
          </a:p>
        </p:txBody>
      </p:sp>
      <p:sp>
        <p:nvSpPr>
          <p:cNvPr id="12" name="Text 10"/>
          <p:cNvSpPr/>
          <p:nvPr/>
        </p:nvSpPr>
        <p:spPr>
          <a:xfrm>
            <a:off x="502920" y="2944368"/>
            <a:ext cx="132588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 bits</a:t>
            </a:r>
            <a:endParaRPr lang="en-US" sz="1100" dirty="0"/>
          </a:p>
        </p:txBody>
      </p:sp>
      <p:sp>
        <p:nvSpPr>
          <p:cNvPr id="13" name="Text 11"/>
          <p:cNvSpPr/>
          <p:nvPr/>
        </p:nvSpPr>
        <p:spPr>
          <a:xfrm>
            <a:off x="1920240" y="2542032"/>
            <a:ext cx="219456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Priority Code Point</a:t>
            </a:r>
            <a:endParaRPr lang="en-US" sz="1300" dirty="0"/>
          </a:p>
        </p:txBody>
      </p:sp>
      <p:sp>
        <p:nvSpPr>
          <p:cNvPr id="14" name="Text 12"/>
          <p:cNvSpPr/>
          <p:nvPr/>
        </p:nvSpPr>
        <p:spPr>
          <a:xfrm>
            <a:off x="1920240" y="2907792"/>
            <a:ext cx="2194560" cy="274320"/>
          </a:xfrm>
          <a:prstGeom prst="rect">
            <a:avLst/>
          </a:prstGeom>
          <a:noFill/>
          <a:ln/>
        </p:spPr>
        <p:txBody>
          <a:bodyPr wrap="square" lIns="0" tIns="0" rIns="0" bIns="0" rtlCol="0" anchor="ctr"/>
          <a:lstStyle/>
          <a:p>
            <a:pPr algn="l" indent="0" marL="0">
              <a:buNone/>
            </a:pPr>
            <a:r>
              <a:rPr lang="en-US" sz="1200" dirty="0">
                <a:solidFill>
                  <a:srgbClr val="D6EAF8"/>
                </a:solidFill>
                <a:latin typeface="Calibri" pitchFamily="34" charset="0"/>
                <a:ea typeface="Calibri" pitchFamily="34" charset="-122"/>
                <a:cs typeface="Calibri" pitchFamily="34" charset="-120"/>
              </a:rPr>
              <a:t>Range: 0 – 7</a:t>
            </a:r>
            <a:endParaRPr lang="en-US" sz="1200" dirty="0"/>
          </a:p>
        </p:txBody>
      </p:sp>
      <p:sp>
        <p:nvSpPr>
          <p:cNvPr id="15" name="Text 13"/>
          <p:cNvSpPr/>
          <p:nvPr/>
        </p:nvSpPr>
        <p:spPr>
          <a:xfrm>
            <a:off x="4206240" y="2532888"/>
            <a:ext cx="457200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Bridges frame marking to internal queuing. A switch can map PCP values into different traffic classes and scheduling treatments — from best-effort to strict priority or credit-based shaping.</a:t>
            </a:r>
            <a:endParaRPr lang="en-US" sz="1200" dirty="0"/>
          </a:p>
        </p:txBody>
      </p:sp>
      <p:sp>
        <p:nvSpPr>
          <p:cNvPr id="16" name="Shape 14"/>
          <p:cNvSpPr/>
          <p:nvPr/>
        </p:nvSpPr>
        <p:spPr>
          <a:xfrm>
            <a:off x="502920" y="3675888"/>
            <a:ext cx="1325880" cy="1005840"/>
          </a:xfrm>
          <a:prstGeom prst="rect">
            <a:avLst/>
          </a:prstGeom>
          <a:solidFill>
            <a:srgbClr val="8E44AD"/>
          </a:solidFill>
          <a:ln w="12700">
            <a:solidFill>
              <a:srgbClr val="8E44AD"/>
            </a:solidFill>
            <a:prstDash val="solid"/>
          </a:ln>
        </p:spPr>
      </p:sp>
      <p:sp>
        <p:nvSpPr>
          <p:cNvPr id="17" name="Text 15"/>
          <p:cNvSpPr/>
          <p:nvPr/>
        </p:nvSpPr>
        <p:spPr>
          <a:xfrm>
            <a:off x="502920" y="3675888"/>
            <a:ext cx="13258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DEI</a:t>
            </a:r>
            <a:endParaRPr lang="en-US" sz="2000" dirty="0"/>
          </a:p>
        </p:txBody>
      </p:sp>
      <p:sp>
        <p:nvSpPr>
          <p:cNvPr id="18" name="Text 16"/>
          <p:cNvSpPr/>
          <p:nvPr/>
        </p:nvSpPr>
        <p:spPr>
          <a:xfrm>
            <a:off x="502920" y="4133088"/>
            <a:ext cx="132588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 bit</a:t>
            </a:r>
            <a:endParaRPr lang="en-US" sz="1100" dirty="0"/>
          </a:p>
        </p:txBody>
      </p:sp>
      <p:sp>
        <p:nvSpPr>
          <p:cNvPr id="19" name="Text 17"/>
          <p:cNvSpPr/>
          <p:nvPr/>
        </p:nvSpPr>
        <p:spPr>
          <a:xfrm>
            <a:off x="1920240" y="3730752"/>
            <a:ext cx="2194560" cy="347472"/>
          </a:xfrm>
          <a:prstGeom prst="rect">
            <a:avLst/>
          </a:prstGeom>
          <a:noFill/>
          <a:ln/>
        </p:spPr>
        <p:txBody>
          <a:bodyPr wrap="square" lIns="0" tIns="0" rIns="0" bIns="0" rtlCol="0" anchor="ctr"/>
          <a:lstStyle/>
          <a:p>
            <a:pPr algn="l" indent="0" marL="0">
              <a:buNone/>
            </a:pPr>
            <a:r>
              <a:rPr lang="en-US" sz="1300" b="1" dirty="0">
                <a:solidFill>
                  <a:srgbClr val="8E44AD"/>
                </a:solidFill>
                <a:latin typeface="Trebuchet MS" pitchFamily="34" charset="0"/>
                <a:ea typeface="Trebuchet MS" pitchFamily="34" charset="-122"/>
                <a:cs typeface="Trebuchet MS" pitchFamily="34" charset="-120"/>
              </a:rPr>
              <a:t>Drop Eligible Indicator</a:t>
            </a:r>
            <a:endParaRPr lang="en-US" sz="1300" dirty="0"/>
          </a:p>
        </p:txBody>
      </p:sp>
      <p:sp>
        <p:nvSpPr>
          <p:cNvPr id="20" name="Text 18"/>
          <p:cNvSpPr/>
          <p:nvPr/>
        </p:nvSpPr>
        <p:spPr>
          <a:xfrm>
            <a:off x="1920240" y="4096512"/>
            <a:ext cx="2194560" cy="274320"/>
          </a:xfrm>
          <a:prstGeom prst="rect">
            <a:avLst/>
          </a:prstGeom>
          <a:noFill/>
          <a:ln/>
        </p:spPr>
        <p:txBody>
          <a:bodyPr wrap="square" lIns="0" tIns="0" rIns="0" bIns="0" rtlCol="0" anchor="ctr"/>
          <a:lstStyle/>
          <a:p>
            <a:pPr algn="l" indent="0" marL="0">
              <a:buNone/>
            </a:pPr>
            <a:r>
              <a:rPr lang="en-US" sz="1200" dirty="0">
                <a:solidFill>
                  <a:srgbClr val="D6EAF8"/>
                </a:solidFill>
                <a:latin typeface="Calibri" pitchFamily="34" charset="0"/>
                <a:ea typeface="Calibri" pitchFamily="34" charset="-122"/>
                <a:cs typeface="Calibri" pitchFamily="34" charset="-120"/>
              </a:rPr>
              <a:t>Range: 0 or 1</a:t>
            </a:r>
            <a:endParaRPr lang="en-US" sz="1200" dirty="0"/>
          </a:p>
        </p:txBody>
      </p:sp>
      <p:sp>
        <p:nvSpPr>
          <p:cNvPr id="21" name="Text 19"/>
          <p:cNvSpPr/>
          <p:nvPr/>
        </p:nvSpPr>
        <p:spPr>
          <a:xfrm>
            <a:off x="4206240" y="3721608"/>
            <a:ext cx="457200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Marks whether this frame may be dropped under congestion. A frame does not just claim VLAN membership; it also carries a hint about its own disposability if buffers fill 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Priority-Tagged Frames: A Special Case</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77724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A priority-tagged frame carries a VLAN tag with VID=0. It uses the tag purely to carry the PCP priority value, without asserting membership in a numbered VLAN. This is a detail that often confuses learners.</a:t>
            </a:r>
            <a:endParaRPr lang="en-US" sz="1400" dirty="0"/>
          </a:p>
        </p:txBody>
      </p:sp>
      <p:sp>
        <p:nvSpPr>
          <p:cNvPr id="5" name="Shape 3"/>
          <p:cNvSpPr/>
          <p:nvPr/>
        </p:nvSpPr>
        <p:spPr>
          <a:xfrm>
            <a:off x="502920" y="2103120"/>
            <a:ext cx="8138160" cy="475488"/>
          </a:xfrm>
          <a:prstGeom prst="rect">
            <a:avLst/>
          </a:prstGeom>
          <a:solidFill>
            <a:srgbClr val="0B2D4E"/>
          </a:solidFill>
          <a:ln w="12700">
            <a:solidFill>
              <a:srgbClr val="0B2D4E"/>
            </a:solidFill>
            <a:prstDash val="solid"/>
          </a:ln>
        </p:spPr>
      </p:sp>
      <p:sp>
        <p:nvSpPr>
          <p:cNvPr id="6" name="Text 4"/>
          <p:cNvSpPr/>
          <p:nvPr/>
        </p:nvSpPr>
        <p:spPr>
          <a:xfrm>
            <a:off x="640080" y="2121408"/>
            <a:ext cx="7863840" cy="438912"/>
          </a:xfrm>
          <a:prstGeom prst="rect">
            <a:avLst/>
          </a:prstGeom>
          <a:noFill/>
          <a:ln/>
        </p:spPr>
        <p:txBody>
          <a:bodyPr wrap="square" lIns="0" tIns="0" rIns="0" bIns="0" rtlCol="0" anchor="ctr"/>
          <a:lstStyle/>
          <a:p>
            <a:pPr algn="l" indent="0" marL="0">
              <a:buNone/>
            </a:pPr>
            <a:r>
              <a:rPr lang="en-US" sz="1300" dirty="0">
                <a:solidFill>
                  <a:srgbClr val="D6EAF8"/>
                </a:solidFill>
                <a:latin typeface="Calibri" pitchFamily="34" charset="0"/>
                <a:ea typeface="Calibri" pitchFamily="34" charset="-122"/>
                <a:cs typeface="Calibri" pitchFamily="34" charset="-120"/>
              </a:rPr>
              <a:t>IEEE bridge management distinguishes three different admission policies at ingress:</a:t>
            </a:r>
            <a:endParaRPr lang="en-US" sz="1300" dirty="0"/>
          </a:p>
        </p:txBody>
      </p:sp>
      <p:sp>
        <p:nvSpPr>
          <p:cNvPr id="7" name="Shape 5"/>
          <p:cNvSpPr/>
          <p:nvPr/>
        </p:nvSpPr>
        <p:spPr>
          <a:xfrm>
            <a:off x="502920" y="2743200"/>
            <a:ext cx="2560320" cy="1298448"/>
          </a:xfrm>
          <a:prstGeom prst="rect">
            <a:avLst/>
          </a:prstGeom>
          <a:solidFill>
            <a:srgbClr val="1A9DAA"/>
          </a:solidFill>
          <a:ln w="12700">
            <a:solidFill>
              <a:srgbClr val="1A9DAA"/>
            </a:solidFill>
            <a:prstDash val="solid"/>
          </a:ln>
        </p:spPr>
      </p:sp>
      <p:sp>
        <p:nvSpPr>
          <p:cNvPr id="8" name="Text 6"/>
          <p:cNvSpPr/>
          <p:nvPr/>
        </p:nvSpPr>
        <p:spPr>
          <a:xfrm>
            <a:off x="594360" y="2816352"/>
            <a:ext cx="23774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Admit only</a:t>
            </a:r>
            <a:endParaRPr lang="en-US" sz="1300" dirty="0"/>
          </a:p>
          <a:p>
            <a:pPr algn="ctr" indent="0" marL="0">
              <a:buNone/>
            </a:pPr>
            <a:r>
              <a:rPr lang="en-US" sz="1300" b="1" dirty="0">
                <a:solidFill>
                  <a:srgbClr val="FFFFFF"/>
                </a:solidFill>
                <a:latin typeface="Trebuchet MS" pitchFamily="34" charset="0"/>
                <a:ea typeface="Trebuchet MS" pitchFamily="34" charset="-122"/>
                <a:cs typeface="Trebuchet MS" pitchFamily="34" charset="-120"/>
              </a:rPr>
              <a:t>VLAN-tagged</a:t>
            </a:r>
            <a:endParaRPr lang="en-US" sz="1300" dirty="0"/>
          </a:p>
        </p:txBody>
      </p:sp>
      <p:sp>
        <p:nvSpPr>
          <p:cNvPr id="9" name="Shape 7"/>
          <p:cNvSpPr/>
          <p:nvPr/>
        </p:nvSpPr>
        <p:spPr>
          <a:xfrm>
            <a:off x="612648" y="3429000"/>
            <a:ext cx="2340864" cy="36576"/>
          </a:xfrm>
          <a:prstGeom prst="rect">
            <a:avLst/>
          </a:prstGeom>
          <a:solidFill>
            <a:srgbClr val="FFFFFF"/>
          </a:solidFill>
          <a:ln w="12700">
            <a:solidFill>
              <a:srgbClr val="FFFFFF"/>
            </a:solidFill>
            <a:prstDash val="solid"/>
          </a:ln>
        </p:spPr>
      </p:sp>
      <p:sp>
        <p:nvSpPr>
          <p:cNvPr id="10" name="Text 8"/>
          <p:cNvSpPr/>
          <p:nvPr/>
        </p:nvSpPr>
        <p:spPr>
          <a:xfrm>
            <a:off x="594360" y="3493008"/>
            <a:ext cx="2377440" cy="47548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Numbered VID present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Normal tagged frames</a:t>
            </a:r>
            <a:endParaRPr lang="en-US" sz="1100" dirty="0"/>
          </a:p>
        </p:txBody>
      </p:sp>
      <p:sp>
        <p:nvSpPr>
          <p:cNvPr id="11" name="Shape 9"/>
          <p:cNvSpPr/>
          <p:nvPr/>
        </p:nvSpPr>
        <p:spPr>
          <a:xfrm>
            <a:off x="3291840" y="2743200"/>
            <a:ext cx="2560320" cy="1298448"/>
          </a:xfrm>
          <a:prstGeom prst="rect">
            <a:avLst/>
          </a:prstGeom>
          <a:solidFill>
            <a:srgbClr val="E67E22"/>
          </a:solidFill>
          <a:ln w="12700">
            <a:solidFill>
              <a:srgbClr val="E67E22"/>
            </a:solidFill>
            <a:prstDash val="solid"/>
          </a:ln>
        </p:spPr>
      </p:sp>
      <p:sp>
        <p:nvSpPr>
          <p:cNvPr id="12" name="Text 10"/>
          <p:cNvSpPr/>
          <p:nvPr/>
        </p:nvSpPr>
        <p:spPr>
          <a:xfrm>
            <a:off x="3383280" y="2816352"/>
            <a:ext cx="23774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Admit only untagged</a:t>
            </a:r>
            <a:endParaRPr lang="en-US" sz="1300" dirty="0"/>
          </a:p>
          <a:p>
            <a:pPr algn="ctr" indent="0" marL="0">
              <a:buNone/>
            </a:pPr>
            <a:r>
              <a:rPr lang="en-US" sz="1300" b="1" dirty="0">
                <a:solidFill>
                  <a:srgbClr val="FFFFFF"/>
                </a:solidFill>
                <a:latin typeface="Trebuchet MS" pitchFamily="34" charset="0"/>
                <a:ea typeface="Trebuchet MS" pitchFamily="34" charset="-122"/>
                <a:cs typeface="Trebuchet MS" pitchFamily="34" charset="-120"/>
              </a:rPr>
              <a:t>and priority-tagged</a:t>
            </a:r>
            <a:endParaRPr lang="en-US" sz="1300" dirty="0"/>
          </a:p>
        </p:txBody>
      </p:sp>
      <p:sp>
        <p:nvSpPr>
          <p:cNvPr id="13" name="Shape 11"/>
          <p:cNvSpPr/>
          <p:nvPr/>
        </p:nvSpPr>
        <p:spPr>
          <a:xfrm>
            <a:off x="3401568" y="3429000"/>
            <a:ext cx="2340864" cy="36576"/>
          </a:xfrm>
          <a:prstGeom prst="rect">
            <a:avLst/>
          </a:prstGeom>
          <a:solidFill>
            <a:srgbClr val="FFFFFF"/>
          </a:solidFill>
          <a:ln w="12700">
            <a:solidFill>
              <a:srgbClr val="FFFFFF"/>
            </a:solidFill>
            <a:prstDash val="solid"/>
          </a:ln>
        </p:spPr>
      </p:sp>
      <p:sp>
        <p:nvSpPr>
          <p:cNvPr id="14" name="Text 12"/>
          <p:cNvSpPr/>
          <p:nvPr/>
        </p:nvSpPr>
        <p:spPr>
          <a:xfrm>
            <a:off x="3383280" y="3493008"/>
            <a:ext cx="2377440" cy="47548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VID=0 or no tag</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Priority info only</a:t>
            </a:r>
            <a:endParaRPr lang="en-US" sz="1100" dirty="0"/>
          </a:p>
        </p:txBody>
      </p:sp>
      <p:sp>
        <p:nvSpPr>
          <p:cNvPr id="15" name="Shape 13"/>
          <p:cNvSpPr/>
          <p:nvPr/>
        </p:nvSpPr>
        <p:spPr>
          <a:xfrm>
            <a:off x="6080760" y="2743200"/>
            <a:ext cx="2560320" cy="1298448"/>
          </a:xfrm>
          <a:prstGeom prst="rect">
            <a:avLst/>
          </a:prstGeom>
          <a:solidFill>
            <a:srgbClr val="1A4D6E"/>
          </a:solidFill>
          <a:ln w="12700">
            <a:solidFill>
              <a:srgbClr val="1A4D6E"/>
            </a:solidFill>
            <a:prstDash val="solid"/>
          </a:ln>
        </p:spPr>
      </p:sp>
      <p:sp>
        <p:nvSpPr>
          <p:cNvPr id="16" name="Text 14"/>
          <p:cNvSpPr/>
          <p:nvPr/>
        </p:nvSpPr>
        <p:spPr>
          <a:xfrm>
            <a:off x="6172200" y="2816352"/>
            <a:ext cx="23774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Admit all frames</a:t>
            </a:r>
            <a:endParaRPr lang="en-US" sz="1300" dirty="0"/>
          </a:p>
        </p:txBody>
      </p:sp>
      <p:sp>
        <p:nvSpPr>
          <p:cNvPr id="17" name="Shape 15"/>
          <p:cNvSpPr/>
          <p:nvPr/>
        </p:nvSpPr>
        <p:spPr>
          <a:xfrm>
            <a:off x="6190488" y="3429000"/>
            <a:ext cx="2340864" cy="36576"/>
          </a:xfrm>
          <a:prstGeom prst="rect">
            <a:avLst/>
          </a:prstGeom>
          <a:solidFill>
            <a:srgbClr val="FFFFFF"/>
          </a:solidFill>
          <a:ln w="12700">
            <a:solidFill>
              <a:srgbClr val="FFFFFF"/>
            </a:solidFill>
            <a:prstDash val="solid"/>
          </a:ln>
        </p:spPr>
      </p:sp>
      <p:sp>
        <p:nvSpPr>
          <p:cNvPr id="18" name="Text 16"/>
          <p:cNvSpPr/>
          <p:nvPr/>
        </p:nvSpPr>
        <p:spPr>
          <a:xfrm>
            <a:off x="6172200" y="3493008"/>
            <a:ext cx="2377440" cy="475488"/>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All of the above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Most permissive setting</a:t>
            </a:r>
            <a:endParaRPr lang="en-US" sz="1100" dirty="0"/>
          </a:p>
        </p:txBody>
      </p:sp>
      <p:sp>
        <p:nvSpPr>
          <p:cNvPr id="19" name="Shape 17"/>
          <p:cNvSpPr/>
          <p:nvPr/>
        </p:nvSpPr>
        <p:spPr>
          <a:xfrm>
            <a:off x="502920" y="4160520"/>
            <a:ext cx="8138160" cy="914400"/>
          </a:xfrm>
          <a:prstGeom prst="rect">
            <a:avLst/>
          </a:prstGeom>
          <a:solidFill>
            <a:srgbClr val="0B2D4E"/>
          </a:solidFill>
          <a:ln w="12700">
            <a:solidFill>
              <a:srgbClr val="0B2D4E"/>
            </a:solidFill>
            <a:prstDash val="solid"/>
          </a:ln>
        </p:spPr>
      </p:sp>
      <p:sp>
        <p:nvSpPr>
          <p:cNvPr id="20" name="Text 18"/>
          <p:cNvSpPr/>
          <p:nvPr/>
        </p:nvSpPr>
        <p:spPr>
          <a:xfrm>
            <a:off x="640080" y="4251960"/>
            <a:ext cx="79552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Why this matters operationally:</a:t>
            </a:r>
            <a:endParaRPr lang="en-US" sz="1300" dirty="0"/>
          </a:p>
        </p:txBody>
      </p:sp>
      <p:sp>
        <p:nvSpPr>
          <p:cNvPr id="21" name="Text 19"/>
          <p:cNvSpPr/>
          <p:nvPr/>
        </p:nvSpPr>
        <p:spPr>
          <a:xfrm>
            <a:off x="640080" y="4636008"/>
            <a:ext cx="7955280" cy="3657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Tagged is not a single all-or-nothing bucket. The switch may treat ordinary VLAN-tagged and priority-tagged frames differently at ingress. This is why VLAN policy on an ingress port is more nuanced than it first appears.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Q-in-Q: Tag Stacking Across Domains</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68580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Q-in-Q adds another 802.1Q-style tag around an already-tagged frame. The result is two stacked tags in a single Ethernet frame — each owned by a different administrative domain.</a:t>
            </a:r>
            <a:endParaRPr lang="en-US" sz="1400" dirty="0"/>
          </a:p>
        </p:txBody>
      </p:sp>
      <p:sp>
        <p:nvSpPr>
          <p:cNvPr id="5" name="Shape 3"/>
          <p:cNvSpPr/>
          <p:nvPr/>
        </p:nvSpPr>
        <p:spPr>
          <a:xfrm>
            <a:off x="228600" y="2103120"/>
            <a:ext cx="1188720" cy="640080"/>
          </a:xfrm>
          <a:prstGeom prst="rect">
            <a:avLst/>
          </a:prstGeom>
          <a:solidFill>
            <a:srgbClr val="4A6B82"/>
          </a:solidFill>
          <a:ln w="12700">
            <a:solidFill>
              <a:srgbClr val="4A6B82"/>
            </a:solidFill>
            <a:prstDash val="solid"/>
          </a:ln>
        </p:spPr>
      </p:sp>
      <p:sp>
        <p:nvSpPr>
          <p:cNvPr id="6" name="Shape 4"/>
          <p:cNvSpPr/>
          <p:nvPr/>
        </p:nvSpPr>
        <p:spPr>
          <a:xfrm>
            <a:off x="228600" y="2103120"/>
            <a:ext cx="1188720" cy="640080"/>
          </a:xfrm>
          <a:prstGeom prst="rect">
            <a:avLst/>
          </a:prstGeom>
          <a:solidFill>
            <a:srgbClr val="4A6B82"/>
          </a:solidFill>
          <a:ln w="12700">
            <a:solidFill>
              <a:srgbClr val="FFFFFF"/>
            </a:solidFill>
            <a:prstDash val="solid"/>
          </a:ln>
        </p:spPr>
      </p:sp>
      <p:sp>
        <p:nvSpPr>
          <p:cNvPr id="7" name="Text 5"/>
          <p:cNvSpPr/>
          <p:nvPr/>
        </p:nvSpPr>
        <p:spPr>
          <a:xfrm>
            <a:off x="265176" y="2103120"/>
            <a:ext cx="1115568"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Dst MAC</a:t>
            </a:r>
            <a:endParaRPr lang="en-US" sz="1000" dirty="0"/>
          </a:p>
        </p:txBody>
      </p:sp>
      <p:sp>
        <p:nvSpPr>
          <p:cNvPr id="8" name="Shape 6"/>
          <p:cNvSpPr/>
          <p:nvPr/>
        </p:nvSpPr>
        <p:spPr>
          <a:xfrm>
            <a:off x="1417320" y="2103120"/>
            <a:ext cx="1188720" cy="640080"/>
          </a:xfrm>
          <a:prstGeom prst="rect">
            <a:avLst/>
          </a:prstGeom>
          <a:solidFill>
            <a:srgbClr val="4A6B82"/>
          </a:solidFill>
          <a:ln w="12700">
            <a:solidFill>
              <a:srgbClr val="4A6B82"/>
            </a:solidFill>
            <a:prstDash val="solid"/>
          </a:ln>
        </p:spPr>
      </p:sp>
      <p:sp>
        <p:nvSpPr>
          <p:cNvPr id="9" name="Shape 7"/>
          <p:cNvSpPr/>
          <p:nvPr/>
        </p:nvSpPr>
        <p:spPr>
          <a:xfrm>
            <a:off x="1417320" y="2103120"/>
            <a:ext cx="1188720" cy="640080"/>
          </a:xfrm>
          <a:prstGeom prst="rect">
            <a:avLst/>
          </a:prstGeom>
          <a:solidFill>
            <a:srgbClr val="4A6B82"/>
          </a:solidFill>
          <a:ln w="12700">
            <a:solidFill>
              <a:srgbClr val="FFFFFF"/>
            </a:solidFill>
            <a:prstDash val="solid"/>
          </a:ln>
        </p:spPr>
      </p:sp>
      <p:sp>
        <p:nvSpPr>
          <p:cNvPr id="10" name="Text 8"/>
          <p:cNvSpPr/>
          <p:nvPr/>
        </p:nvSpPr>
        <p:spPr>
          <a:xfrm>
            <a:off x="1453896" y="2103120"/>
            <a:ext cx="1115568"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Src MAC</a:t>
            </a:r>
            <a:endParaRPr lang="en-US" sz="1000" dirty="0"/>
          </a:p>
        </p:txBody>
      </p:sp>
      <p:sp>
        <p:nvSpPr>
          <p:cNvPr id="11" name="Shape 9"/>
          <p:cNvSpPr/>
          <p:nvPr/>
        </p:nvSpPr>
        <p:spPr>
          <a:xfrm>
            <a:off x="2606040" y="2103120"/>
            <a:ext cx="1554480" cy="640080"/>
          </a:xfrm>
          <a:prstGeom prst="rect">
            <a:avLst/>
          </a:prstGeom>
          <a:solidFill>
            <a:srgbClr val="E67E22"/>
          </a:solidFill>
          <a:ln w="12700">
            <a:solidFill>
              <a:srgbClr val="E67E22"/>
            </a:solidFill>
            <a:prstDash val="solid"/>
          </a:ln>
        </p:spPr>
      </p:sp>
      <p:sp>
        <p:nvSpPr>
          <p:cNvPr id="12" name="Shape 10"/>
          <p:cNvSpPr/>
          <p:nvPr/>
        </p:nvSpPr>
        <p:spPr>
          <a:xfrm>
            <a:off x="2606040" y="2103120"/>
            <a:ext cx="1554480" cy="640080"/>
          </a:xfrm>
          <a:prstGeom prst="rect">
            <a:avLst/>
          </a:prstGeom>
          <a:solidFill>
            <a:srgbClr val="E67E22"/>
          </a:solidFill>
          <a:ln w="12700">
            <a:solidFill>
              <a:srgbClr val="FFFFFF"/>
            </a:solidFill>
            <a:prstDash val="solid"/>
          </a:ln>
        </p:spPr>
      </p:sp>
      <p:sp>
        <p:nvSpPr>
          <p:cNvPr id="13" name="Text 11"/>
          <p:cNvSpPr/>
          <p:nvPr/>
        </p:nvSpPr>
        <p:spPr>
          <a:xfrm>
            <a:off x="2642616" y="2103120"/>
            <a:ext cx="1481328"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S-VLAN Tag</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88-A8 (outer)</a:t>
            </a:r>
            <a:endParaRPr lang="en-US" sz="1000" dirty="0"/>
          </a:p>
        </p:txBody>
      </p:sp>
      <p:sp>
        <p:nvSpPr>
          <p:cNvPr id="14" name="Shape 12"/>
          <p:cNvSpPr/>
          <p:nvPr/>
        </p:nvSpPr>
        <p:spPr>
          <a:xfrm>
            <a:off x="4160520" y="2103120"/>
            <a:ext cx="1554480" cy="640080"/>
          </a:xfrm>
          <a:prstGeom prst="rect">
            <a:avLst/>
          </a:prstGeom>
          <a:solidFill>
            <a:srgbClr val="1A9DAA"/>
          </a:solidFill>
          <a:ln w="12700">
            <a:solidFill>
              <a:srgbClr val="1A9DAA"/>
            </a:solidFill>
            <a:prstDash val="solid"/>
          </a:ln>
        </p:spPr>
      </p:sp>
      <p:sp>
        <p:nvSpPr>
          <p:cNvPr id="15" name="Shape 13"/>
          <p:cNvSpPr/>
          <p:nvPr/>
        </p:nvSpPr>
        <p:spPr>
          <a:xfrm>
            <a:off x="4160520" y="2103120"/>
            <a:ext cx="1554480" cy="640080"/>
          </a:xfrm>
          <a:prstGeom prst="rect">
            <a:avLst/>
          </a:prstGeom>
          <a:solidFill>
            <a:srgbClr val="1A9DAA"/>
          </a:solidFill>
          <a:ln w="12700">
            <a:solidFill>
              <a:srgbClr val="FFFFFF"/>
            </a:solidFill>
            <a:prstDash val="solid"/>
          </a:ln>
        </p:spPr>
      </p:sp>
      <p:sp>
        <p:nvSpPr>
          <p:cNvPr id="16" name="Text 14"/>
          <p:cNvSpPr/>
          <p:nvPr/>
        </p:nvSpPr>
        <p:spPr>
          <a:xfrm>
            <a:off x="4197096" y="2103120"/>
            <a:ext cx="1481328"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C-VLAN Tag</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81-00 (inner)</a:t>
            </a:r>
            <a:endParaRPr lang="en-US" sz="1000" dirty="0"/>
          </a:p>
        </p:txBody>
      </p:sp>
      <p:sp>
        <p:nvSpPr>
          <p:cNvPr id="17" name="Shape 15"/>
          <p:cNvSpPr/>
          <p:nvPr/>
        </p:nvSpPr>
        <p:spPr>
          <a:xfrm>
            <a:off x="5715000" y="2103120"/>
            <a:ext cx="1097280" cy="640080"/>
          </a:xfrm>
          <a:prstGeom prst="rect">
            <a:avLst/>
          </a:prstGeom>
          <a:solidFill>
            <a:srgbClr val="4A6B82"/>
          </a:solidFill>
          <a:ln w="12700">
            <a:solidFill>
              <a:srgbClr val="4A6B82"/>
            </a:solidFill>
            <a:prstDash val="solid"/>
          </a:ln>
        </p:spPr>
      </p:sp>
      <p:sp>
        <p:nvSpPr>
          <p:cNvPr id="18" name="Shape 16"/>
          <p:cNvSpPr/>
          <p:nvPr/>
        </p:nvSpPr>
        <p:spPr>
          <a:xfrm>
            <a:off x="5715000" y="2103120"/>
            <a:ext cx="1097280" cy="640080"/>
          </a:xfrm>
          <a:prstGeom prst="rect">
            <a:avLst/>
          </a:prstGeom>
          <a:solidFill>
            <a:srgbClr val="4A6B82"/>
          </a:solidFill>
          <a:ln w="12700">
            <a:solidFill>
              <a:srgbClr val="FFFFFF"/>
            </a:solidFill>
            <a:prstDash val="solid"/>
          </a:ln>
        </p:spPr>
      </p:sp>
      <p:sp>
        <p:nvSpPr>
          <p:cNvPr id="19" name="Text 17"/>
          <p:cNvSpPr/>
          <p:nvPr/>
        </p:nvSpPr>
        <p:spPr>
          <a:xfrm>
            <a:off x="5751576" y="2103120"/>
            <a:ext cx="1024128"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EtherType</a:t>
            </a:r>
            <a:endParaRPr lang="en-US" sz="1000" dirty="0"/>
          </a:p>
        </p:txBody>
      </p:sp>
      <p:sp>
        <p:nvSpPr>
          <p:cNvPr id="20" name="Shape 18"/>
          <p:cNvSpPr/>
          <p:nvPr/>
        </p:nvSpPr>
        <p:spPr>
          <a:xfrm>
            <a:off x="6812280" y="2103120"/>
            <a:ext cx="1463040" cy="640080"/>
          </a:xfrm>
          <a:prstGeom prst="rect">
            <a:avLst/>
          </a:prstGeom>
          <a:solidFill>
            <a:srgbClr val="3D3D3D"/>
          </a:solidFill>
          <a:ln w="12700">
            <a:solidFill>
              <a:srgbClr val="3D3D3D"/>
            </a:solidFill>
            <a:prstDash val="solid"/>
          </a:ln>
        </p:spPr>
      </p:sp>
      <p:sp>
        <p:nvSpPr>
          <p:cNvPr id="21" name="Shape 19"/>
          <p:cNvSpPr/>
          <p:nvPr/>
        </p:nvSpPr>
        <p:spPr>
          <a:xfrm>
            <a:off x="6812280" y="2103120"/>
            <a:ext cx="1463040" cy="640080"/>
          </a:xfrm>
          <a:prstGeom prst="rect">
            <a:avLst/>
          </a:prstGeom>
          <a:solidFill>
            <a:srgbClr val="3D3D3D"/>
          </a:solidFill>
          <a:ln w="12700">
            <a:solidFill>
              <a:srgbClr val="FFFFFF"/>
            </a:solidFill>
            <a:prstDash val="solid"/>
          </a:ln>
        </p:spPr>
      </p:sp>
      <p:sp>
        <p:nvSpPr>
          <p:cNvPr id="22" name="Text 20"/>
          <p:cNvSpPr/>
          <p:nvPr/>
        </p:nvSpPr>
        <p:spPr>
          <a:xfrm>
            <a:off x="6848856" y="2103120"/>
            <a:ext cx="1389888"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Payload ...</a:t>
            </a:r>
            <a:endParaRPr lang="en-US" sz="1000" dirty="0"/>
          </a:p>
        </p:txBody>
      </p:sp>
      <p:sp>
        <p:nvSpPr>
          <p:cNvPr id="23" name="Shape 21"/>
          <p:cNvSpPr/>
          <p:nvPr/>
        </p:nvSpPr>
        <p:spPr>
          <a:xfrm>
            <a:off x="2377440" y="2761488"/>
            <a:ext cx="1554480" cy="36576"/>
          </a:xfrm>
          <a:prstGeom prst="rect">
            <a:avLst/>
          </a:prstGeom>
          <a:solidFill>
            <a:srgbClr val="E67E22"/>
          </a:solidFill>
          <a:ln w="12700">
            <a:solidFill>
              <a:srgbClr val="E67E22"/>
            </a:solidFill>
            <a:prstDash val="solid"/>
          </a:ln>
        </p:spPr>
      </p:sp>
      <p:sp>
        <p:nvSpPr>
          <p:cNvPr id="24" name="Text 22"/>
          <p:cNvSpPr/>
          <p:nvPr/>
        </p:nvSpPr>
        <p:spPr>
          <a:xfrm>
            <a:off x="2377440" y="2834640"/>
            <a:ext cx="1554480" cy="274320"/>
          </a:xfrm>
          <a:prstGeom prst="rect">
            <a:avLst/>
          </a:prstGeom>
          <a:noFill/>
          <a:ln/>
        </p:spPr>
        <p:txBody>
          <a:bodyPr wrap="square" lIns="0" tIns="0" rIns="0" bIns="0" rtlCol="0" anchor="ctr"/>
          <a:lstStyle/>
          <a:p>
            <a:pPr algn="ctr" indent="0" marL="0">
              <a:buNone/>
            </a:pPr>
            <a:r>
              <a:rPr lang="en-US" sz="1100" dirty="0">
                <a:solidFill>
                  <a:srgbClr val="E67E22"/>
                </a:solidFill>
                <a:latin typeface="Calibri" pitchFamily="34" charset="0"/>
                <a:ea typeface="Calibri" pitchFamily="34" charset="-122"/>
                <a:cs typeface="Calibri" pitchFamily="34" charset="-120"/>
              </a:rPr>
              <a:t>Provider controls</a:t>
            </a:r>
            <a:endParaRPr lang="en-US" sz="1100" dirty="0"/>
          </a:p>
        </p:txBody>
      </p:sp>
      <p:sp>
        <p:nvSpPr>
          <p:cNvPr id="25" name="Shape 23"/>
          <p:cNvSpPr/>
          <p:nvPr/>
        </p:nvSpPr>
        <p:spPr>
          <a:xfrm>
            <a:off x="3931920" y="2761488"/>
            <a:ext cx="1554480" cy="36576"/>
          </a:xfrm>
          <a:prstGeom prst="rect">
            <a:avLst/>
          </a:prstGeom>
          <a:solidFill>
            <a:srgbClr val="1A9DAA"/>
          </a:solidFill>
          <a:ln w="12700">
            <a:solidFill>
              <a:srgbClr val="1A9DAA"/>
            </a:solidFill>
            <a:prstDash val="solid"/>
          </a:ln>
        </p:spPr>
      </p:sp>
      <p:sp>
        <p:nvSpPr>
          <p:cNvPr id="26" name="Text 24"/>
          <p:cNvSpPr/>
          <p:nvPr/>
        </p:nvSpPr>
        <p:spPr>
          <a:xfrm>
            <a:off x="3931920" y="2834640"/>
            <a:ext cx="1554480" cy="274320"/>
          </a:xfrm>
          <a:prstGeom prst="rect">
            <a:avLst/>
          </a:prstGeom>
          <a:noFill/>
          <a:ln/>
        </p:spPr>
        <p:txBody>
          <a:bodyPr wrap="square" lIns="0" tIns="0" rIns="0" bIns="0" rtlCol="0" anchor="ctr"/>
          <a:lstStyle/>
          <a:p>
            <a:pPr algn="ctr" indent="0" marL="0">
              <a:buNone/>
            </a:pPr>
            <a:r>
              <a:rPr lang="en-US" sz="1100" dirty="0">
                <a:solidFill>
                  <a:srgbClr val="1A9DAA"/>
                </a:solidFill>
                <a:latin typeface="Calibri" pitchFamily="34" charset="0"/>
                <a:ea typeface="Calibri" pitchFamily="34" charset="-122"/>
                <a:cs typeface="Calibri" pitchFamily="34" charset="-120"/>
              </a:rPr>
              <a:t>Customer owns</a:t>
            </a:r>
            <a:endParaRPr lang="en-US" sz="1100" dirty="0"/>
          </a:p>
        </p:txBody>
      </p:sp>
      <p:sp>
        <p:nvSpPr>
          <p:cNvPr id="27" name="Shape 25"/>
          <p:cNvSpPr/>
          <p:nvPr/>
        </p:nvSpPr>
        <p:spPr>
          <a:xfrm>
            <a:off x="502920" y="3218688"/>
            <a:ext cx="4069080" cy="1600200"/>
          </a:xfrm>
          <a:prstGeom prst="rect">
            <a:avLst/>
          </a:prstGeom>
          <a:solidFill>
            <a:srgbClr val="1A4D6E"/>
          </a:solidFill>
          <a:ln w="12700">
            <a:solidFill>
              <a:srgbClr val="1A4D6E"/>
            </a:solidFill>
            <a:prstDash val="solid"/>
          </a:ln>
        </p:spPr>
      </p:sp>
      <p:sp>
        <p:nvSpPr>
          <p:cNvPr id="28" name="Shape 26"/>
          <p:cNvSpPr/>
          <p:nvPr/>
        </p:nvSpPr>
        <p:spPr>
          <a:xfrm>
            <a:off x="502920" y="3218688"/>
            <a:ext cx="4069080" cy="1600200"/>
          </a:xfrm>
          <a:prstGeom prst="rect">
            <a:avLst/>
          </a:prstGeom>
          <a:solidFill>
            <a:srgbClr val="1A4D6E"/>
          </a:solidFill>
          <a:ln w="25400">
            <a:solidFill>
              <a:srgbClr val="1A9DAA"/>
            </a:solidFill>
            <a:prstDash val="solid"/>
          </a:ln>
        </p:spPr>
      </p:sp>
      <p:sp>
        <p:nvSpPr>
          <p:cNvPr id="29" name="Text 27"/>
          <p:cNvSpPr/>
          <p:nvPr/>
        </p:nvSpPr>
        <p:spPr>
          <a:xfrm>
            <a:off x="612648" y="3310128"/>
            <a:ext cx="3840480" cy="384048"/>
          </a:xfrm>
          <a:prstGeom prst="rect">
            <a:avLst/>
          </a:prstGeom>
          <a:noFill/>
          <a:ln/>
        </p:spPr>
        <p:txBody>
          <a:bodyPr wrap="square" lIns="0" tIns="0" rIns="0" bIns="0" rtlCol="0" anchor="ctr"/>
          <a:lstStyle/>
          <a:p>
            <a:pPr algn="l" indent="0" marL="0">
              <a:buNone/>
            </a:pPr>
            <a:r>
              <a:rPr lang="en-US" sz="1300" b="1" dirty="0">
                <a:solidFill>
                  <a:srgbClr val="1A9DAA"/>
                </a:solidFill>
                <a:latin typeface="Trebuchet MS" pitchFamily="34" charset="0"/>
                <a:ea typeface="Trebuchet MS" pitchFamily="34" charset="-122"/>
                <a:cs typeface="Trebuchet MS" pitchFamily="34" charset="-120"/>
              </a:rPr>
              <a:t>Inner tag (C-VLAN, 0x81-00)</a:t>
            </a:r>
            <a:endParaRPr lang="en-US" sz="1300" dirty="0"/>
          </a:p>
        </p:txBody>
      </p:sp>
      <p:sp>
        <p:nvSpPr>
          <p:cNvPr id="30" name="Shape 28"/>
          <p:cNvSpPr/>
          <p:nvPr/>
        </p:nvSpPr>
        <p:spPr>
          <a:xfrm>
            <a:off x="612648" y="3721608"/>
            <a:ext cx="3749040" cy="36576"/>
          </a:xfrm>
          <a:prstGeom prst="rect">
            <a:avLst/>
          </a:prstGeom>
          <a:solidFill>
            <a:srgbClr val="1A9DAA"/>
          </a:solidFill>
          <a:ln w="12700">
            <a:solidFill>
              <a:srgbClr val="1A9DAA"/>
            </a:solidFill>
            <a:prstDash val="solid"/>
          </a:ln>
        </p:spPr>
      </p:sp>
      <p:sp>
        <p:nvSpPr>
          <p:cNvPr id="31" name="Text 29"/>
          <p:cNvSpPr/>
          <p:nvPr/>
        </p:nvSpPr>
        <p:spPr>
          <a:xfrm>
            <a:off x="612648" y="3794760"/>
            <a:ext cx="379476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customer's own VLAN context. Preserved intact across the provider network. The provider never needs to understand it.</a:t>
            </a:r>
            <a:endParaRPr lang="en-US" sz="1200" dirty="0"/>
          </a:p>
        </p:txBody>
      </p:sp>
      <p:sp>
        <p:nvSpPr>
          <p:cNvPr id="32" name="Shape 30"/>
          <p:cNvSpPr/>
          <p:nvPr/>
        </p:nvSpPr>
        <p:spPr>
          <a:xfrm>
            <a:off x="4846320" y="3218688"/>
            <a:ext cx="4069080" cy="1600200"/>
          </a:xfrm>
          <a:prstGeom prst="rect">
            <a:avLst/>
          </a:prstGeom>
          <a:solidFill>
            <a:srgbClr val="1A4D6E"/>
          </a:solidFill>
          <a:ln w="12700">
            <a:solidFill>
              <a:srgbClr val="1A4D6E"/>
            </a:solidFill>
            <a:prstDash val="solid"/>
          </a:ln>
        </p:spPr>
      </p:sp>
      <p:sp>
        <p:nvSpPr>
          <p:cNvPr id="33" name="Shape 31"/>
          <p:cNvSpPr/>
          <p:nvPr/>
        </p:nvSpPr>
        <p:spPr>
          <a:xfrm>
            <a:off x="4846320" y="3218688"/>
            <a:ext cx="4069080" cy="1600200"/>
          </a:xfrm>
          <a:prstGeom prst="rect">
            <a:avLst/>
          </a:prstGeom>
          <a:solidFill>
            <a:srgbClr val="1A4D6E"/>
          </a:solidFill>
          <a:ln w="25400">
            <a:solidFill>
              <a:srgbClr val="E67E22"/>
            </a:solidFill>
            <a:prstDash val="solid"/>
          </a:ln>
        </p:spPr>
      </p:sp>
      <p:sp>
        <p:nvSpPr>
          <p:cNvPr id="34" name="Text 32"/>
          <p:cNvSpPr/>
          <p:nvPr/>
        </p:nvSpPr>
        <p:spPr>
          <a:xfrm>
            <a:off x="4956048" y="3310128"/>
            <a:ext cx="3840480" cy="384048"/>
          </a:xfrm>
          <a:prstGeom prst="rect">
            <a:avLst/>
          </a:prstGeom>
          <a:noFill/>
          <a:ln/>
        </p:spPr>
        <p:txBody>
          <a:bodyPr wrap="square" lIns="0" tIns="0" rIns="0" bIns="0" rtlCol="0" anchor="ctr"/>
          <a:lstStyle/>
          <a:p>
            <a:pPr algn="l" indent="0" marL="0">
              <a:buNone/>
            </a:pPr>
            <a:r>
              <a:rPr lang="en-US" sz="1300" b="1" dirty="0">
                <a:solidFill>
                  <a:srgbClr val="E67E22"/>
                </a:solidFill>
                <a:latin typeface="Trebuchet MS" pitchFamily="34" charset="0"/>
                <a:ea typeface="Trebuchet MS" pitchFamily="34" charset="-122"/>
                <a:cs typeface="Trebuchet MS" pitchFamily="34" charset="-120"/>
              </a:rPr>
              <a:t>Outer tag (S-VLAN, 0x88-A8)</a:t>
            </a:r>
            <a:endParaRPr lang="en-US" sz="1300" dirty="0"/>
          </a:p>
        </p:txBody>
      </p:sp>
      <p:sp>
        <p:nvSpPr>
          <p:cNvPr id="35" name="Shape 33"/>
          <p:cNvSpPr/>
          <p:nvPr/>
        </p:nvSpPr>
        <p:spPr>
          <a:xfrm>
            <a:off x="4956048" y="3721608"/>
            <a:ext cx="3749040" cy="36576"/>
          </a:xfrm>
          <a:prstGeom prst="rect">
            <a:avLst/>
          </a:prstGeom>
          <a:solidFill>
            <a:srgbClr val="E67E22"/>
          </a:solidFill>
          <a:ln w="12700">
            <a:solidFill>
              <a:srgbClr val="E67E22"/>
            </a:solidFill>
            <a:prstDash val="solid"/>
          </a:ln>
        </p:spPr>
      </p:sp>
      <p:sp>
        <p:nvSpPr>
          <p:cNvPr id="36" name="Text 34"/>
          <p:cNvSpPr/>
          <p:nvPr/>
        </p:nvSpPr>
        <p:spPr>
          <a:xfrm>
            <a:off x="4956048" y="3794760"/>
            <a:ext cx="379476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provider's transport context. The provider fabric forwards based on this tag, ignoring the customer's inner VLAN.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200" b="1" dirty="0">
                <a:solidFill>
                  <a:srgbClr val="0B2D4E"/>
                </a:solidFill>
                <a:latin typeface="Trebuchet MS" pitchFamily="34" charset="0"/>
                <a:ea typeface="Trebuchet MS" pitchFamily="34" charset="-122"/>
                <a:cs typeface="Trebuchet MS" pitchFamily="34" charset="-120"/>
              </a:rPr>
              <a:t>Why Q-in-Q Solves the Provider Problem</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77724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Suppose two customers both use VLAN 100 internally. A provider cannot bridge both into one flat domain without losing their separation. Q-in-Q wraps each customer's traffic in a distinct outer service tag.</a:t>
            </a:r>
            <a:endParaRPr lang="en-US" sz="1400" dirty="0"/>
          </a:p>
        </p:txBody>
      </p:sp>
      <p:sp>
        <p:nvSpPr>
          <p:cNvPr id="5" name="Shape 3"/>
          <p:cNvSpPr/>
          <p:nvPr/>
        </p:nvSpPr>
        <p:spPr>
          <a:xfrm>
            <a:off x="274320" y="2194560"/>
            <a:ext cx="1645920" cy="548640"/>
          </a:xfrm>
          <a:prstGeom prst="rect">
            <a:avLst/>
          </a:prstGeom>
          <a:solidFill>
            <a:srgbClr val="1A9DAA"/>
          </a:solidFill>
          <a:ln w="12700">
            <a:solidFill>
              <a:srgbClr val="1A9DAA"/>
            </a:solidFill>
            <a:prstDash val="solid"/>
          </a:ln>
        </p:spPr>
      </p:sp>
      <p:sp>
        <p:nvSpPr>
          <p:cNvPr id="6" name="Text 4"/>
          <p:cNvSpPr/>
          <p:nvPr/>
        </p:nvSpPr>
        <p:spPr>
          <a:xfrm>
            <a:off x="274320" y="219456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Customer A</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VLAN 100</a:t>
            </a:r>
            <a:endParaRPr lang="en-US" sz="1200" dirty="0"/>
          </a:p>
        </p:txBody>
      </p:sp>
      <p:sp>
        <p:nvSpPr>
          <p:cNvPr id="7" name="Shape 5"/>
          <p:cNvSpPr/>
          <p:nvPr/>
        </p:nvSpPr>
        <p:spPr>
          <a:xfrm>
            <a:off x="1920240" y="2468880"/>
            <a:ext cx="731520" cy="0"/>
          </a:xfrm>
          <a:prstGeom prst="line">
            <a:avLst/>
          </a:prstGeom>
          <a:noFill/>
          <a:ln w="25400">
            <a:solidFill>
              <a:srgbClr val="0E7C86"/>
            </a:solidFill>
            <a:prstDash val="solid"/>
          </a:ln>
        </p:spPr>
      </p:sp>
      <p:sp>
        <p:nvSpPr>
          <p:cNvPr id="8" name="Shape 6"/>
          <p:cNvSpPr/>
          <p:nvPr/>
        </p:nvSpPr>
        <p:spPr>
          <a:xfrm>
            <a:off x="2651760" y="1901952"/>
            <a:ext cx="3657600" cy="1188720"/>
          </a:xfrm>
          <a:prstGeom prst="rect">
            <a:avLst/>
          </a:prstGeom>
          <a:solidFill>
            <a:srgbClr val="1A4D6E"/>
          </a:solidFill>
          <a:ln w="12700">
            <a:solidFill>
              <a:srgbClr val="1A4D6E"/>
            </a:solidFill>
            <a:prstDash val="solid"/>
          </a:ln>
        </p:spPr>
      </p:sp>
      <p:sp>
        <p:nvSpPr>
          <p:cNvPr id="9" name="Shape 7"/>
          <p:cNvSpPr/>
          <p:nvPr/>
        </p:nvSpPr>
        <p:spPr>
          <a:xfrm>
            <a:off x="2651760" y="1901952"/>
            <a:ext cx="3657600" cy="1188720"/>
          </a:xfrm>
          <a:prstGeom prst="rect">
            <a:avLst/>
          </a:prstGeom>
          <a:solidFill>
            <a:srgbClr val="1A4D6E"/>
          </a:solidFill>
          <a:ln w="25400">
            <a:solidFill>
              <a:srgbClr val="0E7C86"/>
            </a:solidFill>
            <a:prstDash val="solid"/>
          </a:ln>
        </p:spPr>
      </p:sp>
      <p:sp>
        <p:nvSpPr>
          <p:cNvPr id="10" name="Text 8"/>
          <p:cNvSpPr/>
          <p:nvPr/>
        </p:nvSpPr>
        <p:spPr>
          <a:xfrm>
            <a:off x="2651760" y="1938528"/>
            <a:ext cx="3657600" cy="347472"/>
          </a:xfrm>
          <a:prstGeom prst="rect">
            <a:avLst/>
          </a:prstGeom>
          <a:noFill/>
          <a:ln/>
        </p:spPr>
        <p:txBody>
          <a:bodyPr wrap="square" lIns="0" tIns="0" rIns="0" bIns="0" rtlCol="0" anchor="ctr"/>
          <a:lstStyle/>
          <a:p>
            <a:pPr algn="ctr" indent="0" marL="0">
              <a:buNone/>
            </a:pPr>
            <a:r>
              <a:rPr lang="en-US" sz="1200" b="1" dirty="0">
                <a:solidFill>
                  <a:srgbClr val="0E7C86"/>
                </a:solidFill>
                <a:latin typeface="Trebuchet MS" pitchFamily="34" charset="0"/>
                <a:ea typeface="Trebuchet MS" pitchFamily="34" charset="-122"/>
                <a:cs typeface="Trebuchet MS" pitchFamily="34" charset="-120"/>
              </a:rPr>
              <a:t>Provider Network</a:t>
            </a:r>
            <a:endParaRPr lang="en-US" sz="1200" dirty="0"/>
          </a:p>
        </p:txBody>
      </p:sp>
      <p:sp>
        <p:nvSpPr>
          <p:cNvPr id="11" name="Shape 9"/>
          <p:cNvSpPr/>
          <p:nvPr/>
        </p:nvSpPr>
        <p:spPr>
          <a:xfrm>
            <a:off x="2788920" y="2286000"/>
            <a:ext cx="1508760" cy="384048"/>
          </a:xfrm>
          <a:prstGeom prst="rect">
            <a:avLst/>
          </a:prstGeom>
          <a:solidFill>
            <a:srgbClr val="1A9DAA"/>
          </a:solidFill>
          <a:ln w="12700">
            <a:solidFill>
              <a:srgbClr val="1A9DAA"/>
            </a:solidFill>
            <a:prstDash val="solid"/>
          </a:ln>
        </p:spPr>
      </p:sp>
      <p:sp>
        <p:nvSpPr>
          <p:cNvPr id="12" name="Text 10"/>
          <p:cNvSpPr/>
          <p:nvPr/>
        </p:nvSpPr>
        <p:spPr>
          <a:xfrm>
            <a:off x="2788920" y="2286000"/>
            <a:ext cx="1508760" cy="3840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S-VLAN 200 | C-VLAN 100</a:t>
            </a:r>
            <a:endParaRPr lang="en-US" sz="900" dirty="0"/>
          </a:p>
        </p:txBody>
      </p:sp>
      <p:sp>
        <p:nvSpPr>
          <p:cNvPr id="13" name="Shape 11"/>
          <p:cNvSpPr/>
          <p:nvPr/>
        </p:nvSpPr>
        <p:spPr>
          <a:xfrm>
            <a:off x="4480560" y="2286000"/>
            <a:ext cx="1645920" cy="384048"/>
          </a:xfrm>
          <a:prstGeom prst="rect">
            <a:avLst/>
          </a:prstGeom>
          <a:solidFill>
            <a:srgbClr val="E67E22"/>
          </a:solidFill>
          <a:ln w="12700">
            <a:solidFill>
              <a:srgbClr val="E67E22"/>
            </a:solidFill>
            <a:prstDash val="solid"/>
          </a:ln>
        </p:spPr>
      </p:sp>
      <p:sp>
        <p:nvSpPr>
          <p:cNvPr id="14" name="Text 12"/>
          <p:cNvSpPr/>
          <p:nvPr/>
        </p:nvSpPr>
        <p:spPr>
          <a:xfrm>
            <a:off x="4480560" y="2286000"/>
            <a:ext cx="1645920" cy="3840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S-VLAN 201 | C-VLAN 100</a:t>
            </a:r>
            <a:endParaRPr lang="en-US" sz="900" dirty="0"/>
          </a:p>
        </p:txBody>
      </p:sp>
      <p:sp>
        <p:nvSpPr>
          <p:cNvPr id="15" name="Shape 13"/>
          <p:cNvSpPr/>
          <p:nvPr/>
        </p:nvSpPr>
        <p:spPr>
          <a:xfrm>
            <a:off x="6309360" y="2468880"/>
            <a:ext cx="731520" cy="0"/>
          </a:xfrm>
          <a:prstGeom prst="line">
            <a:avLst/>
          </a:prstGeom>
          <a:noFill/>
          <a:ln w="25400">
            <a:solidFill>
              <a:srgbClr val="0E7C86"/>
            </a:solidFill>
            <a:prstDash val="solid"/>
          </a:ln>
        </p:spPr>
      </p:sp>
      <p:sp>
        <p:nvSpPr>
          <p:cNvPr id="16" name="Shape 14"/>
          <p:cNvSpPr/>
          <p:nvPr/>
        </p:nvSpPr>
        <p:spPr>
          <a:xfrm>
            <a:off x="7040880" y="2194560"/>
            <a:ext cx="1645920" cy="548640"/>
          </a:xfrm>
          <a:prstGeom prst="rect">
            <a:avLst/>
          </a:prstGeom>
          <a:solidFill>
            <a:srgbClr val="E67E22"/>
          </a:solidFill>
          <a:ln w="12700">
            <a:solidFill>
              <a:srgbClr val="E67E22"/>
            </a:solidFill>
            <a:prstDash val="solid"/>
          </a:ln>
        </p:spPr>
      </p:sp>
      <p:sp>
        <p:nvSpPr>
          <p:cNvPr id="17" name="Text 15"/>
          <p:cNvSpPr/>
          <p:nvPr/>
        </p:nvSpPr>
        <p:spPr>
          <a:xfrm>
            <a:off x="7040880" y="219456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Customer B</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VLAN 100</a:t>
            </a:r>
            <a:endParaRPr lang="en-US" sz="1200" dirty="0"/>
          </a:p>
        </p:txBody>
      </p:sp>
      <p:sp>
        <p:nvSpPr>
          <p:cNvPr id="18" name="Shape 16"/>
          <p:cNvSpPr/>
          <p:nvPr/>
        </p:nvSpPr>
        <p:spPr>
          <a:xfrm>
            <a:off x="274320" y="2926080"/>
            <a:ext cx="1645920" cy="548640"/>
          </a:xfrm>
          <a:prstGeom prst="rect">
            <a:avLst/>
          </a:prstGeom>
          <a:solidFill>
            <a:srgbClr val="1A9DAA"/>
          </a:solidFill>
          <a:ln w="12700">
            <a:solidFill>
              <a:srgbClr val="1A9DAA"/>
            </a:solidFill>
            <a:prstDash val="solid"/>
          </a:ln>
        </p:spPr>
      </p:sp>
      <p:sp>
        <p:nvSpPr>
          <p:cNvPr id="19" name="Text 17"/>
          <p:cNvSpPr/>
          <p:nvPr/>
        </p:nvSpPr>
        <p:spPr>
          <a:xfrm>
            <a:off x="274320" y="2926080"/>
            <a:ext cx="1645920" cy="548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Customer A receives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original VLAN 100</a:t>
            </a:r>
            <a:endParaRPr lang="en-US" sz="1000" dirty="0"/>
          </a:p>
        </p:txBody>
      </p:sp>
      <p:sp>
        <p:nvSpPr>
          <p:cNvPr id="20" name="Shape 18"/>
          <p:cNvSpPr/>
          <p:nvPr/>
        </p:nvSpPr>
        <p:spPr>
          <a:xfrm>
            <a:off x="1920240" y="3200400"/>
            <a:ext cx="731520" cy="0"/>
          </a:xfrm>
          <a:prstGeom prst="line">
            <a:avLst/>
          </a:prstGeom>
          <a:noFill/>
          <a:ln w="12700">
            <a:solidFill>
              <a:srgbClr val="0E7C86"/>
            </a:solidFill>
            <a:prstDash val="solid"/>
          </a:ln>
        </p:spPr>
      </p:sp>
      <p:sp>
        <p:nvSpPr>
          <p:cNvPr id="21" name="Shape 19"/>
          <p:cNvSpPr/>
          <p:nvPr/>
        </p:nvSpPr>
        <p:spPr>
          <a:xfrm>
            <a:off x="6309360" y="3200400"/>
            <a:ext cx="731520" cy="0"/>
          </a:xfrm>
          <a:prstGeom prst="line">
            <a:avLst/>
          </a:prstGeom>
          <a:noFill/>
          <a:ln w="12700">
            <a:solidFill>
              <a:srgbClr val="0E7C86"/>
            </a:solidFill>
            <a:prstDash val="solid"/>
          </a:ln>
        </p:spPr>
      </p:sp>
      <p:sp>
        <p:nvSpPr>
          <p:cNvPr id="22" name="Shape 20"/>
          <p:cNvSpPr/>
          <p:nvPr/>
        </p:nvSpPr>
        <p:spPr>
          <a:xfrm>
            <a:off x="7040880" y="2926080"/>
            <a:ext cx="1645920" cy="548640"/>
          </a:xfrm>
          <a:prstGeom prst="rect">
            <a:avLst/>
          </a:prstGeom>
          <a:solidFill>
            <a:srgbClr val="E67E22"/>
          </a:solidFill>
          <a:ln w="12700">
            <a:solidFill>
              <a:srgbClr val="E67E22"/>
            </a:solidFill>
            <a:prstDash val="solid"/>
          </a:ln>
        </p:spPr>
      </p:sp>
      <p:sp>
        <p:nvSpPr>
          <p:cNvPr id="23" name="Text 21"/>
          <p:cNvSpPr/>
          <p:nvPr/>
        </p:nvSpPr>
        <p:spPr>
          <a:xfrm>
            <a:off x="7040880" y="2926080"/>
            <a:ext cx="1645920" cy="548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Customer B receives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original VLAN 100</a:t>
            </a:r>
            <a:endParaRPr lang="en-US" sz="1000" dirty="0"/>
          </a:p>
        </p:txBody>
      </p:sp>
      <p:sp>
        <p:nvSpPr>
          <p:cNvPr id="24" name="Shape 22"/>
          <p:cNvSpPr/>
          <p:nvPr/>
        </p:nvSpPr>
        <p:spPr>
          <a:xfrm>
            <a:off x="502920" y="3703320"/>
            <a:ext cx="8138160" cy="1097280"/>
          </a:xfrm>
          <a:prstGeom prst="rect">
            <a:avLst/>
          </a:prstGeom>
          <a:solidFill>
            <a:srgbClr val="0B2D4E"/>
          </a:solidFill>
          <a:ln w="12700">
            <a:solidFill>
              <a:srgbClr val="0B2D4E"/>
            </a:solidFill>
            <a:prstDash val="solid"/>
          </a:ln>
        </p:spPr>
      </p:sp>
      <p:sp>
        <p:nvSpPr>
          <p:cNvPr id="25" name="Text 23"/>
          <p:cNvSpPr/>
          <p:nvPr/>
        </p:nvSpPr>
        <p:spPr>
          <a:xfrm>
            <a:off x="640080" y="3794760"/>
            <a:ext cx="7772400" cy="320040"/>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The key insight:</a:t>
            </a:r>
            <a:endParaRPr lang="en-US" sz="1300" dirty="0"/>
          </a:p>
        </p:txBody>
      </p:sp>
      <p:sp>
        <p:nvSpPr>
          <p:cNvPr id="26" name="Text 24"/>
          <p:cNvSpPr/>
          <p:nvPr/>
        </p:nvSpPr>
        <p:spPr>
          <a:xfrm>
            <a:off x="640080" y="4133088"/>
            <a:ext cx="7772400" cy="59436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Outer tag = transport context (owned by provider). Inner tag = customer-local VLAN meaning (owned by customer). The two layers of meaning are completely independent — that is exactly why stacked tagging is powerful.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Trebuchet MS" pitchFamily="34" charset="0"/>
                <a:ea typeface="Trebuchet MS" pitchFamily="34" charset="-122"/>
                <a:cs typeface="Trebuchet MS" pitchFamily="34" charset="-120"/>
              </a:rPr>
              <a:t>Port Behaviors: How VLAN Identity Gets Assigned</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Every frame needs a VLAN context when it enters the bridge. That context comes from one of two sources, depending on port configuration:</a:t>
            </a:r>
            <a:endParaRPr lang="en-US" sz="1400" dirty="0"/>
          </a:p>
        </p:txBody>
      </p:sp>
      <p:sp>
        <p:nvSpPr>
          <p:cNvPr id="5" name="Shape 3"/>
          <p:cNvSpPr/>
          <p:nvPr/>
        </p:nvSpPr>
        <p:spPr>
          <a:xfrm>
            <a:off x="502920" y="1828800"/>
            <a:ext cx="4069080" cy="411480"/>
          </a:xfrm>
          <a:prstGeom prst="rect">
            <a:avLst/>
          </a:prstGeom>
          <a:solidFill>
            <a:srgbClr val="1A9DAA"/>
          </a:solidFill>
          <a:ln w="12700">
            <a:solidFill>
              <a:srgbClr val="1A9DAA"/>
            </a:solidFill>
            <a:prstDash val="solid"/>
          </a:ln>
        </p:spPr>
      </p:sp>
      <p:sp>
        <p:nvSpPr>
          <p:cNvPr id="6" name="Text 4"/>
          <p:cNvSpPr/>
          <p:nvPr/>
        </p:nvSpPr>
        <p:spPr>
          <a:xfrm>
            <a:off x="612648" y="1828800"/>
            <a:ext cx="3840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Port-Based Assignment (Access-style)</a:t>
            </a:r>
            <a:endParaRPr lang="en-US" sz="1300" dirty="0"/>
          </a:p>
        </p:txBody>
      </p:sp>
      <p:sp>
        <p:nvSpPr>
          <p:cNvPr id="7" name="Text 5"/>
          <p:cNvSpPr/>
          <p:nvPr/>
        </p:nvSpPr>
        <p:spPr>
          <a:xfrm>
            <a:off x="612648" y="2331720"/>
            <a:ext cx="384048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Ingress port has a Port VLAN ID (PVID) configured</a:t>
            </a:r>
            <a:endParaRPr lang="en-US" sz="1200" dirty="0"/>
          </a:p>
        </p:txBody>
      </p:sp>
      <p:sp>
        <p:nvSpPr>
          <p:cNvPr id="8" name="Text 6"/>
          <p:cNvSpPr/>
          <p:nvPr/>
        </p:nvSpPr>
        <p:spPr>
          <a:xfrm>
            <a:off x="612648" y="2679192"/>
            <a:ext cx="384048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Untagged incoming frames are stamped with that PVID</a:t>
            </a:r>
            <a:endParaRPr lang="en-US" sz="1200" dirty="0"/>
          </a:p>
        </p:txBody>
      </p:sp>
      <p:sp>
        <p:nvSpPr>
          <p:cNvPr id="9" name="Text 7"/>
          <p:cNvSpPr/>
          <p:nvPr/>
        </p:nvSpPr>
        <p:spPr>
          <a:xfrm>
            <a:off x="612648" y="3026664"/>
            <a:ext cx="384048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VLAN identity is assigned by the port, not the frame</a:t>
            </a:r>
            <a:endParaRPr lang="en-US" sz="1200" dirty="0"/>
          </a:p>
        </p:txBody>
      </p:sp>
      <p:sp>
        <p:nvSpPr>
          <p:cNvPr id="10" name="Text 8"/>
          <p:cNvSpPr/>
          <p:nvPr/>
        </p:nvSpPr>
        <p:spPr>
          <a:xfrm>
            <a:off x="612648" y="3374136"/>
            <a:ext cx="384048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Typical for end-device connections</a:t>
            </a:r>
            <a:endParaRPr lang="en-US" sz="1200" dirty="0"/>
          </a:p>
        </p:txBody>
      </p:sp>
      <p:sp>
        <p:nvSpPr>
          <p:cNvPr id="11" name="Shape 9"/>
          <p:cNvSpPr/>
          <p:nvPr/>
        </p:nvSpPr>
        <p:spPr>
          <a:xfrm>
            <a:off x="502920" y="3767328"/>
            <a:ext cx="4069080" cy="1051560"/>
          </a:xfrm>
          <a:prstGeom prst="rect">
            <a:avLst/>
          </a:prstGeom>
          <a:solidFill>
            <a:srgbClr val="1A4D6E"/>
          </a:solidFill>
          <a:ln w="12700">
            <a:solidFill>
              <a:srgbClr val="1A4D6E"/>
            </a:solidFill>
            <a:prstDash val="solid"/>
          </a:ln>
        </p:spPr>
      </p:sp>
      <p:sp>
        <p:nvSpPr>
          <p:cNvPr id="12" name="Text 10"/>
          <p:cNvSpPr/>
          <p:nvPr/>
        </p:nvSpPr>
        <p:spPr>
          <a:xfrm>
            <a:off x="612648" y="3840480"/>
            <a:ext cx="3840480" cy="292608"/>
          </a:xfrm>
          <a:prstGeom prst="rect">
            <a:avLst/>
          </a:prstGeom>
          <a:noFill/>
          <a:ln/>
        </p:spPr>
        <p:txBody>
          <a:bodyPr wrap="square" lIns="0" tIns="0" rIns="0" bIns="0" rtlCol="0" anchor="ctr"/>
          <a:lstStyle/>
          <a:p>
            <a:pPr algn="l" indent="0" marL="0">
              <a:buNone/>
            </a:pPr>
            <a:r>
              <a:rPr lang="en-US" sz="1100" b="1" dirty="0">
                <a:solidFill>
                  <a:srgbClr val="F0A500"/>
                </a:solidFill>
                <a:latin typeface="Trebuchet MS" pitchFamily="34" charset="0"/>
                <a:ea typeface="Trebuchet MS" pitchFamily="34" charset="-122"/>
                <a:cs typeface="Trebuchet MS" pitchFamily="34" charset="-120"/>
              </a:rPr>
              <a:t>Example:</a:t>
            </a:r>
            <a:endParaRPr lang="en-US" sz="1100" dirty="0"/>
          </a:p>
        </p:txBody>
      </p:sp>
      <p:sp>
        <p:nvSpPr>
          <p:cNvPr id="13" name="Text 11"/>
          <p:cNvSpPr/>
          <p:nvPr/>
        </p:nvSpPr>
        <p:spPr>
          <a:xfrm>
            <a:off x="612648" y="4151376"/>
            <a:ext cx="3794760" cy="5943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An untagged frame from a workstation enters port 3. Port 3 has PVID 10. The switch internally treats it as belonging to VLAN 10.</a:t>
            </a:r>
            <a:endParaRPr lang="en-US" sz="1100" dirty="0"/>
          </a:p>
        </p:txBody>
      </p:sp>
      <p:sp>
        <p:nvSpPr>
          <p:cNvPr id="14" name="Shape 12"/>
          <p:cNvSpPr/>
          <p:nvPr/>
        </p:nvSpPr>
        <p:spPr>
          <a:xfrm>
            <a:off x="4846320" y="1828800"/>
            <a:ext cx="4069080" cy="411480"/>
          </a:xfrm>
          <a:prstGeom prst="rect">
            <a:avLst/>
          </a:prstGeom>
          <a:solidFill>
            <a:srgbClr val="E67E22"/>
          </a:solidFill>
          <a:ln w="12700">
            <a:solidFill>
              <a:srgbClr val="E67E22"/>
            </a:solidFill>
            <a:prstDash val="solid"/>
          </a:ln>
        </p:spPr>
      </p:sp>
      <p:sp>
        <p:nvSpPr>
          <p:cNvPr id="15" name="Text 13"/>
          <p:cNvSpPr/>
          <p:nvPr/>
        </p:nvSpPr>
        <p:spPr>
          <a:xfrm>
            <a:off x="4956048" y="1828800"/>
            <a:ext cx="3840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Tag-Based Assignment (Trunk-style)</a:t>
            </a:r>
            <a:endParaRPr lang="en-US" sz="1300" dirty="0"/>
          </a:p>
        </p:txBody>
      </p:sp>
      <p:sp>
        <p:nvSpPr>
          <p:cNvPr id="16" name="Text 14"/>
          <p:cNvSpPr/>
          <p:nvPr/>
        </p:nvSpPr>
        <p:spPr>
          <a:xfrm>
            <a:off x="4956048" y="2331720"/>
            <a:ext cx="384048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The incoming frame already carries a VLAN tag</a:t>
            </a:r>
            <a:endParaRPr lang="en-US" sz="1200" dirty="0"/>
          </a:p>
        </p:txBody>
      </p:sp>
      <p:sp>
        <p:nvSpPr>
          <p:cNvPr id="17" name="Text 15"/>
          <p:cNvSpPr/>
          <p:nvPr/>
        </p:nvSpPr>
        <p:spPr>
          <a:xfrm>
            <a:off x="4956048" y="2679192"/>
            <a:ext cx="384048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The tag is read and becomes the VLAN context</a:t>
            </a:r>
            <a:endParaRPr lang="en-US" sz="1200" dirty="0"/>
          </a:p>
        </p:txBody>
      </p:sp>
      <p:sp>
        <p:nvSpPr>
          <p:cNvPr id="18" name="Text 16"/>
          <p:cNvSpPr/>
          <p:nvPr/>
        </p:nvSpPr>
        <p:spPr>
          <a:xfrm>
            <a:off x="4956048" y="3026664"/>
            <a:ext cx="384048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Port carries traffic for multiple VLANs simultaneously</a:t>
            </a:r>
            <a:endParaRPr lang="en-US" sz="1200" dirty="0"/>
          </a:p>
        </p:txBody>
      </p:sp>
      <p:sp>
        <p:nvSpPr>
          <p:cNvPr id="19" name="Text 17"/>
          <p:cNvSpPr/>
          <p:nvPr/>
        </p:nvSpPr>
        <p:spPr>
          <a:xfrm>
            <a:off x="4956048" y="3374136"/>
            <a:ext cx="384048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Typical for inter-switch or router links</a:t>
            </a:r>
            <a:endParaRPr lang="en-US" sz="1200" dirty="0"/>
          </a:p>
        </p:txBody>
      </p:sp>
      <p:sp>
        <p:nvSpPr>
          <p:cNvPr id="20" name="Shape 18"/>
          <p:cNvSpPr/>
          <p:nvPr/>
        </p:nvSpPr>
        <p:spPr>
          <a:xfrm>
            <a:off x="4846320" y="3767328"/>
            <a:ext cx="4069080" cy="1051560"/>
          </a:xfrm>
          <a:prstGeom prst="rect">
            <a:avLst/>
          </a:prstGeom>
          <a:solidFill>
            <a:srgbClr val="1A4D6E"/>
          </a:solidFill>
          <a:ln w="12700">
            <a:solidFill>
              <a:srgbClr val="1A4D6E"/>
            </a:solidFill>
            <a:prstDash val="solid"/>
          </a:ln>
        </p:spPr>
      </p:sp>
      <p:sp>
        <p:nvSpPr>
          <p:cNvPr id="21" name="Text 19"/>
          <p:cNvSpPr/>
          <p:nvPr/>
        </p:nvSpPr>
        <p:spPr>
          <a:xfrm>
            <a:off x="4956048" y="3840480"/>
            <a:ext cx="3840480" cy="292608"/>
          </a:xfrm>
          <a:prstGeom prst="rect">
            <a:avLst/>
          </a:prstGeom>
          <a:noFill/>
          <a:ln/>
        </p:spPr>
        <p:txBody>
          <a:bodyPr wrap="square" lIns="0" tIns="0" rIns="0" bIns="0" rtlCol="0" anchor="ctr"/>
          <a:lstStyle/>
          <a:p>
            <a:pPr algn="l" indent="0" marL="0">
              <a:buNone/>
            </a:pPr>
            <a:r>
              <a:rPr lang="en-US" sz="1100" b="1" dirty="0">
                <a:solidFill>
                  <a:srgbClr val="F0A500"/>
                </a:solidFill>
                <a:latin typeface="Trebuchet MS" pitchFamily="34" charset="0"/>
                <a:ea typeface="Trebuchet MS" pitchFamily="34" charset="-122"/>
                <a:cs typeface="Trebuchet MS" pitchFamily="34" charset="-120"/>
              </a:rPr>
              <a:t>Example:</a:t>
            </a:r>
            <a:endParaRPr lang="en-US" sz="1100" dirty="0"/>
          </a:p>
        </p:txBody>
      </p:sp>
      <p:sp>
        <p:nvSpPr>
          <p:cNvPr id="22" name="Text 20"/>
          <p:cNvSpPr/>
          <p:nvPr/>
        </p:nvSpPr>
        <p:spPr>
          <a:xfrm>
            <a:off x="4956048" y="4151376"/>
            <a:ext cx="3794760" cy="5943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A tagged frame arrives carrying VID 20. The bridge reads the tag and forwards within VLAN 20, with no need to add or override a PVID.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000" b="1" dirty="0">
                <a:solidFill>
                  <a:srgbClr val="0B2D4E"/>
                </a:solidFill>
                <a:latin typeface="Trebuchet MS" pitchFamily="34" charset="0"/>
                <a:ea typeface="Trebuchet MS" pitchFamily="34" charset="-122"/>
                <a:cs typeface="Trebuchet MS" pitchFamily="34" charset="-120"/>
              </a:rPr>
              <a:t>Ingress Filtering: Enforcing Policy on the Way In</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658368"/>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A switch does not have to accept every incoming tag pattern on every port. Ingress filtering allows the switch to enforce VLAN policy before a frame even enters the forwarding pipeline.</a:t>
            </a:r>
            <a:endParaRPr lang="en-US" sz="1400" dirty="0"/>
          </a:p>
        </p:txBody>
      </p:sp>
      <p:sp>
        <p:nvSpPr>
          <p:cNvPr id="5" name="Shape 3"/>
          <p:cNvSpPr/>
          <p:nvPr/>
        </p:nvSpPr>
        <p:spPr>
          <a:xfrm>
            <a:off x="365760" y="2057400"/>
            <a:ext cx="1371600" cy="566928"/>
          </a:xfrm>
          <a:prstGeom prst="rect">
            <a:avLst/>
          </a:prstGeom>
          <a:solidFill>
            <a:srgbClr val="1A4D6E"/>
          </a:solidFill>
          <a:ln w="12700">
            <a:solidFill>
              <a:srgbClr val="1A4D6E"/>
            </a:solidFill>
            <a:prstDash val="solid"/>
          </a:ln>
        </p:spPr>
      </p:sp>
      <p:sp>
        <p:nvSpPr>
          <p:cNvPr id="6" name="Text 4"/>
          <p:cNvSpPr/>
          <p:nvPr/>
        </p:nvSpPr>
        <p:spPr>
          <a:xfrm>
            <a:off x="365760" y="2057400"/>
            <a:ext cx="1371600" cy="566928"/>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Frame</a:t>
            </a:r>
            <a:endParaRPr lang="en-US" sz="1200" dirty="0"/>
          </a:p>
          <a:p>
            <a:pPr algn="ctr" indent="0" marL="0">
              <a:buNone/>
            </a:pPr>
            <a:r>
              <a:rPr lang="en-US" sz="1200" dirty="0">
                <a:solidFill>
                  <a:srgbClr val="D6EAF8"/>
                </a:solidFill>
                <a:latin typeface="Calibri" pitchFamily="34" charset="0"/>
                <a:ea typeface="Calibri" pitchFamily="34" charset="-122"/>
                <a:cs typeface="Calibri" pitchFamily="34" charset="-120"/>
              </a:rPr>
              <a:t>arrives</a:t>
            </a:r>
            <a:endParaRPr lang="en-US" sz="1200" dirty="0"/>
          </a:p>
        </p:txBody>
      </p:sp>
      <p:sp>
        <p:nvSpPr>
          <p:cNvPr id="7" name="Shape 5"/>
          <p:cNvSpPr/>
          <p:nvPr/>
        </p:nvSpPr>
        <p:spPr>
          <a:xfrm>
            <a:off x="1737360" y="2340864"/>
            <a:ext cx="640080" cy="0"/>
          </a:xfrm>
          <a:prstGeom prst="line">
            <a:avLst/>
          </a:prstGeom>
          <a:noFill/>
          <a:ln w="25400">
            <a:solidFill>
              <a:srgbClr val="0E7C86"/>
            </a:solidFill>
            <a:prstDash val="solid"/>
          </a:ln>
        </p:spPr>
      </p:sp>
      <p:sp>
        <p:nvSpPr>
          <p:cNvPr id="8" name="Text 6"/>
          <p:cNvSpPr/>
          <p:nvPr/>
        </p:nvSpPr>
        <p:spPr>
          <a:xfrm>
            <a:off x="1737360" y="2148840"/>
            <a:ext cx="640080" cy="402336"/>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9" name="Shape 7"/>
          <p:cNvSpPr/>
          <p:nvPr/>
        </p:nvSpPr>
        <p:spPr>
          <a:xfrm>
            <a:off x="2377440" y="2057400"/>
            <a:ext cx="2194560" cy="566928"/>
          </a:xfrm>
          <a:prstGeom prst="rect">
            <a:avLst/>
          </a:prstGeom>
          <a:solidFill>
            <a:srgbClr val="2980B9"/>
          </a:solidFill>
          <a:ln w="12700">
            <a:solidFill>
              <a:srgbClr val="2980B9"/>
            </a:solidFill>
            <a:prstDash val="solid"/>
          </a:ln>
        </p:spPr>
      </p:sp>
      <p:sp>
        <p:nvSpPr>
          <p:cNvPr id="10" name="Text 8"/>
          <p:cNvSpPr/>
          <p:nvPr/>
        </p:nvSpPr>
        <p:spPr>
          <a:xfrm>
            <a:off x="2377440" y="2057400"/>
            <a:ext cx="21945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Acceptable</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frame type?</a:t>
            </a:r>
            <a:endParaRPr lang="en-US" sz="1200" dirty="0"/>
          </a:p>
        </p:txBody>
      </p:sp>
      <p:sp>
        <p:nvSpPr>
          <p:cNvPr id="11" name="Shape 9"/>
          <p:cNvSpPr/>
          <p:nvPr/>
        </p:nvSpPr>
        <p:spPr>
          <a:xfrm>
            <a:off x="4572000" y="2340864"/>
            <a:ext cx="640080" cy="0"/>
          </a:xfrm>
          <a:prstGeom prst="line">
            <a:avLst/>
          </a:prstGeom>
          <a:noFill/>
          <a:ln w="25400">
            <a:solidFill>
              <a:srgbClr val="0E7C86"/>
            </a:solidFill>
            <a:prstDash val="solid"/>
          </a:ln>
        </p:spPr>
      </p:sp>
      <p:sp>
        <p:nvSpPr>
          <p:cNvPr id="12" name="Text 10"/>
          <p:cNvSpPr/>
          <p:nvPr/>
        </p:nvSpPr>
        <p:spPr>
          <a:xfrm>
            <a:off x="4572000" y="2148840"/>
            <a:ext cx="640080" cy="402336"/>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13" name="Shape 11"/>
          <p:cNvSpPr/>
          <p:nvPr/>
        </p:nvSpPr>
        <p:spPr>
          <a:xfrm>
            <a:off x="5212080" y="2057400"/>
            <a:ext cx="2194560" cy="566928"/>
          </a:xfrm>
          <a:prstGeom prst="rect">
            <a:avLst/>
          </a:prstGeom>
          <a:solidFill>
            <a:srgbClr val="2980B9"/>
          </a:solidFill>
          <a:ln w="12700">
            <a:solidFill>
              <a:srgbClr val="2980B9"/>
            </a:solidFill>
            <a:prstDash val="solid"/>
          </a:ln>
        </p:spPr>
      </p:sp>
      <p:sp>
        <p:nvSpPr>
          <p:cNvPr id="14" name="Text 12"/>
          <p:cNvSpPr/>
          <p:nvPr/>
        </p:nvSpPr>
        <p:spPr>
          <a:xfrm>
            <a:off x="5212080" y="2057400"/>
            <a:ext cx="21945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VLAN permitted</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on this port?</a:t>
            </a:r>
            <a:endParaRPr lang="en-US" sz="1200" dirty="0"/>
          </a:p>
        </p:txBody>
      </p:sp>
      <p:sp>
        <p:nvSpPr>
          <p:cNvPr id="15" name="Shape 13"/>
          <p:cNvSpPr/>
          <p:nvPr/>
        </p:nvSpPr>
        <p:spPr>
          <a:xfrm>
            <a:off x="7406640" y="2340864"/>
            <a:ext cx="640080" cy="0"/>
          </a:xfrm>
          <a:prstGeom prst="line">
            <a:avLst/>
          </a:prstGeom>
          <a:noFill/>
          <a:ln w="25400">
            <a:solidFill>
              <a:srgbClr val="0E7C86"/>
            </a:solidFill>
            <a:prstDash val="solid"/>
          </a:ln>
        </p:spPr>
      </p:sp>
      <p:sp>
        <p:nvSpPr>
          <p:cNvPr id="16" name="Text 14"/>
          <p:cNvSpPr/>
          <p:nvPr/>
        </p:nvSpPr>
        <p:spPr>
          <a:xfrm>
            <a:off x="7406640" y="2148840"/>
            <a:ext cx="640080" cy="402336"/>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17" name="Shape 15"/>
          <p:cNvSpPr/>
          <p:nvPr/>
        </p:nvSpPr>
        <p:spPr>
          <a:xfrm>
            <a:off x="8046720" y="2057400"/>
            <a:ext cx="822960" cy="566928"/>
          </a:xfrm>
          <a:prstGeom prst="rect">
            <a:avLst/>
          </a:prstGeom>
          <a:solidFill>
            <a:srgbClr val="1A9DAA"/>
          </a:solidFill>
          <a:ln w="12700">
            <a:solidFill>
              <a:srgbClr val="1A9DAA"/>
            </a:solidFill>
            <a:prstDash val="solid"/>
          </a:ln>
        </p:spPr>
      </p:sp>
      <p:sp>
        <p:nvSpPr>
          <p:cNvPr id="18" name="Text 16"/>
          <p:cNvSpPr/>
          <p:nvPr/>
        </p:nvSpPr>
        <p:spPr>
          <a:xfrm>
            <a:off x="8046720" y="2057400"/>
            <a:ext cx="822960" cy="56692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Forward</a:t>
            </a:r>
            <a:endParaRPr lang="en-US" sz="1100" dirty="0"/>
          </a:p>
        </p:txBody>
      </p:sp>
      <p:sp>
        <p:nvSpPr>
          <p:cNvPr id="19" name="Shape 17"/>
          <p:cNvSpPr/>
          <p:nvPr/>
        </p:nvSpPr>
        <p:spPr>
          <a:xfrm>
            <a:off x="2377440" y="2834640"/>
            <a:ext cx="2194560" cy="475488"/>
          </a:xfrm>
          <a:prstGeom prst="rect">
            <a:avLst/>
          </a:prstGeom>
          <a:solidFill>
            <a:srgbClr val="C0392B"/>
          </a:solidFill>
          <a:ln w="12700">
            <a:solidFill>
              <a:srgbClr val="C0392B"/>
            </a:solidFill>
            <a:prstDash val="solid"/>
          </a:ln>
        </p:spPr>
      </p:sp>
      <p:sp>
        <p:nvSpPr>
          <p:cNvPr id="20" name="Text 18"/>
          <p:cNvSpPr/>
          <p:nvPr/>
        </p:nvSpPr>
        <p:spPr>
          <a:xfrm>
            <a:off x="2377440" y="2834640"/>
            <a:ext cx="2194560" cy="47548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Reject: wrong</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frame type</a:t>
            </a:r>
            <a:endParaRPr lang="en-US" sz="1100" dirty="0"/>
          </a:p>
        </p:txBody>
      </p:sp>
      <p:sp>
        <p:nvSpPr>
          <p:cNvPr id="21" name="Shape 19"/>
          <p:cNvSpPr/>
          <p:nvPr/>
        </p:nvSpPr>
        <p:spPr>
          <a:xfrm>
            <a:off x="3474720" y="2624328"/>
            <a:ext cx="0" cy="210312"/>
          </a:xfrm>
          <a:prstGeom prst="line">
            <a:avLst/>
          </a:prstGeom>
          <a:noFill/>
          <a:ln w="25400">
            <a:solidFill>
              <a:srgbClr val="C0392B"/>
            </a:solidFill>
            <a:prstDash val="solid"/>
          </a:ln>
        </p:spPr>
      </p:sp>
      <p:sp>
        <p:nvSpPr>
          <p:cNvPr id="22" name="Shape 20"/>
          <p:cNvSpPr/>
          <p:nvPr/>
        </p:nvSpPr>
        <p:spPr>
          <a:xfrm>
            <a:off x="5212080" y="2834640"/>
            <a:ext cx="2194560" cy="475488"/>
          </a:xfrm>
          <a:prstGeom prst="rect">
            <a:avLst/>
          </a:prstGeom>
          <a:solidFill>
            <a:srgbClr val="C0392B"/>
          </a:solidFill>
          <a:ln w="12700">
            <a:solidFill>
              <a:srgbClr val="C0392B"/>
            </a:solidFill>
            <a:prstDash val="solid"/>
          </a:ln>
        </p:spPr>
      </p:sp>
      <p:sp>
        <p:nvSpPr>
          <p:cNvPr id="23" name="Text 21"/>
          <p:cNvSpPr/>
          <p:nvPr/>
        </p:nvSpPr>
        <p:spPr>
          <a:xfrm>
            <a:off x="5212080" y="2834640"/>
            <a:ext cx="2194560" cy="47548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Reject: VLAN not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permitted here</a:t>
            </a:r>
            <a:endParaRPr lang="en-US" sz="1100" dirty="0"/>
          </a:p>
        </p:txBody>
      </p:sp>
      <p:sp>
        <p:nvSpPr>
          <p:cNvPr id="24" name="Shape 22"/>
          <p:cNvSpPr/>
          <p:nvPr/>
        </p:nvSpPr>
        <p:spPr>
          <a:xfrm>
            <a:off x="6309360" y="2624328"/>
            <a:ext cx="0" cy="210312"/>
          </a:xfrm>
          <a:prstGeom prst="line">
            <a:avLst/>
          </a:prstGeom>
          <a:noFill/>
          <a:ln w="25400">
            <a:solidFill>
              <a:srgbClr val="C0392B"/>
            </a:solidFill>
            <a:prstDash val="solid"/>
          </a:ln>
        </p:spPr>
      </p:sp>
      <p:sp>
        <p:nvSpPr>
          <p:cNvPr id="25" name="Shape 23"/>
          <p:cNvSpPr/>
          <p:nvPr/>
        </p:nvSpPr>
        <p:spPr>
          <a:xfrm>
            <a:off x="502920" y="3493008"/>
            <a:ext cx="8138160" cy="1298448"/>
          </a:xfrm>
          <a:prstGeom prst="rect">
            <a:avLst/>
          </a:prstGeom>
          <a:solidFill>
            <a:srgbClr val="0B2D4E"/>
          </a:solidFill>
          <a:ln w="12700">
            <a:solidFill>
              <a:srgbClr val="0B2D4E"/>
            </a:solidFill>
            <a:prstDash val="solid"/>
          </a:ln>
        </p:spPr>
      </p:sp>
      <p:sp>
        <p:nvSpPr>
          <p:cNvPr id="26" name="Text 24"/>
          <p:cNvSpPr/>
          <p:nvPr/>
        </p:nvSpPr>
        <p:spPr>
          <a:xfrm>
            <a:off x="640080" y="3584448"/>
            <a:ext cx="79552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Why this matters:</a:t>
            </a:r>
            <a:endParaRPr lang="en-US" sz="1300" dirty="0"/>
          </a:p>
        </p:txBody>
      </p:sp>
      <p:sp>
        <p:nvSpPr>
          <p:cNvPr id="27" name="Text 25"/>
          <p:cNvSpPr/>
          <p:nvPr/>
        </p:nvSpPr>
        <p:spPr>
          <a:xfrm>
            <a:off x="640080" y="3968496"/>
            <a:ext cx="7955280" cy="749808"/>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VLANs are not just an egress tagging trick. The switch enforces VLAN policy on ingress too. If a frame arrives with a VLAN context the port is not permitted to handle, it is dropped before it enters forwarding logic at all. This is why VLAN misconfiguration can produce mysterious silence rather than obvious errors.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Trebuchet MS" pitchFamily="34" charset="0"/>
                <a:ea typeface="Trebuchet MS" pitchFamily="34" charset="-122"/>
                <a:cs typeface="Trebuchet MS" pitchFamily="34" charset="-120"/>
              </a:rPr>
              <a:t>The Forwarding Database: The Switch's Memory</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34440"/>
            <a:ext cx="8138160" cy="475488"/>
          </a:xfrm>
          <a:prstGeom prst="rect">
            <a:avLst/>
          </a:prstGeom>
          <a:solidFill>
            <a:srgbClr val="1A4D6E"/>
          </a:solidFill>
          <a:ln w="12700">
            <a:solidFill>
              <a:srgbClr val="1A4D6E"/>
            </a:solidFill>
            <a:prstDash val="solid"/>
          </a:ln>
        </p:spPr>
      </p:sp>
      <p:sp>
        <p:nvSpPr>
          <p:cNvPr id="5" name="Text 3"/>
          <p:cNvSpPr/>
          <p:nvPr/>
        </p:nvSpPr>
        <p:spPr>
          <a:xfrm>
            <a:off x="640080" y="1261872"/>
            <a:ext cx="7863840" cy="420624"/>
          </a:xfrm>
          <a:prstGeom prst="rect">
            <a:avLst/>
          </a:prstGeom>
          <a:noFill/>
          <a:ln/>
        </p:spPr>
        <p:txBody>
          <a:bodyPr wrap="square" lIns="0" tIns="0" rIns="0" bIns="0" rtlCol="0" anchor="ctr"/>
          <a:lstStyle/>
          <a:p>
            <a:pPr algn="ctr" indent="0" marL="0">
              <a:buNone/>
            </a:pPr>
            <a:r>
              <a:rPr lang="en-US" sz="1300" b="1" dirty="0">
                <a:solidFill>
                  <a:srgbClr val="F0A500"/>
                </a:solidFill>
                <a:latin typeface="Trebuchet MS" pitchFamily="34" charset="0"/>
                <a:ea typeface="Trebuchet MS" pitchFamily="34" charset="-122"/>
                <a:cs typeface="Trebuchet MS" pitchFamily="34" charset="-120"/>
              </a:rPr>
              <a:t>The FDB is the switch's memory of: where I last saw this source address in this VLAN context.</a:t>
            </a:r>
            <a:endParaRPr lang="en-US" sz="1300" dirty="0"/>
          </a:p>
        </p:txBody>
      </p:sp>
      <p:sp>
        <p:nvSpPr>
          <p:cNvPr id="6" name="Text 4"/>
          <p:cNvSpPr/>
          <p:nvPr/>
        </p:nvSpPr>
        <p:spPr>
          <a:xfrm>
            <a:off x="502920" y="1828800"/>
            <a:ext cx="8138160" cy="658368"/>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The FDB stores the information used by the forwarding process to decide through which ports frames should be forwarded. Without it, the switch would have to flood almost everything.</a:t>
            </a:r>
            <a:endParaRPr lang="en-US" sz="1400" dirty="0"/>
          </a:p>
        </p:txBody>
      </p:sp>
      <p:sp>
        <p:nvSpPr>
          <p:cNvPr id="7" name="Shape 5"/>
          <p:cNvSpPr/>
          <p:nvPr/>
        </p:nvSpPr>
        <p:spPr>
          <a:xfrm>
            <a:off x="502920" y="2633472"/>
            <a:ext cx="8138160" cy="384048"/>
          </a:xfrm>
          <a:prstGeom prst="rect">
            <a:avLst/>
          </a:prstGeom>
          <a:solidFill>
            <a:srgbClr val="0E7C86"/>
          </a:solidFill>
          <a:ln w="12700">
            <a:solidFill>
              <a:srgbClr val="0E7C86"/>
            </a:solidFill>
            <a:prstDash val="solid"/>
          </a:ln>
        </p:spPr>
      </p:sp>
      <p:sp>
        <p:nvSpPr>
          <p:cNvPr id="8" name="Text 6"/>
          <p:cNvSpPr/>
          <p:nvPr/>
        </p:nvSpPr>
        <p:spPr>
          <a:xfrm>
            <a:off x="594360" y="2633472"/>
            <a:ext cx="153619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MAC Address</a:t>
            </a:r>
            <a:endParaRPr lang="en-US" sz="1200" dirty="0"/>
          </a:p>
        </p:txBody>
      </p:sp>
      <p:sp>
        <p:nvSpPr>
          <p:cNvPr id="9" name="Text 7"/>
          <p:cNvSpPr/>
          <p:nvPr/>
        </p:nvSpPr>
        <p:spPr>
          <a:xfrm>
            <a:off x="2221992" y="2633472"/>
            <a:ext cx="153619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VLAN (VID)</a:t>
            </a:r>
            <a:endParaRPr lang="en-US" sz="1200" dirty="0"/>
          </a:p>
        </p:txBody>
      </p:sp>
      <p:sp>
        <p:nvSpPr>
          <p:cNvPr id="10" name="Text 8"/>
          <p:cNvSpPr/>
          <p:nvPr/>
        </p:nvSpPr>
        <p:spPr>
          <a:xfrm>
            <a:off x="3849624" y="2633472"/>
            <a:ext cx="153619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Egress Port</a:t>
            </a:r>
            <a:endParaRPr lang="en-US" sz="1200" dirty="0"/>
          </a:p>
        </p:txBody>
      </p:sp>
      <p:sp>
        <p:nvSpPr>
          <p:cNvPr id="11" name="Text 9"/>
          <p:cNvSpPr/>
          <p:nvPr/>
        </p:nvSpPr>
        <p:spPr>
          <a:xfrm>
            <a:off x="5477256" y="2633472"/>
            <a:ext cx="153619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Entry Type</a:t>
            </a:r>
            <a:endParaRPr lang="en-US" sz="1200" dirty="0"/>
          </a:p>
        </p:txBody>
      </p:sp>
      <p:sp>
        <p:nvSpPr>
          <p:cNvPr id="12" name="Text 10"/>
          <p:cNvSpPr/>
          <p:nvPr/>
        </p:nvSpPr>
        <p:spPr>
          <a:xfrm>
            <a:off x="7104888" y="2633472"/>
            <a:ext cx="153619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Age</a:t>
            </a:r>
            <a:endParaRPr lang="en-US" sz="1200" dirty="0"/>
          </a:p>
        </p:txBody>
      </p:sp>
      <p:sp>
        <p:nvSpPr>
          <p:cNvPr id="13" name="Shape 11"/>
          <p:cNvSpPr/>
          <p:nvPr/>
        </p:nvSpPr>
        <p:spPr>
          <a:xfrm>
            <a:off x="502920" y="3035808"/>
            <a:ext cx="8138160" cy="329184"/>
          </a:xfrm>
          <a:prstGeom prst="rect">
            <a:avLst/>
          </a:prstGeom>
          <a:solidFill>
            <a:srgbClr val="1A4D6E"/>
          </a:solidFill>
          <a:ln w="12700">
            <a:solidFill>
              <a:srgbClr val="1A4D6E"/>
            </a:solidFill>
            <a:prstDash val="solid"/>
          </a:ln>
        </p:spPr>
      </p:sp>
      <p:sp>
        <p:nvSpPr>
          <p:cNvPr id="14" name="Text 12"/>
          <p:cNvSpPr/>
          <p:nvPr/>
        </p:nvSpPr>
        <p:spPr>
          <a:xfrm>
            <a:off x="594360" y="3035808"/>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AA:BB:CC:DD:EE:01</a:t>
            </a:r>
            <a:endParaRPr lang="en-US" sz="1100" dirty="0"/>
          </a:p>
        </p:txBody>
      </p:sp>
      <p:sp>
        <p:nvSpPr>
          <p:cNvPr id="15" name="Text 13"/>
          <p:cNvSpPr/>
          <p:nvPr/>
        </p:nvSpPr>
        <p:spPr>
          <a:xfrm>
            <a:off x="2221992" y="3035808"/>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10</a:t>
            </a:r>
            <a:endParaRPr lang="en-US" sz="1100" dirty="0"/>
          </a:p>
        </p:txBody>
      </p:sp>
      <p:sp>
        <p:nvSpPr>
          <p:cNvPr id="16" name="Text 14"/>
          <p:cNvSpPr/>
          <p:nvPr/>
        </p:nvSpPr>
        <p:spPr>
          <a:xfrm>
            <a:off x="3849624" y="3035808"/>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GE0/1</a:t>
            </a:r>
            <a:endParaRPr lang="en-US" sz="1100" dirty="0"/>
          </a:p>
        </p:txBody>
      </p:sp>
      <p:sp>
        <p:nvSpPr>
          <p:cNvPr id="17" name="Text 15"/>
          <p:cNvSpPr/>
          <p:nvPr/>
        </p:nvSpPr>
        <p:spPr>
          <a:xfrm>
            <a:off x="5477256" y="3035808"/>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Dynamic</a:t>
            </a:r>
            <a:endParaRPr lang="en-US" sz="1100" dirty="0"/>
          </a:p>
        </p:txBody>
      </p:sp>
      <p:sp>
        <p:nvSpPr>
          <p:cNvPr id="18" name="Text 16"/>
          <p:cNvSpPr/>
          <p:nvPr/>
        </p:nvSpPr>
        <p:spPr>
          <a:xfrm>
            <a:off x="7104888" y="3035808"/>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12s</a:t>
            </a:r>
            <a:endParaRPr lang="en-US" sz="1100" dirty="0"/>
          </a:p>
        </p:txBody>
      </p:sp>
      <p:sp>
        <p:nvSpPr>
          <p:cNvPr id="19" name="Shape 17"/>
          <p:cNvSpPr/>
          <p:nvPr/>
        </p:nvSpPr>
        <p:spPr>
          <a:xfrm>
            <a:off x="502920" y="3383280"/>
            <a:ext cx="8138160" cy="329184"/>
          </a:xfrm>
          <a:prstGeom prst="rect">
            <a:avLst/>
          </a:prstGeom>
          <a:solidFill>
            <a:srgbClr val="152845"/>
          </a:solidFill>
          <a:ln w="12700">
            <a:solidFill>
              <a:srgbClr val="152845"/>
            </a:solidFill>
            <a:prstDash val="solid"/>
          </a:ln>
        </p:spPr>
      </p:sp>
      <p:sp>
        <p:nvSpPr>
          <p:cNvPr id="20" name="Text 18"/>
          <p:cNvSpPr/>
          <p:nvPr/>
        </p:nvSpPr>
        <p:spPr>
          <a:xfrm>
            <a:off x="594360" y="3383280"/>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AA:BB:CC:DD:EE:02</a:t>
            </a:r>
            <a:endParaRPr lang="en-US" sz="1100" dirty="0"/>
          </a:p>
        </p:txBody>
      </p:sp>
      <p:sp>
        <p:nvSpPr>
          <p:cNvPr id="21" name="Text 19"/>
          <p:cNvSpPr/>
          <p:nvPr/>
        </p:nvSpPr>
        <p:spPr>
          <a:xfrm>
            <a:off x="2221992" y="3383280"/>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10</a:t>
            </a:r>
            <a:endParaRPr lang="en-US" sz="1100" dirty="0"/>
          </a:p>
        </p:txBody>
      </p:sp>
      <p:sp>
        <p:nvSpPr>
          <p:cNvPr id="22" name="Text 20"/>
          <p:cNvSpPr/>
          <p:nvPr/>
        </p:nvSpPr>
        <p:spPr>
          <a:xfrm>
            <a:off x="3849624" y="3383280"/>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GE0/2</a:t>
            </a:r>
            <a:endParaRPr lang="en-US" sz="1100" dirty="0"/>
          </a:p>
        </p:txBody>
      </p:sp>
      <p:sp>
        <p:nvSpPr>
          <p:cNvPr id="23" name="Text 21"/>
          <p:cNvSpPr/>
          <p:nvPr/>
        </p:nvSpPr>
        <p:spPr>
          <a:xfrm>
            <a:off x="5477256" y="3383280"/>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Dynamic</a:t>
            </a:r>
            <a:endParaRPr lang="en-US" sz="1100" dirty="0"/>
          </a:p>
        </p:txBody>
      </p:sp>
      <p:sp>
        <p:nvSpPr>
          <p:cNvPr id="24" name="Text 22"/>
          <p:cNvSpPr/>
          <p:nvPr/>
        </p:nvSpPr>
        <p:spPr>
          <a:xfrm>
            <a:off x="7104888" y="3383280"/>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48s</a:t>
            </a:r>
            <a:endParaRPr lang="en-US" sz="1100" dirty="0"/>
          </a:p>
        </p:txBody>
      </p:sp>
      <p:sp>
        <p:nvSpPr>
          <p:cNvPr id="25" name="Shape 23"/>
          <p:cNvSpPr/>
          <p:nvPr/>
        </p:nvSpPr>
        <p:spPr>
          <a:xfrm>
            <a:off x="502920" y="3730752"/>
            <a:ext cx="8138160" cy="329184"/>
          </a:xfrm>
          <a:prstGeom prst="rect">
            <a:avLst/>
          </a:prstGeom>
          <a:solidFill>
            <a:srgbClr val="1A4D6E"/>
          </a:solidFill>
          <a:ln w="12700">
            <a:solidFill>
              <a:srgbClr val="1A4D6E"/>
            </a:solidFill>
            <a:prstDash val="solid"/>
          </a:ln>
        </p:spPr>
      </p:sp>
      <p:sp>
        <p:nvSpPr>
          <p:cNvPr id="26" name="Text 24"/>
          <p:cNvSpPr/>
          <p:nvPr/>
        </p:nvSpPr>
        <p:spPr>
          <a:xfrm>
            <a:off x="594360" y="3730752"/>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AA:BB:CC:DD:EE:03</a:t>
            </a:r>
            <a:endParaRPr lang="en-US" sz="1100" dirty="0"/>
          </a:p>
        </p:txBody>
      </p:sp>
      <p:sp>
        <p:nvSpPr>
          <p:cNvPr id="27" name="Text 25"/>
          <p:cNvSpPr/>
          <p:nvPr/>
        </p:nvSpPr>
        <p:spPr>
          <a:xfrm>
            <a:off x="2221992" y="3730752"/>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20</a:t>
            </a:r>
            <a:endParaRPr lang="en-US" sz="1100" dirty="0"/>
          </a:p>
        </p:txBody>
      </p:sp>
      <p:sp>
        <p:nvSpPr>
          <p:cNvPr id="28" name="Text 26"/>
          <p:cNvSpPr/>
          <p:nvPr/>
        </p:nvSpPr>
        <p:spPr>
          <a:xfrm>
            <a:off x="3849624" y="3730752"/>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GE0/1</a:t>
            </a:r>
            <a:endParaRPr lang="en-US" sz="1100" dirty="0"/>
          </a:p>
        </p:txBody>
      </p:sp>
      <p:sp>
        <p:nvSpPr>
          <p:cNvPr id="29" name="Text 27"/>
          <p:cNvSpPr/>
          <p:nvPr/>
        </p:nvSpPr>
        <p:spPr>
          <a:xfrm>
            <a:off x="5477256" y="3730752"/>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Dynamic</a:t>
            </a:r>
            <a:endParaRPr lang="en-US" sz="1100" dirty="0"/>
          </a:p>
        </p:txBody>
      </p:sp>
      <p:sp>
        <p:nvSpPr>
          <p:cNvPr id="30" name="Text 28"/>
          <p:cNvSpPr/>
          <p:nvPr/>
        </p:nvSpPr>
        <p:spPr>
          <a:xfrm>
            <a:off x="7104888" y="3730752"/>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5s</a:t>
            </a:r>
            <a:endParaRPr lang="en-US" sz="1100" dirty="0"/>
          </a:p>
        </p:txBody>
      </p:sp>
      <p:sp>
        <p:nvSpPr>
          <p:cNvPr id="31" name="Shape 29"/>
          <p:cNvSpPr/>
          <p:nvPr/>
        </p:nvSpPr>
        <p:spPr>
          <a:xfrm>
            <a:off x="502920" y="4078224"/>
            <a:ext cx="8138160" cy="329184"/>
          </a:xfrm>
          <a:prstGeom prst="rect">
            <a:avLst/>
          </a:prstGeom>
          <a:solidFill>
            <a:srgbClr val="152845"/>
          </a:solidFill>
          <a:ln w="12700">
            <a:solidFill>
              <a:srgbClr val="152845"/>
            </a:solidFill>
            <a:prstDash val="solid"/>
          </a:ln>
        </p:spPr>
      </p:sp>
      <p:sp>
        <p:nvSpPr>
          <p:cNvPr id="32" name="Text 30"/>
          <p:cNvSpPr/>
          <p:nvPr/>
        </p:nvSpPr>
        <p:spPr>
          <a:xfrm>
            <a:off x="594360" y="4078224"/>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AA:BB:CC:DD:EE:04</a:t>
            </a:r>
            <a:endParaRPr lang="en-US" sz="1100" dirty="0"/>
          </a:p>
        </p:txBody>
      </p:sp>
      <p:sp>
        <p:nvSpPr>
          <p:cNvPr id="33" name="Text 31"/>
          <p:cNvSpPr/>
          <p:nvPr/>
        </p:nvSpPr>
        <p:spPr>
          <a:xfrm>
            <a:off x="2221992" y="4078224"/>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10</a:t>
            </a:r>
            <a:endParaRPr lang="en-US" sz="1100" dirty="0"/>
          </a:p>
        </p:txBody>
      </p:sp>
      <p:sp>
        <p:nvSpPr>
          <p:cNvPr id="34" name="Text 32"/>
          <p:cNvSpPr/>
          <p:nvPr/>
        </p:nvSpPr>
        <p:spPr>
          <a:xfrm>
            <a:off x="3849624" y="4078224"/>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GE0/4</a:t>
            </a:r>
            <a:endParaRPr lang="en-US" sz="1100" dirty="0"/>
          </a:p>
        </p:txBody>
      </p:sp>
      <p:sp>
        <p:nvSpPr>
          <p:cNvPr id="35" name="Text 33"/>
          <p:cNvSpPr/>
          <p:nvPr/>
        </p:nvSpPr>
        <p:spPr>
          <a:xfrm>
            <a:off x="5477256" y="4078224"/>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Static</a:t>
            </a:r>
            <a:endParaRPr lang="en-US" sz="1100" dirty="0"/>
          </a:p>
        </p:txBody>
      </p:sp>
      <p:sp>
        <p:nvSpPr>
          <p:cNvPr id="36" name="Text 34"/>
          <p:cNvSpPr/>
          <p:nvPr/>
        </p:nvSpPr>
        <p:spPr>
          <a:xfrm>
            <a:off x="7104888" y="4078224"/>
            <a:ext cx="1536192" cy="329184"/>
          </a:xfrm>
          <a:prstGeom prst="rect">
            <a:avLst/>
          </a:prstGeom>
          <a:noFill/>
          <a:ln/>
        </p:spPr>
        <p:txBody>
          <a:bodyPr wrap="square" lIns="0" tIns="0" rIns="0" bIns="0" rtlCol="0" anchor="ctr"/>
          <a:lstStyle/>
          <a:p>
            <a:pPr algn="ctr" indent="0" marL="0">
              <a:buNone/>
            </a:pPr>
            <a:r>
              <a:rPr lang="en-US" sz="1100" dirty="0">
                <a:solidFill>
                  <a:srgbClr val="D6EAF8"/>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502920" y="4462272"/>
            <a:ext cx="8138160" cy="384048"/>
          </a:xfrm>
          <a:prstGeom prst="rect">
            <a:avLst/>
          </a:prstGeom>
          <a:solidFill>
            <a:srgbClr val="1A4D6E"/>
          </a:solidFill>
          <a:ln w="12700">
            <a:solidFill>
              <a:srgbClr val="1A4D6E"/>
            </a:solidFill>
            <a:prstDash val="solid"/>
          </a:ln>
        </p:spPr>
      </p:sp>
      <p:sp>
        <p:nvSpPr>
          <p:cNvPr id="38" name="Text 36"/>
          <p:cNvSpPr/>
          <p:nvPr/>
        </p:nvSpPr>
        <p:spPr>
          <a:xfrm>
            <a:off x="640080" y="4480560"/>
            <a:ext cx="7863840" cy="347472"/>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Note: the FDB is keyed by MAC address AND VLAN. The same MAC can appear in multiple VLANs as separate entries.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200" b="1" dirty="0">
                <a:solidFill>
                  <a:srgbClr val="0B2D4E"/>
                </a:solidFill>
                <a:latin typeface="Trebuchet MS" pitchFamily="34" charset="0"/>
                <a:ea typeface="Trebuchet MS" pitchFamily="34" charset="-122"/>
                <a:cs typeface="Trebuchet MS" pitchFamily="34" charset="-120"/>
              </a:rPr>
              <a:t>MAC Learning: How It Works Step by Step</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When a frame enters a switch, the source MAC address tells the bridge exactly where a device lives. This is the moment learning happens:</a:t>
            </a:r>
            <a:endParaRPr lang="en-US" sz="1400" dirty="0"/>
          </a:p>
        </p:txBody>
      </p:sp>
      <p:sp>
        <p:nvSpPr>
          <p:cNvPr id="5" name="Shape 3"/>
          <p:cNvSpPr/>
          <p:nvPr/>
        </p:nvSpPr>
        <p:spPr>
          <a:xfrm>
            <a:off x="365760" y="1847088"/>
            <a:ext cx="548640" cy="804672"/>
          </a:xfrm>
          <a:prstGeom prst="rect">
            <a:avLst/>
          </a:prstGeom>
          <a:solidFill>
            <a:srgbClr val="1A9DAA"/>
          </a:solidFill>
          <a:ln w="12700">
            <a:solidFill>
              <a:srgbClr val="1A9DAA"/>
            </a:solidFill>
            <a:prstDash val="solid"/>
          </a:ln>
        </p:spPr>
      </p:sp>
      <p:sp>
        <p:nvSpPr>
          <p:cNvPr id="6" name="Text 4"/>
          <p:cNvSpPr/>
          <p:nvPr/>
        </p:nvSpPr>
        <p:spPr>
          <a:xfrm>
            <a:off x="365760" y="1847088"/>
            <a:ext cx="548640"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7" name="Shape 5"/>
          <p:cNvSpPr/>
          <p:nvPr/>
        </p:nvSpPr>
        <p:spPr>
          <a:xfrm>
            <a:off x="914400" y="1847088"/>
            <a:ext cx="3858768" cy="804672"/>
          </a:xfrm>
          <a:prstGeom prst="rect">
            <a:avLst/>
          </a:prstGeom>
          <a:solidFill>
            <a:srgbClr val="1A4D6E"/>
          </a:solidFill>
          <a:ln w="12700">
            <a:solidFill>
              <a:srgbClr val="1A4D6E"/>
            </a:solidFill>
            <a:prstDash val="solid"/>
          </a:ln>
        </p:spPr>
      </p:sp>
      <p:sp>
        <p:nvSpPr>
          <p:cNvPr id="8" name="Text 6"/>
          <p:cNvSpPr/>
          <p:nvPr/>
        </p:nvSpPr>
        <p:spPr>
          <a:xfrm>
            <a:off x="1024128" y="1901952"/>
            <a:ext cx="3639312" cy="320040"/>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Frame arrives on port X in VLAN Y</a:t>
            </a:r>
            <a:endParaRPr lang="en-US" sz="1200" dirty="0"/>
          </a:p>
        </p:txBody>
      </p:sp>
      <p:sp>
        <p:nvSpPr>
          <p:cNvPr id="9" name="Text 7"/>
          <p:cNvSpPr/>
          <p:nvPr/>
        </p:nvSpPr>
        <p:spPr>
          <a:xfrm>
            <a:off x="1024128" y="2249424"/>
            <a:ext cx="3639312" cy="3657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The switch sees both source and destination MAC addresses on ingress</a:t>
            </a:r>
            <a:endParaRPr lang="en-US" sz="1100" dirty="0"/>
          </a:p>
        </p:txBody>
      </p:sp>
      <p:sp>
        <p:nvSpPr>
          <p:cNvPr id="10" name="Shape 8"/>
          <p:cNvSpPr/>
          <p:nvPr/>
        </p:nvSpPr>
        <p:spPr>
          <a:xfrm>
            <a:off x="365760" y="2834640"/>
            <a:ext cx="548640" cy="804672"/>
          </a:xfrm>
          <a:prstGeom prst="rect">
            <a:avLst/>
          </a:prstGeom>
          <a:solidFill>
            <a:srgbClr val="2980B9"/>
          </a:solidFill>
          <a:ln w="12700">
            <a:solidFill>
              <a:srgbClr val="2980B9"/>
            </a:solidFill>
            <a:prstDash val="solid"/>
          </a:ln>
        </p:spPr>
      </p:sp>
      <p:sp>
        <p:nvSpPr>
          <p:cNvPr id="11" name="Text 9"/>
          <p:cNvSpPr/>
          <p:nvPr/>
        </p:nvSpPr>
        <p:spPr>
          <a:xfrm>
            <a:off x="365760" y="2834640"/>
            <a:ext cx="548640"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2" name="Shape 10"/>
          <p:cNvSpPr/>
          <p:nvPr/>
        </p:nvSpPr>
        <p:spPr>
          <a:xfrm>
            <a:off x="914400" y="2834640"/>
            <a:ext cx="3858768" cy="804672"/>
          </a:xfrm>
          <a:prstGeom prst="rect">
            <a:avLst/>
          </a:prstGeom>
          <a:solidFill>
            <a:srgbClr val="1A4D6E"/>
          </a:solidFill>
          <a:ln w="12700">
            <a:solidFill>
              <a:srgbClr val="1A4D6E"/>
            </a:solidFill>
            <a:prstDash val="solid"/>
          </a:ln>
        </p:spPr>
      </p:sp>
      <p:sp>
        <p:nvSpPr>
          <p:cNvPr id="13" name="Text 11"/>
          <p:cNvSpPr/>
          <p:nvPr/>
        </p:nvSpPr>
        <p:spPr>
          <a:xfrm>
            <a:off x="1024128" y="2889504"/>
            <a:ext cx="3639312" cy="320040"/>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Record: source MAC S → port X, VLAN Y</a:t>
            </a:r>
            <a:endParaRPr lang="en-US" sz="1200" dirty="0"/>
          </a:p>
        </p:txBody>
      </p:sp>
      <p:sp>
        <p:nvSpPr>
          <p:cNvPr id="14" name="Text 12"/>
          <p:cNvSpPr/>
          <p:nvPr/>
        </p:nvSpPr>
        <p:spPr>
          <a:xfrm>
            <a:off x="1024128" y="3236976"/>
            <a:ext cx="3639312" cy="3657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The FDB is updated: if anyone needs to reach S, use port X within VLAN Y</a:t>
            </a:r>
            <a:endParaRPr lang="en-US" sz="1100" dirty="0"/>
          </a:p>
        </p:txBody>
      </p:sp>
      <p:sp>
        <p:nvSpPr>
          <p:cNvPr id="15" name="Shape 13"/>
          <p:cNvSpPr/>
          <p:nvPr/>
        </p:nvSpPr>
        <p:spPr>
          <a:xfrm>
            <a:off x="365760" y="3822192"/>
            <a:ext cx="548640" cy="804672"/>
          </a:xfrm>
          <a:prstGeom prst="rect">
            <a:avLst/>
          </a:prstGeom>
          <a:solidFill>
            <a:srgbClr val="E67E22"/>
          </a:solidFill>
          <a:ln w="12700">
            <a:solidFill>
              <a:srgbClr val="E67E22"/>
            </a:solidFill>
            <a:prstDash val="solid"/>
          </a:ln>
        </p:spPr>
      </p:sp>
      <p:sp>
        <p:nvSpPr>
          <p:cNvPr id="16" name="Text 14"/>
          <p:cNvSpPr/>
          <p:nvPr/>
        </p:nvSpPr>
        <p:spPr>
          <a:xfrm>
            <a:off x="365760" y="3822192"/>
            <a:ext cx="548640"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7" name="Shape 15"/>
          <p:cNvSpPr/>
          <p:nvPr/>
        </p:nvSpPr>
        <p:spPr>
          <a:xfrm>
            <a:off x="914400" y="3822192"/>
            <a:ext cx="3858768" cy="804672"/>
          </a:xfrm>
          <a:prstGeom prst="rect">
            <a:avLst/>
          </a:prstGeom>
          <a:solidFill>
            <a:srgbClr val="1A4D6E"/>
          </a:solidFill>
          <a:ln w="12700">
            <a:solidFill>
              <a:srgbClr val="1A4D6E"/>
            </a:solidFill>
            <a:prstDash val="solid"/>
          </a:ln>
        </p:spPr>
      </p:sp>
      <p:sp>
        <p:nvSpPr>
          <p:cNvPr id="18" name="Text 16"/>
          <p:cNvSpPr/>
          <p:nvPr/>
        </p:nvSpPr>
        <p:spPr>
          <a:xfrm>
            <a:off x="1024128" y="3877056"/>
            <a:ext cx="3639312" cy="320040"/>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Look up destination MAC D in FDB</a:t>
            </a:r>
            <a:endParaRPr lang="en-US" sz="1200" dirty="0"/>
          </a:p>
        </p:txBody>
      </p:sp>
      <p:sp>
        <p:nvSpPr>
          <p:cNvPr id="19" name="Text 17"/>
          <p:cNvSpPr/>
          <p:nvPr/>
        </p:nvSpPr>
        <p:spPr>
          <a:xfrm>
            <a:off x="1024128" y="4224528"/>
            <a:ext cx="3639312" cy="3657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Search FDB using D + VLAN Y as the combined key</a:t>
            </a:r>
            <a:endParaRPr lang="en-US" sz="1100" dirty="0"/>
          </a:p>
        </p:txBody>
      </p:sp>
      <p:sp>
        <p:nvSpPr>
          <p:cNvPr id="20" name="Shape 18"/>
          <p:cNvSpPr/>
          <p:nvPr/>
        </p:nvSpPr>
        <p:spPr>
          <a:xfrm>
            <a:off x="4937760" y="1847088"/>
            <a:ext cx="548640" cy="804672"/>
          </a:xfrm>
          <a:prstGeom prst="rect">
            <a:avLst/>
          </a:prstGeom>
          <a:solidFill>
            <a:srgbClr val="0E7C86"/>
          </a:solidFill>
          <a:ln w="12700">
            <a:solidFill>
              <a:srgbClr val="0E7C86"/>
            </a:solidFill>
            <a:prstDash val="solid"/>
          </a:ln>
        </p:spPr>
      </p:sp>
      <p:sp>
        <p:nvSpPr>
          <p:cNvPr id="21" name="Text 19"/>
          <p:cNvSpPr/>
          <p:nvPr/>
        </p:nvSpPr>
        <p:spPr>
          <a:xfrm>
            <a:off x="4937760" y="1847088"/>
            <a:ext cx="548640"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22" name="Shape 20"/>
          <p:cNvSpPr/>
          <p:nvPr/>
        </p:nvSpPr>
        <p:spPr>
          <a:xfrm>
            <a:off x="5486400" y="1847088"/>
            <a:ext cx="3858768" cy="804672"/>
          </a:xfrm>
          <a:prstGeom prst="rect">
            <a:avLst/>
          </a:prstGeom>
          <a:solidFill>
            <a:srgbClr val="1A4D6E"/>
          </a:solidFill>
          <a:ln w="12700">
            <a:solidFill>
              <a:srgbClr val="1A4D6E"/>
            </a:solidFill>
            <a:prstDash val="solid"/>
          </a:ln>
        </p:spPr>
      </p:sp>
      <p:sp>
        <p:nvSpPr>
          <p:cNvPr id="23" name="Text 21"/>
          <p:cNvSpPr/>
          <p:nvPr/>
        </p:nvSpPr>
        <p:spPr>
          <a:xfrm>
            <a:off x="5596128" y="1901952"/>
            <a:ext cx="3639312" cy="320040"/>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Known D → forward to that port</a:t>
            </a:r>
            <a:endParaRPr lang="en-US" sz="1200" dirty="0"/>
          </a:p>
        </p:txBody>
      </p:sp>
      <p:sp>
        <p:nvSpPr>
          <p:cNvPr id="24" name="Text 22"/>
          <p:cNvSpPr/>
          <p:nvPr/>
        </p:nvSpPr>
        <p:spPr>
          <a:xfrm>
            <a:off x="5596128" y="2249424"/>
            <a:ext cx="3639312" cy="3657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Unicast to the single known egress port. No flooding needed.</a:t>
            </a:r>
            <a:endParaRPr lang="en-US" sz="1100" dirty="0"/>
          </a:p>
        </p:txBody>
      </p:sp>
      <p:sp>
        <p:nvSpPr>
          <p:cNvPr id="25" name="Shape 23"/>
          <p:cNvSpPr/>
          <p:nvPr/>
        </p:nvSpPr>
        <p:spPr>
          <a:xfrm>
            <a:off x="4937760" y="2834640"/>
            <a:ext cx="548640" cy="804672"/>
          </a:xfrm>
          <a:prstGeom prst="rect">
            <a:avLst/>
          </a:prstGeom>
          <a:solidFill>
            <a:srgbClr val="8E44AD"/>
          </a:solidFill>
          <a:ln w="12700">
            <a:solidFill>
              <a:srgbClr val="8E44AD"/>
            </a:solidFill>
            <a:prstDash val="solid"/>
          </a:ln>
        </p:spPr>
      </p:sp>
      <p:sp>
        <p:nvSpPr>
          <p:cNvPr id="26" name="Text 24"/>
          <p:cNvSpPr/>
          <p:nvPr/>
        </p:nvSpPr>
        <p:spPr>
          <a:xfrm>
            <a:off x="4937760" y="2834640"/>
            <a:ext cx="548640"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5</a:t>
            </a:r>
            <a:endParaRPr lang="en-US" sz="1800" dirty="0"/>
          </a:p>
        </p:txBody>
      </p:sp>
      <p:sp>
        <p:nvSpPr>
          <p:cNvPr id="27" name="Shape 25"/>
          <p:cNvSpPr/>
          <p:nvPr/>
        </p:nvSpPr>
        <p:spPr>
          <a:xfrm>
            <a:off x="5486400" y="2834640"/>
            <a:ext cx="3858768" cy="804672"/>
          </a:xfrm>
          <a:prstGeom prst="rect">
            <a:avLst/>
          </a:prstGeom>
          <a:solidFill>
            <a:srgbClr val="1A4D6E"/>
          </a:solidFill>
          <a:ln w="12700">
            <a:solidFill>
              <a:srgbClr val="1A4D6E"/>
            </a:solidFill>
            <a:prstDash val="solid"/>
          </a:ln>
        </p:spPr>
      </p:sp>
      <p:sp>
        <p:nvSpPr>
          <p:cNvPr id="28" name="Text 26"/>
          <p:cNvSpPr/>
          <p:nvPr/>
        </p:nvSpPr>
        <p:spPr>
          <a:xfrm>
            <a:off x="5596128" y="2889504"/>
            <a:ext cx="3639312" cy="320040"/>
          </a:xfrm>
          <a:prstGeom prst="rect">
            <a:avLst/>
          </a:prstGeom>
          <a:noFill/>
          <a:ln/>
        </p:spPr>
        <p:txBody>
          <a:bodyPr wrap="square" lIns="0" tIns="0" rIns="0" bIns="0" rtlCol="0" anchor="ctr"/>
          <a:lstStyle/>
          <a:p>
            <a:pPr algn="l" indent="0" marL="0">
              <a:buNone/>
            </a:pPr>
            <a:r>
              <a:rPr lang="en-US" sz="1200" b="1" dirty="0">
                <a:solidFill>
                  <a:srgbClr val="FFFFFF"/>
                </a:solidFill>
                <a:latin typeface="Trebuchet MS" pitchFamily="34" charset="0"/>
                <a:ea typeface="Trebuchet MS" pitchFamily="34" charset="-122"/>
                <a:cs typeface="Trebuchet MS" pitchFamily="34" charset="-120"/>
              </a:rPr>
              <a:t>Unknown D → flood within VLAN scope</a:t>
            </a:r>
            <a:endParaRPr lang="en-US" sz="1200" dirty="0"/>
          </a:p>
        </p:txBody>
      </p:sp>
      <p:sp>
        <p:nvSpPr>
          <p:cNvPr id="29" name="Text 27"/>
          <p:cNvSpPr/>
          <p:nvPr/>
        </p:nvSpPr>
        <p:spPr>
          <a:xfrm>
            <a:off x="5596128" y="3236976"/>
            <a:ext cx="3639312" cy="365760"/>
          </a:xfrm>
          <a:prstGeom prst="rect">
            <a:avLst/>
          </a:prstGeom>
          <a:noFill/>
          <a:ln/>
        </p:spPr>
        <p:txBody>
          <a:bodyPr wrap="square" lIns="0" tIns="0" rIns="0" bIns="0" rtlCol="0" anchor="t"/>
          <a:lstStyle/>
          <a:p>
            <a:pPr algn="l" indent="0" marL="0">
              <a:buNone/>
            </a:pPr>
            <a:r>
              <a:rPr lang="en-US" sz="1100" dirty="0">
                <a:solidFill>
                  <a:srgbClr val="D6EAF8"/>
                </a:solidFill>
                <a:latin typeface="Calibri" pitchFamily="34" charset="0"/>
                <a:ea typeface="Calibri" pitchFamily="34" charset="-122"/>
                <a:cs typeface="Calibri" pitchFamily="34" charset="-120"/>
              </a:rPr>
              <a:t>Send to all ports permitted in VLAN Y except ingress. Flooding is the safe fallback.</a:t>
            </a:r>
            <a:endParaRPr lang="en-US" sz="1100" dirty="0"/>
          </a:p>
        </p:txBody>
      </p:sp>
      <p:sp>
        <p:nvSpPr>
          <p:cNvPr id="30" name="Shape 28"/>
          <p:cNvSpPr/>
          <p:nvPr/>
        </p:nvSpPr>
        <p:spPr>
          <a:xfrm>
            <a:off x="365760" y="4617720"/>
            <a:ext cx="8366760" cy="621792"/>
          </a:xfrm>
          <a:prstGeom prst="rect">
            <a:avLst/>
          </a:prstGeom>
          <a:solidFill>
            <a:srgbClr val="0B2D4E"/>
          </a:solidFill>
          <a:ln w="12700">
            <a:solidFill>
              <a:srgbClr val="0B2D4E"/>
            </a:solidFill>
            <a:prstDash val="solid"/>
          </a:ln>
        </p:spPr>
      </p:sp>
      <p:sp>
        <p:nvSpPr>
          <p:cNvPr id="31" name="Text 29"/>
          <p:cNvSpPr/>
          <p:nvPr/>
        </p:nvSpPr>
        <p:spPr>
          <a:xfrm>
            <a:off x="502920" y="4709160"/>
            <a:ext cx="81838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The learning rule:</a:t>
            </a:r>
            <a:endParaRPr lang="en-US" sz="1300" dirty="0"/>
          </a:p>
        </p:txBody>
      </p:sp>
      <p:sp>
        <p:nvSpPr>
          <p:cNvPr id="32" name="Text 30"/>
          <p:cNvSpPr/>
          <p:nvPr/>
        </p:nvSpPr>
        <p:spPr>
          <a:xfrm>
            <a:off x="502920" y="5093208"/>
            <a:ext cx="8183880" cy="73152"/>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switch learns from source addresses, not destinations. It can only know where to send traffic to a destination once that destination has been a source in some frame.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VLAN Context Must Be Part of Learning</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9436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A VLAN-aware bridge does not learn in one flat universe. The same MAC address can genuinely exist in different VLAN contexts with different reachability.</a:t>
            </a:r>
            <a:endParaRPr lang="en-US" sz="1400" dirty="0"/>
          </a:p>
        </p:txBody>
      </p:sp>
      <p:sp>
        <p:nvSpPr>
          <p:cNvPr id="5" name="Shape 3"/>
          <p:cNvSpPr/>
          <p:nvPr/>
        </p:nvSpPr>
        <p:spPr>
          <a:xfrm>
            <a:off x="502920" y="1920240"/>
            <a:ext cx="3977640" cy="2606040"/>
          </a:xfrm>
          <a:prstGeom prst="rect">
            <a:avLst/>
          </a:prstGeom>
          <a:solidFill>
            <a:srgbClr val="1A4D6E"/>
          </a:solidFill>
          <a:ln w="12700">
            <a:solidFill>
              <a:srgbClr val="1A4D6E"/>
            </a:solidFill>
            <a:prstDash val="solid"/>
          </a:ln>
        </p:spPr>
      </p:sp>
      <p:sp>
        <p:nvSpPr>
          <p:cNvPr id="6" name="Shape 4"/>
          <p:cNvSpPr/>
          <p:nvPr/>
        </p:nvSpPr>
        <p:spPr>
          <a:xfrm>
            <a:off x="502920" y="1920240"/>
            <a:ext cx="3977640" cy="2606040"/>
          </a:xfrm>
          <a:prstGeom prst="rect">
            <a:avLst/>
          </a:prstGeom>
          <a:solidFill>
            <a:srgbClr val="1A4D6E"/>
          </a:solidFill>
          <a:ln w="25400">
            <a:solidFill>
              <a:srgbClr val="1A9DAA"/>
            </a:solidFill>
            <a:prstDash val="solid"/>
          </a:ln>
        </p:spPr>
      </p:sp>
      <p:sp>
        <p:nvSpPr>
          <p:cNvPr id="7" name="Text 5"/>
          <p:cNvSpPr/>
          <p:nvPr/>
        </p:nvSpPr>
        <p:spPr>
          <a:xfrm>
            <a:off x="640080" y="1993392"/>
            <a:ext cx="3657600" cy="384048"/>
          </a:xfrm>
          <a:prstGeom prst="rect">
            <a:avLst/>
          </a:prstGeom>
          <a:noFill/>
          <a:ln/>
        </p:spPr>
        <p:txBody>
          <a:bodyPr wrap="square" lIns="0" tIns="0" rIns="0" bIns="0" rtlCol="0" anchor="ctr"/>
          <a:lstStyle/>
          <a:p>
            <a:pPr algn="l" indent="0" marL="0">
              <a:buNone/>
            </a:pPr>
            <a:r>
              <a:rPr lang="en-US" sz="1300" b="1" dirty="0">
                <a:solidFill>
                  <a:srgbClr val="1A9DAA"/>
                </a:solidFill>
                <a:latin typeface="Trebuchet MS" pitchFamily="34" charset="0"/>
                <a:ea typeface="Trebuchet MS" pitchFamily="34" charset="-122"/>
                <a:cs typeface="Trebuchet MS" pitchFamily="34" charset="-120"/>
              </a:rPr>
              <a:t>IVL — Independent VLAN Learning</a:t>
            </a:r>
            <a:endParaRPr lang="en-US" sz="1300" dirty="0"/>
          </a:p>
        </p:txBody>
      </p:sp>
      <p:sp>
        <p:nvSpPr>
          <p:cNvPr id="8" name="Shape 6"/>
          <p:cNvSpPr/>
          <p:nvPr/>
        </p:nvSpPr>
        <p:spPr>
          <a:xfrm>
            <a:off x="594360" y="2395728"/>
            <a:ext cx="3749040" cy="36576"/>
          </a:xfrm>
          <a:prstGeom prst="rect">
            <a:avLst/>
          </a:prstGeom>
          <a:solidFill>
            <a:srgbClr val="1A9DAA"/>
          </a:solidFill>
          <a:ln w="12700">
            <a:solidFill>
              <a:srgbClr val="1A9DAA"/>
            </a:solidFill>
            <a:prstDash val="solid"/>
          </a:ln>
        </p:spPr>
      </p:sp>
      <p:sp>
        <p:nvSpPr>
          <p:cNvPr id="9" name="Text 7"/>
          <p:cNvSpPr/>
          <p:nvPr/>
        </p:nvSpPr>
        <p:spPr>
          <a:xfrm>
            <a:off x="640080" y="2468880"/>
            <a:ext cx="3566160" cy="17373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Each VLAN has its own independent FDB. The same MAC learned in VLAN 10 and VLAN 20 are stored as separate entries. Forwarding for each VLAN is fully isolated.</a:t>
            </a:r>
            <a:endParaRPr lang="en-US" sz="1200" dirty="0"/>
          </a:p>
          <a:p>
            <a:pPr algn="l" indent="0" marL="0">
              <a:buNone/>
            </a:pPr>
            <a:endParaRPr lang="en-US" sz="1200" dirty="0"/>
          </a:p>
          <a:p>
            <a:pPr algn="l" indent="0" marL="0">
              <a:buNone/>
            </a:pPr>
            <a:r>
              <a:rPr lang="en-US" sz="1200" dirty="0">
                <a:solidFill>
                  <a:srgbClr val="D6EAF8"/>
                </a:solidFill>
                <a:latin typeface="Calibri" pitchFamily="34" charset="0"/>
                <a:ea typeface="Calibri" pitchFamily="34" charset="-122"/>
                <a:cs typeface="Calibri" pitchFamily="34" charset="-120"/>
              </a:rPr>
              <a:t>Default and most common in enterprise switches.</a:t>
            </a:r>
            <a:endParaRPr lang="en-US" sz="1200" dirty="0"/>
          </a:p>
        </p:txBody>
      </p:sp>
      <p:sp>
        <p:nvSpPr>
          <p:cNvPr id="10" name="Shape 8"/>
          <p:cNvSpPr/>
          <p:nvPr/>
        </p:nvSpPr>
        <p:spPr>
          <a:xfrm>
            <a:off x="4754880" y="1920240"/>
            <a:ext cx="3977640" cy="2606040"/>
          </a:xfrm>
          <a:prstGeom prst="rect">
            <a:avLst/>
          </a:prstGeom>
          <a:solidFill>
            <a:srgbClr val="1A4D6E"/>
          </a:solidFill>
          <a:ln w="12700">
            <a:solidFill>
              <a:srgbClr val="1A4D6E"/>
            </a:solidFill>
            <a:prstDash val="solid"/>
          </a:ln>
        </p:spPr>
      </p:sp>
      <p:sp>
        <p:nvSpPr>
          <p:cNvPr id="11" name="Shape 9"/>
          <p:cNvSpPr/>
          <p:nvPr/>
        </p:nvSpPr>
        <p:spPr>
          <a:xfrm>
            <a:off x="4754880" y="1920240"/>
            <a:ext cx="3977640" cy="2606040"/>
          </a:xfrm>
          <a:prstGeom prst="rect">
            <a:avLst/>
          </a:prstGeom>
          <a:solidFill>
            <a:srgbClr val="1A4D6E"/>
          </a:solidFill>
          <a:ln w="25400">
            <a:solidFill>
              <a:srgbClr val="E67E22"/>
            </a:solidFill>
            <a:prstDash val="solid"/>
          </a:ln>
        </p:spPr>
      </p:sp>
      <p:sp>
        <p:nvSpPr>
          <p:cNvPr id="12" name="Text 10"/>
          <p:cNvSpPr/>
          <p:nvPr/>
        </p:nvSpPr>
        <p:spPr>
          <a:xfrm>
            <a:off x="4892040" y="1993392"/>
            <a:ext cx="3657600" cy="384048"/>
          </a:xfrm>
          <a:prstGeom prst="rect">
            <a:avLst/>
          </a:prstGeom>
          <a:noFill/>
          <a:ln/>
        </p:spPr>
        <p:txBody>
          <a:bodyPr wrap="square" lIns="0" tIns="0" rIns="0" bIns="0" rtlCol="0" anchor="ctr"/>
          <a:lstStyle/>
          <a:p>
            <a:pPr algn="l" indent="0" marL="0">
              <a:buNone/>
            </a:pPr>
            <a:r>
              <a:rPr lang="en-US" sz="1300" b="1" dirty="0">
                <a:solidFill>
                  <a:srgbClr val="E67E22"/>
                </a:solidFill>
                <a:latin typeface="Trebuchet MS" pitchFamily="34" charset="0"/>
                <a:ea typeface="Trebuchet MS" pitchFamily="34" charset="-122"/>
                <a:cs typeface="Trebuchet MS" pitchFamily="34" charset="-120"/>
              </a:rPr>
              <a:t>SVL — Shared VLAN Learning</a:t>
            </a:r>
            <a:endParaRPr lang="en-US" sz="1300" dirty="0"/>
          </a:p>
        </p:txBody>
      </p:sp>
      <p:sp>
        <p:nvSpPr>
          <p:cNvPr id="13" name="Shape 11"/>
          <p:cNvSpPr/>
          <p:nvPr/>
        </p:nvSpPr>
        <p:spPr>
          <a:xfrm>
            <a:off x="4846320" y="2395728"/>
            <a:ext cx="3749040" cy="36576"/>
          </a:xfrm>
          <a:prstGeom prst="rect">
            <a:avLst/>
          </a:prstGeom>
          <a:solidFill>
            <a:srgbClr val="E67E22"/>
          </a:solidFill>
          <a:ln w="12700">
            <a:solidFill>
              <a:srgbClr val="E67E22"/>
            </a:solidFill>
            <a:prstDash val="solid"/>
          </a:ln>
        </p:spPr>
      </p:sp>
      <p:sp>
        <p:nvSpPr>
          <p:cNvPr id="14" name="Text 12"/>
          <p:cNvSpPr/>
          <p:nvPr/>
        </p:nvSpPr>
        <p:spPr>
          <a:xfrm>
            <a:off x="4892040" y="2468880"/>
            <a:ext cx="3566160" cy="17373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A MAC address learned in one VLAN can be shared or visible across VLAN contexts, depending on bridge configuration. Reduces FDB memory use but sacrifices strict per-VLAN isolation.</a:t>
            </a:r>
            <a:endParaRPr lang="en-US" sz="1200" dirty="0"/>
          </a:p>
          <a:p>
            <a:pPr algn="l" indent="0" marL="0">
              <a:buNone/>
            </a:pPr>
            <a:endParaRPr lang="en-US" sz="1200" dirty="0"/>
          </a:p>
          <a:p>
            <a:pPr algn="l" indent="0" marL="0">
              <a:buNone/>
            </a:pPr>
            <a:r>
              <a:rPr lang="en-US" sz="1200" dirty="0">
                <a:solidFill>
                  <a:srgbClr val="D6EAF8"/>
                </a:solidFill>
                <a:latin typeface="Calibri" pitchFamily="34" charset="0"/>
                <a:ea typeface="Calibri" pitchFamily="34" charset="-122"/>
                <a:cs typeface="Calibri" pitchFamily="34" charset="-120"/>
              </a:rPr>
              <a:t>Less common in modern deployments.</a:t>
            </a:r>
            <a:endParaRPr lang="en-US" sz="1200" dirty="0"/>
          </a:p>
        </p:txBody>
      </p:sp>
      <p:sp>
        <p:nvSpPr>
          <p:cNvPr id="15" name="Shape 13"/>
          <p:cNvSpPr/>
          <p:nvPr/>
        </p:nvSpPr>
        <p:spPr>
          <a:xfrm>
            <a:off x="502920" y="4645152"/>
            <a:ext cx="8138160" cy="347472"/>
          </a:xfrm>
          <a:prstGeom prst="rect">
            <a:avLst/>
          </a:prstGeom>
          <a:solidFill>
            <a:srgbClr val="1A2D1E"/>
          </a:solidFill>
          <a:ln w="12700">
            <a:solidFill>
              <a:srgbClr val="1A2D1E"/>
            </a:solidFill>
            <a:prstDash val="solid"/>
          </a:ln>
        </p:spPr>
      </p:sp>
      <p:sp>
        <p:nvSpPr>
          <p:cNvPr id="16" name="Shape 14"/>
          <p:cNvSpPr/>
          <p:nvPr/>
        </p:nvSpPr>
        <p:spPr>
          <a:xfrm>
            <a:off x="502920" y="4645152"/>
            <a:ext cx="8138160" cy="347472"/>
          </a:xfrm>
          <a:prstGeom prst="rect">
            <a:avLst/>
          </a:prstGeom>
          <a:solidFill>
            <a:srgbClr val="1A2D1E"/>
          </a:solidFill>
          <a:ln w="25400">
            <a:solidFill>
              <a:srgbClr val="0E7C86"/>
            </a:solidFill>
            <a:prstDash val="solid"/>
          </a:ln>
        </p:spPr>
      </p:sp>
      <p:sp>
        <p:nvSpPr>
          <p:cNvPr id="17" name="Text 15"/>
          <p:cNvSpPr/>
          <p:nvPr/>
        </p:nvSpPr>
        <p:spPr>
          <a:xfrm>
            <a:off x="640080" y="4663440"/>
            <a:ext cx="7863840" cy="310896"/>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The FDB is not just keyed by MAC address. In a VLAN-aware world, the key is MAC address + VLAN context together.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FDB Entries: Dynamic, Static, and Aging</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9436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Not all FDB entries are equal. The distinction between dynamic and static entries — and the role of aging — is fundamental to how a switch stays correct over time.</a:t>
            </a:r>
            <a:endParaRPr lang="en-US" sz="1400" dirty="0"/>
          </a:p>
        </p:txBody>
      </p:sp>
      <p:sp>
        <p:nvSpPr>
          <p:cNvPr id="5" name="Shape 3"/>
          <p:cNvSpPr/>
          <p:nvPr/>
        </p:nvSpPr>
        <p:spPr>
          <a:xfrm>
            <a:off x="365760" y="1993392"/>
            <a:ext cx="2633472" cy="384048"/>
          </a:xfrm>
          <a:prstGeom prst="rect">
            <a:avLst/>
          </a:prstGeom>
          <a:solidFill>
            <a:srgbClr val="1A9DAA"/>
          </a:solidFill>
          <a:ln w="12700">
            <a:solidFill>
              <a:srgbClr val="1A9DAA"/>
            </a:solidFill>
            <a:prstDash val="solid"/>
          </a:ln>
        </p:spPr>
      </p:sp>
      <p:sp>
        <p:nvSpPr>
          <p:cNvPr id="6" name="Text 4"/>
          <p:cNvSpPr/>
          <p:nvPr/>
        </p:nvSpPr>
        <p:spPr>
          <a:xfrm>
            <a:off x="457200" y="1993392"/>
            <a:ext cx="2450592"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Dynamic Entries</a:t>
            </a:r>
            <a:endParaRPr lang="en-US" sz="1300" dirty="0"/>
          </a:p>
        </p:txBody>
      </p:sp>
      <p:sp>
        <p:nvSpPr>
          <p:cNvPr id="7" name="Text 5"/>
          <p:cNvSpPr/>
          <p:nvPr/>
        </p:nvSpPr>
        <p:spPr>
          <a:xfrm>
            <a:off x="475488" y="2487168"/>
            <a:ext cx="2423160" cy="3566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Learned automatically from observed source traffic</a:t>
            </a:r>
            <a:endParaRPr lang="en-US" sz="1200" dirty="0"/>
          </a:p>
        </p:txBody>
      </p:sp>
      <p:sp>
        <p:nvSpPr>
          <p:cNvPr id="8" name="Text 6"/>
          <p:cNvSpPr/>
          <p:nvPr/>
        </p:nvSpPr>
        <p:spPr>
          <a:xfrm>
            <a:off x="475488" y="2871216"/>
            <a:ext cx="2423160" cy="3566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Refreshed each time the source sends a new frame</a:t>
            </a:r>
            <a:endParaRPr lang="en-US" sz="1200" dirty="0"/>
          </a:p>
        </p:txBody>
      </p:sp>
      <p:sp>
        <p:nvSpPr>
          <p:cNvPr id="9" name="Text 7"/>
          <p:cNvSpPr/>
          <p:nvPr/>
        </p:nvSpPr>
        <p:spPr>
          <a:xfrm>
            <a:off x="475488" y="3255264"/>
            <a:ext cx="2423160" cy="3566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Expire after the aging timer (default: 300 seconds)</a:t>
            </a:r>
            <a:endParaRPr lang="en-US" sz="1200" dirty="0"/>
          </a:p>
        </p:txBody>
      </p:sp>
      <p:sp>
        <p:nvSpPr>
          <p:cNvPr id="10" name="Text 8"/>
          <p:cNvSpPr/>
          <p:nvPr/>
        </p:nvSpPr>
        <p:spPr>
          <a:xfrm>
            <a:off x="475488" y="3639312"/>
            <a:ext cx="2423160" cy="3566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Removed if the device goes silent or moves away</a:t>
            </a:r>
            <a:endParaRPr lang="en-US" sz="1200" dirty="0"/>
          </a:p>
        </p:txBody>
      </p:sp>
      <p:sp>
        <p:nvSpPr>
          <p:cNvPr id="11" name="Shape 9"/>
          <p:cNvSpPr/>
          <p:nvPr/>
        </p:nvSpPr>
        <p:spPr>
          <a:xfrm>
            <a:off x="3246120" y="1993392"/>
            <a:ext cx="2633472" cy="384048"/>
          </a:xfrm>
          <a:prstGeom prst="rect">
            <a:avLst/>
          </a:prstGeom>
          <a:solidFill>
            <a:srgbClr val="E67E22"/>
          </a:solidFill>
          <a:ln w="12700">
            <a:solidFill>
              <a:srgbClr val="E67E22"/>
            </a:solidFill>
            <a:prstDash val="solid"/>
          </a:ln>
        </p:spPr>
      </p:sp>
      <p:sp>
        <p:nvSpPr>
          <p:cNvPr id="12" name="Text 10"/>
          <p:cNvSpPr/>
          <p:nvPr/>
        </p:nvSpPr>
        <p:spPr>
          <a:xfrm>
            <a:off x="3337560" y="1993392"/>
            <a:ext cx="2450592"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Static Entries</a:t>
            </a:r>
            <a:endParaRPr lang="en-US" sz="1300" dirty="0"/>
          </a:p>
        </p:txBody>
      </p:sp>
      <p:sp>
        <p:nvSpPr>
          <p:cNvPr id="13" name="Text 11"/>
          <p:cNvSpPr/>
          <p:nvPr/>
        </p:nvSpPr>
        <p:spPr>
          <a:xfrm>
            <a:off x="3355848" y="2487168"/>
            <a:ext cx="2423160" cy="356616"/>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Configured deliberately by an administrator</a:t>
            </a:r>
            <a:endParaRPr lang="en-US" sz="1200" dirty="0"/>
          </a:p>
        </p:txBody>
      </p:sp>
      <p:sp>
        <p:nvSpPr>
          <p:cNvPr id="14" name="Text 12"/>
          <p:cNvSpPr/>
          <p:nvPr/>
        </p:nvSpPr>
        <p:spPr>
          <a:xfrm>
            <a:off x="3355848" y="2871216"/>
            <a:ext cx="2423160" cy="356616"/>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Not dependent on traffic to remain valid</a:t>
            </a:r>
            <a:endParaRPr lang="en-US" sz="1200" dirty="0"/>
          </a:p>
        </p:txBody>
      </p:sp>
      <p:sp>
        <p:nvSpPr>
          <p:cNvPr id="15" name="Text 13"/>
          <p:cNvSpPr/>
          <p:nvPr/>
        </p:nvSpPr>
        <p:spPr>
          <a:xfrm>
            <a:off x="3355848" y="3255264"/>
            <a:ext cx="2423160" cy="356616"/>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Not subject to aging — persist until manually removed</a:t>
            </a:r>
            <a:endParaRPr lang="en-US" sz="1200" dirty="0"/>
          </a:p>
        </p:txBody>
      </p:sp>
      <p:sp>
        <p:nvSpPr>
          <p:cNvPr id="16" name="Text 14"/>
          <p:cNvSpPr/>
          <p:nvPr/>
        </p:nvSpPr>
        <p:spPr>
          <a:xfrm>
            <a:off x="3355848" y="3639312"/>
            <a:ext cx="2423160" cy="356616"/>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Used for critical infrastructure or security policy</a:t>
            </a:r>
            <a:endParaRPr lang="en-US" sz="1200" dirty="0"/>
          </a:p>
        </p:txBody>
      </p:sp>
      <p:sp>
        <p:nvSpPr>
          <p:cNvPr id="17" name="Shape 15"/>
          <p:cNvSpPr/>
          <p:nvPr/>
        </p:nvSpPr>
        <p:spPr>
          <a:xfrm>
            <a:off x="6126480" y="1993392"/>
            <a:ext cx="2633472" cy="384048"/>
          </a:xfrm>
          <a:prstGeom prst="rect">
            <a:avLst/>
          </a:prstGeom>
          <a:solidFill>
            <a:srgbClr val="8E44AD"/>
          </a:solidFill>
          <a:ln w="12700">
            <a:solidFill>
              <a:srgbClr val="8E44AD"/>
            </a:solidFill>
            <a:prstDash val="solid"/>
          </a:ln>
        </p:spPr>
      </p:sp>
      <p:sp>
        <p:nvSpPr>
          <p:cNvPr id="18" name="Text 16"/>
          <p:cNvSpPr/>
          <p:nvPr/>
        </p:nvSpPr>
        <p:spPr>
          <a:xfrm>
            <a:off x="6217920" y="1993392"/>
            <a:ext cx="2450592"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Aging</a:t>
            </a:r>
            <a:endParaRPr lang="en-US" sz="1300" dirty="0"/>
          </a:p>
        </p:txBody>
      </p:sp>
      <p:sp>
        <p:nvSpPr>
          <p:cNvPr id="19" name="Text 17"/>
          <p:cNvSpPr/>
          <p:nvPr/>
        </p:nvSpPr>
        <p:spPr>
          <a:xfrm>
            <a:off x="6236208" y="2487168"/>
            <a:ext cx="2423160" cy="356616"/>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Prevents stale entries from misdirecting traffic</a:t>
            </a:r>
            <a:endParaRPr lang="en-US" sz="1200" dirty="0"/>
          </a:p>
        </p:txBody>
      </p:sp>
      <p:sp>
        <p:nvSpPr>
          <p:cNvPr id="20" name="Text 18"/>
          <p:cNvSpPr/>
          <p:nvPr/>
        </p:nvSpPr>
        <p:spPr>
          <a:xfrm>
            <a:off x="6236208" y="2871216"/>
            <a:ext cx="2423160" cy="356616"/>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A device that moves triggers flooding until re-learned</a:t>
            </a:r>
            <a:endParaRPr lang="en-US" sz="1200" dirty="0"/>
          </a:p>
        </p:txBody>
      </p:sp>
      <p:sp>
        <p:nvSpPr>
          <p:cNvPr id="21" name="Text 19"/>
          <p:cNvSpPr/>
          <p:nvPr/>
        </p:nvSpPr>
        <p:spPr>
          <a:xfrm>
            <a:off x="6236208" y="3255264"/>
            <a:ext cx="2423160" cy="356616"/>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Aging time is a tunable parameter</a:t>
            </a:r>
            <a:endParaRPr lang="en-US" sz="1200" dirty="0"/>
          </a:p>
        </p:txBody>
      </p:sp>
      <p:sp>
        <p:nvSpPr>
          <p:cNvPr id="22" name="Text 20"/>
          <p:cNvSpPr/>
          <p:nvPr/>
        </p:nvSpPr>
        <p:spPr>
          <a:xfrm>
            <a:off x="6236208" y="3639312"/>
            <a:ext cx="2423160" cy="356616"/>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0B2D4E"/>
                </a:solidFill>
                <a:latin typeface="Calibri" pitchFamily="34" charset="0"/>
                <a:ea typeface="Calibri" pitchFamily="34" charset="-122"/>
                <a:cs typeface="Calibri" pitchFamily="34" charset="-120"/>
              </a:rPr>
              <a:t>Too short = unnecessary flooding; too long = stale paths</a:t>
            </a:r>
            <a:endParaRPr lang="en-US" sz="1200" dirty="0"/>
          </a:p>
        </p:txBody>
      </p:sp>
      <p:sp>
        <p:nvSpPr>
          <p:cNvPr id="23" name="Shape 21"/>
          <p:cNvSpPr/>
          <p:nvPr/>
        </p:nvSpPr>
        <p:spPr>
          <a:xfrm>
            <a:off x="365760" y="4096512"/>
            <a:ext cx="8366760" cy="914400"/>
          </a:xfrm>
          <a:prstGeom prst="rect">
            <a:avLst/>
          </a:prstGeom>
          <a:solidFill>
            <a:srgbClr val="0B2D4E"/>
          </a:solidFill>
          <a:ln w="12700">
            <a:solidFill>
              <a:srgbClr val="0B2D4E"/>
            </a:solidFill>
            <a:prstDash val="solid"/>
          </a:ln>
        </p:spPr>
      </p:sp>
      <p:sp>
        <p:nvSpPr>
          <p:cNvPr id="24" name="Text 22"/>
          <p:cNvSpPr/>
          <p:nvPr/>
        </p:nvSpPr>
        <p:spPr>
          <a:xfrm>
            <a:off x="502920" y="4187952"/>
            <a:ext cx="81838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Aging is not optional housekeeping:</a:t>
            </a:r>
            <a:endParaRPr lang="en-US" sz="1300" dirty="0"/>
          </a:p>
        </p:txBody>
      </p:sp>
      <p:sp>
        <p:nvSpPr>
          <p:cNvPr id="25" name="Text 23"/>
          <p:cNvSpPr/>
          <p:nvPr/>
        </p:nvSpPr>
        <p:spPr>
          <a:xfrm>
            <a:off x="502920" y="4572000"/>
            <a:ext cx="8183880" cy="3657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Without aging, a switch that once saw a device on port 3 would keep sending that device's traffic to port 3 forever — even after it moved to port 7, or disappeared entirely. Aging is what makes dynamic learning stay correct as the network changes.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2800" b="1" dirty="0">
                <a:solidFill>
                  <a:srgbClr val="FFFFFF"/>
                </a:solidFill>
                <a:latin typeface="Trebuchet MS" pitchFamily="34" charset="0"/>
                <a:ea typeface="Trebuchet MS" pitchFamily="34" charset="-122"/>
                <a:cs typeface="Trebuchet MS" pitchFamily="34" charset="-120"/>
              </a:rPr>
              <a:t>Unknown Destinations: Flooding as Safe Fallback</a:t>
            </a:r>
            <a:endParaRPr lang="en-US" sz="28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658368"/>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If a destination MAC has no FDB entry, the switch cannot confidently send to a single egress port. The safe and correct action is to flood within the allowed VLAN scope.</a:t>
            </a:r>
            <a:endParaRPr lang="en-US" sz="1400" dirty="0"/>
          </a:p>
        </p:txBody>
      </p:sp>
      <p:sp>
        <p:nvSpPr>
          <p:cNvPr id="5" name="Shape 3"/>
          <p:cNvSpPr/>
          <p:nvPr/>
        </p:nvSpPr>
        <p:spPr>
          <a:xfrm>
            <a:off x="502920" y="1993392"/>
            <a:ext cx="8138160" cy="475488"/>
          </a:xfrm>
          <a:prstGeom prst="rect">
            <a:avLst/>
          </a:prstGeom>
          <a:solidFill>
            <a:srgbClr val="1A4D6E"/>
          </a:solidFill>
          <a:ln w="12700">
            <a:solidFill>
              <a:srgbClr val="1A4D6E"/>
            </a:solidFill>
            <a:prstDash val="solid"/>
          </a:ln>
        </p:spPr>
      </p:sp>
      <p:sp>
        <p:nvSpPr>
          <p:cNvPr id="6" name="Text 4"/>
          <p:cNvSpPr/>
          <p:nvPr/>
        </p:nvSpPr>
        <p:spPr>
          <a:xfrm>
            <a:off x="640080" y="2011680"/>
            <a:ext cx="7863840" cy="438912"/>
          </a:xfrm>
          <a:prstGeom prst="rect">
            <a:avLst/>
          </a:prstGeom>
          <a:noFill/>
          <a:ln/>
        </p:spPr>
        <p:txBody>
          <a:bodyPr wrap="square" lIns="0" tIns="0" rIns="0" bIns="0" rtlCol="0" anchor="ctr"/>
          <a:lstStyle/>
          <a:p>
            <a:pPr algn="ctr" indent="0" marL="0">
              <a:buNone/>
            </a:pPr>
            <a:r>
              <a:rPr lang="en-US" sz="1300" dirty="0">
                <a:solidFill>
                  <a:srgbClr val="D6EAF8"/>
                </a:solidFill>
                <a:latin typeface="Calibri" pitchFamily="34" charset="0"/>
                <a:ea typeface="Calibri" pitchFamily="34" charset="-122"/>
                <a:cs typeface="Calibri" pitchFamily="34" charset="-120"/>
              </a:rPr>
              <a:t>Learning and flooding are paired behaviors — they are not alternatives, they are complements:</a:t>
            </a:r>
            <a:endParaRPr lang="en-US" sz="1300" dirty="0"/>
          </a:p>
        </p:txBody>
      </p:sp>
      <p:sp>
        <p:nvSpPr>
          <p:cNvPr id="7" name="Shape 5"/>
          <p:cNvSpPr/>
          <p:nvPr/>
        </p:nvSpPr>
        <p:spPr>
          <a:xfrm>
            <a:off x="502920" y="2606040"/>
            <a:ext cx="4069080" cy="1554480"/>
          </a:xfrm>
          <a:prstGeom prst="rect">
            <a:avLst/>
          </a:prstGeom>
          <a:solidFill>
            <a:srgbClr val="1A4D6E"/>
          </a:solidFill>
          <a:ln w="12700">
            <a:solidFill>
              <a:srgbClr val="1A4D6E"/>
            </a:solidFill>
            <a:prstDash val="solid"/>
          </a:ln>
        </p:spPr>
      </p:sp>
      <p:sp>
        <p:nvSpPr>
          <p:cNvPr id="8" name="Shape 6"/>
          <p:cNvSpPr/>
          <p:nvPr/>
        </p:nvSpPr>
        <p:spPr>
          <a:xfrm>
            <a:off x="502920" y="2606040"/>
            <a:ext cx="4069080" cy="1554480"/>
          </a:xfrm>
          <a:prstGeom prst="rect">
            <a:avLst/>
          </a:prstGeom>
          <a:solidFill>
            <a:srgbClr val="1A4D6E"/>
          </a:solidFill>
          <a:ln w="25400">
            <a:solidFill>
              <a:srgbClr val="1A9DAA"/>
            </a:solidFill>
            <a:prstDash val="solid"/>
          </a:ln>
        </p:spPr>
      </p:sp>
      <p:sp>
        <p:nvSpPr>
          <p:cNvPr id="9" name="Text 7"/>
          <p:cNvSpPr/>
          <p:nvPr/>
        </p:nvSpPr>
        <p:spPr>
          <a:xfrm>
            <a:off x="612648" y="2697480"/>
            <a:ext cx="3840480" cy="457200"/>
          </a:xfrm>
          <a:prstGeom prst="rect">
            <a:avLst/>
          </a:prstGeom>
          <a:noFill/>
          <a:ln/>
        </p:spPr>
        <p:txBody>
          <a:bodyPr wrap="square" lIns="0" tIns="0" rIns="0" bIns="0" rtlCol="0" anchor="ctr"/>
          <a:lstStyle/>
          <a:p>
            <a:pPr algn="l" indent="0" marL="0">
              <a:buNone/>
            </a:pPr>
            <a:r>
              <a:rPr lang="en-US" sz="1300" b="1" dirty="0">
                <a:solidFill>
                  <a:srgbClr val="1A9DAA"/>
                </a:solidFill>
                <a:latin typeface="Trebuchet MS" pitchFamily="34" charset="0"/>
                <a:ea typeface="Trebuchet MS" pitchFamily="34" charset="-122"/>
                <a:cs typeface="Trebuchet MS" pitchFamily="34" charset="-120"/>
              </a:rPr>
              <a:t>Learning reduces future flooding</a:t>
            </a:r>
            <a:endParaRPr lang="en-US" sz="1300" dirty="0"/>
          </a:p>
        </p:txBody>
      </p:sp>
      <p:sp>
        <p:nvSpPr>
          <p:cNvPr id="10" name="Shape 8"/>
          <p:cNvSpPr/>
          <p:nvPr/>
        </p:nvSpPr>
        <p:spPr>
          <a:xfrm>
            <a:off x="612648" y="3182112"/>
            <a:ext cx="3749040" cy="36576"/>
          </a:xfrm>
          <a:prstGeom prst="rect">
            <a:avLst/>
          </a:prstGeom>
          <a:solidFill>
            <a:srgbClr val="1A9DAA"/>
          </a:solidFill>
          <a:ln w="12700">
            <a:solidFill>
              <a:srgbClr val="1A9DAA"/>
            </a:solidFill>
            <a:prstDash val="solid"/>
          </a:ln>
        </p:spPr>
      </p:sp>
      <p:sp>
        <p:nvSpPr>
          <p:cNvPr id="11" name="Text 9"/>
          <p:cNvSpPr/>
          <p:nvPr/>
        </p:nvSpPr>
        <p:spPr>
          <a:xfrm>
            <a:off x="612648" y="3255264"/>
            <a:ext cx="3794760" cy="8229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Once a source is seen, future traffic to that source as a destination can be unicast directly to the correct port</a:t>
            </a:r>
            <a:endParaRPr lang="en-US" sz="1200" dirty="0"/>
          </a:p>
        </p:txBody>
      </p:sp>
      <p:sp>
        <p:nvSpPr>
          <p:cNvPr id="12" name="Shape 10"/>
          <p:cNvSpPr/>
          <p:nvPr/>
        </p:nvSpPr>
        <p:spPr>
          <a:xfrm>
            <a:off x="4846320" y="2606040"/>
            <a:ext cx="4069080" cy="1554480"/>
          </a:xfrm>
          <a:prstGeom prst="rect">
            <a:avLst/>
          </a:prstGeom>
          <a:solidFill>
            <a:srgbClr val="1A4D6E"/>
          </a:solidFill>
          <a:ln w="12700">
            <a:solidFill>
              <a:srgbClr val="1A4D6E"/>
            </a:solidFill>
            <a:prstDash val="solid"/>
          </a:ln>
        </p:spPr>
      </p:sp>
      <p:sp>
        <p:nvSpPr>
          <p:cNvPr id="13" name="Shape 11"/>
          <p:cNvSpPr/>
          <p:nvPr/>
        </p:nvSpPr>
        <p:spPr>
          <a:xfrm>
            <a:off x="4846320" y="2606040"/>
            <a:ext cx="4069080" cy="1554480"/>
          </a:xfrm>
          <a:prstGeom prst="rect">
            <a:avLst/>
          </a:prstGeom>
          <a:solidFill>
            <a:srgbClr val="1A4D6E"/>
          </a:solidFill>
          <a:ln w="25400">
            <a:solidFill>
              <a:srgbClr val="E67E22"/>
            </a:solidFill>
            <a:prstDash val="solid"/>
          </a:ln>
        </p:spPr>
      </p:sp>
      <p:sp>
        <p:nvSpPr>
          <p:cNvPr id="14" name="Text 12"/>
          <p:cNvSpPr/>
          <p:nvPr/>
        </p:nvSpPr>
        <p:spPr>
          <a:xfrm>
            <a:off x="4956048" y="2697480"/>
            <a:ext cx="3840480" cy="457200"/>
          </a:xfrm>
          <a:prstGeom prst="rect">
            <a:avLst/>
          </a:prstGeom>
          <a:noFill/>
          <a:ln/>
        </p:spPr>
        <p:txBody>
          <a:bodyPr wrap="square" lIns="0" tIns="0" rIns="0" bIns="0" rtlCol="0" anchor="ctr"/>
          <a:lstStyle/>
          <a:p>
            <a:pPr algn="l" indent="0" marL="0">
              <a:buNone/>
            </a:pPr>
            <a:r>
              <a:rPr lang="en-US" sz="1300" b="1" dirty="0">
                <a:solidFill>
                  <a:srgbClr val="E67E22"/>
                </a:solidFill>
                <a:latin typeface="Trebuchet MS" pitchFamily="34" charset="0"/>
                <a:ea typeface="Trebuchet MS" pitchFamily="34" charset="-122"/>
                <a:cs typeface="Trebuchet MS" pitchFamily="34" charset="-120"/>
              </a:rPr>
              <a:t>Flooding is the fallback when learning is incomplete</a:t>
            </a:r>
            <a:endParaRPr lang="en-US" sz="1300" dirty="0"/>
          </a:p>
        </p:txBody>
      </p:sp>
      <p:sp>
        <p:nvSpPr>
          <p:cNvPr id="15" name="Shape 13"/>
          <p:cNvSpPr/>
          <p:nvPr/>
        </p:nvSpPr>
        <p:spPr>
          <a:xfrm>
            <a:off x="4956048" y="3182112"/>
            <a:ext cx="3749040" cy="36576"/>
          </a:xfrm>
          <a:prstGeom prst="rect">
            <a:avLst/>
          </a:prstGeom>
          <a:solidFill>
            <a:srgbClr val="E67E22"/>
          </a:solidFill>
          <a:ln w="12700">
            <a:solidFill>
              <a:srgbClr val="E67E22"/>
            </a:solidFill>
            <a:prstDash val="solid"/>
          </a:ln>
        </p:spPr>
      </p:sp>
      <p:sp>
        <p:nvSpPr>
          <p:cNvPr id="16" name="Text 14"/>
          <p:cNvSpPr/>
          <p:nvPr/>
        </p:nvSpPr>
        <p:spPr>
          <a:xfrm>
            <a:off x="4956048" y="3255264"/>
            <a:ext cx="3794760" cy="8229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Unknown unicasts, multicast, and broadcast traffic must be spread within the VLAN until destination location is known</a:t>
            </a:r>
            <a:endParaRPr lang="en-US" sz="1200" dirty="0"/>
          </a:p>
        </p:txBody>
      </p:sp>
      <p:sp>
        <p:nvSpPr>
          <p:cNvPr id="17" name="Shape 15"/>
          <p:cNvSpPr/>
          <p:nvPr/>
        </p:nvSpPr>
        <p:spPr>
          <a:xfrm>
            <a:off x="502920" y="4279392"/>
            <a:ext cx="8138160" cy="804672"/>
          </a:xfrm>
          <a:prstGeom prst="rect">
            <a:avLst/>
          </a:prstGeom>
          <a:solidFill>
            <a:srgbClr val="0B2D4E"/>
          </a:solidFill>
          <a:ln w="12700">
            <a:solidFill>
              <a:srgbClr val="0B2D4E"/>
            </a:solidFill>
            <a:prstDash val="solid"/>
          </a:ln>
        </p:spPr>
      </p:sp>
      <p:sp>
        <p:nvSpPr>
          <p:cNvPr id="18" name="Text 16"/>
          <p:cNvSpPr/>
          <p:nvPr/>
        </p:nvSpPr>
        <p:spPr>
          <a:xfrm>
            <a:off x="640080" y="4370832"/>
            <a:ext cx="79552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Key operational insight:</a:t>
            </a:r>
            <a:endParaRPr lang="en-US" sz="1300" dirty="0"/>
          </a:p>
        </p:txBody>
      </p:sp>
      <p:sp>
        <p:nvSpPr>
          <p:cNvPr id="19" name="Text 17"/>
          <p:cNvSpPr/>
          <p:nvPr/>
        </p:nvSpPr>
        <p:spPr>
          <a:xfrm>
            <a:off x="640080" y="4754880"/>
            <a:ext cx="7955280" cy="256032"/>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Flooding is not necessarily a fault. It is often the bridge's correct safe behavior when it does not yet know a precise destination location. A quiet network that suddenly generates wider traffic spread may simply have had an FDB entry age out, causing temporarily increased flooding until re-learning occurs.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Store-and-Forward vs Cut-Through</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34440"/>
            <a:ext cx="8138160" cy="475488"/>
          </a:xfrm>
          <a:prstGeom prst="rect">
            <a:avLst/>
          </a:prstGeom>
          <a:solidFill>
            <a:srgbClr val="0B2D4E"/>
          </a:solidFill>
          <a:ln w="12700">
            <a:solidFill>
              <a:srgbClr val="0B2D4E"/>
            </a:solidFill>
            <a:prstDash val="solid"/>
          </a:ln>
        </p:spPr>
      </p:sp>
      <p:sp>
        <p:nvSpPr>
          <p:cNvPr id="5" name="Text 3"/>
          <p:cNvSpPr/>
          <p:nvPr/>
        </p:nvSpPr>
        <p:spPr>
          <a:xfrm>
            <a:off x="640080" y="1261872"/>
            <a:ext cx="7863840" cy="420624"/>
          </a:xfrm>
          <a:prstGeom prst="rect">
            <a:avLst/>
          </a:prstGeom>
          <a:noFill/>
          <a:ln/>
        </p:spPr>
        <p:txBody>
          <a:bodyPr wrap="square" lIns="0" tIns="0" rIns="0" bIns="0" rtlCol="0" anchor="ctr"/>
          <a:lstStyle/>
          <a:p>
            <a:pPr algn="ctr" indent="0" marL="0">
              <a:buNone/>
            </a:pPr>
            <a:r>
              <a:rPr lang="en-US" sz="1300" dirty="0">
                <a:solidFill>
                  <a:srgbClr val="D6EAF8"/>
                </a:solidFill>
                <a:latin typeface="Calibri" pitchFamily="34" charset="0"/>
                <a:ea typeface="Calibri" pitchFamily="34" charset="-122"/>
                <a:cs typeface="Calibri" pitchFamily="34" charset="-120"/>
              </a:rPr>
              <a:t>The core question: does the switch wait for the entire frame before forwarding, or start as soon as it knows enough?</a:t>
            </a:r>
            <a:endParaRPr lang="en-US" sz="1300" dirty="0"/>
          </a:p>
        </p:txBody>
      </p:sp>
      <p:sp>
        <p:nvSpPr>
          <p:cNvPr id="6" name="Shape 4"/>
          <p:cNvSpPr/>
          <p:nvPr/>
        </p:nvSpPr>
        <p:spPr>
          <a:xfrm>
            <a:off x="502920" y="1828800"/>
            <a:ext cx="4069080" cy="475488"/>
          </a:xfrm>
          <a:prstGeom prst="rect">
            <a:avLst/>
          </a:prstGeom>
          <a:solidFill>
            <a:srgbClr val="1A9DAA"/>
          </a:solidFill>
          <a:ln w="12700">
            <a:solidFill>
              <a:srgbClr val="1A9DAA"/>
            </a:solidFill>
            <a:prstDash val="solid"/>
          </a:ln>
        </p:spPr>
      </p:sp>
      <p:sp>
        <p:nvSpPr>
          <p:cNvPr id="7" name="Text 5"/>
          <p:cNvSpPr/>
          <p:nvPr/>
        </p:nvSpPr>
        <p:spPr>
          <a:xfrm>
            <a:off x="612648" y="1828800"/>
            <a:ext cx="2743200" cy="475488"/>
          </a:xfrm>
          <a:prstGeom prst="rect">
            <a:avLst/>
          </a:prstGeom>
          <a:noFill/>
          <a:ln/>
        </p:spPr>
        <p:txBody>
          <a:bodyPr wrap="square" lIns="0" tIns="0" rIns="0" bIns="0" rtlCol="0" anchor="ctr"/>
          <a:lstStyle/>
          <a:p>
            <a:pPr algn="l" indent="0" marL="0">
              <a:buNone/>
            </a:pPr>
            <a:r>
              <a:rPr lang="en-US" sz="1500" b="1" dirty="0">
                <a:solidFill>
                  <a:srgbClr val="FFFFFF"/>
                </a:solidFill>
                <a:latin typeface="Trebuchet MS" pitchFamily="34" charset="0"/>
                <a:ea typeface="Trebuchet MS" pitchFamily="34" charset="-122"/>
                <a:cs typeface="Trebuchet MS" pitchFamily="34" charset="-120"/>
              </a:rPr>
              <a:t>Store-and-Forward</a:t>
            </a:r>
            <a:endParaRPr lang="en-US" sz="1500" dirty="0"/>
          </a:p>
        </p:txBody>
      </p:sp>
      <p:sp>
        <p:nvSpPr>
          <p:cNvPr id="8" name="Text 6"/>
          <p:cNvSpPr/>
          <p:nvPr/>
        </p:nvSpPr>
        <p:spPr>
          <a:xfrm>
            <a:off x="3355848" y="1828800"/>
            <a:ext cx="1115568" cy="475488"/>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Correctness first</a:t>
            </a:r>
            <a:endParaRPr lang="en-US" sz="1100" dirty="0"/>
          </a:p>
        </p:txBody>
      </p:sp>
      <p:sp>
        <p:nvSpPr>
          <p:cNvPr id="9" name="Text 7"/>
          <p:cNvSpPr/>
          <p:nvPr/>
        </p:nvSpPr>
        <p:spPr>
          <a:xfrm>
            <a:off x="612648" y="2395728"/>
            <a:ext cx="3840480" cy="356616"/>
          </a:xfrm>
          <a:prstGeom prst="rect">
            <a:avLst/>
          </a:prstGeom>
          <a:noFill/>
          <a:ln/>
        </p:spPr>
        <p:txBody>
          <a:bodyPr wrap="square" lIns="0" tIns="0" rIns="0" bIns="0" rtlCol="0" anchor="ctr"/>
          <a:lstStyle/>
          <a:p>
            <a:pPr indent="0" marL="0">
              <a:buNone/>
            </a:pPr>
            <a:r>
              <a:rPr lang="en-US" sz="1300" b="1" dirty="0">
                <a:solidFill>
                  <a:srgbClr val="1A9DAA"/>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Receive entire frame into buffer first</a:t>
            </a:r>
            <a:endParaRPr lang="en-US" sz="1300" dirty="0"/>
          </a:p>
        </p:txBody>
      </p:sp>
      <p:sp>
        <p:nvSpPr>
          <p:cNvPr id="10" name="Text 8"/>
          <p:cNvSpPr/>
          <p:nvPr/>
        </p:nvSpPr>
        <p:spPr>
          <a:xfrm>
            <a:off x="612648" y="2779776"/>
            <a:ext cx="3840480" cy="356616"/>
          </a:xfrm>
          <a:prstGeom prst="rect">
            <a:avLst/>
          </a:prstGeom>
          <a:noFill/>
          <a:ln/>
        </p:spPr>
        <p:txBody>
          <a:bodyPr wrap="square" lIns="0" tIns="0" rIns="0" bIns="0" rtlCol="0" anchor="ctr"/>
          <a:lstStyle/>
          <a:p>
            <a:pPr indent="0" marL="0">
              <a:buNone/>
            </a:pPr>
            <a:r>
              <a:rPr lang="en-US" sz="1300" b="1" dirty="0">
                <a:solidFill>
                  <a:srgbClr val="1A9DAA"/>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Validate frame integrity (CRC check)</a:t>
            </a:r>
            <a:endParaRPr lang="en-US" sz="1300" dirty="0"/>
          </a:p>
        </p:txBody>
      </p:sp>
      <p:sp>
        <p:nvSpPr>
          <p:cNvPr id="11" name="Text 9"/>
          <p:cNvSpPr/>
          <p:nvPr/>
        </p:nvSpPr>
        <p:spPr>
          <a:xfrm>
            <a:off x="612648" y="3163824"/>
            <a:ext cx="3840480" cy="356616"/>
          </a:xfrm>
          <a:prstGeom prst="rect">
            <a:avLst/>
          </a:prstGeom>
          <a:noFill/>
          <a:ln/>
        </p:spPr>
        <p:txBody>
          <a:bodyPr wrap="square" lIns="0" tIns="0" rIns="0" bIns="0" rtlCol="0" anchor="ctr"/>
          <a:lstStyle/>
          <a:p>
            <a:pPr indent="0" marL="0">
              <a:buNone/>
            </a:pPr>
            <a:r>
              <a:rPr lang="en-US" sz="1300" b="1" dirty="0">
                <a:solidFill>
                  <a:srgbClr val="1A9DAA"/>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Then forward to egress port</a:t>
            </a:r>
            <a:endParaRPr lang="en-US" sz="1300" dirty="0"/>
          </a:p>
        </p:txBody>
      </p:sp>
      <p:sp>
        <p:nvSpPr>
          <p:cNvPr id="12" name="Text 10"/>
          <p:cNvSpPr/>
          <p:nvPr/>
        </p:nvSpPr>
        <p:spPr>
          <a:xfrm>
            <a:off x="612648" y="3547872"/>
            <a:ext cx="3840480" cy="356616"/>
          </a:xfrm>
          <a:prstGeom prst="rect">
            <a:avLst/>
          </a:prstGeom>
          <a:noFill/>
          <a:ln/>
        </p:spPr>
        <p:txBody>
          <a:bodyPr wrap="square" lIns="0" tIns="0" rIns="0" bIns="0" rtlCol="0" anchor="ctr"/>
          <a:lstStyle/>
          <a:p>
            <a:pPr indent="0" marL="0">
              <a:buNone/>
            </a:pPr>
            <a:r>
              <a:rPr lang="en-US" sz="1300" b="1" dirty="0">
                <a:solidFill>
                  <a:srgbClr val="1A9DAA"/>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Handles speed mismatches gracefully</a:t>
            </a:r>
            <a:endParaRPr lang="en-US" sz="1300" dirty="0"/>
          </a:p>
        </p:txBody>
      </p:sp>
      <p:sp>
        <p:nvSpPr>
          <p:cNvPr id="13" name="Text 11"/>
          <p:cNvSpPr/>
          <p:nvPr/>
        </p:nvSpPr>
        <p:spPr>
          <a:xfrm>
            <a:off x="612648" y="3931920"/>
            <a:ext cx="3840480" cy="356616"/>
          </a:xfrm>
          <a:prstGeom prst="rect">
            <a:avLst/>
          </a:prstGeom>
          <a:noFill/>
          <a:ln/>
        </p:spPr>
        <p:txBody>
          <a:bodyPr wrap="square" lIns="0" tIns="0" rIns="0" bIns="0" rtlCol="0" anchor="ctr"/>
          <a:lstStyle/>
          <a:p>
            <a:pPr indent="0" marL="0">
              <a:buNone/>
            </a:pPr>
            <a:r>
              <a:rPr lang="en-US" sz="1300" b="1" dirty="0">
                <a:solidFill>
                  <a:srgbClr val="1A9DAA"/>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Never propagates a known-bad frame</a:t>
            </a:r>
            <a:endParaRPr lang="en-US" sz="1300" dirty="0"/>
          </a:p>
        </p:txBody>
      </p:sp>
      <p:sp>
        <p:nvSpPr>
          <p:cNvPr id="14" name="Shape 12"/>
          <p:cNvSpPr/>
          <p:nvPr/>
        </p:nvSpPr>
        <p:spPr>
          <a:xfrm>
            <a:off x="4846320" y="1828800"/>
            <a:ext cx="4069080" cy="475488"/>
          </a:xfrm>
          <a:prstGeom prst="rect">
            <a:avLst/>
          </a:prstGeom>
          <a:solidFill>
            <a:srgbClr val="E67E22"/>
          </a:solidFill>
          <a:ln w="12700">
            <a:solidFill>
              <a:srgbClr val="E67E22"/>
            </a:solidFill>
            <a:prstDash val="solid"/>
          </a:ln>
        </p:spPr>
      </p:sp>
      <p:sp>
        <p:nvSpPr>
          <p:cNvPr id="15" name="Text 13"/>
          <p:cNvSpPr/>
          <p:nvPr/>
        </p:nvSpPr>
        <p:spPr>
          <a:xfrm>
            <a:off x="4956048" y="1828800"/>
            <a:ext cx="2743200" cy="475488"/>
          </a:xfrm>
          <a:prstGeom prst="rect">
            <a:avLst/>
          </a:prstGeom>
          <a:noFill/>
          <a:ln/>
        </p:spPr>
        <p:txBody>
          <a:bodyPr wrap="square" lIns="0" tIns="0" rIns="0" bIns="0" rtlCol="0" anchor="ctr"/>
          <a:lstStyle/>
          <a:p>
            <a:pPr algn="l" indent="0" marL="0">
              <a:buNone/>
            </a:pPr>
            <a:r>
              <a:rPr lang="en-US" sz="1500" b="1" dirty="0">
                <a:solidFill>
                  <a:srgbClr val="FFFFFF"/>
                </a:solidFill>
                <a:latin typeface="Trebuchet MS" pitchFamily="34" charset="0"/>
                <a:ea typeface="Trebuchet MS" pitchFamily="34" charset="-122"/>
                <a:cs typeface="Trebuchet MS" pitchFamily="34" charset="-120"/>
              </a:rPr>
              <a:t>Cut-Through</a:t>
            </a:r>
            <a:endParaRPr lang="en-US" sz="1500" dirty="0"/>
          </a:p>
        </p:txBody>
      </p:sp>
      <p:sp>
        <p:nvSpPr>
          <p:cNvPr id="16" name="Text 14"/>
          <p:cNvSpPr/>
          <p:nvPr/>
        </p:nvSpPr>
        <p:spPr>
          <a:xfrm>
            <a:off x="7699248" y="1828800"/>
            <a:ext cx="1115568" cy="475488"/>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Latency first</a:t>
            </a:r>
            <a:endParaRPr lang="en-US" sz="1100" dirty="0"/>
          </a:p>
        </p:txBody>
      </p:sp>
      <p:sp>
        <p:nvSpPr>
          <p:cNvPr id="17" name="Text 15"/>
          <p:cNvSpPr/>
          <p:nvPr/>
        </p:nvSpPr>
        <p:spPr>
          <a:xfrm>
            <a:off x="4956048" y="2395728"/>
            <a:ext cx="3840480" cy="356616"/>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Start forwarding as soon as header is parsed</a:t>
            </a:r>
            <a:endParaRPr lang="en-US" sz="1300" dirty="0"/>
          </a:p>
        </p:txBody>
      </p:sp>
      <p:sp>
        <p:nvSpPr>
          <p:cNvPr id="18" name="Text 16"/>
          <p:cNvSpPr/>
          <p:nvPr/>
        </p:nvSpPr>
        <p:spPr>
          <a:xfrm>
            <a:off x="4956048" y="2779776"/>
            <a:ext cx="3840480" cy="356616"/>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Do not wait for the frame tail or CRC</a:t>
            </a:r>
            <a:endParaRPr lang="en-US" sz="1300" dirty="0"/>
          </a:p>
        </p:txBody>
      </p:sp>
      <p:sp>
        <p:nvSpPr>
          <p:cNvPr id="19" name="Text 17"/>
          <p:cNvSpPr/>
          <p:nvPr/>
        </p:nvSpPr>
        <p:spPr>
          <a:xfrm>
            <a:off x="4956048" y="3163824"/>
            <a:ext cx="3840480" cy="356616"/>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Lower port-to-port latency, especially for large frames</a:t>
            </a:r>
            <a:endParaRPr lang="en-US" sz="1300" dirty="0"/>
          </a:p>
        </p:txBody>
      </p:sp>
      <p:sp>
        <p:nvSpPr>
          <p:cNvPr id="20" name="Text 18"/>
          <p:cNvSpPr/>
          <p:nvPr/>
        </p:nvSpPr>
        <p:spPr>
          <a:xfrm>
            <a:off x="4956048" y="3547872"/>
            <a:ext cx="3840480" cy="356616"/>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May forward frames that later prove corrupted</a:t>
            </a:r>
            <a:endParaRPr lang="en-US" sz="1300" dirty="0"/>
          </a:p>
        </p:txBody>
      </p:sp>
      <p:sp>
        <p:nvSpPr>
          <p:cNvPr id="21" name="Text 19"/>
          <p:cNvSpPr/>
          <p:nvPr/>
        </p:nvSpPr>
        <p:spPr>
          <a:xfrm>
            <a:off x="4956048" y="3931920"/>
            <a:ext cx="3840480" cy="356616"/>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Requires matching ingress and egress speeds</a:t>
            </a:r>
            <a:endParaRPr lang="en-US" sz="1300" dirty="0"/>
          </a:p>
        </p:txBody>
      </p:sp>
      <p:sp>
        <p:nvSpPr>
          <p:cNvPr id="22" name="Shape 20"/>
          <p:cNvSpPr/>
          <p:nvPr/>
        </p:nvSpPr>
        <p:spPr>
          <a:xfrm>
            <a:off x="502920" y="4572000"/>
            <a:ext cx="8138160" cy="502920"/>
          </a:xfrm>
          <a:prstGeom prst="rect">
            <a:avLst/>
          </a:prstGeom>
          <a:solidFill>
            <a:srgbClr val="0B2D4E"/>
          </a:solidFill>
          <a:ln w="12700">
            <a:solidFill>
              <a:srgbClr val="0B2D4E"/>
            </a:solidFill>
            <a:prstDash val="solid"/>
          </a:ln>
        </p:spPr>
      </p:sp>
      <p:sp>
        <p:nvSpPr>
          <p:cNvPr id="23" name="Text 21"/>
          <p:cNvSpPr/>
          <p:nvPr/>
        </p:nvSpPr>
        <p:spPr>
          <a:xfrm>
            <a:off x="640080" y="4663440"/>
            <a:ext cx="79552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The real question in a live network is not which is universally better:</a:t>
            </a:r>
            <a:endParaRPr lang="en-US" sz="1300" dirty="0"/>
          </a:p>
        </p:txBody>
      </p:sp>
      <p:sp>
        <p:nvSpPr>
          <p:cNvPr id="24" name="Text 22"/>
          <p:cNvSpPr/>
          <p:nvPr/>
        </p:nvSpPr>
        <p:spPr>
          <a:xfrm>
            <a:off x="640080" y="5047488"/>
            <a:ext cx="7955280" cy="-457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It is: what matters more here — the lowest possible forwarding latency, or stronger buffering, integrity checking, and congestion handling? Store-and-forward activates automatically when ingress rate exceeds egress port capacity.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Trebuchet MS" pitchFamily="34" charset="0"/>
                <a:ea typeface="Trebuchet MS" pitchFamily="34" charset="-122"/>
                <a:cs typeface="Trebuchet MS" pitchFamily="34" charset="-120"/>
              </a:rPr>
              <a:t>Cut-Through Is Not Forwarding After Six Bytes</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9436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A common misconception is that cut-through begins forwarding the instant the destination MAC address is read (6 bytes). The reality requires more:</a:t>
            </a:r>
            <a:endParaRPr lang="en-US" sz="1400" dirty="0"/>
          </a:p>
        </p:txBody>
      </p:sp>
      <p:sp>
        <p:nvSpPr>
          <p:cNvPr id="5" name="Shape 3"/>
          <p:cNvSpPr/>
          <p:nvPr/>
        </p:nvSpPr>
        <p:spPr>
          <a:xfrm>
            <a:off x="320040" y="2011680"/>
            <a:ext cx="1417320" cy="658368"/>
          </a:xfrm>
          <a:prstGeom prst="rect">
            <a:avLst/>
          </a:prstGeom>
          <a:solidFill>
            <a:srgbClr val="4A6B82"/>
          </a:solidFill>
          <a:ln w="12700">
            <a:solidFill>
              <a:srgbClr val="4A6B82"/>
            </a:solidFill>
            <a:prstDash val="solid"/>
          </a:ln>
        </p:spPr>
      </p:sp>
      <p:sp>
        <p:nvSpPr>
          <p:cNvPr id="6" name="Shape 4"/>
          <p:cNvSpPr/>
          <p:nvPr/>
        </p:nvSpPr>
        <p:spPr>
          <a:xfrm>
            <a:off x="320040" y="2011680"/>
            <a:ext cx="1417320" cy="658368"/>
          </a:xfrm>
          <a:prstGeom prst="rect">
            <a:avLst/>
          </a:prstGeom>
          <a:solidFill>
            <a:srgbClr val="4A6B82"/>
          </a:solidFill>
          <a:ln w="12700">
            <a:solidFill>
              <a:srgbClr val="FFFFFF"/>
            </a:solidFill>
            <a:prstDash val="solid"/>
          </a:ln>
        </p:spPr>
      </p:sp>
      <p:sp>
        <p:nvSpPr>
          <p:cNvPr id="7" name="Text 5"/>
          <p:cNvSpPr/>
          <p:nvPr/>
        </p:nvSpPr>
        <p:spPr>
          <a:xfrm>
            <a:off x="356616" y="2011680"/>
            <a:ext cx="13441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Destination MAC</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(6 bytes)</a:t>
            </a:r>
            <a:endParaRPr lang="en-US" sz="1000" dirty="0"/>
          </a:p>
        </p:txBody>
      </p:sp>
      <p:sp>
        <p:nvSpPr>
          <p:cNvPr id="8" name="Shape 6"/>
          <p:cNvSpPr/>
          <p:nvPr/>
        </p:nvSpPr>
        <p:spPr>
          <a:xfrm>
            <a:off x="1737360" y="2011680"/>
            <a:ext cx="1417320" cy="658368"/>
          </a:xfrm>
          <a:prstGeom prst="rect">
            <a:avLst/>
          </a:prstGeom>
          <a:solidFill>
            <a:srgbClr val="4A6B82"/>
          </a:solidFill>
          <a:ln w="12700">
            <a:solidFill>
              <a:srgbClr val="4A6B82"/>
            </a:solidFill>
            <a:prstDash val="solid"/>
          </a:ln>
        </p:spPr>
      </p:sp>
      <p:sp>
        <p:nvSpPr>
          <p:cNvPr id="9" name="Shape 7"/>
          <p:cNvSpPr/>
          <p:nvPr/>
        </p:nvSpPr>
        <p:spPr>
          <a:xfrm>
            <a:off x="1737360" y="2011680"/>
            <a:ext cx="1417320" cy="658368"/>
          </a:xfrm>
          <a:prstGeom prst="rect">
            <a:avLst/>
          </a:prstGeom>
          <a:solidFill>
            <a:srgbClr val="4A6B82"/>
          </a:solidFill>
          <a:ln w="12700">
            <a:solidFill>
              <a:srgbClr val="FFFFFF"/>
            </a:solidFill>
            <a:prstDash val="solid"/>
          </a:ln>
        </p:spPr>
      </p:sp>
      <p:sp>
        <p:nvSpPr>
          <p:cNvPr id="10" name="Text 8"/>
          <p:cNvSpPr/>
          <p:nvPr/>
        </p:nvSpPr>
        <p:spPr>
          <a:xfrm>
            <a:off x="1773936" y="2011680"/>
            <a:ext cx="13441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Source MAC</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(6 bytes)</a:t>
            </a:r>
            <a:endParaRPr lang="en-US" sz="1000" dirty="0"/>
          </a:p>
        </p:txBody>
      </p:sp>
      <p:sp>
        <p:nvSpPr>
          <p:cNvPr id="11" name="Shape 9"/>
          <p:cNvSpPr/>
          <p:nvPr/>
        </p:nvSpPr>
        <p:spPr>
          <a:xfrm>
            <a:off x="3154680" y="2011680"/>
            <a:ext cx="1417320" cy="658368"/>
          </a:xfrm>
          <a:prstGeom prst="rect">
            <a:avLst/>
          </a:prstGeom>
          <a:solidFill>
            <a:srgbClr val="0E7C86"/>
          </a:solidFill>
          <a:ln w="12700">
            <a:solidFill>
              <a:srgbClr val="0E7C86"/>
            </a:solidFill>
            <a:prstDash val="solid"/>
          </a:ln>
        </p:spPr>
      </p:sp>
      <p:sp>
        <p:nvSpPr>
          <p:cNvPr id="12" name="Shape 10"/>
          <p:cNvSpPr/>
          <p:nvPr/>
        </p:nvSpPr>
        <p:spPr>
          <a:xfrm>
            <a:off x="3154680" y="2011680"/>
            <a:ext cx="1417320" cy="658368"/>
          </a:xfrm>
          <a:prstGeom prst="rect">
            <a:avLst/>
          </a:prstGeom>
          <a:solidFill>
            <a:srgbClr val="0E7C86"/>
          </a:solidFill>
          <a:ln w="12700">
            <a:solidFill>
              <a:srgbClr val="FFFFFF"/>
            </a:solidFill>
            <a:prstDash val="solid"/>
          </a:ln>
        </p:spPr>
      </p:sp>
      <p:sp>
        <p:nvSpPr>
          <p:cNvPr id="13" name="Text 11"/>
          <p:cNvSpPr/>
          <p:nvPr/>
        </p:nvSpPr>
        <p:spPr>
          <a:xfrm>
            <a:off x="3191256" y="2011680"/>
            <a:ext cx="13441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Outer VLAN tag</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(4 bytes)</a:t>
            </a:r>
            <a:endParaRPr lang="en-US" sz="1000" dirty="0"/>
          </a:p>
        </p:txBody>
      </p:sp>
      <p:sp>
        <p:nvSpPr>
          <p:cNvPr id="14" name="Shape 12"/>
          <p:cNvSpPr/>
          <p:nvPr/>
        </p:nvSpPr>
        <p:spPr>
          <a:xfrm>
            <a:off x="4572000" y="2011680"/>
            <a:ext cx="1417320" cy="658368"/>
          </a:xfrm>
          <a:prstGeom prst="rect">
            <a:avLst/>
          </a:prstGeom>
          <a:solidFill>
            <a:srgbClr val="E67E22"/>
          </a:solidFill>
          <a:ln w="12700">
            <a:solidFill>
              <a:srgbClr val="E67E22"/>
            </a:solidFill>
            <a:prstDash val="solid"/>
          </a:ln>
        </p:spPr>
      </p:sp>
      <p:sp>
        <p:nvSpPr>
          <p:cNvPr id="15" name="Shape 13"/>
          <p:cNvSpPr/>
          <p:nvPr/>
        </p:nvSpPr>
        <p:spPr>
          <a:xfrm>
            <a:off x="4572000" y="2011680"/>
            <a:ext cx="1417320" cy="658368"/>
          </a:xfrm>
          <a:prstGeom prst="rect">
            <a:avLst/>
          </a:prstGeom>
          <a:solidFill>
            <a:srgbClr val="E67E22"/>
          </a:solidFill>
          <a:ln w="12700">
            <a:solidFill>
              <a:srgbClr val="FFFFFF"/>
            </a:solidFill>
            <a:prstDash val="solid"/>
          </a:ln>
        </p:spPr>
      </p:sp>
      <p:sp>
        <p:nvSpPr>
          <p:cNvPr id="16" name="Text 14"/>
          <p:cNvSpPr/>
          <p:nvPr/>
        </p:nvSpPr>
        <p:spPr>
          <a:xfrm>
            <a:off x="4608576" y="2011680"/>
            <a:ext cx="13441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Inner tag if Q-in-Q</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(4 bytes)</a:t>
            </a:r>
            <a:endParaRPr lang="en-US" sz="1000" dirty="0"/>
          </a:p>
        </p:txBody>
      </p:sp>
      <p:sp>
        <p:nvSpPr>
          <p:cNvPr id="17" name="Shape 15"/>
          <p:cNvSpPr/>
          <p:nvPr/>
        </p:nvSpPr>
        <p:spPr>
          <a:xfrm>
            <a:off x="5989320" y="2011680"/>
            <a:ext cx="2103120" cy="658368"/>
          </a:xfrm>
          <a:prstGeom prst="rect">
            <a:avLst/>
          </a:prstGeom>
          <a:solidFill>
            <a:srgbClr val="1A9DAA"/>
          </a:solidFill>
          <a:ln w="12700">
            <a:solidFill>
              <a:srgbClr val="1A9DAA"/>
            </a:solidFill>
            <a:prstDash val="solid"/>
          </a:ln>
        </p:spPr>
      </p:sp>
      <p:sp>
        <p:nvSpPr>
          <p:cNvPr id="18" name="Shape 16"/>
          <p:cNvSpPr/>
          <p:nvPr/>
        </p:nvSpPr>
        <p:spPr>
          <a:xfrm>
            <a:off x="5989320" y="2011680"/>
            <a:ext cx="2103120" cy="658368"/>
          </a:xfrm>
          <a:prstGeom prst="rect">
            <a:avLst/>
          </a:prstGeom>
          <a:solidFill>
            <a:srgbClr val="1A9DAA"/>
          </a:solidFill>
          <a:ln w="12700">
            <a:solidFill>
              <a:srgbClr val="FFFFFF"/>
            </a:solidFill>
            <a:prstDash val="solid"/>
          </a:ln>
        </p:spPr>
      </p:sp>
      <p:sp>
        <p:nvSpPr>
          <p:cNvPr id="19" name="Text 17"/>
          <p:cNvSpPr/>
          <p:nvPr/>
        </p:nvSpPr>
        <p:spPr>
          <a:xfrm>
            <a:off x="6025896" y="2011680"/>
            <a:ext cx="2029968"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Enough context</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for forwarding decision</a:t>
            </a:r>
            <a:endParaRPr lang="en-US" sz="1000" dirty="0"/>
          </a:p>
        </p:txBody>
      </p:sp>
      <p:sp>
        <p:nvSpPr>
          <p:cNvPr id="20" name="Shape 18"/>
          <p:cNvSpPr/>
          <p:nvPr/>
        </p:nvSpPr>
        <p:spPr>
          <a:xfrm>
            <a:off x="320040" y="2679192"/>
            <a:ext cx="8503920" cy="36576"/>
          </a:xfrm>
          <a:prstGeom prst="rect">
            <a:avLst/>
          </a:prstGeom>
          <a:solidFill>
            <a:srgbClr val="0E7C86"/>
          </a:solidFill>
          <a:ln w="12700">
            <a:solidFill>
              <a:srgbClr val="0E7C86"/>
            </a:solidFill>
            <a:prstDash val="solid"/>
          </a:ln>
        </p:spPr>
      </p:sp>
      <p:sp>
        <p:nvSpPr>
          <p:cNvPr id="21" name="Text 19"/>
          <p:cNvSpPr/>
          <p:nvPr/>
        </p:nvSpPr>
        <p:spPr>
          <a:xfrm>
            <a:off x="320040" y="2761488"/>
            <a:ext cx="8503920" cy="292608"/>
          </a:xfrm>
          <a:prstGeom prst="rect">
            <a:avLst/>
          </a:prstGeom>
          <a:noFill/>
          <a:ln/>
        </p:spPr>
        <p:txBody>
          <a:bodyPr wrap="square" lIns="0" tIns="0" rIns="0" bIns="0" rtlCol="0" anchor="ctr"/>
          <a:lstStyle/>
          <a:p>
            <a:pPr algn="l" indent="0" marL="0">
              <a:buNone/>
            </a:pPr>
            <a:r>
              <a:rPr lang="en-US" sz="1100" dirty="0">
                <a:solidFill>
                  <a:srgbClr val="0E7C86"/>
                </a:solidFill>
                <a:latin typeface="Calibri" pitchFamily="34" charset="0"/>
                <a:ea typeface="Calibri" pitchFamily="34" charset="-122"/>
                <a:cs typeface="Calibri" pitchFamily="34" charset="-120"/>
              </a:rPr>
              <a:t>Minimum needed before cut-through can safely begin forwarding on a VLAN-aware bridge -&gt;</a:t>
            </a:r>
            <a:endParaRPr lang="en-US" sz="1100" dirty="0"/>
          </a:p>
        </p:txBody>
      </p:sp>
      <p:sp>
        <p:nvSpPr>
          <p:cNvPr id="22" name="Shape 20"/>
          <p:cNvSpPr/>
          <p:nvPr/>
        </p:nvSpPr>
        <p:spPr>
          <a:xfrm>
            <a:off x="502920" y="3200400"/>
            <a:ext cx="8138160" cy="749808"/>
          </a:xfrm>
          <a:prstGeom prst="rect">
            <a:avLst/>
          </a:prstGeom>
          <a:solidFill>
            <a:srgbClr val="1A4D6E"/>
          </a:solidFill>
          <a:ln w="12700">
            <a:solidFill>
              <a:srgbClr val="1A4D6E"/>
            </a:solidFill>
            <a:prstDash val="solid"/>
          </a:ln>
        </p:spPr>
      </p:sp>
      <p:sp>
        <p:nvSpPr>
          <p:cNvPr id="23" name="Text 21"/>
          <p:cNvSpPr/>
          <p:nvPr/>
        </p:nvSpPr>
        <p:spPr>
          <a:xfrm>
            <a:off x="640080" y="3255264"/>
            <a:ext cx="7863840" cy="292608"/>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X  </a:t>
            </a:r>
            <a:pPr indent="0" marL="0">
              <a:buNone/>
            </a:pPr>
            <a:r>
              <a:rPr lang="en-US" sz="1200" b="1" dirty="0">
                <a:solidFill>
                  <a:srgbClr val="FF6B6B"/>
                </a:solidFill>
                <a:latin typeface="Calibri" pitchFamily="34" charset="0"/>
                <a:ea typeface="Calibri" pitchFamily="34" charset="-122"/>
                <a:cs typeface="Calibri" pitchFamily="34" charset="-120"/>
              </a:rPr>
              <a:t>Cut-through forwards after just 6 bytes (dest MAC)</a:t>
            </a:r>
            <a:endParaRPr lang="en-US" sz="1200" dirty="0"/>
          </a:p>
        </p:txBody>
      </p:sp>
      <p:sp>
        <p:nvSpPr>
          <p:cNvPr id="24" name="Text 22"/>
          <p:cNvSpPr/>
          <p:nvPr/>
        </p:nvSpPr>
        <p:spPr>
          <a:xfrm>
            <a:off x="640080" y="3584448"/>
            <a:ext cx="7863840" cy="31089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It forwards after enough header context to make a correct forwarding decision for the VLAN</a:t>
            </a:r>
            <a:endParaRPr lang="en-US" sz="1200" dirty="0"/>
          </a:p>
        </p:txBody>
      </p:sp>
      <p:sp>
        <p:nvSpPr>
          <p:cNvPr id="25" name="Shape 23"/>
          <p:cNvSpPr/>
          <p:nvPr/>
        </p:nvSpPr>
        <p:spPr>
          <a:xfrm>
            <a:off x="502920" y="4041648"/>
            <a:ext cx="8138160" cy="749808"/>
          </a:xfrm>
          <a:prstGeom prst="rect">
            <a:avLst/>
          </a:prstGeom>
          <a:solidFill>
            <a:srgbClr val="1A4D6E"/>
          </a:solidFill>
          <a:ln w="12700">
            <a:solidFill>
              <a:srgbClr val="1A4D6E"/>
            </a:solidFill>
            <a:prstDash val="solid"/>
          </a:ln>
        </p:spPr>
      </p:sp>
      <p:sp>
        <p:nvSpPr>
          <p:cNvPr id="26" name="Text 24"/>
          <p:cNvSpPr/>
          <p:nvPr/>
        </p:nvSpPr>
        <p:spPr>
          <a:xfrm>
            <a:off x="640080" y="4096512"/>
            <a:ext cx="7863840" cy="292608"/>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X  </a:t>
            </a:r>
            <a:pPr indent="0" marL="0">
              <a:buNone/>
            </a:pPr>
            <a:r>
              <a:rPr lang="en-US" sz="1200" b="1" dirty="0">
                <a:solidFill>
                  <a:srgbClr val="FF6B6B"/>
                </a:solidFill>
                <a:latin typeface="Calibri" pitchFamily="34" charset="0"/>
                <a:ea typeface="Calibri" pitchFamily="34" charset="-122"/>
                <a:cs typeface="Calibri" pitchFamily="34" charset="-120"/>
              </a:rPr>
              <a:t>Cut-through never checks frame integrity</a:t>
            </a:r>
            <a:endParaRPr lang="en-US" sz="1200" dirty="0"/>
          </a:p>
        </p:txBody>
      </p:sp>
      <p:sp>
        <p:nvSpPr>
          <p:cNvPr id="27" name="Text 25"/>
          <p:cNvSpPr/>
          <p:nvPr/>
        </p:nvSpPr>
        <p:spPr>
          <a:xfrm>
            <a:off x="640080" y="4425696"/>
            <a:ext cx="7863840" cy="31089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It defers the check — bad frames may be partially or fully forwarded before the error is detected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200" b="1" dirty="0">
                <a:solidFill>
                  <a:srgbClr val="0B2D4E"/>
                </a:solidFill>
                <a:latin typeface="Trebuchet MS" pitchFamily="34" charset="0"/>
                <a:ea typeface="Trebuchet MS" pitchFamily="34" charset="-122"/>
                <a:cs typeface="Trebuchet MS" pitchFamily="34" charset="-120"/>
              </a:rPr>
              <a:t>The Switch Pipeline: Not Just a Table Lookup</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A switch is a pipeline of processing stages. Every frame passes through each stage in order — from receive to transmit.</a:t>
            </a:r>
            <a:endParaRPr lang="en-US" sz="1400" dirty="0"/>
          </a:p>
        </p:txBody>
      </p:sp>
      <p:sp>
        <p:nvSpPr>
          <p:cNvPr id="5" name="Shape 3"/>
          <p:cNvSpPr/>
          <p:nvPr/>
        </p:nvSpPr>
        <p:spPr>
          <a:xfrm>
            <a:off x="256032" y="1901952"/>
            <a:ext cx="1325880" cy="1280160"/>
          </a:xfrm>
          <a:prstGeom prst="rect">
            <a:avLst/>
          </a:prstGeom>
          <a:solidFill>
            <a:srgbClr val="1A9DAA"/>
          </a:solidFill>
          <a:ln w="12700">
            <a:solidFill>
              <a:srgbClr val="1A9DAA"/>
            </a:solidFill>
            <a:prstDash val="solid"/>
          </a:ln>
        </p:spPr>
      </p:sp>
      <p:sp>
        <p:nvSpPr>
          <p:cNvPr id="6" name="Text 4"/>
          <p:cNvSpPr/>
          <p:nvPr/>
        </p:nvSpPr>
        <p:spPr>
          <a:xfrm>
            <a:off x="292608" y="1956816"/>
            <a:ext cx="12527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Ingress Port</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Logic</a:t>
            </a:r>
            <a:endParaRPr lang="en-US" sz="1200" dirty="0"/>
          </a:p>
        </p:txBody>
      </p:sp>
      <p:sp>
        <p:nvSpPr>
          <p:cNvPr id="7" name="Shape 5"/>
          <p:cNvSpPr/>
          <p:nvPr/>
        </p:nvSpPr>
        <p:spPr>
          <a:xfrm>
            <a:off x="310896" y="2468880"/>
            <a:ext cx="1216152" cy="36576"/>
          </a:xfrm>
          <a:prstGeom prst="rect">
            <a:avLst/>
          </a:prstGeom>
          <a:solidFill>
            <a:srgbClr val="FFFFFF"/>
          </a:solidFill>
          <a:ln w="12700">
            <a:solidFill>
              <a:srgbClr val="FFFFFF"/>
            </a:solidFill>
            <a:prstDash val="solid"/>
          </a:ln>
        </p:spPr>
      </p:sp>
      <p:sp>
        <p:nvSpPr>
          <p:cNvPr id="8" name="Text 6"/>
          <p:cNvSpPr/>
          <p:nvPr/>
        </p:nvSpPr>
        <p:spPr>
          <a:xfrm>
            <a:off x="292608" y="2523744"/>
            <a:ext cx="1252728"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Receive frame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from medium</a:t>
            </a:r>
            <a:endParaRPr lang="en-US" sz="1000" dirty="0"/>
          </a:p>
        </p:txBody>
      </p:sp>
      <p:sp>
        <p:nvSpPr>
          <p:cNvPr id="9" name="Text 7"/>
          <p:cNvSpPr/>
          <p:nvPr/>
        </p:nvSpPr>
        <p:spPr>
          <a:xfrm>
            <a:off x="1581912" y="2286000"/>
            <a:ext cx="155448" cy="411480"/>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10" name="Shape 8"/>
          <p:cNvSpPr/>
          <p:nvPr/>
        </p:nvSpPr>
        <p:spPr>
          <a:xfrm>
            <a:off x="1737360" y="1901952"/>
            <a:ext cx="1325880" cy="1280160"/>
          </a:xfrm>
          <a:prstGeom prst="rect">
            <a:avLst/>
          </a:prstGeom>
          <a:solidFill>
            <a:srgbClr val="2980B9"/>
          </a:solidFill>
          <a:ln w="12700">
            <a:solidFill>
              <a:srgbClr val="2980B9"/>
            </a:solidFill>
            <a:prstDash val="solid"/>
          </a:ln>
        </p:spPr>
      </p:sp>
      <p:sp>
        <p:nvSpPr>
          <p:cNvPr id="11" name="Text 9"/>
          <p:cNvSpPr/>
          <p:nvPr/>
        </p:nvSpPr>
        <p:spPr>
          <a:xfrm>
            <a:off x="1773936" y="1956816"/>
            <a:ext cx="12527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Parser /</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Classifier</a:t>
            </a:r>
            <a:endParaRPr lang="en-US" sz="1200" dirty="0"/>
          </a:p>
        </p:txBody>
      </p:sp>
      <p:sp>
        <p:nvSpPr>
          <p:cNvPr id="12" name="Shape 10"/>
          <p:cNvSpPr/>
          <p:nvPr/>
        </p:nvSpPr>
        <p:spPr>
          <a:xfrm>
            <a:off x="1792224" y="2468880"/>
            <a:ext cx="1216152" cy="36576"/>
          </a:xfrm>
          <a:prstGeom prst="rect">
            <a:avLst/>
          </a:prstGeom>
          <a:solidFill>
            <a:srgbClr val="FFFFFF"/>
          </a:solidFill>
          <a:ln w="12700">
            <a:solidFill>
              <a:srgbClr val="FFFFFF"/>
            </a:solidFill>
            <a:prstDash val="solid"/>
          </a:ln>
        </p:spPr>
      </p:sp>
      <p:sp>
        <p:nvSpPr>
          <p:cNvPr id="13" name="Text 11"/>
          <p:cNvSpPr/>
          <p:nvPr/>
        </p:nvSpPr>
        <p:spPr>
          <a:xfrm>
            <a:off x="1773936" y="2523744"/>
            <a:ext cx="1252728"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Detect tag, VLAN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context, priority</a:t>
            </a:r>
            <a:endParaRPr lang="en-US" sz="1000" dirty="0"/>
          </a:p>
        </p:txBody>
      </p:sp>
      <p:sp>
        <p:nvSpPr>
          <p:cNvPr id="14" name="Text 12"/>
          <p:cNvSpPr/>
          <p:nvPr/>
        </p:nvSpPr>
        <p:spPr>
          <a:xfrm>
            <a:off x="3063240" y="2286000"/>
            <a:ext cx="155448" cy="411480"/>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15" name="Shape 13"/>
          <p:cNvSpPr/>
          <p:nvPr/>
        </p:nvSpPr>
        <p:spPr>
          <a:xfrm>
            <a:off x="3218688" y="1901952"/>
            <a:ext cx="1325880" cy="1280160"/>
          </a:xfrm>
          <a:prstGeom prst="rect">
            <a:avLst/>
          </a:prstGeom>
          <a:solidFill>
            <a:srgbClr val="0E7C86"/>
          </a:solidFill>
          <a:ln w="12700">
            <a:solidFill>
              <a:srgbClr val="0E7C86"/>
            </a:solidFill>
            <a:prstDash val="solid"/>
          </a:ln>
        </p:spPr>
      </p:sp>
      <p:sp>
        <p:nvSpPr>
          <p:cNvPr id="16" name="Text 14"/>
          <p:cNvSpPr/>
          <p:nvPr/>
        </p:nvSpPr>
        <p:spPr>
          <a:xfrm>
            <a:off x="3255264" y="1956816"/>
            <a:ext cx="12527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FDB</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Lookup</a:t>
            </a:r>
            <a:endParaRPr lang="en-US" sz="1200" dirty="0"/>
          </a:p>
        </p:txBody>
      </p:sp>
      <p:sp>
        <p:nvSpPr>
          <p:cNvPr id="17" name="Shape 15"/>
          <p:cNvSpPr/>
          <p:nvPr/>
        </p:nvSpPr>
        <p:spPr>
          <a:xfrm>
            <a:off x="3273552" y="2468880"/>
            <a:ext cx="1216152" cy="36576"/>
          </a:xfrm>
          <a:prstGeom prst="rect">
            <a:avLst/>
          </a:prstGeom>
          <a:solidFill>
            <a:srgbClr val="FFFFFF"/>
          </a:solidFill>
          <a:ln w="12700">
            <a:solidFill>
              <a:srgbClr val="FFFFFF"/>
            </a:solidFill>
            <a:prstDash val="solid"/>
          </a:ln>
        </p:spPr>
      </p:sp>
      <p:sp>
        <p:nvSpPr>
          <p:cNvPr id="18" name="Text 16"/>
          <p:cNvSpPr/>
          <p:nvPr/>
        </p:nvSpPr>
        <p:spPr>
          <a:xfrm>
            <a:off x="3255264" y="2523744"/>
            <a:ext cx="1252728"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Find destination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port + VLAN</a:t>
            </a:r>
            <a:endParaRPr lang="en-US" sz="1000" dirty="0"/>
          </a:p>
        </p:txBody>
      </p:sp>
      <p:sp>
        <p:nvSpPr>
          <p:cNvPr id="19" name="Text 17"/>
          <p:cNvSpPr/>
          <p:nvPr/>
        </p:nvSpPr>
        <p:spPr>
          <a:xfrm>
            <a:off x="4544568" y="2286000"/>
            <a:ext cx="155448" cy="411480"/>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20" name="Shape 18"/>
          <p:cNvSpPr/>
          <p:nvPr/>
        </p:nvSpPr>
        <p:spPr>
          <a:xfrm>
            <a:off x="4700016" y="1901952"/>
            <a:ext cx="1325880" cy="1280160"/>
          </a:xfrm>
          <a:prstGeom prst="rect">
            <a:avLst/>
          </a:prstGeom>
          <a:solidFill>
            <a:srgbClr val="E67E22"/>
          </a:solidFill>
          <a:ln w="12700">
            <a:solidFill>
              <a:srgbClr val="E67E22"/>
            </a:solidFill>
            <a:prstDash val="solid"/>
          </a:ln>
        </p:spPr>
      </p:sp>
      <p:sp>
        <p:nvSpPr>
          <p:cNvPr id="21" name="Text 19"/>
          <p:cNvSpPr/>
          <p:nvPr/>
        </p:nvSpPr>
        <p:spPr>
          <a:xfrm>
            <a:off x="4736592" y="1956816"/>
            <a:ext cx="12527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Policy /</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Filtering</a:t>
            </a:r>
            <a:endParaRPr lang="en-US" sz="1200" dirty="0"/>
          </a:p>
        </p:txBody>
      </p:sp>
      <p:sp>
        <p:nvSpPr>
          <p:cNvPr id="22" name="Shape 20"/>
          <p:cNvSpPr/>
          <p:nvPr/>
        </p:nvSpPr>
        <p:spPr>
          <a:xfrm>
            <a:off x="4754880" y="2468880"/>
            <a:ext cx="1216152" cy="36576"/>
          </a:xfrm>
          <a:prstGeom prst="rect">
            <a:avLst/>
          </a:prstGeom>
          <a:solidFill>
            <a:srgbClr val="FFFFFF"/>
          </a:solidFill>
          <a:ln w="12700">
            <a:solidFill>
              <a:srgbClr val="FFFFFF"/>
            </a:solidFill>
            <a:prstDash val="solid"/>
          </a:ln>
        </p:spPr>
      </p:sp>
      <p:sp>
        <p:nvSpPr>
          <p:cNvPr id="23" name="Text 21"/>
          <p:cNvSpPr/>
          <p:nvPr/>
        </p:nvSpPr>
        <p:spPr>
          <a:xfrm>
            <a:off x="4736592" y="2523744"/>
            <a:ext cx="1252728"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Check VLAN,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ACLs, port rules</a:t>
            </a:r>
            <a:endParaRPr lang="en-US" sz="1000" dirty="0"/>
          </a:p>
        </p:txBody>
      </p:sp>
      <p:sp>
        <p:nvSpPr>
          <p:cNvPr id="24" name="Text 22"/>
          <p:cNvSpPr/>
          <p:nvPr/>
        </p:nvSpPr>
        <p:spPr>
          <a:xfrm>
            <a:off x="6025896" y="2286000"/>
            <a:ext cx="155448" cy="411480"/>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25" name="Shape 23"/>
          <p:cNvSpPr/>
          <p:nvPr/>
        </p:nvSpPr>
        <p:spPr>
          <a:xfrm>
            <a:off x="6181344" y="1901952"/>
            <a:ext cx="1325880" cy="1280160"/>
          </a:xfrm>
          <a:prstGeom prst="rect">
            <a:avLst/>
          </a:prstGeom>
          <a:solidFill>
            <a:srgbClr val="8E44AD"/>
          </a:solidFill>
          <a:ln w="12700">
            <a:solidFill>
              <a:srgbClr val="8E44AD"/>
            </a:solidFill>
            <a:prstDash val="solid"/>
          </a:ln>
        </p:spPr>
      </p:sp>
      <p:sp>
        <p:nvSpPr>
          <p:cNvPr id="26" name="Text 24"/>
          <p:cNvSpPr/>
          <p:nvPr/>
        </p:nvSpPr>
        <p:spPr>
          <a:xfrm>
            <a:off x="6217920" y="1956816"/>
            <a:ext cx="12527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Buffering</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&amp; Queuing</a:t>
            </a:r>
            <a:endParaRPr lang="en-US" sz="1200" dirty="0"/>
          </a:p>
        </p:txBody>
      </p:sp>
      <p:sp>
        <p:nvSpPr>
          <p:cNvPr id="27" name="Shape 25"/>
          <p:cNvSpPr/>
          <p:nvPr/>
        </p:nvSpPr>
        <p:spPr>
          <a:xfrm>
            <a:off x="6236208" y="2468880"/>
            <a:ext cx="1216152" cy="36576"/>
          </a:xfrm>
          <a:prstGeom prst="rect">
            <a:avLst/>
          </a:prstGeom>
          <a:solidFill>
            <a:srgbClr val="FFFFFF"/>
          </a:solidFill>
          <a:ln w="12700">
            <a:solidFill>
              <a:srgbClr val="FFFFFF"/>
            </a:solidFill>
            <a:prstDash val="solid"/>
          </a:ln>
        </p:spPr>
      </p:sp>
      <p:sp>
        <p:nvSpPr>
          <p:cNvPr id="28" name="Text 26"/>
          <p:cNvSpPr/>
          <p:nvPr/>
        </p:nvSpPr>
        <p:spPr>
          <a:xfrm>
            <a:off x="6217920" y="2523744"/>
            <a:ext cx="1252728"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S-and-F or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cut-through</a:t>
            </a:r>
            <a:endParaRPr lang="en-US" sz="1000" dirty="0"/>
          </a:p>
        </p:txBody>
      </p:sp>
      <p:sp>
        <p:nvSpPr>
          <p:cNvPr id="29" name="Text 27"/>
          <p:cNvSpPr/>
          <p:nvPr/>
        </p:nvSpPr>
        <p:spPr>
          <a:xfrm>
            <a:off x="7507224" y="2286000"/>
            <a:ext cx="155448" cy="411480"/>
          </a:xfrm>
          <a:prstGeom prst="rect">
            <a:avLst/>
          </a:prstGeom>
          <a:noFill/>
          <a:ln/>
        </p:spPr>
        <p:txBody>
          <a:bodyPr wrap="square" lIns="0" tIns="0" rIns="0" bIns="0" rtlCol="0" anchor="ctr"/>
          <a:lstStyle/>
          <a:p>
            <a:pPr algn="ctr" indent="0" marL="0">
              <a:buNone/>
            </a:pPr>
            <a:r>
              <a:rPr lang="en-US" sz="1400" b="1" dirty="0">
                <a:solidFill>
                  <a:srgbClr val="0E7C86"/>
                </a:solidFill>
                <a:latin typeface="Trebuchet MS" pitchFamily="34" charset="0"/>
                <a:ea typeface="Trebuchet MS" pitchFamily="34" charset="-122"/>
                <a:cs typeface="Trebuchet MS" pitchFamily="34" charset="-120"/>
              </a:rPr>
              <a:t>-&gt;</a:t>
            </a:r>
            <a:endParaRPr lang="en-US" sz="1400" dirty="0"/>
          </a:p>
        </p:txBody>
      </p:sp>
      <p:sp>
        <p:nvSpPr>
          <p:cNvPr id="30" name="Shape 28"/>
          <p:cNvSpPr/>
          <p:nvPr/>
        </p:nvSpPr>
        <p:spPr>
          <a:xfrm>
            <a:off x="7662672" y="1901952"/>
            <a:ext cx="1325880" cy="1280160"/>
          </a:xfrm>
          <a:prstGeom prst="rect">
            <a:avLst/>
          </a:prstGeom>
          <a:solidFill>
            <a:srgbClr val="1A4D6E"/>
          </a:solidFill>
          <a:ln w="12700">
            <a:solidFill>
              <a:srgbClr val="1A4D6E"/>
            </a:solidFill>
            <a:prstDash val="solid"/>
          </a:ln>
        </p:spPr>
      </p:sp>
      <p:sp>
        <p:nvSpPr>
          <p:cNvPr id="31" name="Text 29"/>
          <p:cNvSpPr/>
          <p:nvPr/>
        </p:nvSpPr>
        <p:spPr>
          <a:xfrm>
            <a:off x="7699248" y="1956816"/>
            <a:ext cx="12527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Egress Port</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Logic</a:t>
            </a:r>
            <a:endParaRPr lang="en-US" sz="1200" dirty="0"/>
          </a:p>
        </p:txBody>
      </p:sp>
      <p:sp>
        <p:nvSpPr>
          <p:cNvPr id="32" name="Shape 30"/>
          <p:cNvSpPr/>
          <p:nvPr/>
        </p:nvSpPr>
        <p:spPr>
          <a:xfrm>
            <a:off x="7717536" y="2468880"/>
            <a:ext cx="1216152" cy="36576"/>
          </a:xfrm>
          <a:prstGeom prst="rect">
            <a:avLst/>
          </a:prstGeom>
          <a:solidFill>
            <a:srgbClr val="FFFFFF"/>
          </a:solidFill>
          <a:ln w="12700">
            <a:solidFill>
              <a:srgbClr val="FFFFFF"/>
            </a:solidFill>
            <a:prstDash val="solid"/>
          </a:ln>
        </p:spPr>
      </p:sp>
      <p:sp>
        <p:nvSpPr>
          <p:cNvPr id="33" name="Text 31"/>
          <p:cNvSpPr/>
          <p:nvPr/>
        </p:nvSpPr>
        <p:spPr>
          <a:xfrm>
            <a:off x="7699248" y="2523744"/>
            <a:ext cx="1252728"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Tag insert/remove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transmit frame</a:t>
            </a:r>
            <a:endParaRPr lang="en-US" sz="1000" dirty="0"/>
          </a:p>
        </p:txBody>
      </p:sp>
      <p:sp>
        <p:nvSpPr>
          <p:cNvPr id="34" name="Shape 32"/>
          <p:cNvSpPr/>
          <p:nvPr/>
        </p:nvSpPr>
        <p:spPr>
          <a:xfrm>
            <a:off x="502920" y="3337560"/>
            <a:ext cx="5303520" cy="1463040"/>
          </a:xfrm>
          <a:prstGeom prst="rect">
            <a:avLst/>
          </a:prstGeom>
          <a:solidFill>
            <a:srgbClr val="0B2D4E"/>
          </a:solidFill>
          <a:ln w="12700">
            <a:solidFill>
              <a:srgbClr val="0B2D4E"/>
            </a:solidFill>
            <a:prstDash val="solid"/>
          </a:ln>
        </p:spPr>
      </p:sp>
      <p:sp>
        <p:nvSpPr>
          <p:cNvPr id="35" name="Shape 33"/>
          <p:cNvSpPr/>
          <p:nvPr/>
        </p:nvSpPr>
        <p:spPr>
          <a:xfrm>
            <a:off x="502920" y="3337560"/>
            <a:ext cx="5303520" cy="1463040"/>
          </a:xfrm>
          <a:prstGeom prst="rect">
            <a:avLst/>
          </a:prstGeom>
          <a:solidFill>
            <a:srgbClr val="0B2D4E"/>
          </a:solidFill>
          <a:ln w="25400">
            <a:solidFill>
              <a:srgbClr val="1A9DAA"/>
            </a:solidFill>
            <a:prstDash val="solid"/>
          </a:ln>
        </p:spPr>
      </p:sp>
      <p:sp>
        <p:nvSpPr>
          <p:cNvPr id="36" name="Text 34"/>
          <p:cNvSpPr/>
          <p:nvPr/>
        </p:nvSpPr>
        <p:spPr>
          <a:xfrm>
            <a:off x="640080" y="3410712"/>
            <a:ext cx="5029200" cy="347472"/>
          </a:xfrm>
          <a:prstGeom prst="rect">
            <a:avLst/>
          </a:prstGeom>
          <a:noFill/>
          <a:ln/>
        </p:spPr>
        <p:txBody>
          <a:bodyPr wrap="square" lIns="0" tIns="0" rIns="0" bIns="0" rtlCol="0" anchor="ctr"/>
          <a:lstStyle/>
          <a:p>
            <a:pPr algn="l" indent="0" marL="0">
              <a:buNone/>
            </a:pPr>
            <a:r>
              <a:rPr lang="en-US" sz="1300" b="1" dirty="0">
                <a:solidFill>
                  <a:srgbClr val="1A9DAA"/>
                </a:solidFill>
                <a:latin typeface="Trebuchet MS" pitchFamily="34" charset="0"/>
                <a:ea typeface="Trebuchet MS" pitchFamily="34" charset="-122"/>
                <a:cs typeface="Trebuchet MS" pitchFamily="34" charset="-120"/>
              </a:rPr>
              <a:t>Data Plane</a:t>
            </a:r>
            <a:endParaRPr lang="en-US" sz="1300" dirty="0"/>
          </a:p>
        </p:txBody>
      </p:sp>
      <p:sp>
        <p:nvSpPr>
          <p:cNvPr id="37" name="Text 35"/>
          <p:cNvSpPr/>
          <p:nvPr/>
        </p:nvSpPr>
        <p:spPr>
          <a:xfrm>
            <a:off x="640080" y="3785616"/>
            <a:ext cx="502920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Executes the pipeline at line rate: receive, classify, look up, filter, queue, transmit. Decisions are made in real time per-frame.</a:t>
            </a:r>
            <a:endParaRPr lang="en-US" sz="1200" dirty="0"/>
          </a:p>
        </p:txBody>
      </p:sp>
      <p:sp>
        <p:nvSpPr>
          <p:cNvPr id="38" name="Shape 36"/>
          <p:cNvSpPr/>
          <p:nvPr/>
        </p:nvSpPr>
        <p:spPr>
          <a:xfrm>
            <a:off x="5989320" y="3337560"/>
            <a:ext cx="2697480" cy="1463040"/>
          </a:xfrm>
          <a:prstGeom prst="rect">
            <a:avLst/>
          </a:prstGeom>
          <a:solidFill>
            <a:srgbClr val="0B2D4E"/>
          </a:solidFill>
          <a:ln w="12700">
            <a:solidFill>
              <a:srgbClr val="0B2D4E"/>
            </a:solidFill>
            <a:prstDash val="solid"/>
          </a:ln>
        </p:spPr>
      </p:sp>
      <p:sp>
        <p:nvSpPr>
          <p:cNvPr id="39" name="Shape 37"/>
          <p:cNvSpPr/>
          <p:nvPr/>
        </p:nvSpPr>
        <p:spPr>
          <a:xfrm>
            <a:off x="5989320" y="3337560"/>
            <a:ext cx="2697480" cy="1463040"/>
          </a:xfrm>
          <a:prstGeom prst="rect">
            <a:avLst/>
          </a:prstGeom>
          <a:solidFill>
            <a:srgbClr val="0B2D4E"/>
          </a:solidFill>
          <a:ln w="25400">
            <a:solidFill>
              <a:srgbClr val="E67E22"/>
            </a:solidFill>
            <a:prstDash val="solid"/>
          </a:ln>
        </p:spPr>
      </p:sp>
      <p:sp>
        <p:nvSpPr>
          <p:cNvPr id="40" name="Text 38"/>
          <p:cNvSpPr/>
          <p:nvPr/>
        </p:nvSpPr>
        <p:spPr>
          <a:xfrm>
            <a:off x="6126480" y="3410712"/>
            <a:ext cx="2423160" cy="347472"/>
          </a:xfrm>
          <a:prstGeom prst="rect">
            <a:avLst/>
          </a:prstGeom>
          <a:noFill/>
          <a:ln/>
        </p:spPr>
        <p:txBody>
          <a:bodyPr wrap="square" lIns="0" tIns="0" rIns="0" bIns="0" rtlCol="0" anchor="ctr"/>
          <a:lstStyle/>
          <a:p>
            <a:pPr algn="l" indent="0" marL="0">
              <a:buNone/>
            </a:pPr>
            <a:r>
              <a:rPr lang="en-US" sz="1300" b="1" dirty="0">
                <a:solidFill>
                  <a:srgbClr val="E67E22"/>
                </a:solidFill>
                <a:latin typeface="Trebuchet MS" pitchFamily="34" charset="0"/>
                <a:ea typeface="Trebuchet MS" pitchFamily="34" charset="-122"/>
                <a:cs typeface="Trebuchet MS" pitchFamily="34" charset="-120"/>
              </a:rPr>
              <a:t>Control Plane</a:t>
            </a:r>
            <a:endParaRPr lang="en-US" sz="1300" dirty="0"/>
          </a:p>
        </p:txBody>
      </p:sp>
      <p:sp>
        <p:nvSpPr>
          <p:cNvPr id="41" name="Text 39"/>
          <p:cNvSpPr/>
          <p:nvPr/>
        </p:nvSpPr>
        <p:spPr>
          <a:xfrm>
            <a:off x="6126480" y="3785616"/>
            <a:ext cx="2423160" cy="9144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Sets the rules: which VLANs exist, which ports participate, what policy applies. The data plane executes; the control plane decides.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Control Plane vs Data Plane</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68580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The bridge architecture explicitly separates the control plane from the data plane. The data plane forwards frames in real time; the control plane determines the rules under which forwarding decisions are made.</a:t>
            </a:r>
            <a:endParaRPr lang="en-US" sz="1400" dirty="0"/>
          </a:p>
        </p:txBody>
      </p:sp>
      <p:sp>
        <p:nvSpPr>
          <p:cNvPr id="5" name="Shape 3"/>
          <p:cNvSpPr/>
          <p:nvPr/>
        </p:nvSpPr>
        <p:spPr>
          <a:xfrm>
            <a:off x="502920" y="2057400"/>
            <a:ext cx="3977640" cy="2606040"/>
          </a:xfrm>
          <a:prstGeom prst="rect">
            <a:avLst/>
          </a:prstGeom>
          <a:solidFill>
            <a:srgbClr val="1A4D6E"/>
          </a:solidFill>
          <a:ln w="12700">
            <a:solidFill>
              <a:srgbClr val="1A4D6E"/>
            </a:solidFill>
            <a:prstDash val="solid"/>
          </a:ln>
        </p:spPr>
      </p:sp>
      <p:sp>
        <p:nvSpPr>
          <p:cNvPr id="6" name="Shape 4"/>
          <p:cNvSpPr/>
          <p:nvPr/>
        </p:nvSpPr>
        <p:spPr>
          <a:xfrm>
            <a:off x="502920" y="2057400"/>
            <a:ext cx="3977640" cy="2606040"/>
          </a:xfrm>
          <a:prstGeom prst="rect">
            <a:avLst/>
          </a:prstGeom>
          <a:solidFill>
            <a:srgbClr val="1A4D6E"/>
          </a:solidFill>
          <a:ln w="25400">
            <a:solidFill>
              <a:srgbClr val="1A9DAA"/>
            </a:solidFill>
            <a:prstDash val="solid"/>
          </a:ln>
        </p:spPr>
      </p:sp>
      <p:sp>
        <p:nvSpPr>
          <p:cNvPr id="7" name="Text 5"/>
          <p:cNvSpPr/>
          <p:nvPr/>
        </p:nvSpPr>
        <p:spPr>
          <a:xfrm>
            <a:off x="640080" y="2121408"/>
            <a:ext cx="3657600" cy="384048"/>
          </a:xfrm>
          <a:prstGeom prst="rect">
            <a:avLst/>
          </a:prstGeom>
          <a:noFill/>
          <a:ln/>
        </p:spPr>
        <p:txBody>
          <a:bodyPr wrap="square" lIns="0" tIns="0" rIns="0" bIns="0" rtlCol="0" anchor="ctr"/>
          <a:lstStyle/>
          <a:p>
            <a:pPr algn="ctr" indent="0" marL="0">
              <a:buNone/>
            </a:pPr>
            <a:r>
              <a:rPr lang="en-US" sz="1400" b="1" dirty="0">
                <a:solidFill>
                  <a:srgbClr val="1A9DAA"/>
                </a:solidFill>
                <a:latin typeface="Trebuchet MS" pitchFamily="34" charset="0"/>
                <a:ea typeface="Trebuchet MS" pitchFamily="34" charset="-122"/>
                <a:cs typeface="Trebuchet MS" pitchFamily="34" charset="-120"/>
              </a:rPr>
              <a:t>Data Plane — executes</a:t>
            </a:r>
            <a:endParaRPr lang="en-US" sz="1400" dirty="0"/>
          </a:p>
        </p:txBody>
      </p:sp>
      <p:sp>
        <p:nvSpPr>
          <p:cNvPr id="8" name="Shape 6"/>
          <p:cNvSpPr/>
          <p:nvPr/>
        </p:nvSpPr>
        <p:spPr>
          <a:xfrm>
            <a:off x="594360" y="2523744"/>
            <a:ext cx="3749040" cy="36576"/>
          </a:xfrm>
          <a:prstGeom prst="rect">
            <a:avLst/>
          </a:prstGeom>
          <a:solidFill>
            <a:srgbClr val="1A9DAA"/>
          </a:solidFill>
          <a:ln w="12700">
            <a:solidFill>
              <a:srgbClr val="1A9DAA"/>
            </a:solidFill>
            <a:prstDash val="solid"/>
          </a:ln>
        </p:spPr>
      </p:sp>
      <p:sp>
        <p:nvSpPr>
          <p:cNvPr id="9" name="Text 7"/>
          <p:cNvSpPr/>
          <p:nvPr/>
        </p:nvSpPr>
        <p:spPr>
          <a:xfrm>
            <a:off x="640080" y="2606040"/>
            <a:ext cx="36576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Relay frames at line rate</a:t>
            </a:r>
            <a:endParaRPr lang="en-US" sz="1200" dirty="0"/>
          </a:p>
        </p:txBody>
      </p:sp>
      <p:sp>
        <p:nvSpPr>
          <p:cNvPr id="10" name="Text 8"/>
          <p:cNvSpPr/>
          <p:nvPr/>
        </p:nvSpPr>
        <p:spPr>
          <a:xfrm>
            <a:off x="640080" y="2953512"/>
            <a:ext cx="36576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FDB lookup per frame</a:t>
            </a:r>
            <a:endParaRPr lang="en-US" sz="1200" dirty="0"/>
          </a:p>
        </p:txBody>
      </p:sp>
      <p:sp>
        <p:nvSpPr>
          <p:cNvPr id="11" name="Text 9"/>
          <p:cNvSpPr/>
          <p:nvPr/>
        </p:nvSpPr>
        <p:spPr>
          <a:xfrm>
            <a:off x="640080" y="3300984"/>
            <a:ext cx="36576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Flood when destination unknown</a:t>
            </a:r>
            <a:endParaRPr lang="en-US" sz="1200" dirty="0"/>
          </a:p>
        </p:txBody>
      </p:sp>
      <p:sp>
        <p:nvSpPr>
          <p:cNvPr id="12" name="Text 10"/>
          <p:cNvSpPr/>
          <p:nvPr/>
        </p:nvSpPr>
        <p:spPr>
          <a:xfrm>
            <a:off x="640080" y="3648456"/>
            <a:ext cx="36576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Apply per-port filtering rules</a:t>
            </a:r>
            <a:endParaRPr lang="en-US" sz="1200" dirty="0"/>
          </a:p>
        </p:txBody>
      </p:sp>
      <p:sp>
        <p:nvSpPr>
          <p:cNvPr id="13" name="Text 11"/>
          <p:cNvSpPr/>
          <p:nvPr/>
        </p:nvSpPr>
        <p:spPr>
          <a:xfrm>
            <a:off x="640080" y="3995928"/>
            <a:ext cx="36576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Insert or remove VLAN tags</a:t>
            </a:r>
            <a:endParaRPr lang="en-US" sz="1200" dirty="0"/>
          </a:p>
        </p:txBody>
      </p:sp>
      <p:sp>
        <p:nvSpPr>
          <p:cNvPr id="14" name="Shape 12"/>
          <p:cNvSpPr/>
          <p:nvPr/>
        </p:nvSpPr>
        <p:spPr>
          <a:xfrm>
            <a:off x="4754880" y="2057400"/>
            <a:ext cx="3977640" cy="2606040"/>
          </a:xfrm>
          <a:prstGeom prst="rect">
            <a:avLst/>
          </a:prstGeom>
          <a:solidFill>
            <a:srgbClr val="1A4D6E"/>
          </a:solidFill>
          <a:ln w="12700">
            <a:solidFill>
              <a:srgbClr val="1A4D6E"/>
            </a:solidFill>
            <a:prstDash val="solid"/>
          </a:ln>
        </p:spPr>
      </p:sp>
      <p:sp>
        <p:nvSpPr>
          <p:cNvPr id="15" name="Shape 13"/>
          <p:cNvSpPr/>
          <p:nvPr/>
        </p:nvSpPr>
        <p:spPr>
          <a:xfrm>
            <a:off x="4754880" y="2057400"/>
            <a:ext cx="3977640" cy="2606040"/>
          </a:xfrm>
          <a:prstGeom prst="rect">
            <a:avLst/>
          </a:prstGeom>
          <a:solidFill>
            <a:srgbClr val="1A4D6E"/>
          </a:solidFill>
          <a:ln w="25400">
            <a:solidFill>
              <a:srgbClr val="E67E22"/>
            </a:solidFill>
            <a:prstDash val="solid"/>
          </a:ln>
        </p:spPr>
      </p:sp>
      <p:sp>
        <p:nvSpPr>
          <p:cNvPr id="16" name="Text 14"/>
          <p:cNvSpPr/>
          <p:nvPr/>
        </p:nvSpPr>
        <p:spPr>
          <a:xfrm>
            <a:off x="4892040" y="2121408"/>
            <a:ext cx="3657600" cy="384048"/>
          </a:xfrm>
          <a:prstGeom prst="rect">
            <a:avLst/>
          </a:prstGeom>
          <a:noFill/>
          <a:ln/>
        </p:spPr>
        <p:txBody>
          <a:bodyPr wrap="square" lIns="0" tIns="0" rIns="0" bIns="0" rtlCol="0" anchor="ctr"/>
          <a:lstStyle/>
          <a:p>
            <a:pPr algn="ctr" indent="0" marL="0">
              <a:buNone/>
            </a:pPr>
            <a:r>
              <a:rPr lang="en-US" sz="1400" b="1" dirty="0">
                <a:solidFill>
                  <a:srgbClr val="E67E22"/>
                </a:solidFill>
                <a:latin typeface="Trebuchet MS" pitchFamily="34" charset="0"/>
                <a:ea typeface="Trebuchet MS" pitchFamily="34" charset="-122"/>
                <a:cs typeface="Trebuchet MS" pitchFamily="34" charset="-120"/>
              </a:rPr>
              <a:t>Control Plane — governs</a:t>
            </a:r>
            <a:endParaRPr lang="en-US" sz="1400" dirty="0"/>
          </a:p>
        </p:txBody>
      </p:sp>
      <p:sp>
        <p:nvSpPr>
          <p:cNvPr id="17" name="Shape 15"/>
          <p:cNvSpPr/>
          <p:nvPr/>
        </p:nvSpPr>
        <p:spPr>
          <a:xfrm>
            <a:off x="4846320" y="2523744"/>
            <a:ext cx="3749040" cy="36576"/>
          </a:xfrm>
          <a:prstGeom prst="rect">
            <a:avLst/>
          </a:prstGeom>
          <a:solidFill>
            <a:srgbClr val="E67E22"/>
          </a:solidFill>
          <a:ln w="12700">
            <a:solidFill>
              <a:srgbClr val="E67E22"/>
            </a:solidFill>
            <a:prstDash val="solid"/>
          </a:ln>
        </p:spPr>
      </p:sp>
      <p:sp>
        <p:nvSpPr>
          <p:cNvPr id="18" name="Text 16"/>
          <p:cNvSpPr/>
          <p:nvPr/>
        </p:nvSpPr>
        <p:spPr>
          <a:xfrm>
            <a:off x="4892040" y="2606040"/>
            <a:ext cx="365760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Which VLANs exist</a:t>
            </a:r>
            <a:endParaRPr lang="en-US" sz="1200" dirty="0"/>
          </a:p>
        </p:txBody>
      </p:sp>
      <p:sp>
        <p:nvSpPr>
          <p:cNvPr id="19" name="Text 17"/>
          <p:cNvSpPr/>
          <p:nvPr/>
        </p:nvSpPr>
        <p:spPr>
          <a:xfrm>
            <a:off x="4892040" y="2953512"/>
            <a:ext cx="365760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Which ports belong to which VLANs</a:t>
            </a:r>
            <a:endParaRPr lang="en-US" sz="1200" dirty="0"/>
          </a:p>
        </p:txBody>
      </p:sp>
      <p:sp>
        <p:nvSpPr>
          <p:cNvPr id="20" name="Text 18"/>
          <p:cNvSpPr/>
          <p:nvPr/>
        </p:nvSpPr>
        <p:spPr>
          <a:xfrm>
            <a:off x="4892040" y="3300984"/>
            <a:ext cx="365760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Topology-control method active</a:t>
            </a:r>
            <a:endParaRPr lang="en-US" sz="1200" dirty="0"/>
          </a:p>
        </p:txBody>
      </p:sp>
      <p:sp>
        <p:nvSpPr>
          <p:cNvPr id="21" name="Text 19"/>
          <p:cNvSpPr/>
          <p:nvPr/>
        </p:nvSpPr>
        <p:spPr>
          <a:xfrm>
            <a:off x="4892040" y="3648456"/>
            <a:ext cx="365760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Static forwarding or filtering policy</a:t>
            </a:r>
            <a:endParaRPr lang="en-US" sz="1200" dirty="0"/>
          </a:p>
        </p:txBody>
      </p:sp>
      <p:sp>
        <p:nvSpPr>
          <p:cNvPr id="22" name="Text 20"/>
          <p:cNvSpPr/>
          <p:nvPr/>
        </p:nvSpPr>
        <p:spPr>
          <a:xfrm>
            <a:off x="4892040" y="3995928"/>
            <a:ext cx="3657600" cy="320040"/>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Whether learning and flooding are permitted</a:t>
            </a:r>
            <a:endParaRPr lang="en-US" sz="1200" dirty="0"/>
          </a:p>
        </p:txBody>
      </p:sp>
      <p:sp>
        <p:nvSpPr>
          <p:cNvPr id="23" name="Shape 21"/>
          <p:cNvSpPr/>
          <p:nvPr/>
        </p:nvSpPr>
        <p:spPr>
          <a:xfrm>
            <a:off x="502920" y="4754880"/>
            <a:ext cx="8138160" cy="347472"/>
          </a:xfrm>
          <a:prstGeom prst="rect">
            <a:avLst/>
          </a:prstGeom>
          <a:solidFill>
            <a:srgbClr val="1A2D1E"/>
          </a:solidFill>
          <a:ln w="12700">
            <a:solidFill>
              <a:srgbClr val="1A2D1E"/>
            </a:solidFill>
            <a:prstDash val="solid"/>
          </a:ln>
        </p:spPr>
      </p:sp>
      <p:sp>
        <p:nvSpPr>
          <p:cNvPr id="24" name="Shape 22"/>
          <p:cNvSpPr/>
          <p:nvPr/>
        </p:nvSpPr>
        <p:spPr>
          <a:xfrm>
            <a:off x="502920" y="4754880"/>
            <a:ext cx="8138160" cy="347472"/>
          </a:xfrm>
          <a:prstGeom prst="rect">
            <a:avLst/>
          </a:prstGeom>
          <a:solidFill>
            <a:srgbClr val="1A2D1E"/>
          </a:solidFill>
          <a:ln w="25400">
            <a:solidFill>
              <a:srgbClr val="0E7C86"/>
            </a:solidFill>
            <a:prstDash val="solid"/>
          </a:ln>
        </p:spPr>
      </p:sp>
      <p:sp>
        <p:nvSpPr>
          <p:cNvPr id="25" name="Text 23"/>
          <p:cNvSpPr/>
          <p:nvPr/>
        </p:nvSpPr>
        <p:spPr>
          <a:xfrm>
            <a:off x="640080" y="4773168"/>
            <a:ext cx="7863840" cy="310896"/>
          </a:xfrm>
          <a:prstGeom prst="rect">
            <a:avLst/>
          </a:prstGeom>
          <a:noFill/>
          <a:ln/>
        </p:spPr>
        <p:txBody>
          <a:bodyPr wrap="square" lIns="0" tIns="0" rIns="0" bIns="0" rtlCol="0" anchor="ctr"/>
          <a:lstStyle/>
          <a:p>
            <a:pPr algn="ctr" indent="0" marL="0">
              <a:buNone/>
            </a:pPr>
            <a:r>
              <a:rPr lang="en-US" sz="1200" dirty="0">
                <a:solidFill>
                  <a:srgbClr val="D6EAF8"/>
                </a:solidFill>
                <a:latin typeface="Calibri" pitchFamily="34" charset="0"/>
                <a:ea typeface="Calibri" pitchFamily="34" charset="-122"/>
                <a:cs typeface="Calibri" pitchFamily="34" charset="-120"/>
              </a:rPr>
              <a:t>The data plane can only be as correct as the control plane configuration that governs it.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Six Misconceptions to Unlearn</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98448"/>
            <a:ext cx="4114800" cy="1115568"/>
          </a:xfrm>
          <a:prstGeom prst="rect">
            <a:avLst/>
          </a:prstGeom>
          <a:solidFill>
            <a:srgbClr val="1A4D6E"/>
          </a:solidFill>
          <a:ln w="12700">
            <a:solidFill>
              <a:srgbClr val="1A4D6E"/>
            </a:solidFill>
            <a:prstDash val="solid"/>
          </a:ln>
        </p:spPr>
      </p:sp>
      <p:sp>
        <p:nvSpPr>
          <p:cNvPr id="5" name="Shape 3"/>
          <p:cNvSpPr/>
          <p:nvPr/>
        </p:nvSpPr>
        <p:spPr>
          <a:xfrm>
            <a:off x="502920" y="1298448"/>
            <a:ext cx="54864" cy="1115568"/>
          </a:xfrm>
          <a:prstGeom prst="rect">
            <a:avLst/>
          </a:prstGeom>
          <a:solidFill>
            <a:srgbClr val="C0392B"/>
          </a:solidFill>
          <a:ln w="12700">
            <a:solidFill>
              <a:srgbClr val="C0392B"/>
            </a:solidFill>
            <a:prstDash val="solid"/>
          </a:ln>
        </p:spPr>
      </p:sp>
      <p:sp>
        <p:nvSpPr>
          <p:cNvPr id="6" name="Text 4"/>
          <p:cNvSpPr/>
          <p:nvPr/>
        </p:nvSpPr>
        <p:spPr>
          <a:xfrm>
            <a:off x="640080" y="137160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802.1Q is only the four-byte VLAN tag format</a:t>
            </a:r>
            <a:endParaRPr lang="en-US" sz="1200" dirty="0"/>
          </a:p>
        </p:txBody>
      </p:sp>
      <p:sp>
        <p:nvSpPr>
          <p:cNvPr id="7" name="Text 5"/>
          <p:cNvSpPr/>
          <p:nvPr/>
        </p:nvSpPr>
        <p:spPr>
          <a:xfrm>
            <a:off x="640080" y="175564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It specifies the full MAC bridge and VLAN bridge operation: classification, forwarding, filtering, and management.</a:t>
            </a:r>
            <a:endParaRPr lang="en-US" sz="1200" dirty="0"/>
          </a:p>
        </p:txBody>
      </p:sp>
      <p:sp>
        <p:nvSpPr>
          <p:cNvPr id="8" name="Shape 6"/>
          <p:cNvSpPr/>
          <p:nvPr/>
        </p:nvSpPr>
        <p:spPr>
          <a:xfrm>
            <a:off x="4846320" y="1298448"/>
            <a:ext cx="4114800" cy="1115568"/>
          </a:xfrm>
          <a:prstGeom prst="rect">
            <a:avLst/>
          </a:prstGeom>
          <a:solidFill>
            <a:srgbClr val="1A4D6E"/>
          </a:solidFill>
          <a:ln w="12700">
            <a:solidFill>
              <a:srgbClr val="1A4D6E"/>
            </a:solidFill>
            <a:prstDash val="solid"/>
          </a:ln>
        </p:spPr>
      </p:sp>
      <p:sp>
        <p:nvSpPr>
          <p:cNvPr id="9" name="Shape 7"/>
          <p:cNvSpPr/>
          <p:nvPr/>
        </p:nvSpPr>
        <p:spPr>
          <a:xfrm>
            <a:off x="4846320" y="1298448"/>
            <a:ext cx="54864" cy="1115568"/>
          </a:xfrm>
          <a:prstGeom prst="rect">
            <a:avLst/>
          </a:prstGeom>
          <a:solidFill>
            <a:srgbClr val="C0392B"/>
          </a:solidFill>
          <a:ln w="12700">
            <a:solidFill>
              <a:srgbClr val="C0392B"/>
            </a:solidFill>
            <a:prstDash val="solid"/>
          </a:ln>
        </p:spPr>
      </p:sp>
      <p:sp>
        <p:nvSpPr>
          <p:cNvPr id="10" name="Text 8"/>
          <p:cNvSpPr/>
          <p:nvPr/>
        </p:nvSpPr>
        <p:spPr>
          <a:xfrm>
            <a:off x="4983480" y="137160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The VLAN ID alone tells the switch everything it needs</a:t>
            </a:r>
            <a:endParaRPr lang="en-US" sz="1200" dirty="0"/>
          </a:p>
        </p:txBody>
      </p:sp>
      <p:sp>
        <p:nvSpPr>
          <p:cNvPr id="11" name="Text 9"/>
          <p:cNvSpPr/>
          <p:nvPr/>
        </p:nvSpPr>
        <p:spPr>
          <a:xfrm>
            <a:off x="4983480" y="175564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The tag also carries PCP (priority) and DEI (drop eligibility), which map into internal queuing behavior.</a:t>
            </a:r>
            <a:endParaRPr lang="en-US" sz="1200" dirty="0"/>
          </a:p>
        </p:txBody>
      </p:sp>
      <p:sp>
        <p:nvSpPr>
          <p:cNvPr id="12" name="Shape 10"/>
          <p:cNvSpPr/>
          <p:nvPr/>
        </p:nvSpPr>
        <p:spPr>
          <a:xfrm>
            <a:off x="502920" y="2532888"/>
            <a:ext cx="4114800" cy="1115568"/>
          </a:xfrm>
          <a:prstGeom prst="rect">
            <a:avLst/>
          </a:prstGeom>
          <a:solidFill>
            <a:srgbClr val="1A4D6E"/>
          </a:solidFill>
          <a:ln w="12700">
            <a:solidFill>
              <a:srgbClr val="1A4D6E"/>
            </a:solidFill>
            <a:prstDash val="solid"/>
          </a:ln>
        </p:spPr>
      </p:sp>
      <p:sp>
        <p:nvSpPr>
          <p:cNvPr id="13" name="Shape 11"/>
          <p:cNvSpPr/>
          <p:nvPr/>
        </p:nvSpPr>
        <p:spPr>
          <a:xfrm>
            <a:off x="502920" y="2532888"/>
            <a:ext cx="54864" cy="1115568"/>
          </a:xfrm>
          <a:prstGeom prst="rect">
            <a:avLst/>
          </a:prstGeom>
          <a:solidFill>
            <a:srgbClr val="C0392B"/>
          </a:solidFill>
          <a:ln w="12700">
            <a:solidFill>
              <a:srgbClr val="C0392B"/>
            </a:solidFill>
            <a:prstDash val="solid"/>
          </a:ln>
        </p:spPr>
      </p:sp>
      <p:sp>
        <p:nvSpPr>
          <p:cNvPr id="14" name="Text 12"/>
          <p:cNvSpPr/>
          <p:nvPr/>
        </p:nvSpPr>
        <p:spPr>
          <a:xfrm>
            <a:off x="640080" y="260604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Q-in-Q is just two tags for no particular reason</a:t>
            </a:r>
            <a:endParaRPr lang="en-US" sz="1200" dirty="0"/>
          </a:p>
        </p:txBody>
      </p:sp>
      <p:sp>
        <p:nvSpPr>
          <p:cNvPr id="15" name="Text 13"/>
          <p:cNvSpPr/>
          <p:nvPr/>
        </p:nvSpPr>
        <p:spPr>
          <a:xfrm>
            <a:off x="640080" y="299008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It separates customer VLAN context from provider transport context so both administrative domains coexist cleanly.</a:t>
            </a:r>
            <a:endParaRPr lang="en-US" sz="1200" dirty="0"/>
          </a:p>
        </p:txBody>
      </p:sp>
      <p:sp>
        <p:nvSpPr>
          <p:cNvPr id="16" name="Shape 14"/>
          <p:cNvSpPr/>
          <p:nvPr/>
        </p:nvSpPr>
        <p:spPr>
          <a:xfrm>
            <a:off x="4846320" y="2532888"/>
            <a:ext cx="4114800" cy="1115568"/>
          </a:xfrm>
          <a:prstGeom prst="rect">
            <a:avLst/>
          </a:prstGeom>
          <a:solidFill>
            <a:srgbClr val="1A4D6E"/>
          </a:solidFill>
          <a:ln w="12700">
            <a:solidFill>
              <a:srgbClr val="1A4D6E"/>
            </a:solidFill>
            <a:prstDash val="solid"/>
          </a:ln>
        </p:spPr>
      </p:sp>
      <p:sp>
        <p:nvSpPr>
          <p:cNvPr id="17" name="Shape 15"/>
          <p:cNvSpPr/>
          <p:nvPr/>
        </p:nvSpPr>
        <p:spPr>
          <a:xfrm>
            <a:off x="4846320" y="2532888"/>
            <a:ext cx="54864" cy="1115568"/>
          </a:xfrm>
          <a:prstGeom prst="rect">
            <a:avLst/>
          </a:prstGeom>
          <a:solidFill>
            <a:srgbClr val="C0392B"/>
          </a:solidFill>
          <a:ln w="12700">
            <a:solidFill>
              <a:srgbClr val="C0392B"/>
            </a:solidFill>
            <a:prstDash val="solid"/>
          </a:ln>
        </p:spPr>
      </p:sp>
      <p:sp>
        <p:nvSpPr>
          <p:cNvPr id="18" name="Text 16"/>
          <p:cNvSpPr/>
          <p:nvPr/>
        </p:nvSpPr>
        <p:spPr>
          <a:xfrm>
            <a:off x="4983480" y="260604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The FDB is keyed only by MAC address</a:t>
            </a:r>
            <a:endParaRPr lang="en-US" sz="1200" dirty="0"/>
          </a:p>
        </p:txBody>
      </p:sp>
      <p:sp>
        <p:nvSpPr>
          <p:cNvPr id="19" name="Text 17"/>
          <p:cNvSpPr/>
          <p:nvPr/>
        </p:nvSpPr>
        <p:spPr>
          <a:xfrm>
            <a:off x="4983480" y="299008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In a VLAN-aware bridge, the key is MAC address plus VLAN context. The same MAC in two VLANs is two separate entries.</a:t>
            </a:r>
            <a:endParaRPr lang="en-US" sz="1200" dirty="0"/>
          </a:p>
        </p:txBody>
      </p:sp>
      <p:sp>
        <p:nvSpPr>
          <p:cNvPr id="20" name="Shape 18"/>
          <p:cNvSpPr/>
          <p:nvPr/>
        </p:nvSpPr>
        <p:spPr>
          <a:xfrm>
            <a:off x="502920" y="3767328"/>
            <a:ext cx="4114800" cy="1115568"/>
          </a:xfrm>
          <a:prstGeom prst="rect">
            <a:avLst/>
          </a:prstGeom>
          <a:solidFill>
            <a:srgbClr val="1A4D6E"/>
          </a:solidFill>
          <a:ln w="12700">
            <a:solidFill>
              <a:srgbClr val="1A4D6E"/>
            </a:solidFill>
            <a:prstDash val="solid"/>
          </a:ln>
        </p:spPr>
      </p:sp>
      <p:sp>
        <p:nvSpPr>
          <p:cNvPr id="21" name="Shape 19"/>
          <p:cNvSpPr/>
          <p:nvPr/>
        </p:nvSpPr>
        <p:spPr>
          <a:xfrm>
            <a:off x="502920" y="3767328"/>
            <a:ext cx="54864" cy="1115568"/>
          </a:xfrm>
          <a:prstGeom prst="rect">
            <a:avLst/>
          </a:prstGeom>
          <a:solidFill>
            <a:srgbClr val="C0392B"/>
          </a:solidFill>
          <a:ln w="12700">
            <a:solidFill>
              <a:srgbClr val="C0392B"/>
            </a:solidFill>
            <a:prstDash val="solid"/>
          </a:ln>
        </p:spPr>
      </p:sp>
      <p:sp>
        <p:nvSpPr>
          <p:cNvPr id="22" name="Text 20"/>
          <p:cNvSpPr/>
          <p:nvPr/>
        </p:nvSpPr>
        <p:spPr>
          <a:xfrm>
            <a:off x="640080" y="384048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Cut-through is always better because it is faster</a:t>
            </a:r>
            <a:endParaRPr lang="en-US" sz="1200" dirty="0"/>
          </a:p>
        </p:txBody>
      </p:sp>
      <p:sp>
        <p:nvSpPr>
          <p:cNvPr id="23" name="Text 21"/>
          <p:cNvSpPr/>
          <p:nvPr/>
        </p:nvSpPr>
        <p:spPr>
          <a:xfrm>
            <a:off x="640080" y="422452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It is faster because it skips the CRC wait — but that means it may propagate corrupted frames store-and-forward would have dropped.</a:t>
            </a:r>
            <a:endParaRPr lang="en-US" sz="1200" dirty="0"/>
          </a:p>
        </p:txBody>
      </p:sp>
      <p:sp>
        <p:nvSpPr>
          <p:cNvPr id="24" name="Shape 22"/>
          <p:cNvSpPr/>
          <p:nvPr/>
        </p:nvSpPr>
        <p:spPr>
          <a:xfrm>
            <a:off x="4846320" y="3767328"/>
            <a:ext cx="4114800" cy="1115568"/>
          </a:xfrm>
          <a:prstGeom prst="rect">
            <a:avLst/>
          </a:prstGeom>
          <a:solidFill>
            <a:srgbClr val="1A4D6E"/>
          </a:solidFill>
          <a:ln w="12700">
            <a:solidFill>
              <a:srgbClr val="1A4D6E"/>
            </a:solidFill>
            <a:prstDash val="solid"/>
          </a:ln>
        </p:spPr>
      </p:sp>
      <p:sp>
        <p:nvSpPr>
          <p:cNvPr id="25" name="Shape 23"/>
          <p:cNvSpPr/>
          <p:nvPr/>
        </p:nvSpPr>
        <p:spPr>
          <a:xfrm>
            <a:off x="4846320" y="3767328"/>
            <a:ext cx="54864" cy="1115568"/>
          </a:xfrm>
          <a:prstGeom prst="rect">
            <a:avLst/>
          </a:prstGeom>
          <a:solidFill>
            <a:srgbClr val="C0392B"/>
          </a:solidFill>
          <a:ln w="12700">
            <a:solidFill>
              <a:srgbClr val="C0392B"/>
            </a:solidFill>
            <a:prstDash val="solid"/>
          </a:ln>
        </p:spPr>
      </p:sp>
      <p:sp>
        <p:nvSpPr>
          <p:cNvPr id="26" name="Text 24"/>
          <p:cNvSpPr/>
          <p:nvPr/>
        </p:nvSpPr>
        <p:spPr>
          <a:xfrm>
            <a:off x="4983480" y="384048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Aging is just optional cleanup</a:t>
            </a:r>
            <a:endParaRPr lang="en-US" sz="1200" dirty="0"/>
          </a:p>
        </p:txBody>
      </p:sp>
      <p:sp>
        <p:nvSpPr>
          <p:cNvPr id="27" name="Text 25"/>
          <p:cNvSpPr/>
          <p:nvPr/>
        </p:nvSpPr>
        <p:spPr>
          <a:xfrm>
            <a:off x="4983480" y="422452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Aging prevents stale entries from permanently misdirecting traffic when devices move or disappear.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D4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sp>
      <p:sp>
        <p:nvSpPr>
          <p:cNvPr id="3" name="Text 1"/>
          <p:cNvSpPr/>
          <p:nvPr/>
        </p:nvSpPr>
        <p:spPr>
          <a:xfrm>
            <a:off x="502920" y="365760"/>
            <a:ext cx="8138160" cy="658368"/>
          </a:xfrm>
          <a:prstGeom prst="rect">
            <a:avLst/>
          </a:prstGeom>
          <a:noFill/>
          <a:ln/>
        </p:spPr>
        <p:txBody>
          <a:bodyPr wrap="square" lIns="0" tIns="0" rIns="0" bIns="0" rtlCol="0" anchor="ctr"/>
          <a:lstStyle/>
          <a:p>
            <a:pPr algn="l" indent="0" marL="0">
              <a:buNone/>
            </a:pPr>
            <a:r>
              <a:rPr lang="en-US" sz="4200" b="1" dirty="0">
                <a:solidFill>
                  <a:srgbClr val="FFFFFF"/>
                </a:solidFill>
                <a:latin typeface="Trebuchet MS" pitchFamily="34" charset="0"/>
                <a:ea typeface="Trebuchet MS" pitchFamily="34" charset="-122"/>
                <a:cs typeface="Trebuchet MS" pitchFamily="34" charset="-120"/>
              </a:rPr>
              <a:t>The Complete Picture</a:t>
            </a:r>
            <a:endParaRPr lang="en-US" sz="4200" dirty="0"/>
          </a:p>
        </p:txBody>
      </p:sp>
      <p:sp>
        <p:nvSpPr>
          <p:cNvPr id="4" name="Shape 2"/>
          <p:cNvSpPr/>
          <p:nvPr/>
        </p:nvSpPr>
        <p:spPr>
          <a:xfrm>
            <a:off x="502920" y="1261872"/>
            <a:ext cx="4069080" cy="1024128"/>
          </a:xfrm>
          <a:prstGeom prst="rect">
            <a:avLst/>
          </a:prstGeom>
          <a:solidFill>
            <a:srgbClr val="1A4D6E"/>
          </a:solidFill>
          <a:ln w="12700">
            <a:solidFill>
              <a:srgbClr val="1A4D6E"/>
            </a:solidFill>
            <a:prstDash val="solid"/>
          </a:ln>
        </p:spPr>
      </p:sp>
      <p:sp>
        <p:nvSpPr>
          <p:cNvPr id="5" name="Shape 3"/>
          <p:cNvSpPr/>
          <p:nvPr/>
        </p:nvSpPr>
        <p:spPr>
          <a:xfrm>
            <a:off x="502920" y="1261872"/>
            <a:ext cx="4069080" cy="1024128"/>
          </a:xfrm>
          <a:prstGeom prst="rect">
            <a:avLst/>
          </a:prstGeom>
          <a:solidFill>
            <a:srgbClr val="1A4D6E"/>
          </a:solidFill>
          <a:ln w="25400">
            <a:solidFill>
              <a:srgbClr val="1A9DAA"/>
            </a:solidFill>
            <a:prstDash val="solid"/>
          </a:ln>
        </p:spPr>
      </p:sp>
      <p:sp>
        <p:nvSpPr>
          <p:cNvPr id="6" name="Text 4"/>
          <p:cNvSpPr/>
          <p:nvPr/>
        </p:nvSpPr>
        <p:spPr>
          <a:xfrm>
            <a:off x="640080" y="1353312"/>
            <a:ext cx="3840480" cy="347472"/>
          </a:xfrm>
          <a:prstGeom prst="rect">
            <a:avLst/>
          </a:prstGeom>
          <a:noFill/>
          <a:ln/>
        </p:spPr>
        <p:txBody>
          <a:bodyPr wrap="square" lIns="0" tIns="0" rIns="0" bIns="0" rtlCol="0" anchor="ctr"/>
          <a:lstStyle/>
          <a:p>
            <a:pPr algn="l" indent="0" marL="0">
              <a:buNone/>
            </a:pPr>
            <a:r>
              <a:rPr lang="en-US" sz="1300" b="1" dirty="0">
                <a:solidFill>
                  <a:srgbClr val="1A9DAA"/>
                </a:solidFill>
                <a:latin typeface="Trebuchet MS" pitchFamily="34" charset="0"/>
                <a:ea typeface="Trebuchet MS" pitchFamily="34" charset="-122"/>
                <a:cs typeface="Trebuchet MS" pitchFamily="34" charset="-120"/>
              </a:rPr>
              <a:t>IEEE 802.1Q-2022</a:t>
            </a:r>
            <a:endParaRPr lang="en-US" sz="1300" dirty="0"/>
          </a:p>
        </p:txBody>
      </p:sp>
      <p:sp>
        <p:nvSpPr>
          <p:cNvPr id="7" name="Text 5"/>
          <p:cNvSpPr/>
          <p:nvPr/>
        </p:nvSpPr>
        <p:spPr>
          <a:xfrm>
            <a:off x="640080" y="1737360"/>
            <a:ext cx="379476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foundational standard for bridged Ethernet: classification, forwarding, filtering, and control.</a:t>
            </a:r>
            <a:endParaRPr lang="en-US" sz="1200" dirty="0"/>
          </a:p>
        </p:txBody>
      </p:sp>
      <p:sp>
        <p:nvSpPr>
          <p:cNvPr id="8" name="Shape 6"/>
          <p:cNvSpPr/>
          <p:nvPr/>
        </p:nvSpPr>
        <p:spPr>
          <a:xfrm>
            <a:off x="4846320" y="1261872"/>
            <a:ext cx="4069080" cy="1024128"/>
          </a:xfrm>
          <a:prstGeom prst="rect">
            <a:avLst/>
          </a:prstGeom>
          <a:solidFill>
            <a:srgbClr val="1A4D6E"/>
          </a:solidFill>
          <a:ln w="12700">
            <a:solidFill>
              <a:srgbClr val="1A4D6E"/>
            </a:solidFill>
            <a:prstDash val="solid"/>
          </a:ln>
        </p:spPr>
      </p:sp>
      <p:sp>
        <p:nvSpPr>
          <p:cNvPr id="9" name="Shape 7"/>
          <p:cNvSpPr/>
          <p:nvPr/>
        </p:nvSpPr>
        <p:spPr>
          <a:xfrm>
            <a:off x="4846320" y="1261872"/>
            <a:ext cx="4069080" cy="1024128"/>
          </a:xfrm>
          <a:prstGeom prst="rect">
            <a:avLst/>
          </a:prstGeom>
          <a:solidFill>
            <a:srgbClr val="1A4D6E"/>
          </a:solidFill>
          <a:ln w="25400">
            <a:solidFill>
              <a:srgbClr val="F0A500"/>
            </a:solidFill>
            <a:prstDash val="solid"/>
          </a:ln>
        </p:spPr>
      </p:sp>
      <p:sp>
        <p:nvSpPr>
          <p:cNvPr id="10" name="Text 8"/>
          <p:cNvSpPr/>
          <p:nvPr/>
        </p:nvSpPr>
        <p:spPr>
          <a:xfrm>
            <a:off x="4983480" y="1353312"/>
            <a:ext cx="384048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VLAN Tagging (VID+PCP+DEI)</a:t>
            </a:r>
            <a:endParaRPr lang="en-US" sz="1300" dirty="0"/>
          </a:p>
        </p:txBody>
      </p:sp>
      <p:sp>
        <p:nvSpPr>
          <p:cNvPr id="11" name="Text 9"/>
          <p:cNvSpPr/>
          <p:nvPr/>
        </p:nvSpPr>
        <p:spPr>
          <a:xfrm>
            <a:off x="4983480" y="1737360"/>
            <a:ext cx="379476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Four bytes that carry membership identity, priority hints, and drop eligibility — not just a VLAN number.</a:t>
            </a:r>
            <a:endParaRPr lang="en-US" sz="1200" dirty="0"/>
          </a:p>
        </p:txBody>
      </p:sp>
      <p:sp>
        <p:nvSpPr>
          <p:cNvPr id="12" name="Shape 10"/>
          <p:cNvSpPr/>
          <p:nvPr/>
        </p:nvSpPr>
        <p:spPr>
          <a:xfrm>
            <a:off x="502920" y="1261872"/>
            <a:ext cx="4069080" cy="1024128"/>
          </a:xfrm>
          <a:prstGeom prst="rect">
            <a:avLst/>
          </a:prstGeom>
          <a:solidFill>
            <a:srgbClr val="1A4D6E"/>
          </a:solidFill>
          <a:ln w="12700">
            <a:solidFill>
              <a:srgbClr val="1A4D6E"/>
            </a:solidFill>
            <a:prstDash val="solid"/>
          </a:ln>
        </p:spPr>
      </p:sp>
      <p:sp>
        <p:nvSpPr>
          <p:cNvPr id="13" name="Shape 11"/>
          <p:cNvSpPr/>
          <p:nvPr/>
        </p:nvSpPr>
        <p:spPr>
          <a:xfrm>
            <a:off x="502920" y="1261872"/>
            <a:ext cx="4069080" cy="1024128"/>
          </a:xfrm>
          <a:prstGeom prst="rect">
            <a:avLst/>
          </a:prstGeom>
          <a:solidFill>
            <a:srgbClr val="1A4D6E"/>
          </a:solidFill>
          <a:ln w="25400">
            <a:solidFill>
              <a:srgbClr val="E67E22"/>
            </a:solidFill>
            <a:prstDash val="solid"/>
          </a:ln>
        </p:spPr>
      </p:sp>
      <p:sp>
        <p:nvSpPr>
          <p:cNvPr id="14" name="Text 12"/>
          <p:cNvSpPr/>
          <p:nvPr/>
        </p:nvSpPr>
        <p:spPr>
          <a:xfrm>
            <a:off x="640080" y="1353312"/>
            <a:ext cx="3840480" cy="347472"/>
          </a:xfrm>
          <a:prstGeom prst="rect">
            <a:avLst/>
          </a:prstGeom>
          <a:noFill/>
          <a:ln/>
        </p:spPr>
        <p:txBody>
          <a:bodyPr wrap="square" lIns="0" tIns="0" rIns="0" bIns="0" rtlCol="0" anchor="ctr"/>
          <a:lstStyle/>
          <a:p>
            <a:pPr algn="l" indent="0" marL="0">
              <a:buNone/>
            </a:pPr>
            <a:r>
              <a:rPr lang="en-US" sz="1300" b="1" dirty="0">
                <a:solidFill>
                  <a:srgbClr val="E67E22"/>
                </a:solidFill>
                <a:latin typeface="Trebuchet MS" pitchFamily="34" charset="0"/>
                <a:ea typeface="Trebuchet MS" pitchFamily="34" charset="-122"/>
                <a:cs typeface="Trebuchet MS" pitchFamily="34" charset="-120"/>
              </a:rPr>
              <a:t>Q-in-Q Tag Stacking</a:t>
            </a:r>
            <a:endParaRPr lang="en-US" sz="1300" dirty="0"/>
          </a:p>
        </p:txBody>
      </p:sp>
      <p:sp>
        <p:nvSpPr>
          <p:cNvPr id="15" name="Text 13"/>
          <p:cNvSpPr/>
          <p:nvPr/>
        </p:nvSpPr>
        <p:spPr>
          <a:xfrm>
            <a:off x="640080" y="1737360"/>
            <a:ext cx="379476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Provider transport context wraps customer context so both domains coexist without collision.</a:t>
            </a:r>
            <a:endParaRPr lang="en-US" sz="1200" dirty="0"/>
          </a:p>
        </p:txBody>
      </p:sp>
      <p:sp>
        <p:nvSpPr>
          <p:cNvPr id="16" name="Shape 14"/>
          <p:cNvSpPr/>
          <p:nvPr/>
        </p:nvSpPr>
        <p:spPr>
          <a:xfrm>
            <a:off x="4846320" y="2450592"/>
            <a:ext cx="4069080" cy="1024128"/>
          </a:xfrm>
          <a:prstGeom prst="rect">
            <a:avLst/>
          </a:prstGeom>
          <a:solidFill>
            <a:srgbClr val="1A4D6E"/>
          </a:solidFill>
          <a:ln w="12700">
            <a:solidFill>
              <a:srgbClr val="1A4D6E"/>
            </a:solidFill>
            <a:prstDash val="solid"/>
          </a:ln>
        </p:spPr>
      </p:sp>
      <p:sp>
        <p:nvSpPr>
          <p:cNvPr id="17" name="Shape 15"/>
          <p:cNvSpPr/>
          <p:nvPr/>
        </p:nvSpPr>
        <p:spPr>
          <a:xfrm>
            <a:off x="4846320" y="2450592"/>
            <a:ext cx="4069080" cy="1024128"/>
          </a:xfrm>
          <a:prstGeom prst="rect">
            <a:avLst/>
          </a:prstGeom>
          <a:solidFill>
            <a:srgbClr val="1A4D6E"/>
          </a:solidFill>
          <a:ln w="25400">
            <a:solidFill>
              <a:srgbClr val="8E44AD"/>
            </a:solidFill>
            <a:prstDash val="solid"/>
          </a:ln>
        </p:spPr>
      </p:sp>
      <p:sp>
        <p:nvSpPr>
          <p:cNvPr id="18" name="Text 16"/>
          <p:cNvSpPr/>
          <p:nvPr/>
        </p:nvSpPr>
        <p:spPr>
          <a:xfrm>
            <a:off x="4983480" y="2542032"/>
            <a:ext cx="3840480" cy="347472"/>
          </a:xfrm>
          <a:prstGeom prst="rect">
            <a:avLst/>
          </a:prstGeom>
          <a:noFill/>
          <a:ln/>
        </p:spPr>
        <p:txBody>
          <a:bodyPr wrap="square" lIns="0" tIns="0" rIns="0" bIns="0" rtlCol="0" anchor="ctr"/>
          <a:lstStyle/>
          <a:p>
            <a:pPr algn="l" indent="0" marL="0">
              <a:buNone/>
            </a:pPr>
            <a:r>
              <a:rPr lang="en-US" sz="1300" b="1" dirty="0">
                <a:solidFill>
                  <a:srgbClr val="8E44AD"/>
                </a:solidFill>
                <a:latin typeface="Trebuchet MS" pitchFamily="34" charset="0"/>
                <a:ea typeface="Trebuchet MS" pitchFamily="34" charset="-122"/>
                <a:cs typeface="Trebuchet MS" pitchFamily="34" charset="-120"/>
              </a:rPr>
              <a:t>Forwarding Database</a:t>
            </a:r>
            <a:endParaRPr lang="en-US" sz="1300" dirty="0"/>
          </a:p>
        </p:txBody>
      </p:sp>
      <p:sp>
        <p:nvSpPr>
          <p:cNvPr id="19" name="Text 17"/>
          <p:cNvSpPr/>
          <p:nvPr/>
        </p:nvSpPr>
        <p:spPr>
          <a:xfrm>
            <a:off x="4983480" y="2926080"/>
            <a:ext cx="379476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switch's per-VLAN, per-port memory of source addresses. Learning + aging = correct and current.</a:t>
            </a:r>
            <a:endParaRPr lang="en-US" sz="1200" dirty="0"/>
          </a:p>
        </p:txBody>
      </p:sp>
      <p:sp>
        <p:nvSpPr>
          <p:cNvPr id="20" name="Shape 18"/>
          <p:cNvSpPr/>
          <p:nvPr/>
        </p:nvSpPr>
        <p:spPr>
          <a:xfrm>
            <a:off x="502920" y="2450592"/>
            <a:ext cx="4069080" cy="1024128"/>
          </a:xfrm>
          <a:prstGeom prst="rect">
            <a:avLst/>
          </a:prstGeom>
          <a:solidFill>
            <a:srgbClr val="1A4D6E"/>
          </a:solidFill>
          <a:ln w="12700">
            <a:solidFill>
              <a:srgbClr val="1A4D6E"/>
            </a:solidFill>
            <a:prstDash val="solid"/>
          </a:ln>
        </p:spPr>
      </p:sp>
      <p:sp>
        <p:nvSpPr>
          <p:cNvPr id="21" name="Shape 19"/>
          <p:cNvSpPr/>
          <p:nvPr/>
        </p:nvSpPr>
        <p:spPr>
          <a:xfrm>
            <a:off x="502920" y="2450592"/>
            <a:ext cx="4069080" cy="1024128"/>
          </a:xfrm>
          <a:prstGeom prst="rect">
            <a:avLst/>
          </a:prstGeom>
          <a:solidFill>
            <a:srgbClr val="1A4D6E"/>
          </a:solidFill>
          <a:ln w="25400">
            <a:solidFill>
              <a:srgbClr val="2980B9"/>
            </a:solidFill>
            <a:prstDash val="solid"/>
          </a:ln>
        </p:spPr>
      </p:sp>
      <p:sp>
        <p:nvSpPr>
          <p:cNvPr id="22" name="Text 20"/>
          <p:cNvSpPr/>
          <p:nvPr/>
        </p:nvSpPr>
        <p:spPr>
          <a:xfrm>
            <a:off x="640080" y="2542032"/>
            <a:ext cx="3840480" cy="347472"/>
          </a:xfrm>
          <a:prstGeom prst="rect">
            <a:avLst/>
          </a:prstGeom>
          <a:noFill/>
          <a:ln/>
        </p:spPr>
        <p:txBody>
          <a:bodyPr wrap="square" lIns="0" tIns="0" rIns="0" bIns="0" rtlCol="0" anchor="ctr"/>
          <a:lstStyle/>
          <a:p>
            <a:pPr algn="l" indent="0" marL="0">
              <a:buNone/>
            </a:pPr>
            <a:r>
              <a:rPr lang="en-US" sz="1300" b="1" dirty="0">
                <a:solidFill>
                  <a:srgbClr val="2980B9"/>
                </a:solidFill>
                <a:latin typeface="Trebuchet MS" pitchFamily="34" charset="0"/>
                <a:ea typeface="Trebuchet MS" pitchFamily="34" charset="-122"/>
                <a:cs typeface="Trebuchet MS" pitchFamily="34" charset="-120"/>
              </a:rPr>
              <a:t>Store-and-Forward / Cut-Through</a:t>
            </a:r>
            <a:endParaRPr lang="en-US" sz="1300" dirty="0"/>
          </a:p>
        </p:txBody>
      </p:sp>
      <p:sp>
        <p:nvSpPr>
          <p:cNvPr id="23" name="Text 21"/>
          <p:cNvSpPr/>
          <p:nvPr/>
        </p:nvSpPr>
        <p:spPr>
          <a:xfrm>
            <a:off x="640080" y="2926080"/>
            <a:ext cx="379476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Two philosophies: wait for the full frame (correctness) or forward early (latency). Neither is universal.</a:t>
            </a:r>
            <a:endParaRPr lang="en-US" sz="1200" dirty="0"/>
          </a:p>
        </p:txBody>
      </p:sp>
      <p:sp>
        <p:nvSpPr>
          <p:cNvPr id="24" name="Shape 22"/>
          <p:cNvSpPr/>
          <p:nvPr/>
        </p:nvSpPr>
        <p:spPr>
          <a:xfrm>
            <a:off x="4846320" y="2450592"/>
            <a:ext cx="4069080" cy="1024128"/>
          </a:xfrm>
          <a:prstGeom prst="rect">
            <a:avLst/>
          </a:prstGeom>
          <a:solidFill>
            <a:srgbClr val="1A4D6E"/>
          </a:solidFill>
          <a:ln w="12700">
            <a:solidFill>
              <a:srgbClr val="1A4D6E"/>
            </a:solidFill>
            <a:prstDash val="solid"/>
          </a:ln>
        </p:spPr>
      </p:sp>
      <p:sp>
        <p:nvSpPr>
          <p:cNvPr id="25" name="Shape 23"/>
          <p:cNvSpPr/>
          <p:nvPr/>
        </p:nvSpPr>
        <p:spPr>
          <a:xfrm>
            <a:off x="4846320" y="2450592"/>
            <a:ext cx="4069080" cy="1024128"/>
          </a:xfrm>
          <a:prstGeom prst="rect">
            <a:avLst/>
          </a:prstGeom>
          <a:solidFill>
            <a:srgbClr val="1A4D6E"/>
          </a:solidFill>
          <a:ln w="25400">
            <a:solidFill>
              <a:srgbClr val="C0392B"/>
            </a:solidFill>
            <a:prstDash val="solid"/>
          </a:ln>
        </p:spPr>
      </p:sp>
      <p:sp>
        <p:nvSpPr>
          <p:cNvPr id="26" name="Text 24"/>
          <p:cNvSpPr/>
          <p:nvPr/>
        </p:nvSpPr>
        <p:spPr>
          <a:xfrm>
            <a:off x="4983480" y="2542032"/>
            <a:ext cx="3840480" cy="347472"/>
          </a:xfrm>
          <a:prstGeom prst="rect">
            <a:avLst/>
          </a:prstGeom>
          <a:noFill/>
          <a:ln/>
        </p:spPr>
        <p:txBody>
          <a:bodyPr wrap="square" lIns="0" tIns="0" rIns="0" bIns="0" rtlCol="0" anchor="ctr"/>
          <a:lstStyle/>
          <a:p>
            <a:pPr algn="l" indent="0" marL="0">
              <a:buNone/>
            </a:pPr>
            <a:r>
              <a:rPr lang="en-US" sz="1300" b="1" dirty="0">
                <a:solidFill>
                  <a:srgbClr val="C0392B"/>
                </a:solidFill>
                <a:latin typeface="Trebuchet MS" pitchFamily="34" charset="0"/>
                <a:ea typeface="Trebuchet MS" pitchFamily="34" charset="-122"/>
                <a:cs typeface="Trebuchet MS" pitchFamily="34" charset="-120"/>
              </a:rPr>
              <a:t>Switch Pipeline</a:t>
            </a:r>
            <a:endParaRPr lang="en-US" sz="1300" dirty="0"/>
          </a:p>
        </p:txBody>
      </p:sp>
      <p:sp>
        <p:nvSpPr>
          <p:cNvPr id="27" name="Text 25"/>
          <p:cNvSpPr/>
          <p:nvPr/>
        </p:nvSpPr>
        <p:spPr>
          <a:xfrm>
            <a:off x="4983480" y="2926080"/>
            <a:ext cx="379476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Receive → Classify → FDB Lookup → Filter → Queue → Transmit. Data plane executes; control plane governs.</a:t>
            </a:r>
            <a:endParaRPr lang="en-US" sz="1200" dirty="0"/>
          </a:p>
        </p:txBody>
      </p:sp>
      <p:sp>
        <p:nvSpPr>
          <p:cNvPr id="28" name="Shape 26"/>
          <p:cNvSpPr/>
          <p:nvPr/>
        </p:nvSpPr>
        <p:spPr>
          <a:xfrm>
            <a:off x="502920" y="4663440"/>
            <a:ext cx="8138160" cy="347472"/>
          </a:xfrm>
          <a:prstGeom prst="rect">
            <a:avLst/>
          </a:prstGeom>
          <a:solidFill>
            <a:srgbClr val="0E7C86"/>
          </a:solidFill>
          <a:ln w="12700">
            <a:solidFill>
              <a:srgbClr val="0E7C86"/>
            </a:solidFill>
            <a:prstDash val="solid"/>
          </a:ln>
        </p:spPr>
      </p:sp>
      <p:sp>
        <p:nvSpPr>
          <p:cNvPr id="29" name="Text 27"/>
          <p:cNvSpPr/>
          <p:nvPr/>
        </p:nvSpPr>
        <p:spPr>
          <a:xfrm>
            <a:off x="640080" y="4681728"/>
            <a:ext cx="7863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 switch is not just a table lookup. It is a VLAN-aware, learning, aging, forwarding pipeline.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802.1Q VLANs and Switch Internals</dc:title>
  <dc:subject>PptxGenJS Presentation</dc:subject>
  <dc:creator>PptxGenJS</dc:creator>
  <cp:lastModifiedBy>PptxGenJS</cp:lastModifiedBy>
  <cp:revision>1</cp:revision>
  <dcterms:created xsi:type="dcterms:W3CDTF">2026-04-20T16:44:38Z</dcterms:created>
  <dcterms:modified xsi:type="dcterms:W3CDTF">2026-04-20T16:44:38Z</dcterms:modified>
</cp:coreProperties>
</file>