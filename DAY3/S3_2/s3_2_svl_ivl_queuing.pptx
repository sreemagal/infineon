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4610"/>
  </p:normalViewPr>
  <p:slideViewPr>
    <p:cSldViewPr snapToGrid="0" snapToObjects="1">
      <p:cViewPr varScale="1">
        <p:scale>
          <a:sx n="151" d="100"/>
          <a:sy n="151" d="100"/>
        </p:scale>
        <p:origin x="52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770488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D4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86"/>
          </a:solidFill>
          <a:ln w="12700">
            <a:solidFill>
              <a:srgbClr val="0E7C86"/>
            </a:solidFill>
            <a:prstDash val="solid"/>
          </a:ln>
        </p:spPr>
      </p:sp>
      <p:sp>
        <p:nvSpPr>
          <p:cNvPr id="3" name="Text 1"/>
          <p:cNvSpPr/>
          <p:nvPr/>
        </p:nvSpPr>
        <p:spPr>
          <a:xfrm>
            <a:off x="502920" y="640080"/>
            <a:ext cx="8229600" cy="1920240"/>
          </a:xfrm>
          <a:prstGeom prst="rect">
            <a:avLst/>
          </a:prstGeom>
          <a:noFill/>
          <a:ln/>
        </p:spPr>
        <p:txBody>
          <a:bodyPr wrap="square" lIns="0" tIns="0" rIns="0" bIns="0" rtlCol="0" anchor="ctr"/>
          <a:lstStyle/>
          <a:p>
            <a:pPr marL="0" indent="0" algn="l">
              <a:buNone/>
            </a:pPr>
            <a:r>
              <a:rPr lang="en-US" sz="4400" b="1" dirty="0">
                <a:solidFill>
                  <a:srgbClr val="FFFFFF"/>
                </a:solidFill>
                <a:latin typeface="Trebuchet MS" pitchFamily="34" charset="0"/>
                <a:ea typeface="Trebuchet MS" pitchFamily="34" charset="-122"/>
                <a:cs typeface="Trebuchet MS" pitchFamily="34" charset="-120"/>
              </a:rPr>
              <a:t>SVL, IVL, Queuing</a:t>
            </a:r>
            <a:endParaRPr lang="en-US" sz="4400" dirty="0"/>
          </a:p>
          <a:p>
            <a:pPr marL="0" indent="0" algn="l">
              <a:buNone/>
            </a:pPr>
            <a:r>
              <a:rPr lang="en-US" sz="4400" b="1" dirty="0">
                <a:solidFill>
                  <a:srgbClr val="FFFFFF"/>
                </a:solidFill>
                <a:latin typeface="Trebuchet MS" pitchFamily="34" charset="0"/>
                <a:ea typeface="Trebuchet MS" pitchFamily="34" charset="-122"/>
                <a:cs typeface="Trebuchet MS" pitchFamily="34" charset="-120"/>
              </a:rPr>
              <a:t>&amp; Automotive VLANs</a:t>
            </a:r>
            <a:endParaRPr lang="en-US" sz="4400" dirty="0"/>
          </a:p>
        </p:txBody>
      </p:sp>
      <p:sp>
        <p:nvSpPr>
          <p:cNvPr id="4" name="Text 2"/>
          <p:cNvSpPr/>
          <p:nvPr/>
        </p:nvSpPr>
        <p:spPr>
          <a:xfrm>
            <a:off x="502920" y="2670048"/>
            <a:ext cx="7772400" cy="777240"/>
          </a:xfrm>
          <a:prstGeom prst="rect">
            <a:avLst/>
          </a:prstGeom>
          <a:noFill/>
          <a:ln/>
        </p:spPr>
        <p:txBody>
          <a:bodyPr wrap="square" lIns="0" tIns="0" rIns="0" bIns="0" rtlCol="0" anchor="t"/>
          <a:lstStyle/>
          <a:p>
            <a:pPr marL="0" indent="0" algn="l">
              <a:buNone/>
            </a:pPr>
            <a:r>
              <a:rPr lang="en-US" sz="1600" dirty="0">
                <a:solidFill>
                  <a:srgbClr val="D6EAF8"/>
                </a:solidFill>
                <a:latin typeface="Calibri" pitchFamily="34" charset="0"/>
                <a:ea typeface="Calibri" pitchFamily="34" charset="-122"/>
                <a:cs typeface="Calibri" pitchFamily="34" charset="-120"/>
              </a:rPr>
              <a:t>Shared vs Independent VLAN Learning  |  FIFO · SP · WRR · WFQ</a:t>
            </a:r>
            <a:endParaRPr lang="en-US" sz="1600" dirty="0"/>
          </a:p>
          <a:p>
            <a:pPr marL="0" indent="0" algn="l">
              <a:buNone/>
            </a:pPr>
            <a:r>
              <a:rPr lang="en-US" sz="1600" dirty="0">
                <a:solidFill>
                  <a:srgbClr val="D6EAF8"/>
                </a:solidFill>
                <a:latin typeface="Calibri" pitchFamily="34" charset="0"/>
                <a:ea typeface="Calibri" pitchFamily="34" charset="-122"/>
                <a:cs typeface="Calibri" pitchFamily="34" charset="-120"/>
              </a:rPr>
              <a:t>Credit-Based Shaper  |  Management VLANs  |  Automotive Context</a:t>
            </a:r>
            <a:endParaRPr lang="en-US" sz="1600" dirty="0"/>
          </a:p>
        </p:txBody>
      </p:sp>
      <p:sp>
        <p:nvSpPr>
          <p:cNvPr id="5" name="Shape 3"/>
          <p:cNvSpPr/>
          <p:nvPr/>
        </p:nvSpPr>
        <p:spPr>
          <a:xfrm>
            <a:off x="502920" y="4160520"/>
            <a:ext cx="8229600" cy="658368"/>
          </a:xfrm>
          <a:prstGeom prst="rect">
            <a:avLst/>
          </a:prstGeom>
          <a:solidFill>
            <a:srgbClr val="1A4D6E"/>
          </a:solidFill>
          <a:ln w="12700">
            <a:solidFill>
              <a:srgbClr val="1A4D6E"/>
            </a:solidFill>
            <a:prstDash val="solid"/>
          </a:ln>
        </p:spPr>
      </p:sp>
      <p:sp>
        <p:nvSpPr>
          <p:cNvPr id="6" name="Text 4"/>
          <p:cNvSpPr/>
          <p:nvPr/>
        </p:nvSpPr>
        <p:spPr>
          <a:xfrm>
            <a:off x="640080" y="4187952"/>
            <a:ext cx="7863840" cy="603504"/>
          </a:xfrm>
          <a:prstGeom prst="rect">
            <a:avLst/>
          </a:prstGeom>
          <a:noFill/>
          <a:ln/>
        </p:spPr>
        <p:txBody>
          <a:bodyPr wrap="square" lIns="0" tIns="0" rIns="0" bIns="0" rtlCol="0" anchor="ctr"/>
          <a:lstStyle/>
          <a:p>
            <a:pPr marL="0" indent="0" algn="ctr">
              <a:buNone/>
            </a:pPr>
            <a:r>
              <a:rPr lang="en-US" sz="1300" b="1" dirty="0">
                <a:solidFill>
                  <a:srgbClr val="F0A500"/>
                </a:solidFill>
                <a:latin typeface="Trebuchet MS" pitchFamily="34" charset="0"/>
                <a:ea typeface="Trebuchet MS" pitchFamily="34" charset="-122"/>
                <a:cs typeface="Trebuchet MS" pitchFamily="34" charset="-120"/>
              </a:rPr>
              <a:t>Classify into VLAN → but should MAC learning be shared or independent?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8FF"/>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2800" b="1" dirty="0">
                <a:solidFill>
                  <a:srgbClr val="0B2D4E"/>
                </a:solidFill>
                <a:latin typeface="Trebuchet MS" pitchFamily="34" charset="0"/>
                <a:ea typeface="Trebuchet MS" pitchFamily="34" charset="-122"/>
                <a:cs typeface="Trebuchet MS" pitchFamily="34" charset="-120"/>
              </a:rPr>
              <a:t>VLAN-Aware Forwarding Raises a Learning Question</a:t>
            </a:r>
            <a:endParaRPr lang="en-US" sz="28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502920"/>
          </a:xfrm>
          <a:prstGeom prst="rect">
            <a:avLst/>
          </a:prstGeom>
          <a:noFill/>
          <a:ln/>
        </p:spPr>
        <p:txBody>
          <a:bodyPr wrap="square" lIns="0" tIns="0" rIns="0" bIns="0" rtlCol="0" anchor="t"/>
          <a:lstStyle/>
          <a:p>
            <a:pPr marL="0" indent="0" algn="l">
              <a:buNone/>
            </a:pPr>
            <a:r>
              <a:rPr lang="en-US" sz="1400" dirty="0">
                <a:solidFill>
                  <a:srgbClr val="0B2D4E"/>
                </a:solidFill>
                <a:latin typeface="Calibri" pitchFamily="34" charset="0"/>
                <a:ea typeface="Calibri" pitchFamily="34" charset="-122"/>
                <a:cs typeface="Calibri" pitchFamily="34" charset="-120"/>
              </a:rPr>
              <a:t>Once forwarding depends on both destination MAC address and VLAN tag together, the bridge must answer a deeper question about learning:</a:t>
            </a:r>
            <a:endParaRPr lang="en-US" sz="1400" dirty="0"/>
          </a:p>
        </p:txBody>
      </p:sp>
      <p:sp>
        <p:nvSpPr>
          <p:cNvPr id="5" name="Shape 3"/>
          <p:cNvSpPr/>
          <p:nvPr/>
        </p:nvSpPr>
        <p:spPr>
          <a:xfrm>
            <a:off x="502920" y="1874520"/>
            <a:ext cx="8138160" cy="566928"/>
          </a:xfrm>
          <a:prstGeom prst="rect">
            <a:avLst/>
          </a:prstGeom>
          <a:solidFill>
            <a:srgbClr val="0B2D4E"/>
          </a:solidFill>
          <a:ln w="12700">
            <a:solidFill>
              <a:srgbClr val="0B2D4E"/>
            </a:solidFill>
            <a:prstDash val="solid"/>
          </a:ln>
        </p:spPr>
      </p:sp>
      <p:sp>
        <p:nvSpPr>
          <p:cNvPr id="6" name="Shape 4"/>
          <p:cNvSpPr/>
          <p:nvPr/>
        </p:nvSpPr>
        <p:spPr>
          <a:xfrm>
            <a:off x="502920" y="1874520"/>
            <a:ext cx="8138160" cy="566928"/>
          </a:xfrm>
          <a:prstGeom prst="rect">
            <a:avLst/>
          </a:prstGeom>
          <a:solidFill>
            <a:srgbClr val="0B2D4E"/>
          </a:solidFill>
          <a:ln w="25400">
            <a:solidFill>
              <a:srgbClr val="0E7C86"/>
            </a:solidFill>
            <a:prstDash val="solid"/>
          </a:ln>
        </p:spPr>
      </p:sp>
      <p:sp>
        <p:nvSpPr>
          <p:cNvPr id="7" name="Text 5"/>
          <p:cNvSpPr/>
          <p:nvPr/>
        </p:nvSpPr>
        <p:spPr>
          <a:xfrm>
            <a:off x="640080" y="1901952"/>
            <a:ext cx="7863840" cy="512064"/>
          </a:xfrm>
          <a:prstGeom prst="rect">
            <a:avLst/>
          </a:prstGeom>
          <a:noFill/>
          <a:ln/>
        </p:spPr>
        <p:txBody>
          <a:bodyPr wrap="square" lIns="0" tIns="0" rIns="0" bIns="0" rtlCol="0" anchor="ctr"/>
          <a:lstStyle/>
          <a:p>
            <a:pPr marL="0" indent="0" algn="ctr">
              <a:buNone/>
            </a:pPr>
            <a:r>
              <a:rPr lang="en-US" sz="1300" dirty="0">
                <a:solidFill>
                  <a:srgbClr val="D6EAF8"/>
                </a:solidFill>
                <a:latin typeface="Calibri" pitchFamily="34" charset="0"/>
                <a:ea typeface="Calibri" pitchFamily="34" charset="-122"/>
                <a:cs typeface="Calibri" pitchFamily="34" charset="-120"/>
              </a:rPr>
              <a:t>Do these VLANs represent independent Layer 2 attachment spaces —</a:t>
            </a:r>
            <a:endParaRPr lang="en-US" sz="1300" dirty="0"/>
          </a:p>
          <a:p>
            <a:pPr marL="0" indent="0" algn="ctr">
              <a:buNone/>
            </a:pPr>
            <a:r>
              <a:rPr lang="en-US" sz="1300" dirty="0">
                <a:solidFill>
                  <a:srgbClr val="D6EAF8"/>
                </a:solidFill>
                <a:latin typeface="Calibri" pitchFamily="34" charset="0"/>
                <a:ea typeface="Calibri" pitchFamily="34" charset="-122"/>
                <a:cs typeface="Calibri" pitchFamily="34" charset="-120"/>
              </a:rPr>
              <a:t>or multiple traffic scopes over essentially the same learned attachment space?</a:t>
            </a:r>
            <a:endParaRPr lang="en-US" sz="1300" dirty="0"/>
          </a:p>
        </p:txBody>
      </p:sp>
      <p:sp>
        <p:nvSpPr>
          <p:cNvPr id="8" name="Shape 6"/>
          <p:cNvSpPr/>
          <p:nvPr/>
        </p:nvSpPr>
        <p:spPr>
          <a:xfrm>
            <a:off x="502920" y="2651760"/>
            <a:ext cx="4069080" cy="438912"/>
          </a:xfrm>
          <a:prstGeom prst="rect">
            <a:avLst/>
          </a:prstGeom>
          <a:solidFill>
            <a:srgbClr val="1A9DAA"/>
          </a:solidFill>
          <a:ln w="12700">
            <a:solidFill>
              <a:srgbClr val="1A9DAA"/>
            </a:solidFill>
            <a:prstDash val="solid"/>
          </a:ln>
        </p:spPr>
      </p:sp>
      <p:sp>
        <p:nvSpPr>
          <p:cNvPr id="9" name="Text 7"/>
          <p:cNvSpPr/>
          <p:nvPr/>
        </p:nvSpPr>
        <p:spPr>
          <a:xfrm>
            <a:off x="612648" y="2651760"/>
            <a:ext cx="384048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Independent VLAN Learning (IVL)</a:t>
            </a:r>
            <a:endParaRPr lang="en-US" sz="1400" dirty="0"/>
          </a:p>
        </p:txBody>
      </p:sp>
      <p:sp>
        <p:nvSpPr>
          <p:cNvPr id="10" name="Text 8"/>
          <p:cNvSpPr/>
          <p:nvPr/>
        </p:nvSpPr>
        <p:spPr>
          <a:xfrm>
            <a:off x="612648" y="3163824"/>
            <a:ext cx="3840480" cy="777240"/>
          </a:xfrm>
          <a:prstGeom prst="rect">
            <a:avLst/>
          </a:prstGeom>
          <a:noFill/>
          <a:ln/>
        </p:spPr>
        <p:txBody>
          <a:bodyPr wrap="square" lIns="0" tIns="0" rIns="0" bIns="0" rtlCol="0" anchor="t"/>
          <a:lstStyle/>
          <a:p>
            <a:pPr marL="0" indent="0" algn="l">
              <a:buNone/>
            </a:pPr>
            <a:r>
              <a:rPr lang="en-US" sz="1300" dirty="0">
                <a:solidFill>
                  <a:srgbClr val="0B2D4E"/>
                </a:solidFill>
                <a:latin typeface="Calibri" pitchFamily="34" charset="0"/>
                <a:ea typeface="Calibri" pitchFamily="34" charset="-122"/>
                <a:cs typeface="Calibri" pitchFamily="34" charset="-120"/>
              </a:rPr>
              <a:t>Each VLAN has its own separate MAC learning table.</a:t>
            </a:r>
            <a:endParaRPr lang="en-US" sz="1300" dirty="0"/>
          </a:p>
          <a:p>
            <a:pPr marL="0" indent="0" algn="l">
              <a:buNone/>
            </a:pPr>
            <a:r>
              <a:rPr lang="en-US" sz="1300" dirty="0">
                <a:solidFill>
                  <a:srgbClr val="0B2D4E"/>
                </a:solidFill>
                <a:latin typeface="Calibri" pitchFamily="34" charset="0"/>
                <a:ea typeface="Calibri" pitchFamily="34" charset="-122"/>
                <a:cs typeface="Calibri" pitchFamily="34" charset="-120"/>
              </a:rPr>
              <a:t>Same MAC in VLAN 10 and VLAN 20 = two separate entries.</a:t>
            </a:r>
            <a:endParaRPr lang="en-US" sz="1300" dirty="0"/>
          </a:p>
        </p:txBody>
      </p:sp>
      <p:sp>
        <p:nvSpPr>
          <p:cNvPr id="11" name="Shape 9"/>
          <p:cNvSpPr/>
          <p:nvPr/>
        </p:nvSpPr>
        <p:spPr>
          <a:xfrm>
            <a:off x="502920" y="3977640"/>
            <a:ext cx="4069080" cy="347472"/>
          </a:xfrm>
          <a:prstGeom prst="rect">
            <a:avLst/>
          </a:prstGeom>
          <a:solidFill>
            <a:srgbClr val="1A9DAA"/>
          </a:solidFill>
          <a:ln w="12700">
            <a:solidFill>
              <a:srgbClr val="1A9DAA"/>
            </a:solidFill>
            <a:prstDash val="solid"/>
          </a:ln>
        </p:spPr>
      </p:sp>
      <p:sp>
        <p:nvSpPr>
          <p:cNvPr id="12" name="Text 10"/>
          <p:cNvSpPr/>
          <p:nvPr/>
        </p:nvSpPr>
        <p:spPr>
          <a:xfrm>
            <a:off x="594360" y="3977640"/>
            <a:ext cx="38862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The answer to: separate Layer 2 spaces</a:t>
            </a:r>
            <a:endParaRPr lang="en-US" sz="1100" dirty="0"/>
          </a:p>
        </p:txBody>
      </p:sp>
      <p:sp>
        <p:nvSpPr>
          <p:cNvPr id="13" name="Shape 11"/>
          <p:cNvSpPr/>
          <p:nvPr/>
        </p:nvSpPr>
        <p:spPr>
          <a:xfrm>
            <a:off x="4846320" y="2651760"/>
            <a:ext cx="4069080" cy="438912"/>
          </a:xfrm>
          <a:prstGeom prst="rect">
            <a:avLst/>
          </a:prstGeom>
          <a:solidFill>
            <a:srgbClr val="E67E22"/>
          </a:solidFill>
          <a:ln w="12700">
            <a:solidFill>
              <a:srgbClr val="E67E22"/>
            </a:solidFill>
            <a:prstDash val="solid"/>
          </a:ln>
        </p:spPr>
      </p:sp>
      <p:sp>
        <p:nvSpPr>
          <p:cNvPr id="14" name="Text 12"/>
          <p:cNvSpPr/>
          <p:nvPr/>
        </p:nvSpPr>
        <p:spPr>
          <a:xfrm>
            <a:off x="4956048" y="2651760"/>
            <a:ext cx="3840480" cy="438912"/>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Shared VLAN Learning (SVL)</a:t>
            </a:r>
            <a:endParaRPr lang="en-US" sz="1400" dirty="0"/>
          </a:p>
        </p:txBody>
      </p:sp>
      <p:sp>
        <p:nvSpPr>
          <p:cNvPr id="15" name="Text 13"/>
          <p:cNvSpPr/>
          <p:nvPr/>
        </p:nvSpPr>
        <p:spPr>
          <a:xfrm>
            <a:off x="4956048" y="3163824"/>
            <a:ext cx="3840480" cy="777240"/>
          </a:xfrm>
          <a:prstGeom prst="rect">
            <a:avLst/>
          </a:prstGeom>
          <a:noFill/>
          <a:ln/>
        </p:spPr>
        <p:txBody>
          <a:bodyPr wrap="square" lIns="0" tIns="0" rIns="0" bIns="0" rtlCol="0" anchor="t"/>
          <a:lstStyle/>
          <a:p>
            <a:pPr marL="0" indent="0" algn="l">
              <a:buNone/>
            </a:pPr>
            <a:r>
              <a:rPr lang="en-US" sz="1300" dirty="0">
                <a:solidFill>
                  <a:srgbClr val="0B2D4E"/>
                </a:solidFill>
                <a:latin typeface="Calibri" pitchFamily="34" charset="0"/>
                <a:ea typeface="Calibri" pitchFamily="34" charset="-122"/>
                <a:cs typeface="Calibri" pitchFamily="34" charset="-120"/>
              </a:rPr>
              <a:t>A selected set of VLANs shares one learned MAC-location view.</a:t>
            </a:r>
            <a:endParaRPr lang="en-US" sz="1300" dirty="0"/>
          </a:p>
          <a:p>
            <a:pPr marL="0" indent="0" algn="l">
              <a:buNone/>
            </a:pPr>
            <a:r>
              <a:rPr lang="en-US" sz="1300" dirty="0">
                <a:solidFill>
                  <a:srgbClr val="0B2D4E"/>
                </a:solidFill>
                <a:latin typeface="Calibri" pitchFamily="34" charset="0"/>
                <a:ea typeface="Calibri" pitchFamily="34" charset="-122"/>
                <a:cs typeface="Calibri" pitchFamily="34" charset="-120"/>
              </a:rPr>
              <a:t>Learning in one VLAN can be used for forwarding in the others.</a:t>
            </a:r>
            <a:endParaRPr lang="en-US" sz="1300" dirty="0"/>
          </a:p>
        </p:txBody>
      </p:sp>
      <p:sp>
        <p:nvSpPr>
          <p:cNvPr id="16" name="Shape 14"/>
          <p:cNvSpPr/>
          <p:nvPr/>
        </p:nvSpPr>
        <p:spPr>
          <a:xfrm>
            <a:off x="4846320" y="3977640"/>
            <a:ext cx="4069080" cy="347472"/>
          </a:xfrm>
          <a:prstGeom prst="rect">
            <a:avLst/>
          </a:prstGeom>
          <a:solidFill>
            <a:srgbClr val="E67E22"/>
          </a:solidFill>
          <a:ln w="12700">
            <a:solidFill>
              <a:srgbClr val="E67E22"/>
            </a:solidFill>
            <a:prstDash val="solid"/>
          </a:ln>
        </p:spPr>
      </p:sp>
      <p:sp>
        <p:nvSpPr>
          <p:cNvPr id="17" name="Text 15"/>
          <p:cNvSpPr/>
          <p:nvPr/>
        </p:nvSpPr>
        <p:spPr>
          <a:xfrm>
            <a:off x="4937760" y="3977640"/>
            <a:ext cx="388620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The answer to: shared attachment space</a:t>
            </a:r>
            <a:endParaRPr lang="en-US" sz="1100" dirty="0"/>
          </a:p>
        </p:txBody>
      </p:sp>
      <p:sp>
        <p:nvSpPr>
          <p:cNvPr id="18" name="Shape 16"/>
          <p:cNvSpPr/>
          <p:nvPr/>
        </p:nvSpPr>
        <p:spPr>
          <a:xfrm>
            <a:off x="502920" y="4462272"/>
            <a:ext cx="8138160" cy="502920"/>
          </a:xfrm>
          <a:prstGeom prst="rect">
            <a:avLst/>
          </a:prstGeom>
          <a:solidFill>
            <a:srgbClr val="1A4D6E"/>
          </a:solidFill>
          <a:ln w="12700">
            <a:solidFill>
              <a:srgbClr val="1A4D6E"/>
            </a:solidFill>
            <a:prstDash val="solid"/>
          </a:ln>
        </p:spPr>
      </p:sp>
      <p:sp>
        <p:nvSpPr>
          <p:cNvPr id="19" name="Text 17"/>
          <p:cNvSpPr/>
          <p:nvPr/>
        </p:nvSpPr>
        <p:spPr>
          <a:xfrm>
            <a:off x="640080" y="4480560"/>
            <a:ext cx="7863840" cy="457200"/>
          </a:xfrm>
          <a:prstGeom prst="rect">
            <a:avLst/>
          </a:prstGeom>
          <a:noFill/>
          <a:ln/>
        </p:spPr>
        <p:txBody>
          <a:bodyPr wrap="square" lIns="0" tIns="0" rIns="0" bIns="0" rtlCol="0" anchor="ctr"/>
          <a:lstStyle/>
          <a:p>
            <a:pPr marL="0" indent="0" algn="ctr">
              <a:buNone/>
            </a:pPr>
            <a:r>
              <a:rPr lang="en-US" sz="1200" dirty="0">
                <a:solidFill>
                  <a:srgbClr val="D6EAF8"/>
                </a:solidFill>
                <a:latin typeface="Calibri" pitchFamily="34" charset="0"/>
                <a:ea typeface="Calibri" pitchFamily="34" charset="-122"/>
                <a:cs typeface="Calibri" pitchFamily="34" charset="-120"/>
              </a:rPr>
              <a:t>IEEE 802.1Q-2022 explicitly exposes </a:t>
            </a:r>
            <a:r>
              <a:rPr lang="en-US" sz="1200" b="1" dirty="0">
                <a:solidFill>
                  <a:srgbClr val="F0A500"/>
                </a:solidFill>
                <a:latin typeface="Calibri" pitchFamily="34" charset="0"/>
                <a:ea typeface="Calibri" pitchFamily="34" charset="-122"/>
                <a:cs typeface="Calibri" pitchFamily="34" charset="-120"/>
              </a:rPr>
              <a:t>ivl-capable</a:t>
            </a:r>
            <a:r>
              <a:rPr lang="en-US" sz="1200" dirty="0">
                <a:solidFill>
                  <a:srgbClr val="D6EAF8"/>
                </a:solidFill>
                <a:latin typeface="Calibri" pitchFamily="34" charset="0"/>
                <a:ea typeface="Calibri" pitchFamily="34" charset="-122"/>
                <a:cs typeface="Calibri" pitchFamily="34" charset="-120"/>
              </a:rPr>
              <a:t>, </a:t>
            </a:r>
            <a:r>
              <a:rPr lang="en-US" sz="1200" b="1" dirty="0">
                <a:solidFill>
                  <a:srgbClr val="F0A500"/>
                </a:solidFill>
                <a:latin typeface="Calibri" pitchFamily="34" charset="0"/>
                <a:ea typeface="Calibri" pitchFamily="34" charset="-122"/>
                <a:cs typeface="Calibri" pitchFamily="34" charset="-120"/>
              </a:rPr>
              <a:t>svl-capable</a:t>
            </a:r>
            <a:r>
              <a:rPr lang="en-US" sz="1200" dirty="0">
                <a:solidFill>
                  <a:srgbClr val="D6EAF8"/>
                </a:solidFill>
                <a:latin typeface="Calibri" pitchFamily="34" charset="0"/>
                <a:ea typeface="Calibri" pitchFamily="34" charset="-122"/>
                <a:cs typeface="Calibri" pitchFamily="34" charset="-120"/>
              </a:rPr>
              <a:t>, and </a:t>
            </a:r>
            <a:r>
              <a:rPr lang="en-US" sz="1200" b="1" dirty="0">
                <a:solidFill>
                  <a:srgbClr val="F0A500"/>
                </a:solidFill>
                <a:latin typeface="Calibri" pitchFamily="34" charset="0"/>
                <a:ea typeface="Calibri" pitchFamily="34" charset="-122"/>
                <a:cs typeface="Calibri" pitchFamily="34" charset="-120"/>
              </a:rPr>
              <a:t>hybrid-capable</a:t>
            </a:r>
            <a:r>
              <a:rPr lang="en-US" sz="1200" dirty="0">
                <a:solidFill>
                  <a:srgbClr val="D6EAF8"/>
                </a:solidFill>
                <a:latin typeface="Calibri" pitchFamily="34" charset="0"/>
                <a:ea typeface="Calibri" pitchFamily="34" charset="-122"/>
                <a:cs typeface="Calibri" pitchFamily="34" charset="-120"/>
              </a:rPr>
              <a:t> as separate bridge capabilities — this is a fundamental part of VLAN-aware bridging.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2D4E"/>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3200" b="1" dirty="0">
                <a:solidFill>
                  <a:srgbClr val="FFFFFF"/>
                </a:solidFill>
                <a:latin typeface="Trebuchet MS" pitchFamily="34" charset="0"/>
                <a:ea typeface="Trebuchet MS" pitchFamily="34" charset="-122"/>
                <a:cs typeface="Trebuchet MS" pitchFamily="34" charset="-120"/>
              </a:rPr>
              <a:t>IVL: Each VLAN Is Its Own MAC Universe</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594360"/>
          </a:xfrm>
          <a:prstGeom prst="rect">
            <a:avLst/>
          </a:prstGeom>
          <a:noFill/>
          <a:ln/>
        </p:spPr>
        <p:txBody>
          <a:bodyPr wrap="square" lIns="0" tIns="0" rIns="0" bIns="0" rtlCol="0" anchor="t"/>
          <a:lstStyle/>
          <a:p>
            <a:pPr marL="0" indent="0" algn="l">
              <a:buNone/>
            </a:pPr>
            <a:r>
              <a:rPr lang="en-US" sz="1400" dirty="0">
                <a:solidFill>
                  <a:srgbClr val="D6EAF8"/>
                </a:solidFill>
                <a:latin typeface="Calibri" pitchFamily="34" charset="0"/>
                <a:ea typeface="Calibri" pitchFamily="34" charset="-122"/>
                <a:cs typeface="Calibri" pitchFamily="34" charset="-120"/>
              </a:rPr>
              <a:t>Under IVL, MAC learning is done independently for each VLAN context. The same MAC address can be learned on different ports in different VLANs without any conflict:</a:t>
            </a:r>
            <a:endParaRPr lang="en-US" sz="1400" dirty="0"/>
          </a:p>
        </p:txBody>
      </p:sp>
      <p:sp>
        <p:nvSpPr>
          <p:cNvPr id="5" name="Shape 3"/>
          <p:cNvSpPr/>
          <p:nvPr/>
        </p:nvSpPr>
        <p:spPr>
          <a:xfrm>
            <a:off x="365760" y="1993392"/>
            <a:ext cx="3886200" cy="384048"/>
          </a:xfrm>
          <a:prstGeom prst="rect">
            <a:avLst/>
          </a:prstGeom>
          <a:solidFill>
            <a:srgbClr val="1A9DAA"/>
          </a:solidFill>
          <a:ln w="12700">
            <a:solidFill>
              <a:srgbClr val="1A9DAA"/>
            </a:solidFill>
            <a:prstDash val="solid"/>
          </a:ln>
        </p:spPr>
      </p:sp>
      <p:sp>
        <p:nvSpPr>
          <p:cNvPr id="6" name="Text 4"/>
          <p:cNvSpPr/>
          <p:nvPr/>
        </p:nvSpPr>
        <p:spPr>
          <a:xfrm>
            <a:off x="457200" y="1993392"/>
            <a:ext cx="37033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FDB — VLAN 10</a:t>
            </a:r>
            <a:endParaRPr lang="en-US" sz="1300" dirty="0"/>
          </a:p>
        </p:txBody>
      </p:sp>
      <p:sp>
        <p:nvSpPr>
          <p:cNvPr id="7" name="Shape 5"/>
          <p:cNvSpPr/>
          <p:nvPr/>
        </p:nvSpPr>
        <p:spPr>
          <a:xfrm>
            <a:off x="365760" y="2395728"/>
            <a:ext cx="3886200" cy="329184"/>
          </a:xfrm>
          <a:prstGeom prst="rect">
            <a:avLst/>
          </a:prstGeom>
          <a:solidFill>
            <a:srgbClr val="1A4D6E"/>
          </a:solidFill>
          <a:ln w="12700">
            <a:solidFill>
              <a:srgbClr val="1A4D6E"/>
            </a:solidFill>
            <a:prstDash val="solid"/>
          </a:ln>
        </p:spPr>
      </p:sp>
      <p:sp>
        <p:nvSpPr>
          <p:cNvPr id="8" name="Text 6"/>
          <p:cNvSpPr/>
          <p:nvPr/>
        </p:nvSpPr>
        <p:spPr>
          <a:xfrm>
            <a:off x="457200" y="2395728"/>
            <a:ext cx="2286000" cy="329184"/>
          </a:xfrm>
          <a:prstGeom prst="rect">
            <a:avLst/>
          </a:prstGeom>
          <a:noFill/>
          <a:ln/>
        </p:spPr>
        <p:txBody>
          <a:bodyPr wrap="square" lIns="0" tIns="0" rIns="0" bIns="0" rtlCol="0" anchor="ctr"/>
          <a:lstStyle/>
          <a:p>
            <a:pPr marL="0" indent="0" algn="ctr">
              <a:buNone/>
            </a:pPr>
            <a:r>
              <a:rPr lang="en-US" sz="1100" dirty="0">
                <a:solidFill>
                  <a:srgbClr val="D6EAF8"/>
                </a:solidFill>
                <a:latin typeface="Calibri" pitchFamily="34" charset="0"/>
                <a:ea typeface="Calibri" pitchFamily="34" charset="-122"/>
                <a:cs typeface="Calibri" pitchFamily="34" charset="-120"/>
              </a:rPr>
              <a:t>AA:AA:AA:AA:AA:AA</a:t>
            </a:r>
            <a:endParaRPr lang="en-US" sz="1100" dirty="0"/>
          </a:p>
        </p:txBody>
      </p:sp>
      <p:sp>
        <p:nvSpPr>
          <p:cNvPr id="9" name="Text 7"/>
          <p:cNvSpPr/>
          <p:nvPr/>
        </p:nvSpPr>
        <p:spPr>
          <a:xfrm>
            <a:off x="2651760" y="2395728"/>
            <a:ext cx="1508760" cy="329184"/>
          </a:xfrm>
          <a:prstGeom prst="rect">
            <a:avLst/>
          </a:prstGeom>
          <a:noFill/>
          <a:ln/>
        </p:spPr>
        <p:txBody>
          <a:bodyPr wrap="square" lIns="0" tIns="0" rIns="0" bIns="0" rtlCol="0" anchor="ctr"/>
          <a:lstStyle/>
          <a:p>
            <a:pPr marL="0" indent="0" algn="ctr">
              <a:buNone/>
            </a:pPr>
            <a:r>
              <a:rPr lang="en-US" sz="1100" b="1" dirty="0">
                <a:solidFill>
                  <a:srgbClr val="1A9DAA"/>
                </a:solidFill>
                <a:latin typeface="Trebuchet MS" pitchFamily="34" charset="0"/>
                <a:ea typeface="Trebuchet MS" pitchFamily="34" charset="-122"/>
                <a:cs typeface="Trebuchet MS" pitchFamily="34" charset="-120"/>
              </a:rPr>
              <a:t>Port 3</a:t>
            </a:r>
            <a:endParaRPr lang="en-US" sz="1100" dirty="0"/>
          </a:p>
        </p:txBody>
      </p:sp>
      <p:sp>
        <p:nvSpPr>
          <p:cNvPr id="10" name="Shape 8"/>
          <p:cNvSpPr/>
          <p:nvPr/>
        </p:nvSpPr>
        <p:spPr>
          <a:xfrm>
            <a:off x="365760" y="2743200"/>
            <a:ext cx="3886200" cy="329184"/>
          </a:xfrm>
          <a:prstGeom prst="rect">
            <a:avLst/>
          </a:prstGeom>
          <a:solidFill>
            <a:srgbClr val="152845"/>
          </a:solidFill>
          <a:ln w="12700">
            <a:solidFill>
              <a:srgbClr val="152845"/>
            </a:solidFill>
            <a:prstDash val="solid"/>
          </a:ln>
        </p:spPr>
      </p:sp>
      <p:sp>
        <p:nvSpPr>
          <p:cNvPr id="11" name="Text 9"/>
          <p:cNvSpPr/>
          <p:nvPr/>
        </p:nvSpPr>
        <p:spPr>
          <a:xfrm>
            <a:off x="457200" y="2743200"/>
            <a:ext cx="2286000" cy="329184"/>
          </a:xfrm>
          <a:prstGeom prst="rect">
            <a:avLst/>
          </a:prstGeom>
          <a:noFill/>
          <a:ln/>
        </p:spPr>
        <p:txBody>
          <a:bodyPr wrap="square" lIns="0" tIns="0" rIns="0" bIns="0" rtlCol="0" anchor="ctr"/>
          <a:lstStyle/>
          <a:p>
            <a:pPr marL="0" indent="0" algn="ctr">
              <a:buNone/>
            </a:pPr>
            <a:r>
              <a:rPr lang="en-US" sz="1100" dirty="0">
                <a:solidFill>
                  <a:srgbClr val="D6EAF8"/>
                </a:solidFill>
                <a:latin typeface="Calibri" pitchFamily="34" charset="0"/>
                <a:ea typeface="Calibri" pitchFamily="34" charset="-122"/>
                <a:cs typeface="Calibri" pitchFamily="34" charset="-120"/>
              </a:rPr>
              <a:t>BB:BB:BB:BB:BB:BB</a:t>
            </a:r>
            <a:endParaRPr lang="en-US" sz="1100" dirty="0"/>
          </a:p>
        </p:txBody>
      </p:sp>
      <p:sp>
        <p:nvSpPr>
          <p:cNvPr id="12" name="Text 10"/>
          <p:cNvSpPr/>
          <p:nvPr/>
        </p:nvSpPr>
        <p:spPr>
          <a:xfrm>
            <a:off x="2651760" y="2743200"/>
            <a:ext cx="1508760" cy="329184"/>
          </a:xfrm>
          <a:prstGeom prst="rect">
            <a:avLst/>
          </a:prstGeom>
          <a:noFill/>
          <a:ln/>
        </p:spPr>
        <p:txBody>
          <a:bodyPr wrap="square" lIns="0" tIns="0" rIns="0" bIns="0" rtlCol="0" anchor="ctr"/>
          <a:lstStyle/>
          <a:p>
            <a:pPr marL="0" indent="0" algn="ctr">
              <a:buNone/>
            </a:pPr>
            <a:r>
              <a:rPr lang="en-US" sz="1100" b="1" dirty="0">
                <a:solidFill>
                  <a:srgbClr val="1A9DAA"/>
                </a:solidFill>
                <a:latin typeface="Trebuchet MS" pitchFamily="34" charset="0"/>
                <a:ea typeface="Trebuchet MS" pitchFamily="34" charset="-122"/>
                <a:cs typeface="Trebuchet MS" pitchFamily="34" charset="-120"/>
              </a:rPr>
              <a:t>Port 1</a:t>
            </a:r>
            <a:endParaRPr lang="en-US" sz="1100" dirty="0"/>
          </a:p>
        </p:txBody>
      </p:sp>
      <p:sp>
        <p:nvSpPr>
          <p:cNvPr id="13" name="Shape 11"/>
          <p:cNvSpPr/>
          <p:nvPr/>
        </p:nvSpPr>
        <p:spPr>
          <a:xfrm>
            <a:off x="365760" y="3090672"/>
            <a:ext cx="3886200" cy="329184"/>
          </a:xfrm>
          <a:prstGeom prst="rect">
            <a:avLst/>
          </a:prstGeom>
          <a:solidFill>
            <a:srgbClr val="1A4D6E"/>
          </a:solidFill>
          <a:ln w="12700">
            <a:solidFill>
              <a:srgbClr val="1A4D6E"/>
            </a:solidFill>
            <a:prstDash val="solid"/>
          </a:ln>
        </p:spPr>
      </p:sp>
      <p:sp>
        <p:nvSpPr>
          <p:cNvPr id="14" name="Text 12"/>
          <p:cNvSpPr/>
          <p:nvPr/>
        </p:nvSpPr>
        <p:spPr>
          <a:xfrm>
            <a:off x="457200" y="3090672"/>
            <a:ext cx="2286000" cy="329184"/>
          </a:xfrm>
          <a:prstGeom prst="rect">
            <a:avLst/>
          </a:prstGeom>
          <a:noFill/>
          <a:ln/>
        </p:spPr>
        <p:txBody>
          <a:bodyPr wrap="square" lIns="0" tIns="0" rIns="0" bIns="0" rtlCol="0" anchor="ctr"/>
          <a:lstStyle/>
          <a:p>
            <a:pPr marL="0" indent="0" algn="ctr">
              <a:buNone/>
            </a:pPr>
            <a:r>
              <a:rPr lang="en-US" sz="1100" dirty="0">
                <a:solidFill>
                  <a:srgbClr val="D6EAF8"/>
                </a:solidFill>
                <a:latin typeface="Calibri" pitchFamily="34" charset="0"/>
                <a:ea typeface="Calibri" pitchFamily="34" charset="-122"/>
                <a:cs typeface="Calibri" pitchFamily="34" charset="-120"/>
              </a:rPr>
              <a:t>CC:CC:CC:CC:CC:CC</a:t>
            </a:r>
            <a:endParaRPr lang="en-US" sz="1100" dirty="0"/>
          </a:p>
        </p:txBody>
      </p:sp>
      <p:sp>
        <p:nvSpPr>
          <p:cNvPr id="15" name="Text 13"/>
          <p:cNvSpPr/>
          <p:nvPr/>
        </p:nvSpPr>
        <p:spPr>
          <a:xfrm>
            <a:off x="2651760" y="3090672"/>
            <a:ext cx="1508760" cy="329184"/>
          </a:xfrm>
          <a:prstGeom prst="rect">
            <a:avLst/>
          </a:prstGeom>
          <a:noFill/>
          <a:ln/>
        </p:spPr>
        <p:txBody>
          <a:bodyPr wrap="square" lIns="0" tIns="0" rIns="0" bIns="0" rtlCol="0" anchor="ctr"/>
          <a:lstStyle/>
          <a:p>
            <a:pPr marL="0" indent="0" algn="ctr">
              <a:buNone/>
            </a:pPr>
            <a:r>
              <a:rPr lang="en-US" sz="1100" b="1" dirty="0">
                <a:solidFill>
                  <a:srgbClr val="1A9DAA"/>
                </a:solidFill>
                <a:latin typeface="Trebuchet MS" pitchFamily="34" charset="0"/>
                <a:ea typeface="Trebuchet MS" pitchFamily="34" charset="-122"/>
                <a:cs typeface="Trebuchet MS" pitchFamily="34" charset="-120"/>
              </a:rPr>
              <a:t>Port 5</a:t>
            </a:r>
            <a:endParaRPr lang="en-US" sz="1100" dirty="0"/>
          </a:p>
        </p:txBody>
      </p:sp>
      <p:sp>
        <p:nvSpPr>
          <p:cNvPr id="16" name="Shape 14"/>
          <p:cNvSpPr/>
          <p:nvPr/>
        </p:nvSpPr>
        <p:spPr>
          <a:xfrm>
            <a:off x="4892040" y="1993392"/>
            <a:ext cx="3886200" cy="384048"/>
          </a:xfrm>
          <a:prstGeom prst="rect">
            <a:avLst/>
          </a:prstGeom>
          <a:solidFill>
            <a:srgbClr val="E67E22"/>
          </a:solidFill>
          <a:ln w="12700">
            <a:solidFill>
              <a:srgbClr val="E67E22"/>
            </a:solidFill>
            <a:prstDash val="solid"/>
          </a:ln>
        </p:spPr>
      </p:sp>
      <p:sp>
        <p:nvSpPr>
          <p:cNvPr id="17" name="Text 15"/>
          <p:cNvSpPr/>
          <p:nvPr/>
        </p:nvSpPr>
        <p:spPr>
          <a:xfrm>
            <a:off x="4983480" y="1993392"/>
            <a:ext cx="37033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FDB — VLAN 20</a:t>
            </a:r>
            <a:endParaRPr lang="en-US" sz="1300" dirty="0"/>
          </a:p>
        </p:txBody>
      </p:sp>
      <p:sp>
        <p:nvSpPr>
          <p:cNvPr id="18" name="Shape 16"/>
          <p:cNvSpPr/>
          <p:nvPr/>
        </p:nvSpPr>
        <p:spPr>
          <a:xfrm>
            <a:off x="4892040" y="2395728"/>
            <a:ext cx="3886200" cy="329184"/>
          </a:xfrm>
          <a:prstGeom prst="rect">
            <a:avLst/>
          </a:prstGeom>
          <a:solidFill>
            <a:srgbClr val="1A4D6E"/>
          </a:solidFill>
          <a:ln w="12700">
            <a:solidFill>
              <a:srgbClr val="1A4D6E"/>
            </a:solidFill>
            <a:prstDash val="solid"/>
          </a:ln>
        </p:spPr>
      </p:sp>
      <p:sp>
        <p:nvSpPr>
          <p:cNvPr id="19" name="Text 17"/>
          <p:cNvSpPr/>
          <p:nvPr/>
        </p:nvSpPr>
        <p:spPr>
          <a:xfrm>
            <a:off x="4983480" y="2395728"/>
            <a:ext cx="2286000" cy="329184"/>
          </a:xfrm>
          <a:prstGeom prst="rect">
            <a:avLst/>
          </a:prstGeom>
          <a:noFill/>
          <a:ln/>
        </p:spPr>
        <p:txBody>
          <a:bodyPr wrap="square" lIns="0" tIns="0" rIns="0" bIns="0" rtlCol="0" anchor="ctr"/>
          <a:lstStyle/>
          <a:p>
            <a:pPr marL="0" indent="0" algn="ctr">
              <a:buNone/>
            </a:pPr>
            <a:r>
              <a:rPr lang="en-US" sz="1100" dirty="0">
                <a:solidFill>
                  <a:srgbClr val="D6EAF8"/>
                </a:solidFill>
                <a:latin typeface="Calibri" pitchFamily="34" charset="0"/>
                <a:ea typeface="Calibri" pitchFamily="34" charset="-122"/>
                <a:cs typeface="Calibri" pitchFamily="34" charset="-120"/>
              </a:rPr>
              <a:t>AA:AA:AA:AA:AA:AA</a:t>
            </a:r>
            <a:endParaRPr lang="en-US" sz="1100" dirty="0"/>
          </a:p>
        </p:txBody>
      </p:sp>
      <p:sp>
        <p:nvSpPr>
          <p:cNvPr id="20" name="Text 18"/>
          <p:cNvSpPr/>
          <p:nvPr/>
        </p:nvSpPr>
        <p:spPr>
          <a:xfrm>
            <a:off x="7178040" y="2395728"/>
            <a:ext cx="1508760" cy="329184"/>
          </a:xfrm>
          <a:prstGeom prst="rect">
            <a:avLst/>
          </a:prstGeom>
          <a:noFill/>
          <a:ln/>
        </p:spPr>
        <p:txBody>
          <a:bodyPr wrap="square" lIns="0" tIns="0" rIns="0" bIns="0" rtlCol="0" anchor="ctr"/>
          <a:lstStyle/>
          <a:p>
            <a:pPr marL="0" indent="0" algn="ctr">
              <a:buNone/>
            </a:pPr>
            <a:r>
              <a:rPr lang="en-US" sz="1100" b="1" dirty="0">
                <a:solidFill>
                  <a:srgbClr val="E67E22"/>
                </a:solidFill>
                <a:latin typeface="Trebuchet MS" pitchFamily="34" charset="0"/>
                <a:ea typeface="Trebuchet MS" pitchFamily="34" charset="-122"/>
                <a:cs typeface="Trebuchet MS" pitchFamily="34" charset="-120"/>
              </a:rPr>
              <a:t>Port 7</a:t>
            </a:r>
            <a:endParaRPr lang="en-US" sz="1100" dirty="0"/>
          </a:p>
        </p:txBody>
      </p:sp>
      <p:sp>
        <p:nvSpPr>
          <p:cNvPr id="21" name="Shape 19"/>
          <p:cNvSpPr/>
          <p:nvPr/>
        </p:nvSpPr>
        <p:spPr>
          <a:xfrm>
            <a:off x="4892040" y="2743200"/>
            <a:ext cx="3886200" cy="329184"/>
          </a:xfrm>
          <a:prstGeom prst="rect">
            <a:avLst/>
          </a:prstGeom>
          <a:solidFill>
            <a:srgbClr val="152845"/>
          </a:solidFill>
          <a:ln w="12700">
            <a:solidFill>
              <a:srgbClr val="152845"/>
            </a:solidFill>
            <a:prstDash val="solid"/>
          </a:ln>
        </p:spPr>
      </p:sp>
      <p:sp>
        <p:nvSpPr>
          <p:cNvPr id="22" name="Text 20"/>
          <p:cNvSpPr/>
          <p:nvPr/>
        </p:nvSpPr>
        <p:spPr>
          <a:xfrm>
            <a:off x="4983480" y="2743200"/>
            <a:ext cx="2286000" cy="329184"/>
          </a:xfrm>
          <a:prstGeom prst="rect">
            <a:avLst/>
          </a:prstGeom>
          <a:noFill/>
          <a:ln/>
        </p:spPr>
        <p:txBody>
          <a:bodyPr wrap="square" lIns="0" tIns="0" rIns="0" bIns="0" rtlCol="0" anchor="ctr"/>
          <a:lstStyle/>
          <a:p>
            <a:pPr marL="0" indent="0" algn="ctr">
              <a:buNone/>
            </a:pPr>
            <a:r>
              <a:rPr lang="en-US" sz="1100" dirty="0">
                <a:solidFill>
                  <a:srgbClr val="D6EAF8"/>
                </a:solidFill>
                <a:latin typeface="Calibri" pitchFamily="34" charset="0"/>
                <a:ea typeface="Calibri" pitchFamily="34" charset="-122"/>
                <a:cs typeface="Calibri" pitchFamily="34" charset="-120"/>
              </a:rPr>
              <a:t>DD:DD:DD:DD:DD:DD</a:t>
            </a:r>
            <a:endParaRPr lang="en-US" sz="1100" dirty="0"/>
          </a:p>
        </p:txBody>
      </p:sp>
      <p:sp>
        <p:nvSpPr>
          <p:cNvPr id="23" name="Text 21"/>
          <p:cNvSpPr/>
          <p:nvPr/>
        </p:nvSpPr>
        <p:spPr>
          <a:xfrm>
            <a:off x="7178040" y="2743200"/>
            <a:ext cx="1508760" cy="329184"/>
          </a:xfrm>
          <a:prstGeom prst="rect">
            <a:avLst/>
          </a:prstGeom>
          <a:noFill/>
          <a:ln/>
        </p:spPr>
        <p:txBody>
          <a:bodyPr wrap="square" lIns="0" tIns="0" rIns="0" bIns="0" rtlCol="0" anchor="ctr"/>
          <a:lstStyle/>
          <a:p>
            <a:pPr marL="0" indent="0" algn="ctr">
              <a:buNone/>
            </a:pPr>
            <a:r>
              <a:rPr lang="en-US" sz="1100" b="1" dirty="0">
                <a:solidFill>
                  <a:srgbClr val="E67E22"/>
                </a:solidFill>
                <a:latin typeface="Trebuchet MS" pitchFamily="34" charset="0"/>
                <a:ea typeface="Trebuchet MS" pitchFamily="34" charset="-122"/>
                <a:cs typeface="Trebuchet MS" pitchFamily="34" charset="-120"/>
              </a:rPr>
              <a:t>Port 2</a:t>
            </a:r>
            <a:endParaRPr lang="en-US" sz="1100" dirty="0"/>
          </a:p>
        </p:txBody>
      </p:sp>
      <p:sp>
        <p:nvSpPr>
          <p:cNvPr id="24" name="Shape 22"/>
          <p:cNvSpPr/>
          <p:nvPr/>
        </p:nvSpPr>
        <p:spPr>
          <a:xfrm>
            <a:off x="4892040" y="3090672"/>
            <a:ext cx="3886200" cy="329184"/>
          </a:xfrm>
          <a:prstGeom prst="rect">
            <a:avLst/>
          </a:prstGeom>
          <a:solidFill>
            <a:srgbClr val="1A4D6E"/>
          </a:solidFill>
          <a:ln w="12700">
            <a:solidFill>
              <a:srgbClr val="1A4D6E"/>
            </a:solidFill>
            <a:prstDash val="solid"/>
          </a:ln>
        </p:spPr>
      </p:sp>
      <p:sp>
        <p:nvSpPr>
          <p:cNvPr id="25" name="Text 23"/>
          <p:cNvSpPr/>
          <p:nvPr/>
        </p:nvSpPr>
        <p:spPr>
          <a:xfrm>
            <a:off x="4983480" y="3090672"/>
            <a:ext cx="2286000" cy="329184"/>
          </a:xfrm>
          <a:prstGeom prst="rect">
            <a:avLst/>
          </a:prstGeom>
          <a:noFill/>
          <a:ln/>
        </p:spPr>
        <p:txBody>
          <a:bodyPr wrap="square" lIns="0" tIns="0" rIns="0" bIns="0" rtlCol="0" anchor="ctr"/>
          <a:lstStyle/>
          <a:p>
            <a:pPr marL="0" indent="0" algn="ctr">
              <a:buNone/>
            </a:pPr>
            <a:r>
              <a:rPr lang="en-US" sz="1100" dirty="0">
                <a:solidFill>
                  <a:srgbClr val="D6EAF8"/>
                </a:solidFill>
                <a:latin typeface="Calibri" pitchFamily="34" charset="0"/>
                <a:ea typeface="Calibri" pitchFamily="34" charset="-122"/>
                <a:cs typeface="Calibri" pitchFamily="34" charset="-120"/>
              </a:rPr>
              <a:t>EE:EE:EE:EE:EE:EE</a:t>
            </a:r>
            <a:endParaRPr lang="en-US" sz="1100" dirty="0"/>
          </a:p>
        </p:txBody>
      </p:sp>
      <p:sp>
        <p:nvSpPr>
          <p:cNvPr id="26" name="Text 24"/>
          <p:cNvSpPr/>
          <p:nvPr/>
        </p:nvSpPr>
        <p:spPr>
          <a:xfrm>
            <a:off x="7178040" y="3090672"/>
            <a:ext cx="1508760" cy="329184"/>
          </a:xfrm>
          <a:prstGeom prst="rect">
            <a:avLst/>
          </a:prstGeom>
          <a:noFill/>
          <a:ln/>
        </p:spPr>
        <p:txBody>
          <a:bodyPr wrap="square" lIns="0" tIns="0" rIns="0" bIns="0" rtlCol="0" anchor="ctr"/>
          <a:lstStyle/>
          <a:p>
            <a:pPr marL="0" indent="0" algn="ctr">
              <a:buNone/>
            </a:pPr>
            <a:r>
              <a:rPr lang="en-US" sz="1100" b="1" dirty="0">
                <a:solidFill>
                  <a:srgbClr val="E67E22"/>
                </a:solidFill>
                <a:latin typeface="Trebuchet MS" pitchFamily="34" charset="0"/>
                <a:ea typeface="Trebuchet MS" pitchFamily="34" charset="-122"/>
                <a:cs typeface="Trebuchet MS" pitchFamily="34" charset="-120"/>
              </a:rPr>
              <a:t>Port 4</a:t>
            </a:r>
            <a:endParaRPr lang="en-US" sz="1100" dirty="0"/>
          </a:p>
        </p:txBody>
      </p:sp>
      <p:sp>
        <p:nvSpPr>
          <p:cNvPr id="27" name="Text 25"/>
          <p:cNvSpPr/>
          <p:nvPr/>
        </p:nvSpPr>
        <p:spPr>
          <a:xfrm>
            <a:off x="457200" y="3675888"/>
            <a:ext cx="3703320" cy="274320"/>
          </a:xfrm>
          <a:prstGeom prst="rect">
            <a:avLst/>
          </a:prstGeom>
          <a:noFill/>
          <a:ln/>
        </p:spPr>
        <p:txBody>
          <a:bodyPr wrap="square" lIns="0" tIns="0" rIns="0" bIns="0" rtlCol="0" anchor="ctr"/>
          <a:lstStyle/>
          <a:p>
            <a:pPr marL="0" indent="0" algn="ctr">
              <a:buNone/>
            </a:pPr>
            <a:r>
              <a:rPr lang="en-US" sz="1100" dirty="0">
                <a:solidFill>
                  <a:srgbClr val="F0A500"/>
                </a:solidFill>
                <a:latin typeface="Calibri" pitchFamily="34" charset="0"/>
                <a:ea typeface="Calibri" pitchFamily="34" charset="-122"/>
                <a:cs typeface="Calibri" pitchFamily="34" charset="-120"/>
              </a:rPr>
              <a:t>AA:AA:AA:AA:AA:AA → Port 3 in VLAN 10</a:t>
            </a:r>
            <a:endParaRPr lang="en-US" sz="1100" dirty="0"/>
          </a:p>
        </p:txBody>
      </p:sp>
      <p:sp>
        <p:nvSpPr>
          <p:cNvPr id="28" name="Text 26"/>
          <p:cNvSpPr/>
          <p:nvPr/>
        </p:nvSpPr>
        <p:spPr>
          <a:xfrm>
            <a:off x="4983480" y="3675888"/>
            <a:ext cx="3703320" cy="274320"/>
          </a:xfrm>
          <a:prstGeom prst="rect">
            <a:avLst/>
          </a:prstGeom>
          <a:noFill/>
          <a:ln/>
        </p:spPr>
        <p:txBody>
          <a:bodyPr wrap="square" lIns="0" tIns="0" rIns="0" bIns="0" rtlCol="0" anchor="ctr"/>
          <a:lstStyle/>
          <a:p>
            <a:pPr marL="0" indent="0" algn="ctr">
              <a:buNone/>
            </a:pPr>
            <a:r>
              <a:rPr lang="en-US" sz="1100" dirty="0">
                <a:solidFill>
                  <a:srgbClr val="F0A500"/>
                </a:solidFill>
                <a:latin typeface="Calibri" pitchFamily="34" charset="0"/>
                <a:ea typeface="Calibri" pitchFamily="34" charset="-122"/>
                <a:cs typeface="Calibri" pitchFamily="34" charset="-120"/>
              </a:rPr>
              <a:t>AA:AA:AA:AA:AA:AA → Port 7 in VLAN 20</a:t>
            </a:r>
            <a:endParaRPr lang="en-US" sz="1100" dirty="0"/>
          </a:p>
        </p:txBody>
      </p:sp>
      <p:sp>
        <p:nvSpPr>
          <p:cNvPr id="29" name="Text 27"/>
          <p:cNvSpPr/>
          <p:nvPr/>
        </p:nvSpPr>
        <p:spPr>
          <a:xfrm>
            <a:off x="2194560" y="3931920"/>
            <a:ext cx="4754880" cy="256032"/>
          </a:xfrm>
          <a:prstGeom prst="rect">
            <a:avLst/>
          </a:prstGeom>
          <a:noFill/>
          <a:ln/>
        </p:spPr>
        <p:txBody>
          <a:bodyPr wrap="square" lIns="0" tIns="0" rIns="0" bIns="0" rtlCol="0" anchor="ctr"/>
          <a:lstStyle/>
          <a:p>
            <a:pPr marL="0" indent="0" algn="ctr">
              <a:buNone/>
            </a:pPr>
            <a:r>
              <a:rPr lang="en-US" sz="1100" dirty="0">
                <a:solidFill>
                  <a:srgbClr val="4A6B82"/>
                </a:solidFill>
                <a:latin typeface="Calibri" pitchFamily="34" charset="0"/>
                <a:ea typeface="Calibri" pitchFamily="34" charset="-122"/>
                <a:cs typeface="Calibri" pitchFamily="34" charset="-120"/>
              </a:rPr>
              <a:t>Same MAC — two separate, independent learned entries</a:t>
            </a:r>
            <a:endParaRPr lang="en-US" sz="1100" dirty="0"/>
          </a:p>
        </p:txBody>
      </p:sp>
      <p:sp>
        <p:nvSpPr>
          <p:cNvPr id="30" name="Shape 28"/>
          <p:cNvSpPr/>
          <p:nvPr/>
        </p:nvSpPr>
        <p:spPr>
          <a:xfrm>
            <a:off x="502920" y="4315968"/>
            <a:ext cx="8138160" cy="685800"/>
          </a:xfrm>
          <a:prstGeom prst="rect">
            <a:avLst/>
          </a:prstGeom>
          <a:solidFill>
            <a:srgbClr val="0B2D4E"/>
          </a:solidFill>
          <a:ln w="12700">
            <a:solidFill>
              <a:srgbClr val="0B2D4E"/>
            </a:solidFill>
            <a:prstDash val="solid"/>
          </a:ln>
        </p:spPr>
      </p:sp>
      <p:sp>
        <p:nvSpPr>
          <p:cNvPr id="31" name="Text 29"/>
          <p:cNvSpPr/>
          <p:nvPr/>
        </p:nvSpPr>
        <p:spPr>
          <a:xfrm>
            <a:off x="640080" y="4407408"/>
            <a:ext cx="7955280" cy="347472"/>
          </a:xfrm>
          <a:prstGeom prst="rect">
            <a:avLst/>
          </a:prstGeom>
          <a:noFill/>
          <a:ln/>
        </p:spPr>
        <p:txBody>
          <a:bodyPr wrap="square" lIns="0" tIns="0" rIns="0" bIns="0" rtlCol="0" anchor="ctr"/>
          <a:lstStyle/>
          <a:p>
            <a:pPr marL="0" indent="0" algn="l">
              <a:buNone/>
            </a:pPr>
            <a:r>
              <a:rPr lang="en-US" sz="1300" b="1" dirty="0">
                <a:solidFill>
                  <a:srgbClr val="F0A500"/>
                </a:solidFill>
                <a:latin typeface="Trebuchet MS" pitchFamily="34" charset="0"/>
                <a:ea typeface="Trebuchet MS" pitchFamily="34" charset="-122"/>
                <a:cs typeface="Trebuchet MS" pitchFamily="34" charset="-120"/>
              </a:rPr>
              <a:t>The IVL mental model:</a:t>
            </a:r>
            <a:endParaRPr lang="en-US" sz="1300" dirty="0"/>
          </a:p>
        </p:txBody>
      </p:sp>
      <p:sp>
        <p:nvSpPr>
          <p:cNvPr id="32" name="Text 30"/>
          <p:cNvSpPr/>
          <p:nvPr/>
        </p:nvSpPr>
        <p:spPr>
          <a:xfrm>
            <a:off x="640080" y="4791456"/>
            <a:ext cx="7955280" cy="118872"/>
          </a:xfrm>
          <a:prstGeom prst="rect">
            <a:avLst/>
          </a:prstGeom>
          <a:noFill/>
          <a:ln/>
        </p:spPr>
        <p:txBody>
          <a:bodyPr wrap="square" lIns="0" tIns="0" rIns="0" bIns="0" rtlCol="0" anchor="t"/>
          <a:lstStyle/>
          <a:p>
            <a:pPr marL="0" indent="0" algn="l">
              <a:buNone/>
            </a:pPr>
            <a:r>
              <a:rPr lang="en-US" sz="1200" dirty="0">
                <a:solidFill>
                  <a:srgbClr val="D6EAF8"/>
                </a:solidFill>
                <a:latin typeface="Calibri" pitchFamily="34" charset="0"/>
                <a:ea typeface="Calibri" pitchFamily="34" charset="-122"/>
                <a:cs typeface="Calibri" pitchFamily="34" charset="-120"/>
              </a:rPr>
              <a:t>The switch treats each VLAN as having its own MAC-learning world. Virtualization, cloning, and device reuse mean the same MAC can legitimately appear in multiple VLANs without any forwarding ambiguity.</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8FF"/>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3200" b="1" dirty="0">
                <a:solidFill>
                  <a:srgbClr val="0B2D4E"/>
                </a:solidFill>
                <a:latin typeface="Trebuchet MS" pitchFamily="34" charset="0"/>
                <a:ea typeface="Trebuchet MS" pitchFamily="34" charset="-122"/>
                <a:cs typeface="Trebuchet MS" pitchFamily="34" charset="-120"/>
              </a:rPr>
              <a:t>SVL: A Set of VLANs Shares One Learning View</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502920"/>
          </a:xfrm>
          <a:prstGeom prst="rect">
            <a:avLst/>
          </a:prstGeom>
          <a:noFill/>
          <a:ln/>
        </p:spPr>
        <p:txBody>
          <a:bodyPr wrap="square" lIns="0" tIns="0" rIns="0" bIns="0" rtlCol="0" anchor="t"/>
          <a:lstStyle/>
          <a:p>
            <a:pPr marL="0" indent="0" algn="l">
              <a:buNone/>
            </a:pPr>
            <a:r>
              <a:rPr lang="en-US" sz="1400" dirty="0">
                <a:solidFill>
                  <a:srgbClr val="0B2D4E"/>
                </a:solidFill>
                <a:latin typeface="Calibri" pitchFamily="34" charset="0"/>
                <a:ea typeface="Calibri" pitchFamily="34" charset="-122"/>
                <a:cs typeface="Calibri" pitchFamily="34" charset="-120"/>
              </a:rPr>
              <a:t>Under SVL, if a MAC address is learned in one VLAN, that information is used for forwarding decisions in all other VLANs in the same designated set:</a:t>
            </a:r>
            <a:endParaRPr lang="en-US" sz="1400" dirty="0"/>
          </a:p>
        </p:txBody>
      </p:sp>
      <p:sp>
        <p:nvSpPr>
          <p:cNvPr id="5" name="Shape 3"/>
          <p:cNvSpPr/>
          <p:nvPr/>
        </p:nvSpPr>
        <p:spPr>
          <a:xfrm>
            <a:off x="2103120" y="1901952"/>
            <a:ext cx="4937760" cy="384048"/>
          </a:xfrm>
          <a:prstGeom prst="rect">
            <a:avLst/>
          </a:prstGeom>
          <a:solidFill>
            <a:srgbClr val="E67E22"/>
          </a:solidFill>
          <a:ln w="12700">
            <a:solidFill>
              <a:srgbClr val="E67E22"/>
            </a:solidFill>
            <a:prstDash val="solid"/>
          </a:ln>
        </p:spPr>
      </p:sp>
      <p:sp>
        <p:nvSpPr>
          <p:cNvPr id="6" name="Text 4"/>
          <p:cNvSpPr/>
          <p:nvPr/>
        </p:nvSpPr>
        <p:spPr>
          <a:xfrm>
            <a:off x="2194560" y="1901952"/>
            <a:ext cx="475488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Shared FDB — VLANs 10, 20, and 30 (SVL group)</a:t>
            </a:r>
            <a:endParaRPr lang="en-US" sz="1300" dirty="0"/>
          </a:p>
        </p:txBody>
      </p:sp>
      <p:sp>
        <p:nvSpPr>
          <p:cNvPr id="7" name="Shape 5"/>
          <p:cNvSpPr/>
          <p:nvPr/>
        </p:nvSpPr>
        <p:spPr>
          <a:xfrm>
            <a:off x="2103120" y="2304288"/>
            <a:ext cx="4937760" cy="329184"/>
          </a:xfrm>
          <a:prstGeom prst="rect">
            <a:avLst/>
          </a:prstGeom>
          <a:solidFill>
            <a:srgbClr val="1A4D6E"/>
          </a:solidFill>
          <a:ln w="12700">
            <a:solidFill>
              <a:srgbClr val="1A4D6E"/>
            </a:solidFill>
            <a:prstDash val="solid"/>
          </a:ln>
        </p:spPr>
      </p:sp>
      <p:sp>
        <p:nvSpPr>
          <p:cNvPr id="8" name="Text 6"/>
          <p:cNvSpPr/>
          <p:nvPr/>
        </p:nvSpPr>
        <p:spPr>
          <a:xfrm>
            <a:off x="2194560" y="2304288"/>
            <a:ext cx="2194560" cy="329184"/>
          </a:xfrm>
          <a:prstGeom prst="rect">
            <a:avLst/>
          </a:prstGeom>
          <a:noFill/>
          <a:ln/>
        </p:spPr>
        <p:txBody>
          <a:bodyPr wrap="square" lIns="0" tIns="0" rIns="0" bIns="0" rtlCol="0" anchor="ctr"/>
          <a:lstStyle/>
          <a:p>
            <a:pPr marL="0" indent="0" algn="ctr">
              <a:buNone/>
            </a:pPr>
            <a:r>
              <a:rPr lang="en-US" sz="1100" dirty="0">
                <a:solidFill>
                  <a:srgbClr val="D6EAF8"/>
                </a:solidFill>
                <a:latin typeface="Calibri" pitchFamily="34" charset="0"/>
                <a:ea typeface="Calibri" pitchFamily="34" charset="-122"/>
                <a:cs typeface="Calibri" pitchFamily="34" charset="-120"/>
              </a:rPr>
              <a:t>AA:AA:AA:AA:AA:AA</a:t>
            </a:r>
            <a:endParaRPr lang="en-US" sz="1100" dirty="0"/>
          </a:p>
        </p:txBody>
      </p:sp>
      <p:sp>
        <p:nvSpPr>
          <p:cNvPr id="9" name="Text 7"/>
          <p:cNvSpPr/>
          <p:nvPr/>
        </p:nvSpPr>
        <p:spPr>
          <a:xfrm>
            <a:off x="4389120" y="2304288"/>
            <a:ext cx="1188720" cy="329184"/>
          </a:xfrm>
          <a:prstGeom prst="rect">
            <a:avLst/>
          </a:prstGeom>
          <a:noFill/>
          <a:ln/>
        </p:spPr>
        <p:txBody>
          <a:bodyPr wrap="square" lIns="0" tIns="0" rIns="0" bIns="0" rtlCol="0" anchor="ctr"/>
          <a:lstStyle/>
          <a:p>
            <a:pPr marL="0" indent="0" algn="ctr">
              <a:buNone/>
            </a:pPr>
            <a:r>
              <a:rPr lang="en-US" sz="1100" b="1" dirty="0">
                <a:solidFill>
                  <a:srgbClr val="E67E22"/>
                </a:solidFill>
                <a:latin typeface="Trebuchet MS" pitchFamily="34" charset="0"/>
                <a:ea typeface="Trebuchet MS" pitchFamily="34" charset="-122"/>
                <a:cs typeface="Trebuchet MS" pitchFamily="34" charset="-120"/>
              </a:rPr>
              <a:t>Port 3</a:t>
            </a:r>
            <a:endParaRPr lang="en-US" sz="1100" dirty="0"/>
          </a:p>
        </p:txBody>
      </p:sp>
      <p:sp>
        <p:nvSpPr>
          <p:cNvPr id="10" name="Text 8"/>
          <p:cNvSpPr/>
          <p:nvPr/>
        </p:nvSpPr>
        <p:spPr>
          <a:xfrm>
            <a:off x="5577840" y="2304288"/>
            <a:ext cx="1371600" cy="329184"/>
          </a:xfrm>
          <a:prstGeom prst="rect">
            <a:avLst/>
          </a:prstGeom>
          <a:noFill/>
          <a:ln/>
        </p:spPr>
        <p:txBody>
          <a:bodyPr wrap="square" lIns="0" tIns="0" rIns="0" bIns="0" rtlCol="0" anchor="ctr"/>
          <a:lstStyle/>
          <a:p>
            <a:pPr marL="0" indent="0" algn="ctr">
              <a:buNone/>
            </a:pPr>
            <a:r>
              <a:rPr lang="en-US" sz="1000" dirty="0">
                <a:solidFill>
                  <a:srgbClr val="4A6B82"/>
                </a:solidFill>
                <a:latin typeface="Calibri" pitchFamily="34" charset="0"/>
                <a:ea typeface="Calibri" pitchFamily="34" charset="-122"/>
                <a:cs typeface="Calibri" pitchFamily="34" charset="-120"/>
              </a:rPr>
              <a:t>VLAN 10 (learned here)</a:t>
            </a:r>
            <a:endParaRPr lang="en-US" sz="1000" dirty="0"/>
          </a:p>
        </p:txBody>
      </p:sp>
      <p:sp>
        <p:nvSpPr>
          <p:cNvPr id="11" name="Shape 9"/>
          <p:cNvSpPr/>
          <p:nvPr/>
        </p:nvSpPr>
        <p:spPr>
          <a:xfrm>
            <a:off x="2103120" y="2651760"/>
            <a:ext cx="4937760" cy="329184"/>
          </a:xfrm>
          <a:prstGeom prst="rect">
            <a:avLst/>
          </a:prstGeom>
          <a:solidFill>
            <a:srgbClr val="152845"/>
          </a:solidFill>
          <a:ln w="12700">
            <a:solidFill>
              <a:srgbClr val="152845"/>
            </a:solidFill>
            <a:prstDash val="solid"/>
          </a:ln>
        </p:spPr>
      </p:sp>
      <p:sp>
        <p:nvSpPr>
          <p:cNvPr id="12" name="Text 10"/>
          <p:cNvSpPr/>
          <p:nvPr/>
        </p:nvSpPr>
        <p:spPr>
          <a:xfrm>
            <a:off x="2194560" y="2651760"/>
            <a:ext cx="2194560" cy="329184"/>
          </a:xfrm>
          <a:prstGeom prst="rect">
            <a:avLst/>
          </a:prstGeom>
          <a:noFill/>
          <a:ln/>
        </p:spPr>
        <p:txBody>
          <a:bodyPr wrap="square" lIns="0" tIns="0" rIns="0" bIns="0" rtlCol="0" anchor="ctr"/>
          <a:lstStyle/>
          <a:p>
            <a:pPr marL="0" indent="0" algn="ctr">
              <a:buNone/>
            </a:pPr>
            <a:r>
              <a:rPr lang="en-US" sz="1100" dirty="0">
                <a:solidFill>
                  <a:srgbClr val="D6EAF8"/>
                </a:solidFill>
                <a:latin typeface="Calibri" pitchFamily="34" charset="0"/>
                <a:ea typeface="Calibri" pitchFamily="34" charset="-122"/>
                <a:cs typeface="Calibri" pitchFamily="34" charset="-120"/>
              </a:rPr>
              <a:t>BB:BB:BB:BB:BB:BB</a:t>
            </a:r>
            <a:endParaRPr lang="en-US" sz="1100" dirty="0"/>
          </a:p>
        </p:txBody>
      </p:sp>
      <p:sp>
        <p:nvSpPr>
          <p:cNvPr id="13" name="Text 11"/>
          <p:cNvSpPr/>
          <p:nvPr/>
        </p:nvSpPr>
        <p:spPr>
          <a:xfrm>
            <a:off x="4389120" y="2651760"/>
            <a:ext cx="1188720" cy="329184"/>
          </a:xfrm>
          <a:prstGeom prst="rect">
            <a:avLst/>
          </a:prstGeom>
          <a:noFill/>
          <a:ln/>
        </p:spPr>
        <p:txBody>
          <a:bodyPr wrap="square" lIns="0" tIns="0" rIns="0" bIns="0" rtlCol="0" anchor="ctr"/>
          <a:lstStyle/>
          <a:p>
            <a:pPr marL="0" indent="0" algn="ctr">
              <a:buNone/>
            </a:pPr>
            <a:r>
              <a:rPr lang="en-US" sz="1100" b="1" dirty="0">
                <a:solidFill>
                  <a:srgbClr val="E67E22"/>
                </a:solidFill>
                <a:latin typeface="Trebuchet MS" pitchFamily="34" charset="0"/>
                <a:ea typeface="Trebuchet MS" pitchFamily="34" charset="-122"/>
                <a:cs typeface="Trebuchet MS" pitchFamily="34" charset="-120"/>
              </a:rPr>
              <a:t>Port 1</a:t>
            </a:r>
            <a:endParaRPr lang="en-US" sz="1100" dirty="0"/>
          </a:p>
        </p:txBody>
      </p:sp>
      <p:sp>
        <p:nvSpPr>
          <p:cNvPr id="14" name="Text 12"/>
          <p:cNvSpPr/>
          <p:nvPr/>
        </p:nvSpPr>
        <p:spPr>
          <a:xfrm>
            <a:off x="5577840" y="2651760"/>
            <a:ext cx="1371600" cy="329184"/>
          </a:xfrm>
          <a:prstGeom prst="rect">
            <a:avLst/>
          </a:prstGeom>
          <a:noFill/>
          <a:ln/>
        </p:spPr>
        <p:txBody>
          <a:bodyPr wrap="square" lIns="0" tIns="0" rIns="0" bIns="0" rtlCol="0" anchor="ctr"/>
          <a:lstStyle/>
          <a:p>
            <a:pPr marL="0" indent="0" algn="ctr">
              <a:buNone/>
            </a:pPr>
            <a:r>
              <a:rPr lang="en-US" sz="1000" dirty="0">
                <a:solidFill>
                  <a:srgbClr val="4A6B82"/>
                </a:solidFill>
                <a:latin typeface="Calibri" pitchFamily="34" charset="0"/>
                <a:ea typeface="Calibri" pitchFamily="34" charset="-122"/>
                <a:cs typeface="Calibri" pitchFamily="34" charset="-120"/>
              </a:rPr>
              <a:t>VLAN 20 (learned here)</a:t>
            </a:r>
            <a:endParaRPr lang="en-US" sz="1000" dirty="0"/>
          </a:p>
        </p:txBody>
      </p:sp>
      <p:sp>
        <p:nvSpPr>
          <p:cNvPr id="15" name="Shape 13"/>
          <p:cNvSpPr/>
          <p:nvPr/>
        </p:nvSpPr>
        <p:spPr>
          <a:xfrm>
            <a:off x="2103120" y="2999232"/>
            <a:ext cx="4937760" cy="329184"/>
          </a:xfrm>
          <a:prstGeom prst="rect">
            <a:avLst/>
          </a:prstGeom>
          <a:solidFill>
            <a:srgbClr val="1A4D6E"/>
          </a:solidFill>
          <a:ln w="12700">
            <a:solidFill>
              <a:srgbClr val="1A4D6E"/>
            </a:solidFill>
            <a:prstDash val="solid"/>
          </a:ln>
        </p:spPr>
      </p:sp>
      <p:sp>
        <p:nvSpPr>
          <p:cNvPr id="16" name="Text 14"/>
          <p:cNvSpPr/>
          <p:nvPr/>
        </p:nvSpPr>
        <p:spPr>
          <a:xfrm>
            <a:off x="2194560" y="2999232"/>
            <a:ext cx="2194560" cy="329184"/>
          </a:xfrm>
          <a:prstGeom prst="rect">
            <a:avLst/>
          </a:prstGeom>
          <a:noFill/>
          <a:ln/>
        </p:spPr>
        <p:txBody>
          <a:bodyPr wrap="square" lIns="0" tIns="0" rIns="0" bIns="0" rtlCol="0" anchor="ctr"/>
          <a:lstStyle/>
          <a:p>
            <a:pPr marL="0" indent="0" algn="ctr">
              <a:buNone/>
            </a:pPr>
            <a:r>
              <a:rPr lang="en-US" sz="1100" dirty="0">
                <a:solidFill>
                  <a:srgbClr val="D6EAF8"/>
                </a:solidFill>
                <a:latin typeface="Calibri" pitchFamily="34" charset="0"/>
                <a:ea typeface="Calibri" pitchFamily="34" charset="-122"/>
                <a:cs typeface="Calibri" pitchFamily="34" charset="-120"/>
              </a:rPr>
              <a:t>CC:CC:CC:CC:CC:CC</a:t>
            </a:r>
            <a:endParaRPr lang="en-US" sz="1100" dirty="0"/>
          </a:p>
        </p:txBody>
      </p:sp>
      <p:sp>
        <p:nvSpPr>
          <p:cNvPr id="17" name="Text 15"/>
          <p:cNvSpPr/>
          <p:nvPr/>
        </p:nvSpPr>
        <p:spPr>
          <a:xfrm>
            <a:off x="4389120" y="2999232"/>
            <a:ext cx="1188720" cy="329184"/>
          </a:xfrm>
          <a:prstGeom prst="rect">
            <a:avLst/>
          </a:prstGeom>
          <a:noFill/>
          <a:ln/>
        </p:spPr>
        <p:txBody>
          <a:bodyPr wrap="square" lIns="0" tIns="0" rIns="0" bIns="0" rtlCol="0" anchor="ctr"/>
          <a:lstStyle/>
          <a:p>
            <a:pPr marL="0" indent="0" algn="ctr">
              <a:buNone/>
            </a:pPr>
            <a:r>
              <a:rPr lang="en-US" sz="1100" b="1" dirty="0">
                <a:solidFill>
                  <a:srgbClr val="E67E22"/>
                </a:solidFill>
                <a:latin typeface="Trebuchet MS" pitchFamily="34" charset="0"/>
                <a:ea typeface="Trebuchet MS" pitchFamily="34" charset="-122"/>
                <a:cs typeface="Trebuchet MS" pitchFamily="34" charset="-120"/>
              </a:rPr>
              <a:t>Port 5</a:t>
            </a:r>
            <a:endParaRPr lang="en-US" sz="1100" dirty="0"/>
          </a:p>
        </p:txBody>
      </p:sp>
      <p:sp>
        <p:nvSpPr>
          <p:cNvPr id="18" name="Text 16"/>
          <p:cNvSpPr/>
          <p:nvPr/>
        </p:nvSpPr>
        <p:spPr>
          <a:xfrm>
            <a:off x="5577840" y="2999232"/>
            <a:ext cx="1371600" cy="329184"/>
          </a:xfrm>
          <a:prstGeom prst="rect">
            <a:avLst/>
          </a:prstGeom>
          <a:noFill/>
          <a:ln/>
        </p:spPr>
        <p:txBody>
          <a:bodyPr wrap="square" lIns="0" tIns="0" rIns="0" bIns="0" rtlCol="0" anchor="ctr"/>
          <a:lstStyle/>
          <a:p>
            <a:pPr marL="0" indent="0" algn="ctr">
              <a:buNone/>
            </a:pPr>
            <a:r>
              <a:rPr lang="en-US" sz="1000" dirty="0">
                <a:solidFill>
                  <a:srgbClr val="4A6B82"/>
                </a:solidFill>
                <a:latin typeface="Calibri" pitchFamily="34" charset="0"/>
                <a:ea typeface="Calibri" pitchFamily="34" charset="-122"/>
                <a:cs typeface="Calibri" pitchFamily="34" charset="-120"/>
              </a:rPr>
              <a:t>VLAN 10 (learned here)</a:t>
            </a:r>
            <a:endParaRPr lang="en-US" sz="1000" dirty="0"/>
          </a:p>
        </p:txBody>
      </p:sp>
      <p:sp>
        <p:nvSpPr>
          <p:cNvPr id="19" name="Text 17"/>
          <p:cNvSpPr/>
          <p:nvPr/>
        </p:nvSpPr>
        <p:spPr>
          <a:xfrm>
            <a:off x="2103120" y="3364992"/>
            <a:ext cx="4937760" cy="274320"/>
          </a:xfrm>
          <a:prstGeom prst="rect">
            <a:avLst/>
          </a:prstGeom>
          <a:noFill/>
          <a:ln/>
        </p:spPr>
        <p:txBody>
          <a:bodyPr wrap="square" lIns="0" tIns="0" rIns="0" bIns="0" rtlCol="0" anchor="ctr"/>
          <a:lstStyle/>
          <a:p>
            <a:pPr marL="0" indent="0" algn="ctr">
              <a:buNone/>
            </a:pPr>
            <a:r>
              <a:rPr lang="en-US" sz="1100" dirty="0">
                <a:solidFill>
                  <a:srgbClr val="4A6B82"/>
                </a:solidFill>
                <a:latin typeface="Calibri" pitchFamily="34" charset="0"/>
                <a:ea typeface="Calibri" pitchFamily="34" charset="-122"/>
                <a:cs typeface="Calibri" pitchFamily="34" charset="-120"/>
              </a:rPr>
              <a:t>Used for forwarding in ALL three VLANs in this SVL group</a:t>
            </a:r>
            <a:endParaRPr lang="en-US" sz="1100" dirty="0"/>
          </a:p>
        </p:txBody>
      </p:sp>
      <p:sp>
        <p:nvSpPr>
          <p:cNvPr id="20" name="Shape 18"/>
          <p:cNvSpPr/>
          <p:nvPr/>
        </p:nvSpPr>
        <p:spPr>
          <a:xfrm>
            <a:off x="365760" y="3749040"/>
            <a:ext cx="2670048" cy="1261872"/>
          </a:xfrm>
          <a:prstGeom prst="rect">
            <a:avLst/>
          </a:prstGeom>
          <a:solidFill>
            <a:srgbClr val="0B2D4E"/>
          </a:solidFill>
          <a:ln w="25400">
            <a:solidFill>
              <a:srgbClr val="1A9DAA"/>
            </a:solidFill>
            <a:prstDash val="solid"/>
          </a:ln>
        </p:spPr>
      </p:sp>
      <p:sp>
        <p:nvSpPr>
          <p:cNvPr id="21" name="Text 19"/>
          <p:cNvSpPr/>
          <p:nvPr/>
        </p:nvSpPr>
        <p:spPr>
          <a:xfrm>
            <a:off x="475488" y="3840480"/>
            <a:ext cx="2450592" cy="320040"/>
          </a:xfrm>
          <a:prstGeom prst="rect">
            <a:avLst/>
          </a:prstGeom>
          <a:noFill/>
          <a:ln/>
        </p:spPr>
        <p:txBody>
          <a:bodyPr wrap="square" lIns="0" tIns="0" rIns="0" bIns="0" rtlCol="0" anchor="ctr"/>
          <a:lstStyle/>
          <a:p>
            <a:pPr marL="0" indent="0" algn="l">
              <a:buNone/>
            </a:pPr>
            <a:r>
              <a:rPr lang="en-US" sz="1200" b="1" dirty="0">
                <a:solidFill>
                  <a:srgbClr val="1A9DAA"/>
                </a:solidFill>
                <a:latin typeface="Trebuchet MS" pitchFamily="34" charset="0"/>
                <a:ea typeface="Trebuchet MS" pitchFamily="34" charset="-122"/>
                <a:cs typeface="Trebuchet MS" pitchFamily="34" charset="-120"/>
              </a:rPr>
              <a:t>Efficient reuse</a:t>
            </a:r>
            <a:endParaRPr lang="en-US" sz="1200" dirty="0"/>
          </a:p>
        </p:txBody>
      </p:sp>
      <p:sp>
        <p:nvSpPr>
          <p:cNvPr id="22" name="Shape 20"/>
          <p:cNvSpPr/>
          <p:nvPr/>
        </p:nvSpPr>
        <p:spPr>
          <a:xfrm>
            <a:off x="475488" y="4187952"/>
            <a:ext cx="2450592" cy="36576"/>
          </a:xfrm>
          <a:prstGeom prst="rect">
            <a:avLst/>
          </a:prstGeom>
          <a:solidFill>
            <a:srgbClr val="1A9DAA"/>
          </a:solidFill>
          <a:ln w="12700">
            <a:solidFill>
              <a:srgbClr val="1A9DAA"/>
            </a:solidFill>
            <a:prstDash val="solid"/>
          </a:ln>
        </p:spPr>
      </p:sp>
      <p:sp>
        <p:nvSpPr>
          <p:cNvPr id="23" name="Text 21"/>
          <p:cNvSpPr/>
          <p:nvPr/>
        </p:nvSpPr>
        <p:spPr>
          <a:xfrm>
            <a:off x="475488" y="4261104"/>
            <a:ext cx="2450592" cy="658368"/>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Learning the same endpoint in each VLAN separately is redundant when the underlying attachment space is the same. SVL avoids that duplication.</a:t>
            </a:r>
            <a:endParaRPr lang="en-US" sz="1100" dirty="0"/>
          </a:p>
        </p:txBody>
      </p:sp>
      <p:sp>
        <p:nvSpPr>
          <p:cNvPr id="24" name="Shape 22"/>
          <p:cNvSpPr/>
          <p:nvPr/>
        </p:nvSpPr>
        <p:spPr>
          <a:xfrm>
            <a:off x="3246120" y="3749040"/>
            <a:ext cx="2670048" cy="1261872"/>
          </a:xfrm>
          <a:prstGeom prst="rect">
            <a:avLst/>
          </a:prstGeom>
          <a:solidFill>
            <a:srgbClr val="0B2D4E"/>
          </a:solidFill>
          <a:ln w="25400">
            <a:solidFill>
              <a:srgbClr val="0E7C86"/>
            </a:solidFill>
            <a:prstDash val="solid"/>
          </a:ln>
        </p:spPr>
      </p:sp>
      <p:sp>
        <p:nvSpPr>
          <p:cNvPr id="25" name="Text 23"/>
          <p:cNvSpPr/>
          <p:nvPr/>
        </p:nvSpPr>
        <p:spPr>
          <a:xfrm>
            <a:off x="3355848" y="3840480"/>
            <a:ext cx="2450592" cy="320040"/>
          </a:xfrm>
          <a:prstGeom prst="rect">
            <a:avLst/>
          </a:prstGeom>
          <a:noFill/>
          <a:ln/>
        </p:spPr>
        <p:txBody>
          <a:bodyPr wrap="square" lIns="0" tIns="0" rIns="0" bIns="0" rtlCol="0" anchor="ctr"/>
          <a:lstStyle/>
          <a:p>
            <a:pPr marL="0" indent="0" algn="l">
              <a:buNone/>
            </a:pPr>
            <a:r>
              <a:rPr lang="en-US" sz="1200" b="1" dirty="0">
                <a:solidFill>
                  <a:srgbClr val="0E7C86"/>
                </a:solidFill>
                <a:latin typeface="Trebuchet MS" pitchFamily="34" charset="0"/>
                <a:ea typeface="Trebuchet MS" pitchFamily="34" charset="-122"/>
                <a:cs typeface="Trebuchet MS" pitchFamily="34" charset="-120"/>
              </a:rPr>
              <a:t>Scoped, not universal</a:t>
            </a:r>
            <a:endParaRPr lang="en-US" sz="1200" dirty="0"/>
          </a:p>
        </p:txBody>
      </p:sp>
      <p:sp>
        <p:nvSpPr>
          <p:cNvPr id="26" name="Shape 24"/>
          <p:cNvSpPr/>
          <p:nvPr/>
        </p:nvSpPr>
        <p:spPr>
          <a:xfrm>
            <a:off x="3355848" y="4187952"/>
            <a:ext cx="2450592" cy="36576"/>
          </a:xfrm>
          <a:prstGeom prst="rect">
            <a:avLst/>
          </a:prstGeom>
          <a:solidFill>
            <a:srgbClr val="0E7C86"/>
          </a:solidFill>
          <a:ln w="12700">
            <a:solidFill>
              <a:srgbClr val="0E7C86"/>
            </a:solidFill>
            <a:prstDash val="solid"/>
          </a:ln>
        </p:spPr>
      </p:sp>
      <p:sp>
        <p:nvSpPr>
          <p:cNvPr id="27" name="Text 25"/>
          <p:cNvSpPr/>
          <p:nvPr/>
        </p:nvSpPr>
        <p:spPr>
          <a:xfrm>
            <a:off x="3355848" y="4261104"/>
            <a:ext cx="2450592" cy="658368"/>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SVL does not mean all VLANs everywhere share one table. It means a configured set of VLANs shares a learning domain — others remain independent.</a:t>
            </a:r>
            <a:endParaRPr lang="en-US" sz="1100" dirty="0"/>
          </a:p>
        </p:txBody>
      </p:sp>
      <p:sp>
        <p:nvSpPr>
          <p:cNvPr id="28" name="Shape 26"/>
          <p:cNvSpPr/>
          <p:nvPr/>
        </p:nvSpPr>
        <p:spPr>
          <a:xfrm>
            <a:off x="6126480" y="3749040"/>
            <a:ext cx="2670048" cy="1261872"/>
          </a:xfrm>
          <a:prstGeom prst="rect">
            <a:avLst/>
          </a:prstGeom>
          <a:solidFill>
            <a:srgbClr val="0B2D4E"/>
          </a:solidFill>
          <a:ln w="25400">
            <a:solidFill>
              <a:srgbClr val="E67E22"/>
            </a:solidFill>
            <a:prstDash val="solid"/>
          </a:ln>
        </p:spPr>
      </p:sp>
      <p:sp>
        <p:nvSpPr>
          <p:cNvPr id="29" name="Text 27"/>
          <p:cNvSpPr/>
          <p:nvPr/>
        </p:nvSpPr>
        <p:spPr>
          <a:xfrm>
            <a:off x="6236208" y="3840480"/>
            <a:ext cx="2450592" cy="320040"/>
          </a:xfrm>
          <a:prstGeom prst="rect">
            <a:avLst/>
          </a:prstGeom>
          <a:noFill/>
          <a:ln/>
        </p:spPr>
        <p:txBody>
          <a:bodyPr wrap="square" lIns="0" tIns="0" rIns="0" bIns="0" rtlCol="0" anchor="ctr"/>
          <a:lstStyle/>
          <a:p>
            <a:pPr marL="0" indent="0" algn="l">
              <a:buNone/>
            </a:pPr>
            <a:r>
              <a:rPr lang="en-US" sz="1200" b="1" dirty="0">
                <a:solidFill>
                  <a:srgbClr val="E67E22"/>
                </a:solidFill>
                <a:latin typeface="Trebuchet MS" pitchFamily="34" charset="0"/>
                <a:ea typeface="Trebuchet MS" pitchFamily="34" charset="-122"/>
                <a:cs typeface="Trebuchet MS" pitchFamily="34" charset="-120"/>
              </a:rPr>
              <a:t>Use with intention</a:t>
            </a:r>
            <a:endParaRPr lang="en-US" sz="1200" dirty="0"/>
          </a:p>
        </p:txBody>
      </p:sp>
      <p:sp>
        <p:nvSpPr>
          <p:cNvPr id="30" name="Shape 28"/>
          <p:cNvSpPr/>
          <p:nvPr/>
        </p:nvSpPr>
        <p:spPr>
          <a:xfrm>
            <a:off x="6236208" y="4187952"/>
            <a:ext cx="2450592" cy="36576"/>
          </a:xfrm>
          <a:prstGeom prst="rect">
            <a:avLst/>
          </a:prstGeom>
          <a:solidFill>
            <a:srgbClr val="E67E22"/>
          </a:solidFill>
          <a:ln w="12700">
            <a:solidFill>
              <a:srgbClr val="E67E22"/>
            </a:solidFill>
            <a:prstDash val="solid"/>
          </a:ln>
        </p:spPr>
      </p:sp>
      <p:sp>
        <p:nvSpPr>
          <p:cNvPr id="31" name="Text 29"/>
          <p:cNvSpPr/>
          <p:nvPr/>
        </p:nvSpPr>
        <p:spPr>
          <a:xfrm>
            <a:off x="6236208" y="4261104"/>
            <a:ext cx="2450592" cy="658368"/>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SVL is useful in provider or transport designs where VLANs are distinct for policy or labeling reasons but do not represent separate reachability domains.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2D4E"/>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IVL vs SVL: Choosing the Right Model</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411480"/>
          </a:xfrm>
          <a:prstGeom prst="rect">
            <a:avLst/>
          </a:prstGeom>
          <a:noFill/>
          <a:ln/>
        </p:spPr>
        <p:txBody>
          <a:bodyPr wrap="square" lIns="0" tIns="0" rIns="0" bIns="0" rtlCol="0" anchor="t"/>
          <a:lstStyle/>
          <a:p>
            <a:pPr marL="0" indent="0" algn="l">
              <a:buNone/>
            </a:pPr>
            <a:r>
              <a:rPr lang="en-US" sz="1400" dirty="0">
                <a:solidFill>
                  <a:srgbClr val="D6EAF8"/>
                </a:solidFill>
                <a:latin typeface="Calibri" pitchFamily="34" charset="0"/>
                <a:ea typeface="Calibri" pitchFamily="34" charset="-122"/>
                <a:cs typeface="Calibri" pitchFamily="34" charset="-120"/>
              </a:rPr>
              <a:t>The choice is not aesthetic — it follows directly from what the VLANs actually represent in your design:</a:t>
            </a:r>
            <a:endParaRPr lang="en-US" sz="1400" dirty="0"/>
          </a:p>
        </p:txBody>
      </p:sp>
      <p:sp>
        <p:nvSpPr>
          <p:cNvPr id="5" name="Shape 3"/>
          <p:cNvSpPr/>
          <p:nvPr/>
        </p:nvSpPr>
        <p:spPr>
          <a:xfrm>
            <a:off x="365760" y="1783080"/>
            <a:ext cx="3246120" cy="347472"/>
          </a:xfrm>
          <a:prstGeom prst="rect">
            <a:avLst/>
          </a:prstGeom>
          <a:solidFill>
            <a:srgbClr val="4A6B82"/>
          </a:solidFill>
          <a:ln w="12700">
            <a:solidFill>
              <a:srgbClr val="4A6B82"/>
            </a:solidFill>
            <a:prstDash val="solid"/>
          </a:ln>
        </p:spPr>
      </p:sp>
      <p:sp>
        <p:nvSpPr>
          <p:cNvPr id="6" name="Text 4"/>
          <p:cNvSpPr/>
          <p:nvPr/>
        </p:nvSpPr>
        <p:spPr>
          <a:xfrm>
            <a:off x="457200" y="1783080"/>
            <a:ext cx="306324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Question</a:t>
            </a:r>
            <a:endParaRPr lang="en-US" sz="1200" dirty="0"/>
          </a:p>
        </p:txBody>
      </p:sp>
      <p:sp>
        <p:nvSpPr>
          <p:cNvPr id="7" name="Shape 5"/>
          <p:cNvSpPr/>
          <p:nvPr/>
        </p:nvSpPr>
        <p:spPr>
          <a:xfrm>
            <a:off x="3611880" y="1783080"/>
            <a:ext cx="2606040" cy="347472"/>
          </a:xfrm>
          <a:prstGeom prst="rect">
            <a:avLst/>
          </a:prstGeom>
          <a:solidFill>
            <a:srgbClr val="1A9DAA"/>
          </a:solidFill>
          <a:ln w="12700">
            <a:solidFill>
              <a:srgbClr val="1A9DAA"/>
            </a:solidFill>
            <a:prstDash val="solid"/>
          </a:ln>
        </p:spPr>
      </p:sp>
      <p:sp>
        <p:nvSpPr>
          <p:cNvPr id="8" name="Text 6"/>
          <p:cNvSpPr/>
          <p:nvPr/>
        </p:nvSpPr>
        <p:spPr>
          <a:xfrm>
            <a:off x="3703320" y="1783080"/>
            <a:ext cx="24231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IVL says...</a:t>
            </a:r>
            <a:endParaRPr lang="en-US" sz="1200" dirty="0"/>
          </a:p>
        </p:txBody>
      </p:sp>
      <p:sp>
        <p:nvSpPr>
          <p:cNvPr id="9" name="Shape 7"/>
          <p:cNvSpPr/>
          <p:nvPr/>
        </p:nvSpPr>
        <p:spPr>
          <a:xfrm>
            <a:off x="6217920" y="1783080"/>
            <a:ext cx="2606040" cy="347472"/>
          </a:xfrm>
          <a:prstGeom prst="rect">
            <a:avLst/>
          </a:prstGeom>
          <a:solidFill>
            <a:srgbClr val="E67E22"/>
          </a:solidFill>
          <a:ln w="12700">
            <a:solidFill>
              <a:srgbClr val="E67E22"/>
            </a:solidFill>
            <a:prstDash val="solid"/>
          </a:ln>
        </p:spPr>
      </p:sp>
      <p:sp>
        <p:nvSpPr>
          <p:cNvPr id="10" name="Text 8"/>
          <p:cNvSpPr/>
          <p:nvPr/>
        </p:nvSpPr>
        <p:spPr>
          <a:xfrm>
            <a:off x="6309360" y="1783080"/>
            <a:ext cx="242316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SVL says...</a:t>
            </a:r>
            <a:endParaRPr lang="en-US" sz="1200" dirty="0"/>
          </a:p>
        </p:txBody>
      </p:sp>
      <p:sp>
        <p:nvSpPr>
          <p:cNvPr id="11" name="Shape 9"/>
          <p:cNvSpPr/>
          <p:nvPr/>
        </p:nvSpPr>
        <p:spPr>
          <a:xfrm>
            <a:off x="365760" y="2148840"/>
            <a:ext cx="3246120" cy="475488"/>
          </a:xfrm>
          <a:prstGeom prst="rect">
            <a:avLst/>
          </a:prstGeom>
          <a:solidFill>
            <a:srgbClr val="1A4D6E"/>
          </a:solidFill>
          <a:ln w="12700">
            <a:solidFill>
              <a:srgbClr val="1A4D6E"/>
            </a:solidFill>
            <a:prstDash val="solid"/>
          </a:ln>
        </p:spPr>
      </p:sp>
      <p:sp>
        <p:nvSpPr>
          <p:cNvPr id="12" name="Text 10"/>
          <p:cNvSpPr/>
          <p:nvPr/>
        </p:nvSpPr>
        <p:spPr>
          <a:xfrm>
            <a:off x="457200" y="2148840"/>
            <a:ext cx="3063240" cy="475488"/>
          </a:xfrm>
          <a:prstGeom prst="rect">
            <a:avLst/>
          </a:prstGeom>
          <a:noFill/>
          <a:ln/>
        </p:spPr>
        <p:txBody>
          <a:bodyPr wrap="square" lIns="0" tIns="0" rIns="0" bIns="0" rtlCol="0" anchor="ctr"/>
          <a:lstStyle/>
          <a:p>
            <a:pPr marL="0" indent="0" algn="l">
              <a:buNone/>
            </a:pPr>
            <a:r>
              <a:rPr lang="en-US" sz="1000" dirty="0">
                <a:solidFill>
                  <a:srgbClr val="D6EAF8"/>
                </a:solidFill>
                <a:latin typeface="Calibri" pitchFamily="34" charset="0"/>
                <a:ea typeface="Calibri" pitchFamily="34" charset="-122"/>
                <a:cs typeface="Calibri" pitchFamily="34" charset="-120"/>
              </a:rPr>
              <a:t>Are VLANs separate broadcast and forwarding domains?</a:t>
            </a:r>
            <a:endParaRPr lang="en-US" sz="1000" dirty="0"/>
          </a:p>
        </p:txBody>
      </p:sp>
      <p:sp>
        <p:nvSpPr>
          <p:cNvPr id="13" name="Shape 11"/>
          <p:cNvSpPr/>
          <p:nvPr/>
        </p:nvSpPr>
        <p:spPr>
          <a:xfrm>
            <a:off x="3611880" y="2148840"/>
            <a:ext cx="2606040" cy="475488"/>
          </a:xfrm>
          <a:prstGeom prst="rect">
            <a:avLst/>
          </a:prstGeom>
          <a:solidFill>
            <a:srgbClr val="1A4D6E"/>
          </a:solidFill>
          <a:ln w="12700">
            <a:solidFill>
              <a:srgbClr val="1A4D6E"/>
            </a:solidFill>
            <a:prstDash val="solid"/>
          </a:ln>
        </p:spPr>
      </p:sp>
      <p:sp>
        <p:nvSpPr>
          <p:cNvPr id="14" name="Text 12"/>
          <p:cNvSpPr/>
          <p:nvPr/>
        </p:nvSpPr>
        <p:spPr>
          <a:xfrm>
            <a:off x="3703320" y="2148840"/>
            <a:ext cx="2423160" cy="475488"/>
          </a:xfrm>
          <a:prstGeom prst="rect">
            <a:avLst/>
          </a:prstGeom>
          <a:noFill/>
          <a:ln/>
        </p:spPr>
        <p:txBody>
          <a:bodyPr wrap="square" lIns="0" tIns="0" rIns="0" bIns="0" rtlCol="0" anchor="ctr"/>
          <a:lstStyle/>
          <a:p>
            <a:pPr marL="0" indent="0" algn="l">
              <a:buNone/>
            </a:pPr>
            <a:r>
              <a:rPr lang="en-US" sz="1000" b="1" dirty="0">
                <a:solidFill>
                  <a:srgbClr val="1A9DAA"/>
                </a:solidFill>
                <a:latin typeface="Trebuchet MS" pitchFamily="34" charset="0"/>
                <a:ea typeface="Trebuchet MS" pitchFamily="34" charset="-122"/>
                <a:cs typeface="Trebuchet MS" pitchFamily="34" charset="-120"/>
              </a:rPr>
              <a:t>✓ IVL natural fit — each VLAN is its own universe</a:t>
            </a:r>
            <a:endParaRPr lang="en-US" sz="1000" dirty="0"/>
          </a:p>
        </p:txBody>
      </p:sp>
      <p:sp>
        <p:nvSpPr>
          <p:cNvPr id="15" name="Shape 13"/>
          <p:cNvSpPr/>
          <p:nvPr/>
        </p:nvSpPr>
        <p:spPr>
          <a:xfrm>
            <a:off x="6217920" y="2148840"/>
            <a:ext cx="2606040" cy="475488"/>
          </a:xfrm>
          <a:prstGeom prst="rect">
            <a:avLst/>
          </a:prstGeom>
          <a:solidFill>
            <a:srgbClr val="1A4D6E"/>
          </a:solidFill>
          <a:ln w="12700">
            <a:solidFill>
              <a:srgbClr val="1A4D6E"/>
            </a:solidFill>
            <a:prstDash val="solid"/>
          </a:ln>
        </p:spPr>
      </p:sp>
      <p:sp>
        <p:nvSpPr>
          <p:cNvPr id="16" name="Text 14"/>
          <p:cNvSpPr/>
          <p:nvPr/>
        </p:nvSpPr>
        <p:spPr>
          <a:xfrm>
            <a:off x="6309360" y="2148840"/>
            <a:ext cx="2423160" cy="475488"/>
          </a:xfrm>
          <a:prstGeom prst="rect">
            <a:avLst/>
          </a:prstGeom>
          <a:noFill/>
          <a:ln/>
        </p:spPr>
        <p:txBody>
          <a:bodyPr wrap="square" lIns="0" tIns="0" rIns="0" bIns="0" rtlCol="0" anchor="ctr"/>
          <a:lstStyle/>
          <a:p>
            <a:pPr marL="0" indent="0" algn="l">
              <a:buNone/>
            </a:pPr>
            <a:r>
              <a:rPr lang="en-US" sz="1000" dirty="0">
                <a:solidFill>
                  <a:srgbClr val="D6EAF8"/>
                </a:solidFill>
                <a:latin typeface="Calibri" pitchFamily="34" charset="0"/>
                <a:ea typeface="Calibri" pitchFamily="34" charset="-122"/>
                <a:cs typeface="Calibri" pitchFamily="34" charset="-120"/>
              </a:rPr>
              <a:t>SVL would mix learning across intended boundaries</a:t>
            </a:r>
            <a:endParaRPr lang="en-US" sz="1000" dirty="0"/>
          </a:p>
        </p:txBody>
      </p:sp>
      <p:sp>
        <p:nvSpPr>
          <p:cNvPr id="17" name="Shape 15"/>
          <p:cNvSpPr/>
          <p:nvPr/>
        </p:nvSpPr>
        <p:spPr>
          <a:xfrm>
            <a:off x="365760" y="2679192"/>
            <a:ext cx="3246120" cy="475488"/>
          </a:xfrm>
          <a:prstGeom prst="rect">
            <a:avLst/>
          </a:prstGeom>
          <a:solidFill>
            <a:srgbClr val="152845"/>
          </a:solidFill>
          <a:ln w="12700">
            <a:solidFill>
              <a:srgbClr val="152845"/>
            </a:solidFill>
            <a:prstDash val="solid"/>
          </a:ln>
        </p:spPr>
      </p:sp>
      <p:sp>
        <p:nvSpPr>
          <p:cNvPr id="18" name="Text 16"/>
          <p:cNvSpPr/>
          <p:nvPr/>
        </p:nvSpPr>
        <p:spPr>
          <a:xfrm>
            <a:off x="457200" y="2679192"/>
            <a:ext cx="3063240" cy="475488"/>
          </a:xfrm>
          <a:prstGeom prst="rect">
            <a:avLst/>
          </a:prstGeom>
          <a:noFill/>
          <a:ln/>
        </p:spPr>
        <p:txBody>
          <a:bodyPr wrap="square" lIns="0" tIns="0" rIns="0" bIns="0" rtlCol="0" anchor="ctr"/>
          <a:lstStyle/>
          <a:p>
            <a:pPr marL="0" indent="0" algn="l">
              <a:buNone/>
            </a:pPr>
            <a:r>
              <a:rPr lang="en-US" sz="1000" dirty="0">
                <a:solidFill>
                  <a:srgbClr val="D6EAF8"/>
                </a:solidFill>
                <a:latin typeface="Calibri" pitchFamily="34" charset="0"/>
                <a:ea typeface="Calibri" pitchFamily="34" charset="-122"/>
                <a:cs typeface="Calibri" pitchFamily="34" charset="-120"/>
              </a:rPr>
              <a:t>Can the same MAC legitimately exist in multiple VLANs?</a:t>
            </a:r>
            <a:endParaRPr lang="en-US" sz="1000" dirty="0"/>
          </a:p>
        </p:txBody>
      </p:sp>
      <p:sp>
        <p:nvSpPr>
          <p:cNvPr id="19" name="Shape 17"/>
          <p:cNvSpPr/>
          <p:nvPr/>
        </p:nvSpPr>
        <p:spPr>
          <a:xfrm>
            <a:off x="3611880" y="2679192"/>
            <a:ext cx="2606040" cy="475488"/>
          </a:xfrm>
          <a:prstGeom prst="rect">
            <a:avLst/>
          </a:prstGeom>
          <a:solidFill>
            <a:srgbClr val="152845"/>
          </a:solidFill>
          <a:ln w="12700">
            <a:solidFill>
              <a:srgbClr val="152845"/>
            </a:solidFill>
            <a:prstDash val="solid"/>
          </a:ln>
        </p:spPr>
      </p:sp>
      <p:sp>
        <p:nvSpPr>
          <p:cNvPr id="20" name="Text 18"/>
          <p:cNvSpPr/>
          <p:nvPr/>
        </p:nvSpPr>
        <p:spPr>
          <a:xfrm>
            <a:off x="3703320" y="2679192"/>
            <a:ext cx="2423160" cy="475488"/>
          </a:xfrm>
          <a:prstGeom prst="rect">
            <a:avLst/>
          </a:prstGeom>
          <a:noFill/>
          <a:ln/>
        </p:spPr>
        <p:txBody>
          <a:bodyPr wrap="square" lIns="0" tIns="0" rIns="0" bIns="0" rtlCol="0" anchor="ctr"/>
          <a:lstStyle/>
          <a:p>
            <a:pPr marL="0" indent="0" algn="l">
              <a:buNone/>
            </a:pPr>
            <a:r>
              <a:rPr lang="en-US" sz="1000" b="1" dirty="0">
                <a:solidFill>
                  <a:srgbClr val="1A9DAA"/>
                </a:solidFill>
                <a:latin typeface="Trebuchet MS" pitchFamily="34" charset="0"/>
                <a:ea typeface="Trebuchet MS" pitchFamily="34" charset="-122"/>
                <a:cs typeface="Trebuchet MS" pitchFamily="34" charset="-120"/>
              </a:rPr>
              <a:t>✓ IVL handles this cleanly — separate FDB entries per VLAN</a:t>
            </a:r>
            <a:endParaRPr lang="en-US" sz="1000" dirty="0"/>
          </a:p>
        </p:txBody>
      </p:sp>
      <p:sp>
        <p:nvSpPr>
          <p:cNvPr id="21" name="Shape 19"/>
          <p:cNvSpPr/>
          <p:nvPr/>
        </p:nvSpPr>
        <p:spPr>
          <a:xfrm>
            <a:off x="6217920" y="2679192"/>
            <a:ext cx="2606040" cy="475488"/>
          </a:xfrm>
          <a:prstGeom prst="rect">
            <a:avLst/>
          </a:prstGeom>
          <a:solidFill>
            <a:srgbClr val="152845"/>
          </a:solidFill>
          <a:ln w="12700">
            <a:solidFill>
              <a:srgbClr val="152845"/>
            </a:solidFill>
            <a:prstDash val="solid"/>
          </a:ln>
        </p:spPr>
      </p:sp>
      <p:sp>
        <p:nvSpPr>
          <p:cNvPr id="22" name="Text 20"/>
          <p:cNvSpPr/>
          <p:nvPr/>
        </p:nvSpPr>
        <p:spPr>
          <a:xfrm>
            <a:off x="6309360" y="2679192"/>
            <a:ext cx="2423160" cy="475488"/>
          </a:xfrm>
          <a:prstGeom prst="rect">
            <a:avLst/>
          </a:prstGeom>
          <a:noFill/>
          <a:ln/>
        </p:spPr>
        <p:txBody>
          <a:bodyPr wrap="square" lIns="0" tIns="0" rIns="0" bIns="0" rtlCol="0" anchor="ctr"/>
          <a:lstStyle/>
          <a:p>
            <a:pPr marL="0" indent="0" algn="l">
              <a:buNone/>
            </a:pPr>
            <a:r>
              <a:rPr lang="en-US" sz="1000" dirty="0">
                <a:solidFill>
                  <a:srgbClr val="D6EAF8"/>
                </a:solidFill>
                <a:latin typeface="Calibri" pitchFamily="34" charset="0"/>
                <a:ea typeface="Calibri" pitchFamily="34" charset="-122"/>
                <a:cs typeface="Calibri" pitchFamily="34" charset="-120"/>
              </a:rPr>
              <a:t>SVL could cause forwarding ambiguity</a:t>
            </a:r>
            <a:endParaRPr lang="en-US" sz="1000" dirty="0"/>
          </a:p>
        </p:txBody>
      </p:sp>
      <p:sp>
        <p:nvSpPr>
          <p:cNvPr id="23" name="Shape 21"/>
          <p:cNvSpPr/>
          <p:nvPr/>
        </p:nvSpPr>
        <p:spPr>
          <a:xfrm>
            <a:off x="365760" y="3209544"/>
            <a:ext cx="3246120" cy="475488"/>
          </a:xfrm>
          <a:prstGeom prst="rect">
            <a:avLst/>
          </a:prstGeom>
          <a:solidFill>
            <a:srgbClr val="1A4D6E"/>
          </a:solidFill>
          <a:ln w="12700">
            <a:solidFill>
              <a:srgbClr val="1A4D6E"/>
            </a:solidFill>
            <a:prstDash val="solid"/>
          </a:ln>
        </p:spPr>
      </p:sp>
      <p:sp>
        <p:nvSpPr>
          <p:cNvPr id="24" name="Text 22"/>
          <p:cNvSpPr/>
          <p:nvPr/>
        </p:nvSpPr>
        <p:spPr>
          <a:xfrm>
            <a:off x="457200" y="3209544"/>
            <a:ext cx="3063240" cy="475488"/>
          </a:xfrm>
          <a:prstGeom prst="rect">
            <a:avLst/>
          </a:prstGeom>
          <a:noFill/>
          <a:ln/>
        </p:spPr>
        <p:txBody>
          <a:bodyPr wrap="square" lIns="0" tIns="0" rIns="0" bIns="0" rtlCol="0" anchor="ctr"/>
          <a:lstStyle/>
          <a:p>
            <a:pPr marL="0" indent="0" algn="l">
              <a:buNone/>
            </a:pPr>
            <a:r>
              <a:rPr lang="en-US" sz="1000" dirty="0">
                <a:solidFill>
                  <a:srgbClr val="D6EAF8"/>
                </a:solidFill>
                <a:latin typeface="Calibri" pitchFamily="34" charset="0"/>
                <a:ea typeface="Calibri" pitchFamily="34" charset="-122"/>
                <a:cs typeface="Calibri" pitchFamily="34" charset="-120"/>
              </a:rPr>
              <a:t>Are VLANs distinct in label but sharing an attachment space?</a:t>
            </a:r>
            <a:endParaRPr lang="en-US" sz="1000" dirty="0"/>
          </a:p>
        </p:txBody>
      </p:sp>
      <p:sp>
        <p:nvSpPr>
          <p:cNvPr id="25" name="Shape 23"/>
          <p:cNvSpPr/>
          <p:nvPr/>
        </p:nvSpPr>
        <p:spPr>
          <a:xfrm>
            <a:off x="3611880" y="3209544"/>
            <a:ext cx="2606040" cy="475488"/>
          </a:xfrm>
          <a:prstGeom prst="rect">
            <a:avLst/>
          </a:prstGeom>
          <a:solidFill>
            <a:srgbClr val="1A4D6E"/>
          </a:solidFill>
          <a:ln w="12700">
            <a:solidFill>
              <a:srgbClr val="1A4D6E"/>
            </a:solidFill>
            <a:prstDash val="solid"/>
          </a:ln>
        </p:spPr>
      </p:sp>
      <p:sp>
        <p:nvSpPr>
          <p:cNvPr id="26" name="Text 24"/>
          <p:cNvSpPr/>
          <p:nvPr/>
        </p:nvSpPr>
        <p:spPr>
          <a:xfrm>
            <a:off x="3703320" y="3209544"/>
            <a:ext cx="2423160" cy="475488"/>
          </a:xfrm>
          <a:prstGeom prst="rect">
            <a:avLst/>
          </a:prstGeom>
          <a:noFill/>
          <a:ln/>
        </p:spPr>
        <p:txBody>
          <a:bodyPr wrap="square" lIns="0" tIns="0" rIns="0" bIns="0" rtlCol="0" anchor="ctr"/>
          <a:lstStyle/>
          <a:p>
            <a:pPr marL="0" indent="0" algn="l">
              <a:buNone/>
            </a:pPr>
            <a:r>
              <a:rPr lang="en-US" sz="1000" dirty="0">
                <a:solidFill>
                  <a:srgbClr val="D6EAF8"/>
                </a:solidFill>
                <a:latin typeface="Calibri" pitchFamily="34" charset="0"/>
                <a:ea typeface="Calibri" pitchFamily="34" charset="-122"/>
                <a:cs typeface="Calibri" pitchFamily="34" charset="-120"/>
              </a:rPr>
              <a:t>IVL would create redundant per-VLAN learning</a:t>
            </a:r>
            <a:endParaRPr lang="en-US" sz="1000" dirty="0"/>
          </a:p>
        </p:txBody>
      </p:sp>
      <p:sp>
        <p:nvSpPr>
          <p:cNvPr id="27" name="Shape 25"/>
          <p:cNvSpPr/>
          <p:nvPr/>
        </p:nvSpPr>
        <p:spPr>
          <a:xfrm>
            <a:off x="6217920" y="3209544"/>
            <a:ext cx="2606040" cy="475488"/>
          </a:xfrm>
          <a:prstGeom prst="rect">
            <a:avLst/>
          </a:prstGeom>
          <a:solidFill>
            <a:srgbClr val="1A4D6E"/>
          </a:solidFill>
          <a:ln w="12700">
            <a:solidFill>
              <a:srgbClr val="1A4D6E"/>
            </a:solidFill>
            <a:prstDash val="solid"/>
          </a:ln>
        </p:spPr>
      </p:sp>
      <p:sp>
        <p:nvSpPr>
          <p:cNvPr id="28" name="Text 26"/>
          <p:cNvSpPr/>
          <p:nvPr/>
        </p:nvSpPr>
        <p:spPr>
          <a:xfrm>
            <a:off x="6309360" y="3209544"/>
            <a:ext cx="2423160" cy="475488"/>
          </a:xfrm>
          <a:prstGeom prst="rect">
            <a:avLst/>
          </a:prstGeom>
          <a:noFill/>
          <a:ln/>
        </p:spPr>
        <p:txBody>
          <a:bodyPr wrap="square" lIns="0" tIns="0" rIns="0" bIns="0" rtlCol="0" anchor="ctr"/>
          <a:lstStyle/>
          <a:p>
            <a:pPr marL="0" indent="0" algn="l">
              <a:buNone/>
            </a:pPr>
            <a:r>
              <a:rPr lang="en-US" sz="1000" b="1" dirty="0">
                <a:solidFill>
                  <a:srgbClr val="E67E22"/>
                </a:solidFill>
                <a:latin typeface="Trebuchet MS" pitchFamily="34" charset="0"/>
                <a:ea typeface="Trebuchet MS" pitchFamily="34" charset="-122"/>
                <a:cs typeface="Trebuchet MS" pitchFamily="34" charset="-120"/>
              </a:rPr>
              <a:t>✓ SVL avoids unnecessary duplication</a:t>
            </a:r>
            <a:endParaRPr lang="en-US" sz="1000" dirty="0"/>
          </a:p>
        </p:txBody>
      </p:sp>
      <p:sp>
        <p:nvSpPr>
          <p:cNvPr id="29" name="Shape 27"/>
          <p:cNvSpPr/>
          <p:nvPr/>
        </p:nvSpPr>
        <p:spPr>
          <a:xfrm>
            <a:off x="365760" y="3739896"/>
            <a:ext cx="3246120" cy="475488"/>
          </a:xfrm>
          <a:prstGeom prst="rect">
            <a:avLst/>
          </a:prstGeom>
          <a:solidFill>
            <a:srgbClr val="152845"/>
          </a:solidFill>
          <a:ln w="12700">
            <a:solidFill>
              <a:srgbClr val="152845"/>
            </a:solidFill>
            <a:prstDash val="solid"/>
          </a:ln>
        </p:spPr>
      </p:sp>
      <p:sp>
        <p:nvSpPr>
          <p:cNvPr id="30" name="Text 28"/>
          <p:cNvSpPr/>
          <p:nvPr/>
        </p:nvSpPr>
        <p:spPr>
          <a:xfrm>
            <a:off x="457200" y="3739896"/>
            <a:ext cx="3063240" cy="475488"/>
          </a:xfrm>
          <a:prstGeom prst="rect">
            <a:avLst/>
          </a:prstGeom>
          <a:noFill/>
          <a:ln/>
        </p:spPr>
        <p:txBody>
          <a:bodyPr wrap="square" lIns="0" tIns="0" rIns="0" bIns="0" rtlCol="0" anchor="ctr"/>
          <a:lstStyle/>
          <a:p>
            <a:pPr marL="0" indent="0" algn="l">
              <a:buNone/>
            </a:pPr>
            <a:r>
              <a:rPr lang="en-US" sz="1000" dirty="0">
                <a:solidFill>
                  <a:srgbClr val="D6EAF8"/>
                </a:solidFill>
                <a:latin typeface="Calibri" pitchFamily="34" charset="0"/>
                <a:ea typeface="Calibri" pitchFamily="34" charset="-122"/>
                <a:cs typeface="Calibri" pitchFamily="34" charset="-120"/>
              </a:rPr>
              <a:t>Is this a provider/transport design with VLAN bundles?</a:t>
            </a:r>
            <a:endParaRPr lang="en-US" sz="1000" dirty="0"/>
          </a:p>
        </p:txBody>
      </p:sp>
      <p:sp>
        <p:nvSpPr>
          <p:cNvPr id="31" name="Shape 29"/>
          <p:cNvSpPr/>
          <p:nvPr/>
        </p:nvSpPr>
        <p:spPr>
          <a:xfrm>
            <a:off x="3611880" y="3739896"/>
            <a:ext cx="2606040" cy="475488"/>
          </a:xfrm>
          <a:prstGeom prst="rect">
            <a:avLst/>
          </a:prstGeom>
          <a:solidFill>
            <a:srgbClr val="152845"/>
          </a:solidFill>
          <a:ln w="12700">
            <a:solidFill>
              <a:srgbClr val="152845"/>
            </a:solidFill>
            <a:prstDash val="solid"/>
          </a:ln>
        </p:spPr>
      </p:sp>
      <p:sp>
        <p:nvSpPr>
          <p:cNvPr id="32" name="Text 30"/>
          <p:cNvSpPr/>
          <p:nvPr/>
        </p:nvSpPr>
        <p:spPr>
          <a:xfrm>
            <a:off x="3703320" y="3739896"/>
            <a:ext cx="2423160" cy="475488"/>
          </a:xfrm>
          <a:prstGeom prst="rect">
            <a:avLst/>
          </a:prstGeom>
          <a:noFill/>
          <a:ln/>
        </p:spPr>
        <p:txBody>
          <a:bodyPr wrap="square" lIns="0" tIns="0" rIns="0" bIns="0" rtlCol="0" anchor="ctr"/>
          <a:lstStyle/>
          <a:p>
            <a:pPr marL="0" indent="0" algn="l">
              <a:buNone/>
            </a:pPr>
            <a:r>
              <a:rPr lang="en-US" sz="1000" dirty="0">
                <a:solidFill>
                  <a:srgbClr val="D6EAF8"/>
                </a:solidFill>
                <a:latin typeface="Calibri" pitchFamily="34" charset="0"/>
                <a:ea typeface="Calibri" pitchFamily="34" charset="-122"/>
                <a:cs typeface="Calibri" pitchFamily="34" charset="-120"/>
              </a:rPr>
              <a:t>IVL possible but less efficient here</a:t>
            </a:r>
            <a:endParaRPr lang="en-US" sz="1000" dirty="0"/>
          </a:p>
        </p:txBody>
      </p:sp>
      <p:sp>
        <p:nvSpPr>
          <p:cNvPr id="33" name="Shape 31"/>
          <p:cNvSpPr/>
          <p:nvPr/>
        </p:nvSpPr>
        <p:spPr>
          <a:xfrm>
            <a:off x="6217920" y="3739896"/>
            <a:ext cx="2606040" cy="475488"/>
          </a:xfrm>
          <a:prstGeom prst="rect">
            <a:avLst/>
          </a:prstGeom>
          <a:solidFill>
            <a:srgbClr val="152845"/>
          </a:solidFill>
          <a:ln w="12700">
            <a:solidFill>
              <a:srgbClr val="152845"/>
            </a:solidFill>
            <a:prstDash val="solid"/>
          </a:ln>
        </p:spPr>
      </p:sp>
      <p:sp>
        <p:nvSpPr>
          <p:cNvPr id="34" name="Text 32"/>
          <p:cNvSpPr/>
          <p:nvPr/>
        </p:nvSpPr>
        <p:spPr>
          <a:xfrm>
            <a:off x="6309360" y="3739896"/>
            <a:ext cx="2423160" cy="475488"/>
          </a:xfrm>
          <a:prstGeom prst="rect">
            <a:avLst/>
          </a:prstGeom>
          <a:noFill/>
          <a:ln/>
        </p:spPr>
        <p:txBody>
          <a:bodyPr wrap="square" lIns="0" tIns="0" rIns="0" bIns="0" rtlCol="0" anchor="ctr"/>
          <a:lstStyle/>
          <a:p>
            <a:pPr marL="0" indent="0" algn="l">
              <a:buNone/>
            </a:pPr>
            <a:r>
              <a:rPr lang="en-US" sz="1000" b="1" dirty="0">
                <a:solidFill>
                  <a:srgbClr val="E67E22"/>
                </a:solidFill>
                <a:latin typeface="Trebuchet MS" pitchFamily="34" charset="0"/>
                <a:ea typeface="Trebuchet MS" pitchFamily="34" charset="-122"/>
                <a:cs typeface="Trebuchet MS" pitchFamily="34" charset="-120"/>
              </a:rPr>
              <a:t>✓ SVL is often the right fit</a:t>
            </a:r>
            <a:endParaRPr lang="en-US" sz="1000" dirty="0"/>
          </a:p>
        </p:txBody>
      </p:sp>
      <p:sp>
        <p:nvSpPr>
          <p:cNvPr id="35" name="Shape 33"/>
          <p:cNvSpPr/>
          <p:nvPr/>
        </p:nvSpPr>
        <p:spPr>
          <a:xfrm>
            <a:off x="365760" y="4270248"/>
            <a:ext cx="3246120" cy="475488"/>
          </a:xfrm>
          <a:prstGeom prst="rect">
            <a:avLst/>
          </a:prstGeom>
          <a:solidFill>
            <a:srgbClr val="1A4D6E"/>
          </a:solidFill>
          <a:ln w="12700">
            <a:solidFill>
              <a:srgbClr val="1A4D6E"/>
            </a:solidFill>
            <a:prstDash val="solid"/>
          </a:ln>
        </p:spPr>
      </p:sp>
      <p:sp>
        <p:nvSpPr>
          <p:cNvPr id="36" name="Text 34"/>
          <p:cNvSpPr/>
          <p:nvPr/>
        </p:nvSpPr>
        <p:spPr>
          <a:xfrm>
            <a:off x="457200" y="4270248"/>
            <a:ext cx="3063240" cy="475488"/>
          </a:xfrm>
          <a:prstGeom prst="rect">
            <a:avLst/>
          </a:prstGeom>
          <a:noFill/>
          <a:ln/>
        </p:spPr>
        <p:txBody>
          <a:bodyPr wrap="square" lIns="0" tIns="0" rIns="0" bIns="0" rtlCol="0" anchor="ctr"/>
          <a:lstStyle/>
          <a:p>
            <a:pPr marL="0" indent="0" algn="l">
              <a:buNone/>
            </a:pPr>
            <a:r>
              <a:rPr lang="en-US" sz="1000" dirty="0">
                <a:solidFill>
                  <a:srgbClr val="D6EAF8"/>
                </a:solidFill>
                <a:latin typeface="Calibri" pitchFamily="34" charset="0"/>
                <a:ea typeface="Calibri" pitchFamily="34" charset="-122"/>
                <a:cs typeface="Calibri" pitchFamily="34" charset="-120"/>
              </a:rPr>
              <a:t>Default assumption when in doubt?</a:t>
            </a:r>
            <a:endParaRPr lang="en-US" sz="1000" dirty="0"/>
          </a:p>
        </p:txBody>
      </p:sp>
      <p:sp>
        <p:nvSpPr>
          <p:cNvPr id="37" name="Shape 35"/>
          <p:cNvSpPr/>
          <p:nvPr/>
        </p:nvSpPr>
        <p:spPr>
          <a:xfrm>
            <a:off x="3611880" y="4270248"/>
            <a:ext cx="2606040" cy="475488"/>
          </a:xfrm>
          <a:prstGeom prst="rect">
            <a:avLst/>
          </a:prstGeom>
          <a:solidFill>
            <a:srgbClr val="1A4D6E"/>
          </a:solidFill>
          <a:ln w="12700">
            <a:solidFill>
              <a:srgbClr val="1A4D6E"/>
            </a:solidFill>
            <a:prstDash val="solid"/>
          </a:ln>
        </p:spPr>
      </p:sp>
      <p:sp>
        <p:nvSpPr>
          <p:cNvPr id="38" name="Text 36"/>
          <p:cNvSpPr/>
          <p:nvPr/>
        </p:nvSpPr>
        <p:spPr>
          <a:xfrm>
            <a:off x="3703320" y="4270248"/>
            <a:ext cx="2423160" cy="475488"/>
          </a:xfrm>
          <a:prstGeom prst="rect">
            <a:avLst/>
          </a:prstGeom>
          <a:noFill/>
          <a:ln/>
        </p:spPr>
        <p:txBody>
          <a:bodyPr wrap="square" lIns="0" tIns="0" rIns="0" bIns="0" rtlCol="0" anchor="ctr"/>
          <a:lstStyle/>
          <a:p>
            <a:pPr marL="0" indent="0" algn="l">
              <a:buNone/>
            </a:pPr>
            <a:r>
              <a:rPr lang="en-US" sz="1000" b="1" dirty="0">
                <a:solidFill>
                  <a:srgbClr val="1A9DAA"/>
                </a:solidFill>
                <a:latin typeface="Trebuchet MS" pitchFamily="34" charset="0"/>
                <a:ea typeface="Trebuchet MS" pitchFamily="34" charset="-122"/>
                <a:cs typeface="Trebuchet MS" pitchFamily="34" charset="-120"/>
              </a:rPr>
              <a:t>✓ IVL — IEEE model defaults ivl-capable = true</a:t>
            </a:r>
            <a:endParaRPr lang="en-US" sz="1000" dirty="0"/>
          </a:p>
        </p:txBody>
      </p:sp>
      <p:sp>
        <p:nvSpPr>
          <p:cNvPr id="39" name="Shape 37"/>
          <p:cNvSpPr/>
          <p:nvPr/>
        </p:nvSpPr>
        <p:spPr>
          <a:xfrm>
            <a:off x="6217920" y="4270248"/>
            <a:ext cx="2606040" cy="475488"/>
          </a:xfrm>
          <a:prstGeom prst="rect">
            <a:avLst/>
          </a:prstGeom>
          <a:solidFill>
            <a:srgbClr val="1A4D6E"/>
          </a:solidFill>
          <a:ln w="12700">
            <a:solidFill>
              <a:srgbClr val="1A4D6E"/>
            </a:solidFill>
            <a:prstDash val="solid"/>
          </a:ln>
        </p:spPr>
      </p:sp>
      <p:sp>
        <p:nvSpPr>
          <p:cNvPr id="40" name="Text 38"/>
          <p:cNvSpPr/>
          <p:nvPr/>
        </p:nvSpPr>
        <p:spPr>
          <a:xfrm>
            <a:off x="6309360" y="4270248"/>
            <a:ext cx="2423160" cy="475488"/>
          </a:xfrm>
          <a:prstGeom prst="rect">
            <a:avLst/>
          </a:prstGeom>
          <a:noFill/>
          <a:ln/>
        </p:spPr>
        <p:txBody>
          <a:bodyPr wrap="square" lIns="0" tIns="0" rIns="0" bIns="0" rtlCol="0" anchor="ctr"/>
          <a:lstStyle/>
          <a:p>
            <a:pPr marL="0" indent="0" algn="l">
              <a:buNone/>
            </a:pPr>
            <a:r>
              <a:rPr lang="en-US" sz="1000" dirty="0">
                <a:solidFill>
                  <a:srgbClr val="D6EAF8"/>
                </a:solidFill>
                <a:latin typeface="Calibri" pitchFamily="34" charset="0"/>
                <a:ea typeface="Calibri" pitchFamily="34" charset="-122"/>
                <a:cs typeface="Calibri" pitchFamily="34" charset="-120"/>
              </a:rPr>
              <a:t>svl-capable defaults to false in 802.1Q model</a:t>
            </a:r>
            <a:endParaRPr lang="en-US" sz="1000" dirty="0"/>
          </a:p>
        </p:txBody>
      </p:sp>
      <p:sp>
        <p:nvSpPr>
          <p:cNvPr id="41" name="Shape 39"/>
          <p:cNvSpPr/>
          <p:nvPr/>
        </p:nvSpPr>
        <p:spPr>
          <a:xfrm>
            <a:off x="502920" y="4828032"/>
            <a:ext cx="8138160" cy="347472"/>
          </a:xfrm>
          <a:prstGeom prst="rect">
            <a:avLst/>
          </a:prstGeom>
          <a:solidFill>
            <a:srgbClr val="1A2D1E"/>
          </a:solidFill>
          <a:ln w="12700">
            <a:solidFill>
              <a:srgbClr val="1A2D1E"/>
            </a:solidFill>
            <a:prstDash val="solid"/>
          </a:ln>
        </p:spPr>
      </p:sp>
      <p:sp>
        <p:nvSpPr>
          <p:cNvPr id="42" name="Shape 40"/>
          <p:cNvSpPr/>
          <p:nvPr/>
        </p:nvSpPr>
        <p:spPr>
          <a:xfrm>
            <a:off x="502920" y="4828032"/>
            <a:ext cx="8138160" cy="347472"/>
          </a:xfrm>
          <a:prstGeom prst="rect">
            <a:avLst/>
          </a:prstGeom>
          <a:solidFill>
            <a:srgbClr val="1A2D1E"/>
          </a:solidFill>
          <a:ln w="25400">
            <a:solidFill>
              <a:srgbClr val="0E7C86"/>
            </a:solidFill>
            <a:prstDash val="solid"/>
          </a:ln>
        </p:spPr>
      </p:sp>
      <p:sp>
        <p:nvSpPr>
          <p:cNvPr id="43" name="Text 41"/>
          <p:cNvSpPr/>
          <p:nvPr/>
        </p:nvSpPr>
        <p:spPr>
          <a:xfrm>
            <a:off x="640080" y="4846320"/>
            <a:ext cx="7863840" cy="310896"/>
          </a:xfrm>
          <a:prstGeom prst="rect">
            <a:avLst/>
          </a:prstGeom>
          <a:noFill/>
          <a:ln/>
        </p:spPr>
        <p:txBody>
          <a:bodyPr wrap="square" lIns="0" tIns="0" rIns="0" bIns="0" rtlCol="0" anchor="ctr"/>
          <a:lstStyle/>
          <a:p>
            <a:pPr marL="0" indent="0" algn="ctr">
              <a:buNone/>
            </a:pPr>
            <a:r>
              <a:rPr lang="en-US" sz="1200" dirty="0">
                <a:solidFill>
                  <a:srgbClr val="D6EAF8"/>
                </a:solidFill>
                <a:latin typeface="Calibri" pitchFamily="34" charset="0"/>
                <a:ea typeface="Calibri" pitchFamily="34" charset="-122"/>
                <a:cs typeface="Calibri" pitchFamily="34" charset="-120"/>
              </a:rPr>
              <a:t>Start with IVL. Reach for SVL only when VLANs are distinct in label but intentionally share one learned attachment space.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8FF"/>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3400" b="1" dirty="0">
                <a:solidFill>
                  <a:srgbClr val="0B2D4E"/>
                </a:solidFill>
                <a:latin typeface="Trebuchet MS" pitchFamily="34" charset="0"/>
                <a:ea typeface="Trebuchet MS" pitchFamily="34" charset="-122"/>
                <a:cs typeface="Trebuchet MS" pitchFamily="34" charset="-120"/>
              </a:rPr>
              <a:t>Three Reasons VLANs Exist</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411480"/>
          </a:xfrm>
          <a:prstGeom prst="rect">
            <a:avLst/>
          </a:prstGeom>
          <a:noFill/>
          <a:ln/>
        </p:spPr>
        <p:txBody>
          <a:bodyPr wrap="square" lIns="0" tIns="0" rIns="0" bIns="0" rtlCol="0" anchor="t"/>
          <a:lstStyle/>
          <a:p>
            <a:pPr marL="0" indent="0" algn="l">
              <a:buNone/>
            </a:pPr>
            <a:r>
              <a:rPr lang="en-US" sz="1400" dirty="0">
                <a:solidFill>
                  <a:srgbClr val="0B2D4E"/>
                </a:solidFill>
                <a:latin typeface="Calibri" pitchFamily="34" charset="0"/>
                <a:ea typeface="Calibri" pitchFamily="34" charset="-122"/>
                <a:cs typeface="Calibri" pitchFamily="34" charset="-120"/>
              </a:rPr>
              <a:t>Not all VLANs exist for the same reason. Understanding the purpose explains why SVL vs IVL matters at all:</a:t>
            </a:r>
            <a:endParaRPr lang="en-US" sz="1400" dirty="0"/>
          </a:p>
        </p:txBody>
      </p:sp>
      <p:sp>
        <p:nvSpPr>
          <p:cNvPr id="5" name="Shape 3"/>
          <p:cNvSpPr/>
          <p:nvPr/>
        </p:nvSpPr>
        <p:spPr>
          <a:xfrm>
            <a:off x="365760" y="1847088"/>
            <a:ext cx="621792" cy="822960"/>
          </a:xfrm>
          <a:prstGeom prst="rect">
            <a:avLst/>
          </a:prstGeom>
          <a:solidFill>
            <a:srgbClr val="1A9DAA"/>
          </a:solidFill>
          <a:ln w="12700">
            <a:solidFill>
              <a:srgbClr val="1A9DAA"/>
            </a:solidFill>
            <a:prstDash val="solid"/>
          </a:ln>
        </p:spPr>
      </p:sp>
      <p:sp>
        <p:nvSpPr>
          <p:cNvPr id="6" name="Text 4"/>
          <p:cNvSpPr/>
          <p:nvPr/>
        </p:nvSpPr>
        <p:spPr>
          <a:xfrm>
            <a:off x="365760" y="1847088"/>
            <a:ext cx="621792"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1</a:t>
            </a:r>
            <a:endParaRPr lang="en-US" sz="2200" dirty="0"/>
          </a:p>
        </p:txBody>
      </p:sp>
      <p:sp>
        <p:nvSpPr>
          <p:cNvPr id="7" name="Shape 5"/>
          <p:cNvSpPr/>
          <p:nvPr/>
        </p:nvSpPr>
        <p:spPr>
          <a:xfrm>
            <a:off x="987552" y="1847088"/>
            <a:ext cx="7744968" cy="822960"/>
          </a:xfrm>
          <a:prstGeom prst="rect">
            <a:avLst/>
          </a:prstGeom>
          <a:solidFill>
            <a:srgbClr val="0B2D4E"/>
          </a:solidFill>
          <a:ln w="12700">
            <a:solidFill>
              <a:srgbClr val="0B2D4E"/>
            </a:solidFill>
            <a:prstDash val="solid"/>
          </a:ln>
        </p:spPr>
      </p:sp>
      <p:sp>
        <p:nvSpPr>
          <p:cNvPr id="8" name="Text 6"/>
          <p:cNvSpPr/>
          <p:nvPr/>
        </p:nvSpPr>
        <p:spPr>
          <a:xfrm>
            <a:off x="1115568" y="1920240"/>
            <a:ext cx="6583680" cy="347472"/>
          </a:xfrm>
          <a:prstGeom prst="rect">
            <a:avLst/>
          </a:prstGeom>
          <a:noFill/>
          <a:ln/>
        </p:spPr>
        <p:txBody>
          <a:bodyPr wrap="square" lIns="0" tIns="0" rIns="0" bIns="0" rtlCol="0" anchor="ctr"/>
          <a:lstStyle/>
          <a:p>
            <a:pPr marL="0" indent="0" algn="l">
              <a:buNone/>
            </a:pPr>
            <a:r>
              <a:rPr lang="en-US" sz="1300" b="1" dirty="0">
                <a:solidFill>
                  <a:srgbClr val="1A9DAA"/>
                </a:solidFill>
                <a:latin typeface="Trebuchet MS" pitchFamily="34" charset="0"/>
                <a:ea typeface="Trebuchet MS" pitchFamily="34" charset="-122"/>
                <a:cs typeface="Trebuchet MS" pitchFamily="34" charset="-120"/>
              </a:rPr>
              <a:t>Broadcast Domain Segmentation</a:t>
            </a:r>
            <a:endParaRPr lang="en-US" sz="1300" dirty="0"/>
          </a:p>
        </p:txBody>
      </p:sp>
      <p:sp>
        <p:nvSpPr>
          <p:cNvPr id="9" name="Text 7"/>
          <p:cNvSpPr/>
          <p:nvPr/>
        </p:nvSpPr>
        <p:spPr>
          <a:xfrm>
            <a:off x="1115568" y="2286000"/>
            <a:ext cx="5303520" cy="347472"/>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One VLAN = one isolated broadcast domain on a shared switch fabric. Broadcasts, unknown unicasts, and multicast are contained within VLAN scope. This is the most fundamental use.</a:t>
            </a:r>
            <a:endParaRPr lang="en-US" sz="1100" dirty="0"/>
          </a:p>
        </p:txBody>
      </p:sp>
      <p:sp>
        <p:nvSpPr>
          <p:cNvPr id="10" name="Shape 8"/>
          <p:cNvSpPr/>
          <p:nvPr/>
        </p:nvSpPr>
        <p:spPr>
          <a:xfrm>
            <a:off x="6400800" y="1938528"/>
            <a:ext cx="2148840" cy="640080"/>
          </a:xfrm>
          <a:prstGeom prst="rect">
            <a:avLst/>
          </a:prstGeom>
          <a:solidFill>
            <a:srgbClr val="1A4D6E"/>
          </a:solidFill>
          <a:ln w="12700">
            <a:solidFill>
              <a:srgbClr val="1A4D6E"/>
            </a:solidFill>
            <a:prstDash val="solid"/>
          </a:ln>
        </p:spPr>
      </p:sp>
      <p:sp>
        <p:nvSpPr>
          <p:cNvPr id="11" name="Shape 9"/>
          <p:cNvSpPr/>
          <p:nvPr/>
        </p:nvSpPr>
        <p:spPr>
          <a:xfrm>
            <a:off x="6400800" y="1938528"/>
            <a:ext cx="2148840" cy="640080"/>
          </a:xfrm>
          <a:prstGeom prst="rect">
            <a:avLst/>
          </a:prstGeom>
          <a:solidFill>
            <a:srgbClr val="1A4D6E"/>
          </a:solidFill>
          <a:ln w="25400">
            <a:solidFill>
              <a:srgbClr val="1A9DAA"/>
            </a:solidFill>
            <a:prstDash val="solid"/>
          </a:ln>
        </p:spPr>
      </p:sp>
      <p:sp>
        <p:nvSpPr>
          <p:cNvPr id="12" name="Text 10"/>
          <p:cNvSpPr/>
          <p:nvPr/>
        </p:nvSpPr>
        <p:spPr>
          <a:xfrm>
            <a:off x="6492240" y="1938528"/>
            <a:ext cx="1965960" cy="640080"/>
          </a:xfrm>
          <a:prstGeom prst="rect">
            <a:avLst/>
          </a:prstGeom>
          <a:noFill/>
          <a:ln/>
        </p:spPr>
        <p:txBody>
          <a:bodyPr wrap="square" lIns="0" tIns="0" rIns="0" bIns="0" rtlCol="0" anchor="ctr"/>
          <a:lstStyle/>
          <a:p>
            <a:pPr marL="0" indent="0" algn="ctr">
              <a:buNone/>
            </a:pPr>
            <a:r>
              <a:rPr lang="en-US" sz="900" b="1" dirty="0">
                <a:solidFill>
                  <a:srgbClr val="1A9DAA"/>
                </a:solidFill>
                <a:latin typeface="Trebuchet MS" pitchFamily="34" charset="0"/>
                <a:ea typeface="Trebuchet MS" pitchFamily="34" charset="-122"/>
                <a:cs typeface="Trebuchet MS" pitchFamily="34" charset="-120"/>
              </a:rPr>
              <a:t>Purpose: isolation · IVL is the natural fit</a:t>
            </a:r>
            <a:endParaRPr lang="en-US" sz="900" dirty="0"/>
          </a:p>
        </p:txBody>
      </p:sp>
      <p:sp>
        <p:nvSpPr>
          <p:cNvPr id="13" name="Shape 11"/>
          <p:cNvSpPr/>
          <p:nvPr/>
        </p:nvSpPr>
        <p:spPr>
          <a:xfrm>
            <a:off x="365760" y="2852928"/>
            <a:ext cx="621792" cy="822960"/>
          </a:xfrm>
          <a:prstGeom prst="rect">
            <a:avLst/>
          </a:prstGeom>
          <a:solidFill>
            <a:srgbClr val="2980B9"/>
          </a:solidFill>
          <a:ln w="12700">
            <a:solidFill>
              <a:srgbClr val="2980B9"/>
            </a:solidFill>
            <a:prstDash val="solid"/>
          </a:ln>
        </p:spPr>
      </p:sp>
      <p:sp>
        <p:nvSpPr>
          <p:cNvPr id="14" name="Text 12"/>
          <p:cNvSpPr/>
          <p:nvPr/>
        </p:nvSpPr>
        <p:spPr>
          <a:xfrm>
            <a:off x="365760" y="2852928"/>
            <a:ext cx="621792"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2</a:t>
            </a:r>
            <a:endParaRPr lang="en-US" sz="2200" dirty="0"/>
          </a:p>
        </p:txBody>
      </p:sp>
      <p:sp>
        <p:nvSpPr>
          <p:cNvPr id="15" name="Shape 13"/>
          <p:cNvSpPr/>
          <p:nvPr/>
        </p:nvSpPr>
        <p:spPr>
          <a:xfrm>
            <a:off x="987552" y="2852928"/>
            <a:ext cx="7744968" cy="822960"/>
          </a:xfrm>
          <a:prstGeom prst="rect">
            <a:avLst/>
          </a:prstGeom>
          <a:solidFill>
            <a:srgbClr val="0B2D4E"/>
          </a:solidFill>
          <a:ln w="12700">
            <a:solidFill>
              <a:srgbClr val="0B2D4E"/>
            </a:solidFill>
            <a:prstDash val="solid"/>
          </a:ln>
        </p:spPr>
      </p:sp>
      <p:sp>
        <p:nvSpPr>
          <p:cNvPr id="16" name="Text 14"/>
          <p:cNvSpPr/>
          <p:nvPr/>
        </p:nvSpPr>
        <p:spPr>
          <a:xfrm>
            <a:off x="1115568" y="2926080"/>
            <a:ext cx="6583680" cy="347472"/>
          </a:xfrm>
          <a:prstGeom prst="rect">
            <a:avLst/>
          </a:prstGeom>
          <a:noFill/>
          <a:ln/>
        </p:spPr>
        <p:txBody>
          <a:bodyPr wrap="square" lIns="0" tIns="0" rIns="0" bIns="0" rtlCol="0" anchor="ctr"/>
          <a:lstStyle/>
          <a:p>
            <a:pPr marL="0" indent="0" algn="l">
              <a:buNone/>
            </a:pPr>
            <a:r>
              <a:rPr lang="en-US" sz="1300" b="1" dirty="0">
                <a:solidFill>
                  <a:srgbClr val="2980B9"/>
                </a:solidFill>
                <a:latin typeface="Trebuchet MS" pitchFamily="34" charset="0"/>
                <a:ea typeface="Trebuchet MS" pitchFamily="34" charset="-122"/>
                <a:cs typeface="Trebuchet MS" pitchFamily="34" charset="-120"/>
              </a:rPr>
              <a:t>Policy Separation</a:t>
            </a:r>
            <a:endParaRPr lang="en-US" sz="1300" dirty="0"/>
          </a:p>
        </p:txBody>
      </p:sp>
      <p:sp>
        <p:nvSpPr>
          <p:cNvPr id="17" name="Text 15"/>
          <p:cNvSpPr/>
          <p:nvPr/>
        </p:nvSpPr>
        <p:spPr>
          <a:xfrm>
            <a:off x="1115568" y="3291840"/>
            <a:ext cx="5303520" cy="347472"/>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Even when topology is shared, different traffic groups get isolated for security, performance, or administrative reasons. Per-VLAN learning, filtering, and forwarding scope enforce those separations.</a:t>
            </a:r>
            <a:endParaRPr lang="en-US" sz="1100" dirty="0"/>
          </a:p>
        </p:txBody>
      </p:sp>
      <p:sp>
        <p:nvSpPr>
          <p:cNvPr id="18" name="Shape 16"/>
          <p:cNvSpPr/>
          <p:nvPr/>
        </p:nvSpPr>
        <p:spPr>
          <a:xfrm>
            <a:off x="6400800" y="2944368"/>
            <a:ext cx="2148840" cy="640080"/>
          </a:xfrm>
          <a:prstGeom prst="rect">
            <a:avLst/>
          </a:prstGeom>
          <a:solidFill>
            <a:srgbClr val="1A4D6E"/>
          </a:solidFill>
          <a:ln w="12700">
            <a:solidFill>
              <a:srgbClr val="1A4D6E"/>
            </a:solidFill>
            <a:prstDash val="solid"/>
          </a:ln>
        </p:spPr>
      </p:sp>
      <p:sp>
        <p:nvSpPr>
          <p:cNvPr id="19" name="Shape 17"/>
          <p:cNvSpPr/>
          <p:nvPr/>
        </p:nvSpPr>
        <p:spPr>
          <a:xfrm>
            <a:off x="6400800" y="2944368"/>
            <a:ext cx="2148840" cy="640080"/>
          </a:xfrm>
          <a:prstGeom prst="rect">
            <a:avLst/>
          </a:prstGeom>
          <a:solidFill>
            <a:srgbClr val="1A4D6E"/>
          </a:solidFill>
          <a:ln w="25400">
            <a:solidFill>
              <a:srgbClr val="2980B9"/>
            </a:solidFill>
            <a:prstDash val="solid"/>
          </a:ln>
        </p:spPr>
      </p:sp>
      <p:sp>
        <p:nvSpPr>
          <p:cNvPr id="20" name="Text 18"/>
          <p:cNvSpPr/>
          <p:nvPr/>
        </p:nvSpPr>
        <p:spPr>
          <a:xfrm>
            <a:off x="6492240" y="2944368"/>
            <a:ext cx="1965960" cy="640080"/>
          </a:xfrm>
          <a:prstGeom prst="rect">
            <a:avLst/>
          </a:prstGeom>
          <a:noFill/>
          <a:ln/>
        </p:spPr>
        <p:txBody>
          <a:bodyPr wrap="square" lIns="0" tIns="0" rIns="0" bIns="0" rtlCol="0" anchor="ctr"/>
          <a:lstStyle/>
          <a:p>
            <a:pPr marL="0" indent="0" algn="ctr">
              <a:buNone/>
            </a:pPr>
            <a:r>
              <a:rPr lang="en-US" sz="900" b="1" dirty="0">
                <a:solidFill>
                  <a:srgbClr val="2980B9"/>
                </a:solidFill>
                <a:latin typeface="Trebuchet MS" pitchFamily="34" charset="0"/>
                <a:ea typeface="Trebuchet MS" pitchFamily="34" charset="-122"/>
                <a:cs typeface="Trebuchet MS" pitchFamily="34" charset="-120"/>
              </a:rPr>
              <a:t>Purpose: access control · IVL again natural</a:t>
            </a:r>
            <a:endParaRPr lang="en-US" sz="900" dirty="0"/>
          </a:p>
        </p:txBody>
      </p:sp>
      <p:sp>
        <p:nvSpPr>
          <p:cNvPr id="21" name="Shape 19"/>
          <p:cNvSpPr/>
          <p:nvPr/>
        </p:nvSpPr>
        <p:spPr>
          <a:xfrm>
            <a:off x="365760" y="3858768"/>
            <a:ext cx="621792" cy="822960"/>
          </a:xfrm>
          <a:prstGeom prst="rect">
            <a:avLst/>
          </a:prstGeom>
          <a:solidFill>
            <a:srgbClr val="E67E22"/>
          </a:solidFill>
          <a:ln w="12700">
            <a:solidFill>
              <a:srgbClr val="E67E22"/>
            </a:solidFill>
            <a:prstDash val="solid"/>
          </a:ln>
        </p:spPr>
      </p:sp>
      <p:sp>
        <p:nvSpPr>
          <p:cNvPr id="22" name="Text 20"/>
          <p:cNvSpPr/>
          <p:nvPr/>
        </p:nvSpPr>
        <p:spPr>
          <a:xfrm>
            <a:off x="365760" y="3858768"/>
            <a:ext cx="621792"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3</a:t>
            </a:r>
            <a:endParaRPr lang="en-US" sz="2200" dirty="0"/>
          </a:p>
        </p:txBody>
      </p:sp>
      <p:sp>
        <p:nvSpPr>
          <p:cNvPr id="23" name="Shape 21"/>
          <p:cNvSpPr/>
          <p:nvPr/>
        </p:nvSpPr>
        <p:spPr>
          <a:xfrm>
            <a:off x="987552" y="3858768"/>
            <a:ext cx="7744968" cy="822960"/>
          </a:xfrm>
          <a:prstGeom prst="rect">
            <a:avLst/>
          </a:prstGeom>
          <a:solidFill>
            <a:srgbClr val="0B2D4E"/>
          </a:solidFill>
          <a:ln w="12700">
            <a:solidFill>
              <a:srgbClr val="0B2D4E"/>
            </a:solidFill>
            <a:prstDash val="solid"/>
          </a:ln>
        </p:spPr>
      </p:sp>
      <p:sp>
        <p:nvSpPr>
          <p:cNvPr id="24" name="Text 22"/>
          <p:cNvSpPr/>
          <p:nvPr/>
        </p:nvSpPr>
        <p:spPr>
          <a:xfrm>
            <a:off x="1115568" y="3931920"/>
            <a:ext cx="6583680" cy="347472"/>
          </a:xfrm>
          <a:prstGeom prst="rect">
            <a:avLst/>
          </a:prstGeom>
          <a:noFill/>
          <a:ln/>
        </p:spPr>
        <p:txBody>
          <a:bodyPr wrap="square" lIns="0" tIns="0" rIns="0" bIns="0" rtlCol="0" anchor="ctr"/>
          <a:lstStyle/>
          <a:p>
            <a:pPr marL="0" indent="0" algn="l">
              <a:buNone/>
            </a:pPr>
            <a:r>
              <a:rPr lang="en-US" sz="1300" b="1" dirty="0">
                <a:solidFill>
                  <a:srgbClr val="E67E22"/>
                </a:solidFill>
                <a:latin typeface="Trebuchet MS" pitchFamily="34" charset="0"/>
                <a:ea typeface="Trebuchet MS" pitchFamily="34" charset="-122"/>
                <a:cs typeface="Trebuchet MS" pitchFamily="34" charset="-120"/>
              </a:rPr>
              <a:t>Transport Context (C-VLAN / S-VLAN)</a:t>
            </a:r>
            <a:endParaRPr lang="en-US" sz="1300" dirty="0"/>
          </a:p>
        </p:txBody>
      </p:sp>
      <p:sp>
        <p:nvSpPr>
          <p:cNvPr id="25" name="Text 23"/>
          <p:cNvSpPr/>
          <p:nvPr/>
        </p:nvSpPr>
        <p:spPr>
          <a:xfrm>
            <a:off x="1115568" y="4297680"/>
            <a:ext cx="5303520" cy="347472"/>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S-VLANs (EtherType 0x88-A8) carry C-VLANs (0x81-00) transparently through a provider network. Here VLANs are envelopes, not end-user domains — SVL can be appropriate.</a:t>
            </a:r>
            <a:endParaRPr lang="en-US" sz="1100" dirty="0"/>
          </a:p>
        </p:txBody>
      </p:sp>
      <p:sp>
        <p:nvSpPr>
          <p:cNvPr id="26" name="Shape 24"/>
          <p:cNvSpPr/>
          <p:nvPr/>
        </p:nvSpPr>
        <p:spPr>
          <a:xfrm>
            <a:off x="6400800" y="3950208"/>
            <a:ext cx="2148840" cy="640080"/>
          </a:xfrm>
          <a:prstGeom prst="rect">
            <a:avLst/>
          </a:prstGeom>
          <a:solidFill>
            <a:srgbClr val="1A4D6E"/>
          </a:solidFill>
          <a:ln w="12700">
            <a:solidFill>
              <a:srgbClr val="1A4D6E"/>
            </a:solidFill>
            <a:prstDash val="solid"/>
          </a:ln>
        </p:spPr>
      </p:sp>
      <p:sp>
        <p:nvSpPr>
          <p:cNvPr id="27" name="Shape 25"/>
          <p:cNvSpPr/>
          <p:nvPr/>
        </p:nvSpPr>
        <p:spPr>
          <a:xfrm>
            <a:off x="6400800" y="3950208"/>
            <a:ext cx="2148840" cy="640080"/>
          </a:xfrm>
          <a:prstGeom prst="rect">
            <a:avLst/>
          </a:prstGeom>
          <a:solidFill>
            <a:srgbClr val="1A4D6E"/>
          </a:solidFill>
          <a:ln w="25400">
            <a:solidFill>
              <a:srgbClr val="E67E22"/>
            </a:solidFill>
            <a:prstDash val="solid"/>
          </a:ln>
        </p:spPr>
      </p:sp>
      <p:sp>
        <p:nvSpPr>
          <p:cNvPr id="28" name="Text 26"/>
          <p:cNvSpPr/>
          <p:nvPr/>
        </p:nvSpPr>
        <p:spPr>
          <a:xfrm>
            <a:off x="6492240" y="3950208"/>
            <a:ext cx="1965960" cy="640080"/>
          </a:xfrm>
          <a:prstGeom prst="rect">
            <a:avLst/>
          </a:prstGeom>
          <a:noFill/>
          <a:ln/>
        </p:spPr>
        <p:txBody>
          <a:bodyPr wrap="square" lIns="0" tIns="0" rIns="0" bIns="0" rtlCol="0" anchor="ctr"/>
          <a:lstStyle/>
          <a:p>
            <a:pPr marL="0" indent="0" algn="ctr">
              <a:buNone/>
            </a:pPr>
            <a:r>
              <a:rPr lang="en-US" sz="900" b="1" dirty="0">
                <a:solidFill>
                  <a:srgbClr val="E67E22"/>
                </a:solidFill>
                <a:latin typeface="Trebuchet MS" pitchFamily="34" charset="0"/>
                <a:ea typeface="Trebuchet MS" pitchFamily="34" charset="-122"/>
                <a:cs typeface="Trebuchet MS" pitchFamily="34" charset="-120"/>
              </a:rPr>
              <a:t>Purpose: encapsulation · SVL may fit here</a:t>
            </a:r>
            <a:endParaRPr lang="en-US" sz="900" dirty="0"/>
          </a:p>
        </p:txBody>
      </p:sp>
      <p:sp>
        <p:nvSpPr>
          <p:cNvPr id="29" name="Shape 27"/>
          <p:cNvSpPr/>
          <p:nvPr/>
        </p:nvSpPr>
        <p:spPr>
          <a:xfrm>
            <a:off x="365760" y="4892040"/>
            <a:ext cx="8366760" cy="566928"/>
          </a:xfrm>
          <a:prstGeom prst="rect">
            <a:avLst/>
          </a:prstGeom>
          <a:solidFill>
            <a:srgbClr val="0B2D4E"/>
          </a:solidFill>
          <a:ln w="12700">
            <a:solidFill>
              <a:srgbClr val="0B2D4E"/>
            </a:solidFill>
            <a:prstDash val="solid"/>
          </a:ln>
        </p:spPr>
      </p:sp>
      <p:sp>
        <p:nvSpPr>
          <p:cNvPr id="30" name="Text 28"/>
          <p:cNvSpPr/>
          <p:nvPr/>
        </p:nvSpPr>
        <p:spPr>
          <a:xfrm>
            <a:off x="502920" y="4983480"/>
            <a:ext cx="8183880" cy="347472"/>
          </a:xfrm>
          <a:prstGeom prst="rect">
            <a:avLst/>
          </a:prstGeom>
          <a:noFill/>
          <a:ln/>
        </p:spPr>
        <p:txBody>
          <a:bodyPr wrap="square" lIns="0" tIns="0" rIns="0" bIns="0" rtlCol="0" anchor="ctr"/>
          <a:lstStyle/>
          <a:p>
            <a:pPr marL="0" indent="0" algn="l">
              <a:buNone/>
            </a:pPr>
            <a:r>
              <a:rPr lang="en-US" sz="1300" b="1" dirty="0">
                <a:solidFill>
                  <a:srgbClr val="F0A500"/>
                </a:solidFill>
                <a:latin typeface="Trebuchet MS" pitchFamily="34" charset="0"/>
                <a:ea typeface="Trebuchet MS" pitchFamily="34" charset="-122"/>
                <a:cs typeface="Trebuchet MS" pitchFamily="34" charset="-120"/>
              </a:rPr>
              <a:t>Why this connects to IVL vs SVL:</a:t>
            </a:r>
            <a:endParaRPr lang="en-US" sz="1300" dirty="0"/>
          </a:p>
        </p:txBody>
      </p:sp>
      <p:sp>
        <p:nvSpPr>
          <p:cNvPr id="31" name="Text 29"/>
          <p:cNvSpPr/>
          <p:nvPr/>
        </p:nvSpPr>
        <p:spPr>
          <a:xfrm>
            <a:off x="502920" y="5367528"/>
            <a:ext cx="8183880" cy="0"/>
          </a:xfrm>
          <a:prstGeom prst="rect">
            <a:avLst/>
          </a:prstGeom>
          <a:noFill/>
          <a:ln/>
        </p:spPr>
        <p:txBody>
          <a:bodyPr wrap="square" lIns="0" tIns="0" rIns="0" bIns="0" rtlCol="0" anchor="t"/>
          <a:lstStyle>
            <a:lvl1pPr algn="l"/>
          </a:lstStyle>
          <a:p>
            <a:pPr marL="0" indent="0" algn="l">
              <a:buNone/>
            </a:pPr>
            <a:r>
              <a:rPr lang="en-US" sz="1200" dirty="0">
                <a:solidFill>
                  <a:srgbClr val="D6EAF8"/>
                </a:solidFill>
                <a:latin typeface="Calibri" pitchFamily="34" charset="0"/>
                <a:ea typeface="Calibri" pitchFamily="34" charset="-122"/>
                <a:cs typeface="Calibri" pitchFamily="34" charset="-120"/>
              </a:rPr>
              <a:t>VLANs for isolation → IVL.  VLANs for labeling or transport scoping over a shared topology → SVL may apply. The use case drives the learning model, not the other way around.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2D4E"/>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Why Switches Need Queues at Egress</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475488"/>
          </a:xfrm>
          <a:prstGeom prst="rect">
            <a:avLst/>
          </a:prstGeom>
          <a:noFill/>
          <a:ln/>
        </p:spPr>
        <p:txBody>
          <a:bodyPr wrap="square" lIns="0" tIns="0" rIns="0" bIns="0" rtlCol="0" anchor="t"/>
          <a:lstStyle/>
          <a:p>
            <a:pPr marL="0" indent="0" algn="l">
              <a:buNone/>
            </a:pPr>
            <a:r>
              <a:rPr lang="en-US" sz="1400" dirty="0">
                <a:solidFill>
                  <a:srgbClr val="D6EAF8"/>
                </a:solidFill>
                <a:latin typeface="Calibri" pitchFamily="34" charset="0"/>
                <a:ea typeface="Calibri" pitchFamily="34" charset="-122"/>
                <a:cs typeface="Calibri" pitchFamily="34" charset="-120"/>
              </a:rPr>
              <a:t>A switch does not need a queue only when the outgoing link is always instantly available. </a:t>
            </a:r>
          </a:p>
          <a:p>
            <a:pPr marL="0" indent="0" algn="l">
              <a:buNone/>
            </a:pPr>
            <a:r>
              <a:rPr lang="en-US" sz="1400" dirty="0">
                <a:solidFill>
                  <a:srgbClr val="D6EAF8"/>
                </a:solidFill>
                <a:latin typeface="Calibri" pitchFamily="34" charset="0"/>
                <a:ea typeface="Calibri" pitchFamily="34" charset="-122"/>
                <a:cs typeface="Calibri" pitchFamily="34" charset="-120"/>
              </a:rPr>
              <a:t>Real links do not work that way:</a:t>
            </a:r>
            <a:endParaRPr lang="en-US" sz="1400" dirty="0"/>
          </a:p>
        </p:txBody>
      </p:sp>
      <p:sp>
        <p:nvSpPr>
          <p:cNvPr id="5" name="Shape 3"/>
          <p:cNvSpPr/>
          <p:nvPr/>
        </p:nvSpPr>
        <p:spPr>
          <a:xfrm>
            <a:off x="365760" y="1938528"/>
            <a:ext cx="1280160" cy="566928"/>
          </a:xfrm>
          <a:prstGeom prst="rect">
            <a:avLst/>
          </a:prstGeom>
          <a:solidFill>
            <a:srgbClr val="1A9DAA"/>
          </a:solidFill>
          <a:ln w="12700">
            <a:solidFill>
              <a:srgbClr val="1A9DAA"/>
            </a:solidFill>
            <a:prstDash val="solid"/>
          </a:ln>
        </p:spPr>
      </p:sp>
      <p:sp>
        <p:nvSpPr>
          <p:cNvPr id="6" name="Text 4"/>
          <p:cNvSpPr/>
          <p:nvPr/>
        </p:nvSpPr>
        <p:spPr>
          <a:xfrm>
            <a:off x="365760" y="1938528"/>
            <a:ext cx="1280160" cy="56692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Port 1</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(ingress)</a:t>
            </a:r>
            <a:endParaRPr lang="en-US" sz="1100" dirty="0"/>
          </a:p>
        </p:txBody>
      </p:sp>
      <p:sp>
        <p:nvSpPr>
          <p:cNvPr id="7" name="Shape 5"/>
          <p:cNvSpPr/>
          <p:nvPr/>
        </p:nvSpPr>
        <p:spPr>
          <a:xfrm>
            <a:off x="365760" y="2670048"/>
            <a:ext cx="1280160" cy="566928"/>
          </a:xfrm>
          <a:prstGeom prst="rect">
            <a:avLst/>
          </a:prstGeom>
          <a:solidFill>
            <a:srgbClr val="1A9DAA"/>
          </a:solidFill>
          <a:ln w="12700">
            <a:solidFill>
              <a:srgbClr val="1A9DAA"/>
            </a:solidFill>
            <a:prstDash val="solid"/>
          </a:ln>
        </p:spPr>
      </p:sp>
      <p:sp>
        <p:nvSpPr>
          <p:cNvPr id="8" name="Text 6"/>
          <p:cNvSpPr/>
          <p:nvPr/>
        </p:nvSpPr>
        <p:spPr>
          <a:xfrm>
            <a:off x="365760" y="2670048"/>
            <a:ext cx="1280160" cy="56692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Port 2</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(ingress)</a:t>
            </a:r>
            <a:endParaRPr lang="en-US" sz="1100" dirty="0"/>
          </a:p>
        </p:txBody>
      </p:sp>
      <p:sp>
        <p:nvSpPr>
          <p:cNvPr id="9" name="Shape 7"/>
          <p:cNvSpPr/>
          <p:nvPr/>
        </p:nvSpPr>
        <p:spPr>
          <a:xfrm>
            <a:off x="365760" y="3401568"/>
            <a:ext cx="1280160" cy="566928"/>
          </a:xfrm>
          <a:prstGeom prst="rect">
            <a:avLst/>
          </a:prstGeom>
          <a:solidFill>
            <a:srgbClr val="1A9DAA"/>
          </a:solidFill>
          <a:ln w="12700">
            <a:solidFill>
              <a:srgbClr val="1A9DAA"/>
            </a:solidFill>
            <a:prstDash val="solid"/>
          </a:ln>
        </p:spPr>
      </p:sp>
      <p:sp>
        <p:nvSpPr>
          <p:cNvPr id="10" name="Text 8"/>
          <p:cNvSpPr/>
          <p:nvPr/>
        </p:nvSpPr>
        <p:spPr>
          <a:xfrm>
            <a:off x="365760" y="3401568"/>
            <a:ext cx="1280160" cy="566928"/>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Port 3</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(ingress)</a:t>
            </a:r>
            <a:endParaRPr lang="en-US" sz="1100" dirty="0"/>
          </a:p>
        </p:txBody>
      </p:sp>
      <p:sp>
        <p:nvSpPr>
          <p:cNvPr id="11" name="Shape 9"/>
          <p:cNvSpPr/>
          <p:nvPr/>
        </p:nvSpPr>
        <p:spPr>
          <a:xfrm>
            <a:off x="1645920" y="2221992"/>
            <a:ext cx="640080" cy="0"/>
          </a:xfrm>
          <a:prstGeom prst="line">
            <a:avLst/>
          </a:prstGeom>
          <a:noFill/>
          <a:ln w="25400">
            <a:solidFill>
              <a:srgbClr val="0E7C86"/>
            </a:solidFill>
            <a:prstDash val="solid"/>
          </a:ln>
        </p:spPr>
      </p:sp>
      <p:sp>
        <p:nvSpPr>
          <p:cNvPr id="12" name="Shape 10"/>
          <p:cNvSpPr/>
          <p:nvPr/>
        </p:nvSpPr>
        <p:spPr>
          <a:xfrm>
            <a:off x="1645920" y="2953512"/>
            <a:ext cx="640080" cy="0"/>
          </a:xfrm>
          <a:prstGeom prst="line">
            <a:avLst/>
          </a:prstGeom>
          <a:noFill/>
          <a:ln w="25400">
            <a:solidFill>
              <a:srgbClr val="0E7C86"/>
            </a:solidFill>
            <a:prstDash val="solid"/>
          </a:ln>
        </p:spPr>
      </p:sp>
      <p:sp>
        <p:nvSpPr>
          <p:cNvPr id="13" name="Shape 11"/>
          <p:cNvSpPr/>
          <p:nvPr/>
        </p:nvSpPr>
        <p:spPr>
          <a:xfrm>
            <a:off x="1645920" y="3685032"/>
            <a:ext cx="640080" cy="0"/>
          </a:xfrm>
          <a:prstGeom prst="line">
            <a:avLst/>
          </a:prstGeom>
          <a:noFill/>
          <a:ln w="25400">
            <a:solidFill>
              <a:srgbClr val="0E7C86"/>
            </a:solidFill>
            <a:prstDash val="solid"/>
          </a:ln>
        </p:spPr>
      </p:sp>
      <p:sp>
        <p:nvSpPr>
          <p:cNvPr id="14" name="Shape 12"/>
          <p:cNvSpPr/>
          <p:nvPr/>
        </p:nvSpPr>
        <p:spPr>
          <a:xfrm>
            <a:off x="2286000" y="1664208"/>
            <a:ext cx="3200400" cy="2468880"/>
          </a:xfrm>
          <a:prstGeom prst="rect">
            <a:avLst/>
          </a:prstGeom>
          <a:solidFill>
            <a:srgbClr val="1A4D6E"/>
          </a:solidFill>
          <a:ln w="12700">
            <a:solidFill>
              <a:srgbClr val="1A4D6E"/>
            </a:solidFill>
            <a:prstDash val="solid"/>
          </a:ln>
        </p:spPr>
      </p:sp>
      <p:sp>
        <p:nvSpPr>
          <p:cNvPr id="15" name="Shape 13"/>
          <p:cNvSpPr/>
          <p:nvPr/>
        </p:nvSpPr>
        <p:spPr>
          <a:xfrm>
            <a:off x="2286000" y="1664208"/>
            <a:ext cx="3200400" cy="2468880"/>
          </a:xfrm>
          <a:prstGeom prst="rect">
            <a:avLst/>
          </a:prstGeom>
          <a:solidFill>
            <a:srgbClr val="1A4D6E"/>
          </a:solidFill>
          <a:ln w="25400">
            <a:solidFill>
              <a:srgbClr val="E67E22"/>
            </a:solidFill>
            <a:prstDash val="solid"/>
          </a:ln>
        </p:spPr>
      </p:sp>
      <p:sp>
        <p:nvSpPr>
          <p:cNvPr id="16" name="Text 14"/>
          <p:cNvSpPr/>
          <p:nvPr/>
        </p:nvSpPr>
        <p:spPr>
          <a:xfrm>
            <a:off x="2377440" y="1719072"/>
            <a:ext cx="3017520" cy="347472"/>
          </a:xfrm>
          <a:prstGeom prst="rect">
            <a:avLst/>
          </a:prstGeom>
          <a:noFill/>
          <a:ln/>
        </p:spPr>
        <p:txBody>
          <a:bodyPr wrap="square" lIns="0" tIns="0" rIns="0" bIns="0" rtlCol="0" anchor="ctr"/>
          <a:lstStyle/>
          <a:p>
            <a:pPr marL="0" indent="0" algn="ctr">
              <a:buNone/>
            </a:pPr>
            <a:r>
              <a:rPr lang="en-US" sz="1200" b="1" dirty="0">
                <a:solidFill>
                  <a:srgbClr val="E67E22"/>
                </a:solidFill>
                <a:latin typeface="Trebuchet MS" pitchFamily="34" charset="0"/>
                <a:ea typeface="Trebuchet MS" pitchFamily="34" charset="-122"/>
                <a:cs typeface="Trebuchet MS" pitchFamily="34" charset="-120"/>
              </a:rPr>
              <a:t>Egress Queues</a:t>
            </a:r>
            <a:endParaRPr lang="en-US" sz="1200" dirty="0"/>
          </a:p>
        </p:txBody>
      </p:sp>
      <p:sp>
        <p:nvSpPr>
          <p:cNvPr id="17" name="Shape 15"/>
          <p:cNvSpPr/>
          <p:nvPr/>
        </p:nvSpPr>
        <p:spPr>
          <a:xfrm>
            <a:off x="2423160" y="2103120"/>
            <a:ext cx="2926080" cy="347472"/>
          </a:xfrm>
          <a:prstGeom prst="rect">
            <a:avLst/>
          </a:prstGeom>
          <a:solidFill>
            <a:srgbClr val="8E44AD"/>
          </a:solidFill>
          <a:ln w="12700">
            <a:solidFill>
              <a:srgbClr val="8E44AD"/>
            </a:solidFill>
            <a:prstDash val="solid"/>
          </a:ln>
        </p:spPr>
      </p:sp>
      <p:sp>
        <p:nvSpPr>
          <p:cNvPr id="18" name="Text 16"/>
          <p:cNvSpPr/>
          <p:nvPr/>
        </p:nvSpPr>
        <p:spPr>
          <a:xfrm>
            <a:off x="2514600" y="2103120"/>
            <a:ext cx="2743200" cy="34747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Priority Class 7 (highest)</a:t>
            </a:r>
            <a:endParaRPr lang="en-US" sz="1000" dirty="0"/>
          </a:p>
        </p:txBody>
      </p:sp>
      <p:sp>
        <p:nvSpPr>
          <p:cNvPr id="19" name="Shape 17"/>
          <p:cNvSpPr/>
          <p:nvPr/>
        </p:nvSpPr>
        <p:spPr>
          <a:xfrm>
            <a:off x="2423160" y="2514600"/>
            <a:ext cx="2926080" cy="347472"/>
          </a:xfrm>
          <a:prstGeom prst="rect">
            <a:avLst/>
          </a:prstGeom>
          <a:solidFill>
            <a:srgbClr val="2980B9"/>
          </a:solidFill>
          <a:ln w="12700">
            <a:solidFill>
              <a:srgbClr val="2980B9"/>
            </a:solidFill>
            <a:prstDash val="solid"/>
          </a:ln>
        </p:spPr>
      </p:sp>
      <p:sp>
        <p:nvSpPr>
          <p:cNvPr id="20" name="Text 18"/>
          <p:cNvSpPr/>
          <p:nvPr/>
        </p:nvSpPr>
        <p:spPr>
          <a:xfrm>
            <a:off x="2514600" y="2514600"/>
            <a:ext cx="2743200" cy="34747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Priority Class 4</a:t>
            </a:r>
            <a:endParaRPr lang="en-US" sz="1000" dirty="0"/>
          </a:p>
        </p:txBody>
      </p:sp>
      <p:sp>
        <p:nvSpPr>
          <p:cNvPr id="21" name="Shape 19"/>
          <p:cNvSpPr/>
          <p:nvPr/>
        </p:nvSpPr>
        <p:spPr>
          <a:xfrm>
            <a:off x="2423160" y="2926080"/>
            <a:ext cx="2926080" cy="347472"/>
          </a:xfrm>
          <a:prstGeom prst="rect">
            <a:avLst/>
          </a:prstGeom>
          <a:solidFill>
            <a:srgbClr val="0E7C86"/>
          </a:solidFill>
          <a:ln w="12700">
            <a:solidFill>
              <a:srgbClr val="0E7C86"/>
            </a:solidFill>
            <a:prstDash val="solid"/>
          </a:ln>
        </p:spPr>
      </p:sp>
      <p:sp>
        <p:nvSpPr>
          <p:cNvPr id="22" name="Text 20"/>
          <p:cNvSpPr/>
          <p:nvPr/>
        </p:nvSpPr>
        <p:spPr>
          <a:xfrm>
            <a:off x="2514600" y="2926080"/>
            <a:ext cx="2743200" cy="34747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Priority Class 2</a:t>
            </a:r>
            <a:endParaRPr lang="en-US" sz="1000" dirty="0"/>
          </a:p>
        </p:txBody>
      </p:sp>
      <p:sp>
        <p:nvSpPr>
          <p:cNvPr id="23" name="Shape 21"/>
          <p:cNvSpPr/>
          <p:nvPr/>
        </p:nvSpPr>
        <p:spPr>
          <a:xfrm>
            <a:off x="2423160" y="3337560"/>
            <a:ext cx="2926080" cy="347472"/>
          </a:xfrm>
          <a:prstGeom prst="rect">
            <a:avLst/>
          </a:prstGeom>
          <a:solidFill>
            <a:srgbClr val="4A6B82"/>
          </a:solidFill>
          <a:ln w="12700">
            <a:solidFill>
              <a:srgbClr val="4A6B82"/>
            </a:solidFill>
            <a:prstDash val="solid"/>
          </a:ln>
        </p:spPr>
      </p:sp>
      <p:sp>
        <p:nvSpPr>
          <p:cNvPr id="24" name="Text 22"/>
          <p:cNvSpPr/>
          <p:nvPr/>
        </p:nvSpPr>
        <p:spPr>
          <a:xfrm>
            <a:off x="2514600" y="3337560"/>
            <a:ext cx="2743200" cy="347472"/>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Priority Class 0 (lowest)</a:t>
            </a:r>
            <a:endParaRPr lang="en-US" sz="1000" dirty="0"/>
          </a:p>
        </p:txBody>
      </p:sp>
      <p:sp>
        <p:nvSpPr>
          <p:cNvPr id="25" name="Shape 23"/>
          <p:cNvSpPr/>
          <p:nvPr/>
        </p:nvSpPr>
        <p:spPr>
          <a:xfrm>
            <a:off x="5486400" y="2898648"/>
            <a:ext cx="548640" cy="0"/>
          </a:xfrm>
          <a:prstGeom prst="line">
            <a:avLst/>
          </a:prstGeom>
          <a:noFill/>
          <a:ln w="25400">
            <a:solidFill>
              <a:srgbClr val="0E7C86"/>
            </a:solidFill>
            <a:prstDash val="solid"/>
          </a:ln>
        </p:spPr>
      </p:sp>
      <p:sp>
        <p:nvSpPr>
          <p:cNvPr id="26" name="Text 24"/>
          <p:cNvSpPr/>
          <p:nvPr/>
        </p:nvSpPr>
        <p:spPr>
          <a:xfrm>
            <a:off x="5486400" y="2697480"/>
            <a:ext cx="548640" cy="402336"/>
          </a:xfrm>
          <a:prstGeom prst="rect">
            <a:avLst/>
          </a:prstGeom>
          <a:noFill/>
          <a:ln/>
        </p:spPr>
        <p:txBody>
          <a:bodyPr wrap="square" lIns="0" tIns="0" rIns="0" bIns="0" rtlCol="0" anchor="ctr"/>
          <a:lstStyle/>
          <a:p>
            <a:pPr marL="0" indent="0" algn="ctr">
              <a:buNone/>
            </a:pPr>
            <a:r>
              <a:rPr lang="en-US" sz="1600" b="1" dirty="0">
                <a:solidFill>
                  <a:srgbClr val="0E7C86"/>
                </a:solidFill>
                <a:latin typeface="Trebuchet MS" pitchFamily="34" charset="0"/>
                <a:ea typeface="Trebuchet MS" pitchFamily="34" charset="-122"/>
                <a:cs typeface="Trebuchet MS" pitchFamily="34" charset="-120"/>
              </a:rPr>
              <a:t>-&gt;</a:t>
            </a:r>
            <a:endParaRPr lang="en-US" sz="1600" dirty="0"/>
          </a:p>
        </p:txBody>
      </p:sp>
      <p:sp>
        <p:nvSpPr>
          <p:cNvPr id="27" name="Shape 25"/>
          <p:cNvSpPr/>
          <p:nvPr/>
        </p:nvSpPr>
        <p:spPr>
          <a:xfrm>
            <a:off x="6035040" y="2578608"/>
            <a:ext cx="1280160" cy="658368"/>
          </a:xfrm>
          <a:prstGeom prst="rect">
            <a:avLst/>
          </a:prstGeom>
          <a:solidFill>
            <a:srgbClr val="C0392B"/>
          </a:solidFill>
          <a:ln w="12700">
            <a:solidFill>
              <a:srgbClr val="C0392B"/>
            </a:solidFill>
            <a:prstDash val="solid"/>
          </a:ln>
        </p:spPr>
      </p:sp>
      <p:sp>
        <p:nvSpPr>
          <p:cNvPr id="28" name="Text 26"/>
          <p:cNvSpPr/>
          <p:nvPr/>
        </p:nvSpPr>
        <p:spPr>
          <a:xfrm>
            <a:off x="6035040" y="2578608"/>
            <a:ext cx="1280160" cy="658368"/>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Egress</a:t>
            </a:r>
            <a:endParaRPr lang="en-US" sz="1200" dirty="0"/>
          </a:p>
          <a:p>
            <a:pPr marL="0" indent="0" algn="ctr">
              <a:buNone/>
            </a:pPr>
            <a:r>
              <a:rPr lang="en-US" sz="1200" b="1" dirty="0">
                <a:solidFill>
                  <a:srgbClr val="FFFFFF"/>
                </a:solidFill>
                <a:latin typeface="Trebuchet MS" pitchFamily="34" charset="0"/>
                <a:ea typeface="Trebuchet MS" pitchFamily="34" charset="-122"/>
                <a:cs typeface="Trebuchet MS" pitchFamily="34" charset="-120"/>
              </a:rPr>
              <a:t>Port</a:t>
            </a:r>
            <a:endParaRPr lang="en-US" sz="1200" dirty="0"/>
          </a:p>
        </p:txBody>
      </p:sp>
      <p:sp>
        <p:nvSpPr>
          <p:cNvPr id="29" name="Text 27"/>
          <p:cNvSpPr/>
          <p:nvPr/>
        </p:nvSpPr>
        <p:spPr>
          <a:xfrm>
            <a:off x="7498080" y="1719072"/>
            <a:ext cx="1554480" cy="320040"/>
          </a:xfrm>
          <a:prstGeom prst="rect">
            <a:avLst/>
          </a:prstGeom>
          <a:noFill/>
          <a:ln/>
        </p:spPr>
        <p:txBody>
          <a:bodyPr wrap="square" lIns="0" tIns="0" rIns="0" bIns="0" rtlCol="0" anchor="ctr"/>
          <a:lstStyle/>
          <a:p>
            <a:pPr marL="0" indent="0" algn="l">
              <a:buNone/>
            </a:pPr>
            <a:r>
              <a:rPr lang="en-US" sz="1100" b="1" dirty="0">
                <a:solidFill>
                  <a:srgbClr val="D6EAF8"/>
                </a:solidFill>
                <a:latin typeface="Trebuchet MS" pitchFamily="34" charset="0"/>
                <a:ea typeface="Trebuchet MS" pitchFamily="34" charset="-122"/>
                <a:cs typeface="Trebuchet MS" pitchFamily="34" charset="-120"/>
              </a:rPr>
              <a:t>The switch must decide:</a:t>
            </a:r>
            <a:endParaRPr lang="en-US" sz="1100" dirty="0"/>
          </a:p>
        </p:txBody>
      </p:sp>
      <p:sp>
        <p:nvSpPr>
          <p:cNvPr id="30" name="Text 28"/>
          <p:cNvSpPr/>
          <p:nvPr/>
        </p:nvSpPr>
        <p:spPr>
          <a:xfrm>
            <a:off x="7498080" y="2084832"/>
            <a:ext cx="1572768" cy="384048"/>
          </a:xfrm>
          <a:prstGeom prst="rect">
            <a:avLst/>
          </a:prstGeom>
          <a:noFill/>
          <a:ln/>
        </p:spPr>
        <p:txBody>
          <a:bodyPr wrap="square" lIns="0" tIns="0" rIns="0" bIns="0"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1. </a:t>
            </a:r>
            <a:r>
              <a:rPr lang="en-US" sz="1100" dirty="0">
                <a:solidFill>
                  <a:srgbClr val="D6EAF8"/>
                </a:solidFill>
                <a:latin typeface="Calibri" pitchFamily="34" charset="0"/>
                <a:ea typeface="Calibri" pitchFamily="34" charset="-122"/>
                <a:cs typeface="Calibri" pitchFamily="34" charset="-120"/>
              </a:rPr>
              <a:t>Where to store frames temporarily</a:t>
            </a:r>
            <a:endParaRPr lang="en-US" sz="1100" dirty="0"/>
          </a:p>
        </p:txBody>
      </p:sp>
      <p:sp>
        <p:nvSpPr>
          <p:cNvPr id="31" name="Text 29"/>
          <p:cNvSpPr/>
          <p:nvPr/>
        </p:nvSpPr>
        <p:spPr>
          <a:xfrm>
            <a:off x="7498080" y="2496312"/>
            <a:ext cx="1572768" cy="384048"/>
          </a:xfrm>
          <a:prstGeom prst="rect">
            <a:avLst/>
          </a:prstGeom>
          <a:noFill/>
          <a:ln/>
        </p:spPr>
        <p:txBody>
          <a:bodyPr wrap="square" lIns="0" tIns="0" rIns="0" bIns="0"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2. </a:t>
            </a:r>
            <a:r>
              <a:rPr lang="en-US" sz="1100" dirty="0">
                <a:solidFill>
                  <a:srgbClr val="D6EAF8"/>
                </a:solidFill>
                <a:latin typeface="Calibri" pitchFamily="34" charset="0"/>
                <a:ea typeface="Calibri" pitchFamily="34" charset="-122"/>
                <a:cs typeface="Calibri" pitchFamily="34" charset="-120"/>
              </a:rPr>
              <a:t>In what order to serve them</a:t>
            </a:r>
            <a:endParaRPr lang="en-US" sz="1100" dirty="0"/>
          </a:p>
        </p:txBody>
      </p:sp>
      <p:sp>
        <p:nvSpPr>
          <p:cNvPr id="32" name="Text 30"/>
          <p:cNvSpPr/>
          <p:nvPr/>
        </p:nvSpPr>
        <p:spPr>
          <a:xfrm>
            <a:off x="7498080" y="2907792"/>
            <a:ext cx="1572768" cy="384048"/>
          </a:xfrm>
          <a:prstGeom prst="rect">
            <a:avLst/>
          </a:prstGeom>
          <a:noFill/>
          <a:ln/>
        </p:spPr>
        <p:txBody>
          <a:bodyPr wrap="square" lIns="0" tIns="0" rIns="0" bIns="0"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3. </a:t>
            </a:r>
            <a:r>
              <a:rPr lang="en-US" sz="1100" dirty="0">
                <a:solidFill>
                  <a:srgbClr val="D6EAF8"/>
                </a:solidFill>
                <a:latin typeface="Calibri" pitchFamily="34" charset="0"/>
                <a:ea typeface="Calibri" pitchFamily="34" charset="-122"/>
                <a:cs typeface="Calibri" pitchFamily="34" charset="-120"/>
              </a:rPr>
              <a:t>Which queues get more service</a:t>
            </a:r>
            <a:endParaRPr lang="en-US" sz="1100" dirty="0"/>
          </a:p>
        </p:txBody>
      </p:sp>
      <p:sp>
        <p:nvSpPr>
          <p:cNvPr id="33" name="Shape 31"/>
          <p:cNvSpPr/>
          <p:nvPr/>
        </p:nvSpPr>
        <p:spPr>
          <a:xfrm>
            <a:off x="365760" y="4315968"/>
            <a:ext cx="8366760" cy="566928"/>
          </a:xfrm>
          <a:prstGeom prst="rect">
            <a:avLst/>
          </a:prstGeom>
          <a:solidFill>
            <a:srgbClr val="1A2D1E"/>
          </a:solidFill>
          <a:ln w="12700">
            <a:solidFill>
              <a:srgbClr val="1A2D1E"/>
            </a:solidFill>
            <a:prstDash val="solid"/>
          </a:ln>
        </p:spPr>
      </p:sp>
      <p:sp>
        <p:nvSpPr>
          <p:cNvPr id="34" name="Shape 32"/>
          <p:cNvSpPr/>
          <p:nvPr/>
        </p:nvSpPr>
        <p:spPr>
          <a:xfrm>
            <a:off x="365760" y="4315968"/>
            <a:ext cx="8366760" cy="566928"/>
          </a:xfrm>
          <a:prstGeom prst="rect">
            <a:avLst/>
          </a:prstGeom>
          <a:solidFill>
            <a:srgbClr val="1A2D1E"/>
          </a:solidFill>
          <a:ln w="25400">
            <a:solidFill>
              <a:srgbClr val="0E7C86"/>
            </a:solidFill>
            <a:prstDash val="solid"/>
          </a:ln>
        </p:spPr>
      </p:sp>
      <p:sp>
        <p:nvSpPr>
          <p:cNvPr id="35" name="Text 33"/>
          <p:cNvSpPr/>
          <p:nvPr/>
        </p:nvSpPr>
        <p:spPr>
          <a:xfrm>
            <a:off x="502920" y="4334256"/>
            <a:ext cx="8183880" cy="530352"/>
          </a:xfrm>
          <a:prstGeom prst="rect">
            <a:avLst/>
          </a:prstGeom>
          <a:noFill/>
          <a:ln/>
        </p:spPr>
        <p:txBody>
          <a:bodyPr wrap="square" lIns="0" tIns="0" rIns="0" bIns="0" rtlCol="0" anchor="ctr"/>
          <a:lstStyle/>
          <a:p>
            <a:pPr marL="0" indent="0" algn="ctr">
              <a:buNone/>
            </a:pPr>
            <a:r>
              <a:rPr lang="en-US" sz="1200" dirty="0">
                <a:solidFill>
                  <a:srgbClr val="D6EAF8"/>
                </a:solidFill>
                <a:latin typeface="Calibri" pitchFamily="34" charset="0"/>
                <a:ea typeface="Calibri" pitchFamily="34" charset="-122"/>
                <a:cs typeface="Calibri" pitchFamily="34" charset="-120"/>
              </a:rPr>
              <a:t>The switch is not just choosing which packet goes next. It is choosing a service discipline for a set of competing traffic classes.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8FF"/>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3200" b="1" dirty="0">
                <a:solidFill>
                  <a:srgbClr val="0B2D4E"/>
                </a:solidFill>
                <a:latin typeface="Trebuchet MS" pitchFamily="34" charset="0"/>
                <a:ea typeface="Trebuchet MS" pitchFamily="34" charset="-122"/>
                <a:cs typeface="Trebuchet MS" pitchFamily="34" charset="-120"/>
              </a:rPr>
              <a:t>Four Queuing Policies: What Each One Promises</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411480"/>
          </a:xfrm>
          <a:prstGeom prst="rect">
            <a:avLst/>
          </a:prstGeom>
          <a:noFill/>
          <a:ln/>
        </p:spPr>
        <p:txBody>
          <a:bodyPr wrap="square" lIns="0" tIns="0" rIns="0" bIns="0" rtlCol="0" anchor="t"/>
          <a:lstStyle/>
          <a:p>
            <a:pPr marL="0" indent="0" algn="l">
              <a:buNone/>
            </a:pPr>
            <a:r>
              <a:rPr lang="en-US" sz="1400" dirty="0">
                <a:solidFill>
                  <a:srgbClr val="0B2D4E"/>
                </a:solidFill>
                <a:latin typeface="Calibri" pitchFamily="34" charset="0"/>
                <a:ea typeface="Calibri" pitchFamily="34" charset="-122"/>
                <a:cs typeface="Calibri" pitchFamily="34" charset="-120"/>
              </a:rPr>
              <a:t>Each queuing discipline makes a different trade-off between simplicity, urgency, fairness, and determinism:</a:t>
            </a:r>
            <a:endParaRPr lang="en-US" sz="1400" dirty="0"/>
          </a:p>
        </p:txBody>
      </p:sp>
      <p:sp>
        <p:nvSpPr>
          <p:cNvPr id="5" name="Shape 3"/>
          <p:cNvSpPr/>
          <p:nvPr/>
        </p:nvSpPr>
        <p:spPr>
          <a:xfrm>
            <a:off x="365760" y="1828800"/>
            <a:ext cx="658368" cy="1325880"/>
          </a:xfrm>
          <a:prstGeom prst="rect">
            <a:avLst/>
          </a:prstGeom>
          <a:solidFill>
            <a:srgbClr val="4A6B82"/>
          </a:solidFill>
          <a:ln w="12700">
            <a:solidFill>
              <a:srgbClr val="4A6B82"/>
            </a:solidFill>
            <a:prstDash val="solid"/>
          </a:ln>
        </p:spPr>
      </p:sp>
      <p:sp>
        <p:nvSpPr>
          <p:cNvPr id="6" name="Text 4"/>
          <p:cNvSpPr/>
          <p:nvPr/>
        </p:nvSpPr>
        <p:spPr>
          <a:xfrm>
            <a:off x="365760" y="1828800"/>
            <a:ext cx="658368" cy="132588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FIFO</a:t>
            </a:r>
            <a:endParaRPr lang="en-US" sz="1400" dirty="0"/>
          </a:p>
        </p:txBody>
      </p:sp>
      <p:sp>
        <p:nvSpPr>
          <p:cNvPr id="7" name="Shape 5"/>
          <p:cNvSpPr/>
          <p:nvPr/>
        </p:nvSpPr>
        <p:spPr>
          <a:xfrm>
            <a:off x="1024128" y="1828800"/>
            <a:ext cx="3520440" cy="1325880"/>
          </a:xfrm>
          <a:prstGeom prst="rect">
            <a:avLst/>
          </a:prstGeom>
          <a:solidFill>
            <a:srgbClr val="0B2D4E"/>
          </a:solidFill>
          <a:ln w="12700">
            <a:solidFill>
              <a:srgbClr val="0B2D4E"/>
            </a:solidFill>
            <a:prstDash val="solid"/>
          </a:ln>
        </p:spPr>
      </p:sp>
      <p:sp>
        <p:nvSpPr>
          <p:cNvPr id="8" name="Shape 6"/>
          <p:cNvSpPr/>
          <p:nvPr/>
        </p:nvSpPr>
        <p:spPr>
          <a:xfrm>
            <a:off x="1024128" y="1828800"/>
            <a:ext cx="3520440" cy="1325880"/>
          </a:xfrm>
          <a:prstGeom prst="rect">
            <a:avLst/>
          </a:prstGeom>
          <a:solidFill>
            <a:srgbClr val="0B2D4E"/>
          </a:solidFill>
          <a:ln w="25400">
            <a:solidFill>
              <a:srgbClr val="4A6B82"/>
            </a:solidFill>
            <a:prstDash val="solid"/>
          </a:ln>
        </p:spPr>
      </p:sp>
      <p:sp>
        <p:nvSpPr>
          <p:cNvPr id="9" name="Text 7"/>
          <p:cNvSpPr/>
          <p:nvPr/>
        </p:nvSpPr>
        <p:spPr>
          <a:xfrm>
            <a:off x="1143000" y="1901952"/>
            <a:ext cx="3291840" cy="347472"/>
          </a:xfrm>
          <a:prstGeom prst="rect">
            <a:avLst/>
          </a:prstGeom>
          <a:noFill/>
          <a:ln/>
        </p:spPr>
        <p:txBody>
          <a:bodyPr wrap="square" lIns="0" tIns="0" rIns="0" bIns="0" rtlCol="0" anchor="ctr"/>
          <a:lstStyle/>
          <a:p>
            <a:pPr marL="0" indent="0" algn="l">
              <a:buNone/>
            </a:pPr>
            <a:r>
              <a:rPr lang="en-US" sz="1300" b="1" dirty="0">
                <a:solidFill>
                  <a:srgbClr val="4A6B82"/>
                </a:solidFill>
                <a:latin typeface="Trebuchet MS" pitchFamily="34" charset="0"/>
                <a:ea typeface="Trebuchet MS" pitchFamily="34" charset="-122"/>
                <a:cs typeface="Trebuchet MS" pitchFamily="34" charset="-120"/>
              </a:rPr>
              <a:t>First In, First Out</a:t>
            </a:r>
            <a:endParaRPr lang="en-US" sz="1300" dirty="0"/>
          </a:p>
        </p:txBody>
      </p:sp>
      <p:sp>
        <p:nvSpPr>
          <p:cNvPr id="10" name="Text 8"/>
          <p:cNvSpPr/>
          <p:nvPr/>
        </p:nvSpPr>
        <p:spPr>
          <a:xfrm>
            <a:off x="1143000" y="2286000"/>
            <a:ext cx="3246120" cy="320040"/>
          </a:xfrm>
          <a:prstGeom prst="rect">
            <a:avLst/>
          </a:prstGeom>
          <a:noFill/>
          <a:ln/>
        </p:spPr>
        <p:txBody>
          <a:bodyPr wrap="square" lIns="0" tIns="0" rIns="0" bIns="0" rtlCol="0" anchor="ctr"/>
          <a:lstStyle/>
          <a:p>
            <a:pPr marL="0" indent="0">
              <a:buNone/>
            </a:pPr>
            <a:r>
              <a:rPr lang="en-US" sz="1100" b="1" dirty="0">
                <a:solidFill>
                  <a:srgbClr val="1A9DAA"/>
                </a:solidFill>
                <a:latin typeface="Calibri" pitchFamily="34" charset="0"/>
                <a:ea typeface="Calibri" pitchFamily="34" charset="-122"/>
                <a:cs typeface="Calibri" pitchFamily="34" charset="-120"/>
              </a:rPr>
              <a:t>+ </a:t>
            </a:r>
            <a:r>
              <a:rPr lang="en-US" sz="1100" dirty="0">
                <a:solidFill>
                  <a:srgbClr val="D6EAF8"/>
                </a:solidFill>
                <a:latin typeface="Calibri" pitchFamily="34" charset="0"/>
                <a:ea typeface="Calibri" pitchFamily="34" charset="-122"/>
                <a:cs typeface="Calibri" pitchFamily="34" charset="-120"/>
              </a:rPr>
              <a:t>Simplest, lowest overhead</a:t>
            </a:r>
            <a:endParaRPr lang="en-US" sz="1100" dirty="0"/>
          </a:p>
        </p:txBody>
      </p:sp>
      <p:sp>
        <p:nvSpPr>
          <p:cNvPr id="11" name="Text 9"/>
          <p:cNvSpPr/>
          <p:nvPr/>
        </p:nvSpPr>
        <p:spPr>
          <a:xfrm>
            <a:off x="1143000" y="2578608"/>
            <a:ext cx="3246120" cy="32004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 </a:t>
            </a:r>
            <a:r>
              <a:rPr lang="en-US" sz="1100" dirty="0">
                <a:solidFill>
                  <a:srgbClr val="D6EAF8"/>
                </a:solidFill>
                <a:latin typeface="Calibri" pitchFamily="34" charset="0"/>
                <a:ea typeface="Calibri" pitchFamily="34" charset="-122"/>
                <a:cs typeface="Calibri" pitchFamily="34" charset="-120"/>
              </a:rPr>
              <a:t>Blind to traffic class — bulk traffic can crowd out critical traffic</a:t>
            </a:r>
            <a:endParaRPr lang="en-US" sz="1100" dirty="0"/>
          </a:p>
        </p:txBody>
      </p:sp>
      <p:sp>
        <p:nvSpPr>
          <p:cNvPr id="12" name="Shape 10"/>
          <p:cNvSpPr/>
          <p:nvPr/>
        </p:nvSpPr>
        <p:spPr>
          <a:xfrm>
            <a:off x="1024128" y="2907792"/>
            <a:ext cx="3520440" cy="246888"/>
          </a:xfrm>
          <a:prstGeom prst="rect">
            <a:avLst/>
          </a:prstGeom>
          <a:solidFill>
            <a:srgbClr val="4A6B82"/>
          </a:solidFill>
          <a:ln w="12700">
            <a:solidFill>
              <a:srgbClr val="4A6B82"/>
            </a:solidFill>
            <a:prstDash val="solid"/>
          </a:ln>
        </p:spPr>
      </p:sp>
      <p:sp>
        <p:nvSpPr>
          <p:cNvPr id="13" name="Text 11"/>
          <p:cNvSpPr/>
          <p:nvPr/>
        </p:nvSpPr>
        <p:spPr>
          <a:xfrm>
            <a:off x="1143000" y="2907792"/>
            <a:ext cx="3337560" cy="246888"/>
          </a:xfrm>
          <a:prstGeom prst="rect">
            <a:avLst/>
          </a:prstGeom>
          <a:noFill/>
          <a:ln/>
        </p:spPr>
        <p:txBody>
          <a:bodyPr wrap="square" lIns="0" tIns="0" rIns="0" bIns="0" rtlCol="0" anchor="ctr"/>
          <a:lstStyle/>
          <a:p>
            <a:pPr marL="0" indent="0" algn="l">
              <a:buNone/>
            </a:pPr>
            <a:r>
              <a:rPr lang="en-US" sz="1000" b="1" dirty="0">
                <a:solidFill>
                  <a:srgbClr val="FFFFFF"/>
                </a:solidFill>
                <a:latin typeface="Trebuchet MS" pitchFamily="34" charset="0"/>
                <a:ea typeface="Trebuchet MS" pitchFamily="34" charset="-122"/>
                <a:cs typeface="Trebuchet MS" pitchFamily="34" charset="-120"/>
              </a:rPr>
              <a:t>Good baseline. Inadequate when traffic classes mix.</a:t>
            </a:r>
            <a:endParaRPr lang="en-US" sz="1000" dirty="0"/>
          </a:p>
        </p:txBody>
      </p:sp>
      <p:sp>
        <p:nvSpPr>
          <p:cNvPr id="14" name="Shape 12"/>
          <p:cNvSpPr/>
          <p:nvPr/>
        </p:nvSpPr>
        <p:spPr>
          <a:xfrm>
            <a:off x="4709160" y="1828800"/>
            <a:ext cx="658368" cy="1325880"/>
          </a:xfrm>
          <a:prstGeom prst="rect">
            <a:avLst/>
          </a:prstGeom>
          <a:solidFill>
            <a:srgbClr val="C0392B"/>
          </a:solidFill>
          <a:ln w="12700">
            <a:solidFill>
              <a:srgbClr val="C0392B"/>
            </a:solidFill>
            <a:prstDash val="solid"/>
          </a:ln>
        </p:spPr>
      </p:sp>
      <p:sp>
        <p:nvSpPr>
          <p:cNvPr id="15" name="Text 13"/>
          <p:cNvSpPr/>
          <p:nvPr/>
        </p:nvSpPr>
        <p:spPr>
          <a:xfrm>
            <a:off x="4709160" y="1828800"/>
            <a:ext cx="658368" cy="132588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SP</a:t>
            </a:r>
            <a:endParaRPr lang="en-US" sz="1400" dirty="0"/>
          </a:p>
        </p:txBody>
      </p:sp>
      <p:sp>
        <p:nvSpPr>
          <p:cNvPr id="16" name="Shape 14"/>
          <p:cNvSpPr/>
          <p:nvPr/>
        </p:nvSpPr>
        <p:spPr>
          <a:xfrm>
            <a:off x="5367528" y="1828800"/>
            <a:ext cx="3520440" cy="1325880"/>
          </a:xfrm>
          <a:prstGeom prst="rect">
            <a:avLst/>
          </a:prstGeom>
          <a:solidFill>
            <a:srgbClr val="0B2D4E"/>
          </a:solidFill>
          <a:ln w="12700">
            <a:solidFill>
              <a:srgbClr val="0B2D4E"/>
            </a:solidFill>
            <a:prstDash val="solid"/>
          </a:ln>
        </p:spPr>
      </p:sp>
      <p:sp>
        <p:nvSpPr>
          <p:cNvPr id="17" name="Shape 15"/>
          <p:cNvSpPr/>
          <p:nvPr/>
        </p:nvSpPr>
        <p:spPr>
          <a:xfrm>
            <a:off x="5367528" y="1828800"/>
            <a:ext cx="3520440" cy="1325880"/>
          </a:xfrm>
          <a:prstGeom prst="rect">
            <a:avLst/>
          </a:prstGeom>
          <a:solidFill>
            <a:srgbClr val="0B2D4E"/>
          </a:solidFill>
          <a:ln w="25400">
            <a:solidFill>
              <a:srgbClr val="C0392B"/>
            </a:solidFill>
            <a:prstDash val="solid"/>
          </a:ln>
        </p:spPr>
      </p:sp>
      <p:sp>
        <p:nvSpPr>
          <p:cNvPr id="18" name="Text 16"/>
          <p:cNvSpPr/>
          <p:nvPr/>
        </p:nvSpPr>
        <p:spPr>
          <a:xfrm>
            <a:off x="5486400" y="1901952"/>
            <a:ext cx="3291840" cy="347472"/>
          </a:xfrm>
          <a:prstGeom prst="rect">
            <a:avLst/>
          </a:prstGeom>
          <a:noFill/>
          <a:ln/>
        </p:spPr>
        <p:txBody>
          <a:bodyPr wrap="square" lIns="0" tIns="0" rIns="0" bIns="0" rtlCol="0" anchor="ctr"/>
          <a:lstStyle/>
          <a:p>
            <a:pPr marL="0" indent="0" algn="l">
              <a:buNone/>
            </a:pPr>
            <a:r>
              <a:rPr lang="en-US" sz="1300" b="1" dirty="0">
                <a:solidFill>
                  <a:srgbClr val="C0392B"/>
                </a:solidFill>
                <a:latin typeface="Trebuchet MS" pitchFamily="34" charset="0"/>
                <a:ea typeface="Trebuchet MS" pitchFamily="34" charset="-122"/>
                <a:cs typeface="Trebuchet MS" pitchFamily="34" charset="-120"/>
              </a:rPr>
              <a:t>Strict Priority</a:t>
            </a:r>
            <a:endParaRPr lang="en-US" sz="1300" dirty="0"/>
          </a:p>
        </p:txBody>
      </p:sp>
      <p:sp>
        <p:nvSpPr>
          <p:cNvPr id="19" name="Text 17"/>
          <p:cNvSpPr/>
          <p:nvPr/>
        </p:nvSpPr>
        <p:spPr>
          <a:xfrm>
            <a:off x="5486400" y="2286000"/>
            <a:ext cx="3246120" cy="320040"/>
          </a:xfrm>
          <a:prstGeom prst="rect">
            <a:avLst/>
          </a:prstGeom>
          <a:noFill/>
          <a:ln/>
        </p:spPr>
        <p:txBody>
          <a:bodyPr wrap="square" lIns="0" tIns="0" rIns="0" bIns="0" rtlCol="0" anchor="ctr"/>
          <a:lstStyle/>
          <a:p>
            <a:pPr marL="0" indent="0">
              <a:buNone/>
            </a:pPr>
            <a:r>
              <a:rPr lang="en-US" sz="1100" b="1" dirty="0">
                <a:solidFill>
                  <a:srgbClr val="1A9DAA"/>
                </a:solidFill>
                <a:latin typeface="Calibri" pitchFamily="34" charset="0"/>
                <a:ea typeface="Calibri" pitchFamily="34" charset="-122"/>
                <a:cs typeface="Calibri" pitchFamily="34" charset="-120"/>
              </a:rPr>
              <a:t>+ </a:t>
            </a:r>
            <a:r>
              <a:rPr lang="en-US" sz="1100" dirty="0">
                <a:solidFill>
                  <a:srgbClr val="D6EAF8"/>
                </a:solidFill>
                <a:latin typeface="Calibri" pitchFamily="34" charset="0"/>
                <a:ea typeface="Calibri" pitchFamily="34" charset="-122"/>
                <a:cs typeface="Calibri" pitchFamily="34" charset="-120"/>
              </a:rPr>
              <a:t>Minimizes latency for highest-priority class</a:t>
            </a:r>
            <a:endParaRPr lang="en-US" sz="1100" dirty="0"/>
          </a:p>
        </p:txBody>
      </p:sp>
      <p:sp>
        <p:nvSpPr>
          <p:cNvPr id="20" name="Text 18"/>
          <p:cNvSpPr/>
          <p:nvPr/>
        </p:nvSpPr>
        <p:spPr>
          <a:xfrm>
            <a:off x="5486400" y="2578608"/>
            <a:ext cx="3246120" cy="32004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 </a:t>
            </a:r>
            <a:r>
              <a:rPr lang="en-US" sz="1100" dirty="0">
                <a:solidFill>
                  <a:srgbClr val="D6EAF8"/>
                </a:solidFill>
                <a:latin typeface="Calibri" pitchFamily="34" charset="0"/>
                <a:ea typeface="Calibri" pitchFamily="34" charset="-122"/>
                <a:cs typeface="Calibri" pitchFamily="34" charset="-120"/>
              </a:rPr>
              <a:t>Lower-priority queues can starve under sustained load</a:t>
            </a:r>
            <a:endParaRPr lang="en-US" sz="1100" dirty="0"/>
          </a:p>
        </p:txBody>
      </p:sp>
      <p:sp>
        <p:nvSpPr>
          <p:cNvPr id="21" name="Shape 19"/>
          <p:cNvSpPr/>
          <p:nvPr/>
        </p:nvSpPr>
        <p:spPr>
          <a:xfrm>
            <a:off x="5367528" y="2907792"/>
            <a:ext cx="3520440" cy="246888"/>
          </a:xfrm>
          <a:prstGeom prst="rect">
            <a:avLst/>
          </a:prstGeom>
          <a:solidFill>
            <a:srgbClr val="C0392B"/>
          </a:solidFill>
          <a:ln w="12700">
            <a:solidFill>
              <a:srgbClr val="C0392B"/>
            </a:solidFill>
            <a:prstDash val="solid"/>
          </a:ln>
        </p:spPr>
      </p:sp>
      <p:sp>
        <p:nvSpPr>
          <p:cNvPr id="22" name="Text 20"/>
          <p:cNvSpPr/>
          <p:nvPr/>
        </p:nvSpPr>
        <p:spPr>
          <a:xfrm>
            <a:off x="5486400" y="2907792"/>
            <a:ext cx="3337560" cy="246888"/>
          </a:xfrm>
          <a:prstGeom prst="rect">
            <a:avLst/>
          </a:prstGeom>
          <a:noFill/>
          <a:ln/>
        </p:spPr>
        <p:txBody>
          <a:bodyPr wrap="square" lIns="0" tIns="0" rIns="0" bIns="0" rtlCol="0" anchor="ctr"/>
          <a:lstStyle/>
          <a:p>
            <a:pPr marL="0" indent="0" algn="l">
              <a:buNone/>
            </a:pPr>
            <a:r>
              <a:rPr lang="en-US" sz="1000" b="1" dirty="0">
                <a:solidFill>
                  <a:srgbClr val="FFFFFF"/>
                </a:solidFill>
                <a:latin typeface="Trebuchet MS" pitchFamily="34" charset="0"/>
                <a:ea typeface="Trebuchet MS" pitchFamily="34" charset="-122"/>
                <a:cs typeface="Trebuchet MS" pitchFamily="34" charset="-120"/>
              </a:rPr>
              <a:t>Powerful for urgent traffic. Use carefully.</a:t>
            </a:r>
            <a:endParaRPr lang="en-US" sz="1000" dirty="0"/>
          </a:p>
        </p:txBody>
      </p:sp>
      <p:sp>
        <p:nvSpPr>
          <p:cNvPr id="23" name="Shape 21"/>
          <p:cNvSpPr/>
          <p:nvPr/>
        </p:nvSpPr>
        <p:spPr>
          <a:xfrm>
            <a:off x="365760" y="3310128"/>
            <a:ext cx="658368" cy="1325880"/>
          </a:xfrm>
          <a:prstGeom prst="rect">
            <a:avLst/>
          </a:prstGeom>
          <a:solidFill>
            <a:srgbClr val="2980B9"/>
          </a:solidFill>
          <a:ln w="12700">
            <a:solidFill>
              <a:srgbClr val="2980B9"/>
            </a:solidFill>
            <a:prstDash val="solid"/>
          </a:ln>
        </p:spPr>
      </p:sp>
      <p:sp>
        <p:nvSpPr>
          <p:cNvPr id="24" name="Text 22"/>
          <p:cNvSpPr/>
          <p:nvPr/>
        </p:nvSpPr>
        <p:spPr>
          <a:xfrm>
            <a:off x="365760" y="3310128"/>
            <a:ext cx="658368" cy="132588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WRR</a:t>
            </a:r>
            <a:endParaRPr lang="en-US" sz="1400" dirty="0"/>
          </a:p>
        </p:txBody>
      </p:sp>
      <p:sp>
        <p:nvSpPr>
          <p:cNvPr id="25" name="Shape 23"/>
          <p:cNvSpPr/>
          <p:nvPr/>
        </p:nvSpPr>
        <p:spPr>
          <a:xfrm>
            <a:off x="1024128" y="3310128"/>
            <a:ext cx="3520440" cy="1325880"/>
          </a:xfrm>
          <a:prstGeom prst="rect">
            <a:avLst/>
          </a:prstGeom>
          <a:solidFill>
            <a:srgbClr val="0B2D4E"/>
          </a:solidFill>
          <a:ln w="12700">
            <a:solidFill>
              <a:srgbClr val="0B2D4E"/>
            </a:solidFill>
            <a:prstDash val="solid"/>
          </a:ln>
        </p:spPr>
      </p:sp>
      <p:sp>
        <p:nvSpPr>
          <p:cNvPr id="26" name="Shape 24"/>
          <p:cNvSpPr/>
          <p:nvPr/>
        </p:nvSpPr>
        <p:spPr>
          <a:xfrm>
            <a:off x="1024128" y="3310128"/>
            <a:ext cx="3520440" cy="1325880"/>
          </a:xfrm>
          <a:prstGeom prst="rect">
            <a:avLst/>
          </a:prstGeom>
          <a:solidFill>
            <a:srgbClr val="0B2D4E"/>
          </a:solidFill>
          <a:ln w="25400">
            <a:solidFill>
              <a:srgbClr val="2980B9"/>
            </a:solidFill>
            <a:prstDash val="solid"/>
          </a:ln>
        </p:spPr>
      </p:sp>
      <p:sp>
        <p:nvSpPr>
          <p:cNvPr id="27" name="Text 25"/>
          <p:cNvSpPr/>
          <p:nvPr/>
        </p:nvSpPr>
        <p:spPr>
          <a:xfrm>
            <a:off x="1143000" y="3383280"/>
            <a:ext cx="3291840" cy="347472"/>
          </a:xfrm>
          <a:prstGeom prst="rect">
            <a:avLst/>
          </a:prstGeom>
          <a:noFill/>
          <a:ln/>
        </p:spPr>
        <p:txBody>
          <a:bodyPr wrap="square" lIns="0" tIns="0" rIns="0" bIns="0" rtlCol="0" anchor="ctr"/>
          <a:lstStyle/>
          <a:p>
            <a:pPr marL="0" indent="0" algn="l">
              <a:buNone/>
            </a:pPr>
            <a:r>
              <a:rPr lang="en-US" sz="1300" b="1" dirty="0">
                <a:solidFill>
                  <a:srgbClr val="2980B9"/>
                </a:solidFill>
                <a:latin typeface="Trebuchet MS" pitchFamily="34" charset="0"/>
                <a:ea typeface="Trebuchet MS" pitchFamily="34" charset="-122"/>
                <a:cs typeface="Trebuchet MS" pitchFamily="34" charset="-120"/>
              </a:rPr>
              <a:t>Weighted Round Robin</a:t>
            </a:r>
            <a:endParaRPr lang="en-US" sz="1300" dirty="0"/>
          </a:p>
        </p:txBody>
      </p:sp>
      <p:sp>
        <p:nvSpPr>
          <p:cNvPr id="28" name="Text 26"/>
          <p:cNvSpPr/>
          <p:nvPr/>
        </p:nvSpPr>
        <p:spPr>
          <a:xfrm>
            <a:off x="1143000" y="3767328"/>
            <a:ext cx="3246120" cy="320040"/>
          </a:xfrm>
          <a:prstGeom prst="rect">
            <a:avLst/>
          </a:prstGeom>
          <a:noFill/>
          <a:ln/>
        </p:spPr>
        <p:txBody>
          <a:bodyPr wrap="square" lIns="0" tIns="0" rIns="0" bIns="0" rtlCol="0" anchor="ctr"/>
          <a:lstStyle/>
          <a:p>
            <a:pPr marL="0" indent="0">
              <a:buNone/>
            </a:pPr>
            <a:r>
              <a:rPr lang="en-US" sz="1100" b="1" dirty="0">
                <a:solidFill>
                  <a:srgbClr val="1A9DAA"/>
                </a:solidFill>
                <a:latin typeface="Calibri" pitchFamily="34" charset="0"/>
                <a:ea typeface="Calibri" pitchFamily="34" charset="-122"/>
                <a:cs typeface="Calibri" pitchFamily="34" charset="-120"/>
              </a:rPr>
              <a:t>+ </a:t>
            </a:r>
            <a:r>
              <a:rPr lang="en-US" sz="1100" dirty="0">
                <a:solidFill>
                  <a:srgbClr val="D6EAF8"/>
                </a:solidFill>
                <a:latin typeface="Calibri" pitchFamily="34" charset="0"/>
                <a:ea typeface="Calibri" pitchFamily="34" charset="-122"/>
                <a:cs typeface="Calibri" pitchFamily="34" charset="-120"/>
              </a:rPr>
              <a:t>Proportional service share, no starvation</a:t>
            </a:r>
            <a:endParaRPr lang="en-US" sz="1100" dirty="0"/>
          </a:p>
        </p:txBody>
      </p:sp>
      <p:sp>
        <p:nvSpPr>
          <p:cNvPr id="29" name="Text 27"/>
          <p:cNvSpPr/>
          <p:nvPr/>
        </p:nvSpPr>
        <p:spPr>
          <a:xfrm>
            <a:off x="1143000" y="4059936"/>
            <a:ext cx="3246120" cy="32004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 </a:t>
            </a:r>
            <a:r>
              <a:rPr lang="en-US" sz="1100" dirty="0">
                <a:solidFill>
                  <a:srgbClr val="D6EAF8"/>
                </a:solidFill>
                <a:latin typeface="Calibri" pitchFamily="34" charset="0"/>
                <a:ea typeface="Calibri" pitchFamily="34" charset="-122"/>
                <a:cs typeface="Calibri" pitchFamily="34" charset="-120"/>
              </a:rPr>
              <a:t>Does not give hard deterministic guarantees — relative shares only</a:t>
            </a:r>
            <a:endParaRPr lang="en-US" sz="1100" dirty="0"/>
          </a:p>
        </p:txBody>
      </p:sp>
      <p:sp>
        <p:nvSpPr>
          <p:cNvPr id="30" name="Shape 28"/>
          <p:cNvSpPr/>
          <p:nvPr/>
        </p:nvSpPr>
        <p:spPr>
          <a:xfrm>
            <a:off x="1024128" y="4389120"/>
            <a:ext cx="3520440" cy="246888"/>
          </a:xfrm>
          <a:prstGeom prst="rect">
            <a:avLst/>
          </a:prstGeom>
          <a:solidFill>
            <a:srgbClr val="2980B9"/>
          </a:solidFill>
          <a:ln w="12700">
            <a:solidFill>
              <a:srgbClr val="2980B9"/>
            </a:solidFill>
            <a:prstDash val="solid"/>
          </a:ln>
        </p:spPr>
      </p:sp>
      <p:sp>
        <p:nvSpPr>
          <p:cNvPr id="31" name="Text 29"/>
          <p:cNvSpPr/>
          <p:nvPr/>
        </p:nvSpPr>
        <p:spPr>
          <a:xfrm>
            <a:off x="1143000" y="4389120"/>
            <a:ext cx="3337560" cy="246888"/>
          </a:xfrm>
          <a:prstGeom prst="rect">
            <a:avLst/>
          </a:prstGeom>
          <a:noFill/>
          <a:ln/>
        </p:spPr>
        <p:txBody>
          <a:bodyPr wrap="square" lIns="0" tIns="0" rIns="0" bIns="0" rtlCol="0" anchor="ctr"/>
          <a:lstStyle/>
          <a:p>
            <a:pPr marL="0" indent="0" algn="l">
              <a:buNone/>
            </a:pPr>
            <a:r>
              <a:rPr lang="en-US" sz="1000" b="1" dirty="0">
                <a:solidFill>
                  <a:srgbClr val="FFFFFF"/>
                </a:solidFill>
                <a:latin typeface="Trebuchet MS" pitchFamily="34" charset="0"/>
                <a:ea typeface="Trebuchet MS" pitchFamily="34" charset="-122"/>
                <a:cs typeface="Trebuchet MS" pitchFamily="34" charset="-120"/>
              </a:rPr>
              <a:t>Good for 'all classes matter' designs.</a:t>
            </a:r>
            <a:endParaRPr lang="en-US" sz="1000" dirty="0"/>
          </a:p>
        </p:txBody>
      </p:sp>
      <p:sp>
        <p:nvSpPr>
          <p:cNvPr id="32" name="Shape 30"/>
          <p:cNvSpPr/>
          <p:nvPr/>
        </p:nvSpPr>
        <p:spPr>
          <a:xfrm>
            <a:off x="4709160" y="3310128"/>
            <a:ext cx="658368" cy="1325880"/>
          </a:xfrm>
          <a:prstGeom prst="rect">
            <a:avLst/>
          </a:prstGeom>
          <a:solidFill>
            <a:srgbClr val="8E44AD"/>
          </a:solidFill>
          <a:ln w="12700">
            <a:solidFill>
              <a:srgbClr val="8E44AD"/>
            </a:solidFill>
            <a:prstDash val="solid"/>
          </a:ln>
        </p:spPr>
      </p:sp>
      <p:sp>
        <p:nvSpPr>
          <p:cNvPr id="33" name="Text 31"/>
          <p:cNvSpPr/>
          <p:nvPr/>
        </p:nvSpPr>
        <p:spPr>
          <a:xfrm>
            <a:off x="4709160" y="3310128"/>
            <a:ext cx="658368" cy="132588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WFQ</a:t>
            </a:r>
            <a:endParaRPr lang="en-US" sz="1400" dirty="0"/>
          </a:p>
        </p:txBody>
      </p:sp>
      <p:sp>
        <p:nvSpPr>
          <p:cNvPr id="34" name="Shape 32"/>
          <p:cNvSpPr/>
          <p:nvPr/>
        </p:nvSpPr>
        <p:spPr>
          <a:xfrm>
            <a:off x="5367528" y="3310128"/>
            <a:ext cx="3520440" cy="1325880"/>
          </a:xfrm>
          <a:prstGeom prst="rect">
            <a:avLst/>
          </a:prstGeom>
          <a:solidFill>
            <a:srgbClr val="0B2D4E"/>
          </a:solidFill>
          <a:ln w="12700">
            <a:solidFill>
              <a:srgbClr val="0B2D4E"/>
            </a:solidFill>
            <a:prstDash val="solid"/>
          </a:ln>
        </p:spPr>
      </p:sp>
      <p:sp>
        <p:nvSpPr>
          <p:cNvPr id="35" name="Shape 33"/>
          <p:cNvSpPr/>
          <p:nvPr/>
        </p:nvSpPr>
        <p:spPr>
          <a:xfrm>
            <a:off x="5367528" y="3310128"/>
            <a:ext cx="3520440" cy="1325880"/>
          </a:xfrm>
          <a:prstGeom prst="rect">
            <a:avLst/>
          </a:prstGeom>
          <a:solidFill>
            <a:srgbClr val="0B2D4E"/>
          </a:solidFill>
          <a:ln w="25400">
            <a:solidFill>
              <a:srgbClr val="8E44AD"/>
            </a:solidFill>
            <a:prstDash val="solid"/>
          </a:ln>
        </p:spPr>
      </p:sp>
      <p:sp>
        <p:nvSpPr>
          <p:cNvPr id="36" name="Text 34"/>
          <p:cNvSpPr/>
          <p:nvPr/>
        </p:nvSpPr>
        <p:spPr>
          <a:xfrm>
            <a:off x="5486400" y="3383280"/>
            <a:ext cx="3291840" cy="347472"/>
          </a:xfrm>
          <a:prstGeom prst="rect">
            <a:avLst/>
          </a:prstGeom>
          <a:noFill/>
          <a:ln/>
        </p:spPr>
        <p:txBody>
          <a:bodyPr wrap="square" lIns="0" tIns="0" rIns="0" bIns="0" rtlCol="0" anchor="ctr"/>
          <a:lstStyle/>
          <a:p>
            <a:pPr marL="0" indent="0" algn="l">
              <a:buNone/>
            </a:pPr>
            <a:r>
              <a:rPr lang="en-US" sz="1300" b="1" dirty="0">
                <a:solidFill>
                  <a:srgbClr val="8E44AD"/>
                </a:solidFill>
                <a:latin typeface="Trebuchet MS" pitchFamily="34" charset="0"/>
                <a:ea typeface="Trebuchet MS" pitchFamily="34" charset="-122"/>
                <a:cs typeface="Trebuchet MS" pitchFamily="34" charset="-120"/>
              </a:rPr>
              <a:t>Weighted Fair Queuing</a:t>
            </a:r>
            <a:endParaRPr lang="en-US" sz="1300" dirty="0"/>
          </a:p>
        </p:txBody>
      </p:sp>
      <p:sp>
        <p:nvSpPr>
          <p:cNvPr id="37" name="Text 35"/>
          <p:cNvSpPr/>
          <p:nvPr/>
        </p:nvSpPr>
        <p:spPr>
          <a:xfrm>
            <a:off x="5486400" y="3767328"/>
            <a:ext cx="3246120" cy="320040"/>
          </a:xfrm>
          <a:prstGeom prst="rect">
            <a:avLst/>
          </a:prstGeom>
          <a:noFill/>
          <a:ln/>
        </p:spPr>
        <p:txBody>
          <a:bodyPr wrap="square" lIns="0" tIns="0" rIns="0" bIns="0" rtlCol="0" anchor="ctr"/>
          <a:lstStyle/>
          <a:p>
            <a:pPr marL="0" indent="0">
              <a:buNone/>
            </a:pPr>
            <a:r>
              <a:rPr lang="en-US" sz="1100" b="1" dirty="0">
                <a:solidFill>
                  <a:srgbClr val="1A9DAA"/>
                </a:solidFill>
                <a:latin typeface="Calibri" pitchFamily="34" charset="0"/>
                <a:ea typeface="Calibri" pitchFamily="34" charset="-122"/>
                <a:cs typeface="Calibri" pitchFamily="34" charset="-120"/>
              </a:rPr>
              <a:t>+ </a:t>
            </a:r>
            <a:r>
              <a:rPr lang="en-US" sz="1100" dirty="0">
                <a:solidFill>
                  <a:srgbClr val="D6EAF8"/>
                </a:solidFill>
                <a:latin typeface="Calibri" pitchFamily="34" charset="0"/>
                <a:ea typeface="Calibri" pitchFamily="34" charset="-122"/>
                <a:cs typeface="Calibri" pitchFamily="34" charset="-120"/>
              </a:rPr>
              <a:t>Fairness-oriented, protects low-volume interactive flows</a:t>
            </a:r>
            <a:endParaRPr lang="en-US" sz="1100" dirty="0"/>
          </a:p>
        </p:txBody>
      </p:sp>
      <p:sp>
        <p:nvSpPr>
          <p:cNvPr id="38" name="Text 36"/>
          <p:cNvSpPr/>
          <p:nvPr/>
        </p:nvSpPr>
        <p:spPr>
          <a:xfrm>
            <a:off x="5486400" y="4059936"/>
            <a:ext cx="3246120" cy="320040"/>
          </a:xfrm>
          <a:prstGeom prst="rect">
            <a:avLst/>
          </a:prstGeom>
          <a:noFill/>
          <a:ln/>
        </p:spPr>
        <p:txBody>
          <a:bodyPr wrap="square" lIns="0" tIns="0" rIns="0" bIns="0"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 </a:t>
            </a:r>
            <a:r>
              <a:rPr lang="en-US" sz="1100" dirty="0">
                <a:solidFill>
                  <a:srgbClr val="D6EAF8"/>
                </a:solidFill>
                <a:latin typeface="Calibri" pitchFamily="34" charset="0"/>
                <a:ea typeface="Calibri" pitchFamily="34" charset="-122"/>
                <a:cs typeface="Calibri" pitchFamily="34" charset="-120"/>
              </a:rPr>
              <a:t>Not a named 802.1Q transmission-selection algorithm in bridge silicon</a:t>
            </a:r>
            <a:endParaRPr lang="en-US" sz="1100" dirty="0"/>
          </a:p>
        </p:txBody>
      </p:sp>
      <p:sp>
        <p:nvSpPr>
          <p:cNvPr id="39" name="Shape 37"/>
          <p:cNvSpPr/>
          <p:nvPr/>
        </p:nvSpPr>
        <p:spPr>
          <a:xfrm>
            <a:off x="5367528" y="4389120"/>
            <a:ext cx="3520440" cy="246888"/>
          </a:xfrm>
          <a:prstGeom prst="rect">
            <a:avLst/>
          </a:prstGeom>
          <a:solidFill>
            <a:srgbClr val="8E44AD"/>
          </a:solidFill>
          <a:ln w="12700">
            <a:solidFill>
              <a:srgbClr val="8E44AD"/>
            </a:solidFill>
            <a:prstDash val="solid"/>
          </a:ln>
        </p:spPr>
      </p:sp>
      <p:sp>
        <p:nvSpPr>
          <p:cNvPr id="40" name="Text 38"/>
          <p:cNvSpPr/>
          <p:nvPr/>
        </p:nvSpPr>
        <p:spPr>
          <a:xfrm>
            <a:off x="5486400" y="4389120"/>
            <a:ext cx="3337560" cy="246888"/>
          </a:xfrm>
          <a:prstGeom prst="rect">
            <a:avLst/>
          </a:prstGeom>
          <a:noFill/>
          <a:ln/>
        </p:spPr>
        <p:txBody>
          <a:bodyPr wrap="square" lIns="0" tIns="0" rIns="0" bIns="0" rtlCol="0" anchor="ctr"/>
          <a:lstStyle/>
          <a:p>
            <a:pPr marL="0" indent="0" algn="l">
              <a:buNone/>
            </a:pPr>
            <a:r>
              <a:rPr lang="en-US" sz="1000" b="1" dirty="0">
                <a:solidFill>
                  <a:srgbClr val="FFFFFF"/>
                </a:solidFill>
                <a:latin typeface="Trebuchet MS" pitchFamily="34" charset="0"/>
                <a:ea typeface="Trebuchet MS" pitchFamily="34" charset="-122"/>
                <a:cs typeface="Trebuchet MS" pitchFamily="34" charset="-120"/>
              </a:rPr>
              <a:t>Excellent reference model, but not an 802.1Q knob.</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D4E"/>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FIFO and Strict Priority: Two Extremes</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Shape 2"/>
          <p:cNvSpPr/>
          <p:nvPr/>
        </p:nvSpPr>
        <p:spPr>
          <a:xfrm>
            <a:off x="365760" y="1261872"/>
            <a:ext cx="3977640" cy="3401568"/>
          </a:xfrm>
          <a:prstGeom prst="rect">
            <a:avLst/>
          </a:prstGeom>
          <a:solidFill>
            <a:srgbClr val="1A4D6E"/>
          </a:solidFill>
          <a:ln w="25400">
            <a:solidFill>
              <a:srgbClr val="4A6B82"/>
            </a:solidFill>
            <a:prstDash val="solid"/>
          </a:ln>
        </p:spPr>
      </p:sp>
      <p:sp>
        <p:nvSpPr>
          <p:cNvPr id="5" name="Shape 3"/>
          <p:cNvSpPr/>
          <p:nvPr/>
        </p:nvSpPr>
        <p:spPr>
          <a:xfrm>
            <a:off x="365760" y="1261872"/>
            <a:ext cx="3977640" cy="411480"/>
          </a:xfrm>
          <a:prstGeom prst="rect">
            <a:avLst/>
          </a:prstGeom>
          <a:solidFill>
            <a:srgbClr val="4A6B82"/>
          </a:solidFill>
          <a:ln w="12700">
            <a:solidFill>
              <a:srgbClr val="4A6B82"/>
            </a:solidFill>
            <a:prstDash val="solid"/>
          </a:ln>
        </p:spPr>
      </p:sp>
      <p:sp>
        <p:nvSpPr>
          <p:cNvPr id="6" name="Text 4"/>
          <p:cNvSpPr/>
          <p:nvPr/>
        </p:nvSpPr>
        <p:spPr>
          <a:xfrm>
            <a:off x="475488" y="1261872"/>
            <a:ext cx="374904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FIFO — First In, First Out</a:t>
            </a:r>
            <a:endParaRPr lang="en-US" sz="1400" dirty="0"/>
          </a:p>
        </p:txBody>
      </p:sp>
      <p:sp>
        <p:nvSpPr>
          <p:cNvPr id="7" name="Text 5"/>
          <p:cNvSpPr/>
          <p:nvPr/>
        </p:nvSpPr>
        <p:spPr>
          <a:xfrm>
            <a:off x="475488" y="1737360"/>
            <a:ext cx="3749040" cy="502920"/>
          </a:xfrm>
          <a:prstGeom prst="rect">
            <a:avLst/>
          </a:prstGeom>
          <a:noFill/>
          <a:ln/>
        </p:spPr>
        <p:txBody>
          <a:bodyPr wrap="square" lIns="0" tIns="0" rIns="0" bIns="0" rtlCol="0" anchor="t"/>
          <a:lstStyle/>
          <a:p>
            <a:pPr marL="0" indent="0" algn="l">
              <a:buNone/>
            </a:pPr>
            <a:r>
              <a:rPr lang="en-US" sz="1300" dirty="0">
                <a:solidFill>
                  <a:srgbClr val="D6EAF8"/>
                </a:solidFill>
                <a:latin typeface="Calibri" pitchFamily="34" charset="0"/>
                <a:ea typeface="Calibri" pitchFamily="34" charset="-122"/>
                <a:cs typeface="Calibri" pitchFamily="34" charset="-120"/>
              </a:rPr>
              <a:t>Packets transmitted in order of arrival. No concept of priority or traffic classes.</a:t>
            </a:r>
            <a:endParaRPr lang="en-US" sz="1300" dirty="0"/>
          </a:p>
        </p:txBody>
      </p:sp>
      <p:sp>
        <p:nvSpPr>
          <p:cNvPr id="8" name="Shape 6"/>
          <p:cNvSpPr/>
          <p:nvPr/>
        </p:nvSpPr>
        <p:spPr>
          <a:xfrm>
            <a:off x="475488" y="2304288"/>
            <a:ext cx="3749040" cy="36576"/>
          </a:xfrm>
          <a:prstGeom prst="rect">
            <a:avLst/>
          </a:prstGeom>
          <a:solidFill>
            <a:srgbClr val="4A6B82"/>
          </a:solidFill>
          <a:ln w="12700">
            <a:solidFill>
              <a:srgbClr val="4A6B82"/>
            </a:solidFill>
            <a:prstDash val="solid"/>
          </a:ln>
        </p:spPr>
      </p:sp>
      <p:sp>
        <p:nvSpPr>
          <p:cNvPr id="9" name="Text 7"/>
          <p:cNvSpPr/>
          <p:nvPr/>
        </p:nvSpPr>
        <p:spPr>
          <a:xfrm>
            <a:off x="475488" y="2377440"/>
            <a:ext cx="3749040" cy="320040"/>
          </a:xfrm>
          <a:prstGeom prst="rect">
            <a:avLst/>
          </a:prstGeom>
          <a:noFill/>
          <a:ln/>
        </p:spPr>
        <p:txBody>
          <a:bodyPr wrap="square" lIns="0" tIns="0" rIns="0" bIns="0" rtlCol="0" anchor="ctr"/>
          <a:lstStyle/>
          <a:p>
            <a:pPr marL="0" indent="0">
              <a:buNone/>
            </a:pPr>
            <a:r>
              <a:rPr lang="en-US" sz="1200" b="1" dirty="0">
                <a:solidFill>
                  <a:srgbClr val="1A9DAA"/>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Simplest possible implementation</a:t>
            </a:r>
            <a:endParaRPr lang="en-US" sz="1200" dirty="0"/>
          </a:p>
        </p:txBody>
      </p:sp>
      <p:sp>
        <p:nvSpPr>
          <p:cNvPr id="10" name="Text 8"/>
          <p:cNvSpPr/>
          <p:nvPr/>
        </p:nvSpPr>
        <p:spPr>
          <a:xfrm>
            <a:off x="475488" y="2724912"/>
            <a:ext cx="3749040" cy="320040"/>
          </a:xfrm>
          <a:prstGeom prst="rect">
            <a:avLst/>
          </a:prstGeom>
          <a:noFill/>
          <a:ln/>
        </p:spPr>
        <p:txBody>
          <a:bodyPr wrap="square" lIns="0" tIns="0" rIns="0" bIns="0" rtlCol="0" anchor="ctr"/>
          <a:lstStyle/>
          <a:p>
            <a:pPr marL="0" indent="0">
              <a:buNone/>
            </a:pPr>
            <a:r>
              <a:rPr lang="en-US" sz="1200" b="1" dirty="0">
                <a:solidFill>
                  <a:srgbClr val="1A9DAA"/>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Lowest processing overhead</a:t>
            </a:r>
            <a:endParaRPr lang="en-US" sz="1200" dirty="0"/>
          </a:p>
        </p:txBody>
      </p:sp>
      <p:sp>
        <p:nvSpPr>
          <p:cNvPr id="11" name="Text 9"/>
          <p:cNvSpPr/>
          <p:nvPr/>
        </p:nvSpPr>
        <p:spPr>
          <a:xfrm>
            <a:off x="475488" y="3072384"/>
            <a:ext cx="3749040" cy="32004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Blind to traffic importance</a:t>
            </a:r>
            <a:endParaRPr lang="en-US" sz="1200" dirty="0"/>
          </a:p>
        </p:txBody>
      </p:sp>
      <p:sp>
        <p:nvSpPr>
          <p:cNvPr id="12" name="Text 10"/>
          <p:cNvSpPr/>
          <p:nvPr/>
        </p:nvSpPr>
        <p:spPr>
          <a:xfrm>
            <a:off x="475488" y="3419856"/>
            <a:ext cx="3749040" cy="32004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Bursty sources crowd out critical traffic</a:t>
            </a:r>
            <a:endParaRPr lang="en-US" sz="1200" dirty="0"/>
          </a:p>
        </p:txBody>
      </p:sp>
      <p:sp>
        <p:nvSpPr>
          <p:cNvPr id="13" name="Text 11"/>
          <p:cNvSpPr/>
          <p:nvPr/>
        </p:nvSpPr>
        <p:spPr>
          <a:xfrm>
            <a:off x="475488" y="3767328"/>
            <a:ext cx="3749040" cy="32004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Inadequate when traffic classes mix</a:t>
            </a:r>
            <a:endParaRPr lang="en-US" sz="1200" dirty="0"/>
          </a:p>
        </p:txBody>
      </p:sp>
      <p:sp>
        <p:nvSpPr>
          <p:cNvPr id="14" name="Shape 12"/>
          <p:cNvSpPr/>
          <p:nvPr/>
        </p:nvSpPr>
        <p:spPr>
          <a:xfrm>
            <a:off x="4800600" y="1261872"/>
            <a:ext cx="3977640" cy="3401568"/>
          </a:xfrm>
          <a:prstGeom prst="rect">
            <a:avLst/>
          </a:prstGeom>
          <a:solidFill>
            <a:srgbClr val="1A4D6E"/>
          </a:solidFill>
          <a:ln w="25400">
            <a:solidFill>
              <a:srgbClr val="C0392B"/>
            </a:solidFill>
            <a:prstDash val="solid"/>
          </a:ln>
        </p:spPr>
      </p:sp>
      <p:sp>
        <p:nvSpPr>
          <p:cNvPr id="15" name="Shape 13"/>
          <p:cNvSpPr/>
          <p:nvPr/>
        </p:nvSpPr>
        <p:spPr>
          <a:xfrm>
            <a:off x="4800600" y="1261872"/>
            <a:ext cx="3977640" cy="411480"/>
          </a:xfrm>
          <a:prstGeom prst="rect">
            <a:avLst/>
          </a:prstGeom>
          <a:solidFill>
            <a:srgbClr val="C0392B"/>
          </a:solidFill>
          <a:ln w="12700">
            <a:solidFill>
              <a:srgbClr val="C0392B"/>
            </a:solidFill>
            <a:prstDash val="solid"/>
          </a:ln>
        </p:spPr>
      </p:sp>
      <p:sp>
        <p:nvSpPr>
          <p:cNvPr id="16" name="Text 14"/>
          <p:cNvSpPr/>
          <p:nvPr/>
        </p:nvSpPr>
        <p:spPr>
          <a:xfrm>
            <a:off x="4910328" y="1261872"/>
            <a:ext cx="374904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Strict Priority (SP)</a:t>
            </a:r>
            <a:endParaRPr lang="en-US" sz="1400" dirty="0"/>
          </a:p>
        </p:txBody>
      </p:sp>
      <p:sp>
        <p:nvSpPr>
          <p:cNvPr id="17" name="Text 15"/>
          <p:cNvSpPr/>
          <p:nvPr/>
        </p:nvSpPr>
        <p:spPr>
          <a:xfrm>
            <a:off x="4910328" y="1737360"/>
            <a:ext cx="3749040" cy="502920"/>
          </a:xfrm>
          <a:prstGeom prst="rect">
            <a:avLst/>
          </a:prstGeom>
          <a:noFill/>
          <a:ln/>
        </p:spPr>
        <p:txBody>
          <a:bodyPr wrap="square" lIns="0" tIns="0" rIns="0" bIns="0" rtlCol="0" anchor="t"/>
          <a:lstStyle/>
          <a:p>
            <a:pPr marL="0" indent="0" algn="l">
              <a:buNone/>
            </a:pPr>
            <a:r>
              <a:rPr lang="en-US" sz="1300" dirty="0">
                <a:solidFill>
                  <a:srgbClr val="D6EAF8"/>
                </a:solidFill>
                <a:latin typeface="Calibri" pitchFamily="34" charset="0"/>
                <a:ea typeface="Calibri" pitchFamily="34" charset="-122"/>
                <a:cs typeface="Calibri" pitchFamily="34" charset="-120"/>
              </a:rPr>
              <a:t>Highest non-empty priority queue is always served before any lower-priority queue.</a:t>
            </a:r>
            <a:endParaRPr lang="en-US" sz="1300" dirty="0"/>
          </a:p>
        </p:txBody>
      </p:sp>
      <p:sp>
        <p:nvSpPr>
          <p:cNvPr id="18" name="Shape 16"/>
          <p:cNvSpPr/>
          <p:nvPr/>
        </p:nvSpPr>
        <p:spPr>
          <a:xfrm>
            <a:off x="4910328" y="2304288"/>
            <a:ext cx="3749040" cy="36576"/>
          </a:xfrm>
          <a:prstGeom prst="rect">
            <a:avLst/>
          </a:prstGeom>
          <a:solidFill>
            <a:srgbClr val="C0392B"/>
          </a:solidFill>
          <a:ln w="12700">
            <a:solidFill>
              <a:srgbClr val="C0392B"/>
            </a:solidFill>
            <a:prstDash val="solid"/>
          </a:ln>
        </p:spPr>
      </p:sp>
      <p:sp>
        <p:nvSpPr>
          <p:cNvPr id="19" name="Text 17"/>
          <p:cNvSpPr/>
          <p:nvPr/>
        </p:nvSpPr>
        <p:spPr>
          <a:xfrm>
            <a:off x="4910328" y="2377440"/>
            <a:ext cx="3749040" cy="320040"/>
          </a:xfrm>
          <a:prstGeom prst="rect">
            <a:avLst/>
          </a:prstGeom>
          <a:noFill/>
          <a:ln/>
        </p:spPr>
        <p:txBody>
          <a:bodyPr wrap="square" lIns="0" tIns="0" rIns="0" bIns="0" rtlCol="0" anchor="ctr"/>
          <a:lstStyle/>
          <a:p>
            <a:pPr marL="0" indent="0">
              <a:buNone/>
            </a:pPr>
            <a:r>
              <a:rPr lang="en-US" sz="1200" b="1" dirty="0">
                <a:solidFill>
                  <a:srgbClr val="1A9DAA"/>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Minimizes latency for top-priority class</a:t>
            </a:r>
            <a:endParaRPr lang="en-US" sz="1200" dirty="0"/>
          </a:p>
        </p:txBody>
      </p:sp>
      <p:sp>
        <p:nvSpPr>
          <p:cNvPr id="20" name="Text 18"/>
          <p:cNvSpPr/>
          <p:nvPr/>
        </p:nvSpPr>
        <p:spPr>
          <a:xfrm>
            <a:off x="4910328" y="2724912"/>
            <a:ext cx="3749040" cy="320040"/>
          </a:xfrm>
          <a:prstGeom prst="rect">
            <a:avLst/>
          </a:prstGeom>
          <a:noFill/>
          <a:ln/>
        </p:spPr>
        <p:txBody>
          <a:bodyPr wrap="square" lIns="0" tIns="0" rIns="0" bIns="0" rtlCol="0" anchor="ctr"/>
          <a:lstStyle/>
          <a:p>
            <a:pPr marL="0" indent="0">
              <a:buNone/>
            </a:pPr>
            <a:r>
              <a:rPr lang="en-US" sz="1200" b="1" dirty="0">
                <a:solidFill>
                  <a:srgbClr val="1A9DAA"/>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Simple and predictable urgency model</a:t>
            </a:r>
            <a:endParaRPr lang="en-US" sz="1200" dirty="0"/>
          </a:p>
        </p:txBody>
      </p:sp>
      <p:sp>
        <p:nvSpPr>
          <p:cNvPr id="21" name="Text 19"/>
          <p:cNvSpPr/>
          <p:nvPr/>
        </p:nvSpPr>
        <p:spPr>
          <a:xfrm>
            <a:off x="4910328" y="3072384"/>
            <a:ext cx="3749040" cy="320040"/>
          </a:xfrm>
          <a:prstGeom prst="rect">
            <a:avLst/>
          </a:prstGeom>
          <a:noFill/>
          <a:ln/>
        </p:spPr>
        <p:txBody>
          <a:bodyPr wrap="square" lIns="0" tIns="0" rIns="0" bIns="0" rtlCol="0" anchor="ctr"/>
          <a:lstStyle/>
          <a:p>
            <a:pPr marL="0" indent="0">
              <a:buNone/>
            </a:pPr>
            <a:r>
              <a:rPr lang="en-US" sz="1200" b="1" dirty="0">
                <a:solidFill>
                  <a:srgbClr val="1A9DAA"/>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Best for traffic that truly needs to go first</a:t>
            </a:r>
            <a:endParaRPr lang="en-US" sz="1200" dirty="0"/>
          </a:p>
        </p:txBody>
      </p:sp>
      <p:sp>
        <p:nvSpPr>
          <p:cNvPr id="22" name="Text 20"/>
          <p:cNvSpPr/>
          <p:nvPr/>
        </p:nvSpPr>
        <p:spPr>
          <a:xfrm>
            <a:off x="4910328" y="3419856"/>
            <a:ext cx="3749040" cy="32004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Lower-priority queues can starve completely</a:t>
            </a:r>
            <a:endParaRPr lang="en-US" sz="1200" dirty="0"/>
          </a:p>
        </p:txBody>
      </p:sp>
      <p:sp>
        <p:nvSpPr>
          <p:cNvPr id="23" name="Text 21"/>
          <p:cNvSpPr/>
          <p:nvPr/>
        </p:nvSpPr>
        <p:spPr>
          <a:xfrm>
            <a:off x="4910328" y="3767328"/>
            <a:ext cx="3749040" cy="32004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Dangerous if used without load analysis</a:t>
            </a:r>
            <a:endParaRPr lang="en-US" sz="1200" dirty="0"/>
          </a:p>
        </p:txBody>
      </p:sp>
      <p:sp>
        <p:nvSpPr>
          <p:cNvPr id="24" name="Shape 22"/>
          <p:cNvSpPr/>
          <p:nvPr/>
        </p:nvSpPr>
        <p:spPr>
          <a:xfrm>
            <a:off x="365760" y="4800600"/>
            <a:ext cx="8366760" cy="347472"/>
          </a:xfrm>
          <a:prstGeom prst="rect">
            <a:avLst/>
          </a:prstGeom>
          <a:solidFill>
            <a:srgbClr val="1A2D1E"/>
          </a:solidFill>
          <a:ln w="12700">
            <a:solidFill>
              <a:srgbClr val="1A2D1E"/>
            </a:solidFill>
            <a:prstDash val="solid"/>
          </a:ln>
        </p:spPr>
      </p:sp>
      <p:sp>
        <p:nvSpPr>
          <p:cNvPr id="25" name="Shape 23"/>
          <p:cNvSpPr/>
          <p:nvPr/>
        </p:nvSpPr>
        <p:spPr>
          <a:xfrm>
            <a:off x="365760" y="4800600"/>
            <a:ext cx="8366760" cy="347472"/>
          </a:xfrm>
          <a:prstGeom prst="rect">
            <a:avLst/>
          </a:prstGeom>
          <a:solidFill>
            <a:srgbClr val="1A2D1E"/>
          </a:solidFill>
          <a:ln w="25400">
            <a:solidFill>
              <a:srgbClr val="0E7C86"/>
            </a:solidFill>
            <a:prstDash val="solid"/>
          </a:ln>
        </p:spPr>
      </p:sp>
      <p:sp>
        <p:nvSpPr>
          <p:cNvPr id="26" name="Text 24"/>
          <p:cNvSpPr/>
          <p:nvPr/>
        </p:nvSpPr>
        <p:spPr>
          <a:xfrm>
            <a:off x="502920" y="4818888"/>
            <a:ext cx="8229600" cy="310896"/>
          </a:xfrm>
          <a:prstGeom prst="rect">
            <a:avLst/>
          </a:prstGeom>
          <a:noFill/>
          <a:ln/>
        </p:spPr>
        <p:txBody>
          <a:bodyPr wrap="square" lIns="0" tIns="0" rIns="0" bIns="0" rtlCol="0" anchor="ctr"/>
          <a:lstStyle/>
          <a:p>
            <a:pPr marL="0" indent="0" algn="ctr">
              <a:buNone/>
            </a:pPr>
            <a:r>
              <a:rPr lang="en-US" sz="1200" dirty="0">
                <a:solidFill>
                  <a:srgbClr val="D6EAF8"/>
                </a:solidFill>
                <a:latin typeface="Calibri" pitchFamily="34" charset="0"/>
                <a:ea typeface="Calibri" pitchFamily="34" charset="-122"/>
                <a:cs typeface="Calibri" pitchFamily="34" charset="-120"/>
              </a:rPr>
              <a:t>FIFO ignores importance. SP maximizes importance. Neither handles the case where several classes all need reliable service.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8FF"/>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3400" b="1" dirty="0">
                <a:solidFill>
                  <a:srgbClr val="0B2D4E"/>
                </a:solidFill>
                <a:latin typeface="Trebuchet MS" pitchFamily="34" charset="0"/>
                <a:ea typeface="Trebuchet MS" pitchFamily="34" charset="-122"/>
                <a:cs typeface="Trebuchet MS" pitchFamily="34" charset="-120"/>
              </a:rPr>
              <a:t>WRR and WFQ: Sharing Service Over Time</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Shape 2"/>
          <p:cNvSpPr/>
          <p:nvPr/>
        </p:nvSpPr>
        <p:spPr>
          <a:xfrm>
            <a:off x="365760" y="1261872"/>
            <a:ext cx="3977640" cy="3429000"/>
          </a:xfrm>
          <a:prstGeom prst="rect">
            <a:avLst/>
          </a:prstGeom>
          <a:solidFill>
            <a:srgbClr val="0B2D4E"/>
          </a:solidFill>
          <a:ln w="25400">
            <a:solidFill>
              <a:srgbClr val="2980B9"/>
            </a:solidFill>
            <a:prstDash val="solid"/>
          </a:ln>
        </p:spPr>
      </p:sp>
      <p:sp>
        <p:nvSpPr>
          <p:cNvPr id="5" name="Shape 3"/>
          <p:cNvSpPr/>
          <p:nvPr/>
        </p:nvSpPr>
        <p:spPr>
          <a:xfrm>
            <a:off x="365760" y="1261872"/>
            <a:ext cx="3977640" cy="411480"/>
          </a:xfrm>
          <a:prstGeom prst="rect">
            <a:avLst/>
          </a:prstGeom>
          <a:solidFill>
            <a:srgbClr val="2980B9"/>
          </a:solidFill>
          <a:ln w="12700">
            <a:solidFill>
              <a:srgbClr val="2980B9"/>
            </a:solidFill>
            <a:prstDash val="solid"/>
          </a:ln>
        </p:spPr>
      </p:sp>
      <p:sp>
        <p:nvSpPr>
          <p:cNvPr id="6" name="Text 4"/>
          <p:cNvSpPr/>
          <p:nvPr/>
        </p:nvSpPr>
        <p:spPr>
          <a:xfrm>
            <a:off x="475488" y="1261872"/>
            <a:ext cx="374904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Weighted Round Robin (WRR)</a:t>
            </a:r>
            <a:endParaRPr lang="en-US" sz="1400" dirty="0"/>
          </a:p>
        </p:txBody>
      </p:sp>
      <p:sp>
        <p:nvSpPr>
          <p:cNvPr id="7" name="Text 5"/>
          <p:cNvSpPr/>
          <p:nvPr/>
        </p:nvSpPr>
        <p:spPr>
          <a:xfrm>
            <a:off x="475488" y="1737360"/>
            <a:ext cx="3749040" cy="804672"/>
          </a:xfrm>
          <a:prstGeom prst="rect">
            <a:avLst/>
          </a:prstGeom>
          <a:noFill/>
          <a:ln/>
        </p:spPr>
        <p:txBody>
          <a:bodyPr wrap="square" lIns="0" tIns="0" rIns="0" bIns="0" rtlCol="0" anchor="t"/>
          <a:lstStyle/>
          <a:p>
            <a:pPr marL="0" indent="0" algn="l">
              <a:buNone/>
            </a:pPr>
            <a:r>
              <a:rPr lang="en-US" sz="1300" dirty="0">
                <a:solidFill>
                  <a:srgbClr val="0B2D4E"/>
                </a:solidFill>
                <a:latin typeface="Calibri" pitchFamily="34" charset="0"/>
                <a:ea typeface="Calibri" pitchFamily="34" charset="-122"/>
                <a:cs typeface="Calibri" pitchFamily="34" charset="-120"/>
              </a:rPr>
              <a:t>Serves queues in turn, but each queue receives service proportional to its configured weight. If a queue is empty, the scheduler immediately moves on — no wasted turns.</a:t>
            </a:r>
            <a:endParaRPr lang="en-US" sz="1300" dirty="0"/>
          </a:p>
        </p:txBody>
      </p:sp>
      <p:sp>
        <p:nvSpPr>
          <p:cNvPr id="8" name="Shape 6"/>
          <p:cNvSpPr/>
          <p:nvPr/>
        </p:nvSpPr>
        <p:spPr>
          <a:xfrm>
            <a:off x="475488" y="2606040"/>
            <a:ext cx="3749040" cy="36576"/>
          </a:xfrm>
          <a:prstGeom prst="rect">
            <a:avLst/>
          </a:prstGeom>
          <a:solidFill>
            <a:srgbClr val="2980B9"/>
          </a:solidFill>
          <a:ln w="12700">
            <a:solidFill>
              <a:srgbClr val="2980B9"/>
            </a:solidFill>
            <a:prstDash val="solid"/>
          </a:ln>
        </p:spPr>
      </p:sp>
      <p:sp>
        <p:nvSpPr>
          <p:cNvPr id="9" name="Shape 7"/>
          <p:cNvSpPr/>
          <p:nvPr/>
        </p:nvSpPr>
        <p:spPr>
          <a:xfrm>
            <a:off x="475488" y="2706624"/>
            <a:ext cx="2194560" cy="384048"/>
          </a:xfrm>
          <a:prstGeom prst="rect">
            <a:avLst/>
          </a:prstGeom>
          <a:solidFill>
            <a:srgbClr val="8E44AD"/>
          </a:solidFill>
          <a:ln w="12700">
            <a:solidFill>
              <a:srgbClr val="8E44AD"/>
            </a:solidFill>
            <a:prstDash val="solid"/>
          </a:ln>
        </p:spPr>
      </p:sp>
      <p:sp>
        <p:nvSpPr>
          <p:cNvPr id="10" name="Shape 8"/>
          <p:cNvSpPr/>
          <p:nvPr/>
        </p:nvSpPr>
        <p:spPr>
          <a:xfrm>
            <a:off x="2743200" y="2706624"/>
            <a:ext cx="1097280" cy="384048"/>
          </a:xfrm>
          <a:prstGeom prst="rect">
            <a:avLst/>
          </a:prstGeom>
          <a:solidFill>
            <a:srgbClr val="2980B9"/>
          </a:solidFill>
          <a:ln w="12700">
            <a:solidFill>
              <a:srgbClr val="2980B9"/>
            </a:solidFill>
            <a:prstDash val="solid"/>
          </a:ln>
        </p:spPr>
      </p:sp>
      <p:sp>
        <p:nvSpPr>
          <p:cNvPr id="11" name="Shape 9"/>
          <p:cNvSpPr/>
          <p:nvPr/>
        </p:nvSpPr>
        <p:spPr>
          <a:xfrm>
            <a:off x="3913632" y="2706624"/>
            <a:ext cx="548640" cy="384048"/>
          </a:xfrm>
          <a:prstGeom prst="rect">
            <a:avLst/>
          </a:prstGeom>
          <a:solidFill>
            <a:srgbClr val="4A6B82"/>
          </a:solidFill>
          <a:ln w="12700">
            <a:solidFill>
              <a:srgbClr val="4A6B82"/>
            </a:solidFill>
            <a:prstDash val="solid"/>
          </a:ln>
        </p:spPr>
      </p:sp>
      <p:sp>
        <p:nvSpPr>
          <p:cNvPr id="12" name="Text 10"/>
          <p:cNvSpPr/>
          <p:nvPr/>
        </p:nvSpPr>
        <p:spPr>
          <a:xfrm>
            <a:off x="475488" y="3145536"/>
            <a:ext cx="3657600" cy="256032"/>
          </a:xfrm>
          <a:prstGeom prst="rect">
            <a:avLst/>
          </a:prstGeom>
          <a:noFill/>
          <a:ln/>
        </p:spPr>
        <p:txBody>
          <a:bodyPr wrap="square" lIns="0" tIns="0" rIns="0" bIns="0" rtlCol="0" anchor="ctr"/>
          <a:lstStyle/>
          <a:p>
            <a:pPr marL="0" indent="0" algn="ctr">
              <a:buNone/>
            </a:pPr>
            <a:r>
              <a:rPr lang="en-US" sz="1000" dirty="0">
                <a:solidFill>
                  <a:srgbClr val="4A6B82"/>
                </a:solidFill>
                <a:latin typeface="Calibri" pitchFamily="34" charset="0"/>
                <a:ea typeface="Calibri" pitchFamily="34" charset="-122"/>
                <a:cs typeface="Calibri" pitchFamily="34" charset="-120"/>
              </a:rPr>
              <a:t>Proportional bandwidth share</a:t>
            </a:r>
            <a:endParaRPr lang="en-US" sz="1000" dirty="0"/>
          </a:p>
        </p:txBody>
      </p:sp>
      <p:sp>
        <p:nvSpPr>
          <p:cNvPr id="13" name="Text 11"/>
          <p:cNvSpPr/>
          <p:nvPr/>
        </p:nvSpPr>
        <p:spPr>
          <a:xfrm>
            <a:off x="475488" y="3456432"/>
            <a:ext cx="3749040" cy="804672"/>
          </a:xfrm>
          <a:prstGeom prst="rect">
            <a:avLst/>
          </a:prstGeom>
          <a:noFill/>
          <a:ln/>
        </p:spPr>
        <p:txBody>
          <a:bodyPr wrap="square" lIns="0" tIns="0" rIns="0" bIns="0" rtlCol="0" anchor="t"/>
          <a:lstStyle/>
          <a:p>
            <a:pPr marL="0" indent="0" algn="l">
              <a:buNone/>
            </a:pPr>
            <a:r>
              <a:rPr lang="en-US" sz="1200" dirty="0">
                <a:solidFill>
                  <a:srgbClr val="0B2D4E"/>
                </a:solidFill>
                <a:latin typeface="Calibri" pitchFamily="34" charset="0"/>
                <a:ea typeface="Calibri" pitchFamily="34" charset="-122"/>
                <a:cs typeface="Calibri" pitchFamily="34" charset="-120"/>
              </a:rPr>
              <a:t>Intuition: Strict Priority asks who is most important right now. WRR asks how service should be shared over time. Good when several classes all matter.</a:t>
            </a:r>
            <a:endParaRPr lang="en-US" sz="1200" dirty="0"/>
          </a:p>
        </p:txBody>
      </p:sp>
      <p:sp>
        <p:nvSpPr>
          <p:cNvPr id="14" name="Shape 12"/>
          <p:cNvSpPr/>
          <p:nvPr/>
        </p:nvSpPr>
        <p:spPr>
          <a:xfrm>
            <a:off x="365760" y="4279392"/>
            <a:ext cx="3977640" cy="320040"/>
          </a:xfrm>
          <a:prstGeom prst="rect">
            <a:avLst/>
          </a:prstGeom>
          <a:solidFill>
            <a:srgbClr val="2980B9"/>
          </a:solidFill>
          <a:ln w="12700">
            <a:solidFill>
              <a:srgbClr val="2980B9"/>
            </a:solidFill>
            <a:prstDash val="solid"/>
          </a:ln>
        </p:spPr>
      </p:sp>
      <p:sp>
        <p:nvSpPr>
          <p:cNvPr id="15" name="Text 13"/>
          <p:cNvSpPr/>
          <p:nvPr/>
        </p:nvSpPr>
        <p:spPr>
          <a:xfrm>
            <a:off x="475488" y="4279392"/>
            <a:ext cx="3749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No starvation. Proportional, not deterministic.</a:t>
            </a:r>
            <a:endParaRPr lang="en-US" sz="1100" dirty="0"/>
          </a:p>
        </p:txBody>
      </p:sp>
      <p:sp>
        <p:nvSpPr>
          <p:cNvPr id="16" name="Shape 14"/>
          <p:cNvSpPr/>
          <p:nvPr/>
        </p:nvSpPr>
        <p:spPr>
          <a:xfrm>
            <a:off x="4800600" y="1261872"/>
            <a:ext cx="3977640" cy="3429000"/>
          </a:xfrm>
          <a:prstGeom prst="rect">
            <a:avLst/>
          </a:prstGeom>
          <a:solidFill>
            <a:srgbClr val="0B2D4E"/>
          </a:solidFill>
          <a:ln w="25400">
            <a:solidFill>
              <a:srgbClr val="8E44AD"/>
            </a:solidFill>
            <a:prstDash val="solid"/>
          </a:ln>
        </p:spPr>
      </p:sp>
      <p:sp>
        <p:nvSpPr>
          <p:cNvPr id="17" name="Shape 15"/>
          <p:cNvSpPr/>
          <p:nvPr/>
        </p:nvSpPr>
        <p:spPr>
          <a:xfrm>
            <a:off x="4800600" y="1261872"/>
            <a:ext cx="3977640" cy="411480"/>
          </a:xfrm>
          <a:prstGeom prst="rect">
            <a:avLst/>
          </a:prstGeom>
          <a:solidFill>
            <a:srgbClr val="8E44AD"/>
          </a:solidFill>
          <a:ln w="12700">
            <a:solidFill>
              <a:srgbClr val="8E44AD"/>
            </a:solidFill>
            <a:prstDash val="solid"/>
          </a:ln>
        </p:spPr>
      </p:sp>
      <p:sp>
        <p:nvSpPr>
          <p:cNvPr id="18" name="Text 16"/>
          <p:cNvSpPr/>
          <p:nvPr/>
        </p:nvSpPr>
        <p:spPr>
          <a:xfrm>
            <a:off x="4910328" y="1261872"/>
            <a:ext cx="374904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Weighted Fair Queuing (WFQ)</a:t>
            </a:r>
            <a:endParaRPr lang="en-US" sz="1400" dirty="0"/>
          </a:p>
        </p:txBody>
      </p:sp>
      <p:sp>
        <p:nvSpPr>
          <p:cNvPr id="19" name="Text 17"/>
          <p:cNvSpPr/>
          <p:nvPr/>
        </p:nvSpPr>
        <p:spPr>
          <a:xfrm>
            <a:off x="4910328" y="1737360"/>
            <a:ext cx="3749040" cy="658368"/>
          </a:xfrm>
          <a:prstGeom prst="rect">
            <a:avLst/>
          </a:prstGeom>
          <a:noFill/>
          <a:ln/>
        </p:spPr>
        <p:txBody>
          <a:bodyPr wrap="square" lIns="0" tIns="0" rIns="0" bIns="0" rtlCol="0" anchor="t"/>
          <a:lstStyle/>
          <a:p>
            <a:pPr marL="0" indent="0" algn="l">
              <a:buNone/>
            </a:pPr>
            <a:r>
              <a:rPr lang="en-US" sz="1300" dirty="0">
                <a:solidFill>
                  <a:srgbClr val="0B2D4E"/>
                </a:solidFill>
                <a:latin typeface="Calibri" pitchFamily="34" charset="0"/>
                <a:ea typeface="Calibri" pitchFamily="34" charset="-122"/>
                <a:cs typeface="Calibri" pitchFamily="34" charset="-120"/>
              </a:rPr>
              <a:t>A fairness-oriented scheduling concept that divides bandwidth by weights and tries to protect low-volume interactive traffic from bulk flows.</a:t>
            </a:r>
            <a:endParaRPr lang="en-US" sz="1300" dirty="0"/>
          </a:p>
        </p:txBody>
      </p:sp>
      <p:sp>
        <p:nvSpPr>
          <p:cNvPr id="20" name="Shape 18"/>
          <p:cNvSpPr/>
          <p:nvPr/>
        </p:nvSpPr>
        <p:spPr>
          <a:xfrm>
            <a:off x="4910328" y="2459736"/>
            <a:ext cx="3749040" cy="36576"/>
          </a:xfrm>
          <a:prstGeom prst="rect">
            <a:avLst/>
          </a:prstGeom>
          <a:solidFill>
            <a:srgbClr val="8E44AD"/>
          </a:solidFill>
          <a:ln w="12700">
            <a:solidFill>
              <a:srgbClr val="8E44AD"/>
            </a:solidFill>
            <a:prstDash val="solid"/>
          </a:ln>
        </p:spPr>
      </p:sp>
      <p:sp>
        <p:nvSpPr>
          <p:cNvPr id="21" name="Text 19"/>
          <p:cNvSpPr/>
          <p:nvPr/>
        </p:nvSpPr>
        <p:spPr>
          <a:xfrm>
            <a:off x="4910328" y="2542032"/>
            <a:ext cx="3749040" cy="1828800"/>
          </a:xfrm>
          <a:prstGeom prst="rect">
            <a:avLst/>
          </a:prstGeom>
          <a:noFill/>
          <a:ln/>
        </p:spPr>
        <p:txBody>
          <a:bodyPr wrap="square" lIns="0" tIns="0" rIns="0" bIns="0" rtlCol="0" anchor="t"/>
          <a:lstStyle/>
          <a:p>
            <a:pPr marL="0" indent="0" algn="l">
              <a:buNone/>
            </a:pPr>
            <a:r>
              <a:rPr lang="en-US" sz="1200" dirty="0">
                <a:solidFill>
                  <a:srgbClr val="0B2D4E"/>
                </a:solidFill>
                <a:latin typeface="Calibri" pitchFamily="34" charset="0"/>
                <a:ea typeface="Calibri" pitchFamily="34" charset="-122"/>
                <a:cs typeface="Calibri" pitchFamily="34" charset="-120"/>
              </a:rPr>
              <a:t>Conceptually richer than WRR — it models weighted fair sharing among flows, not just queue turns.</a:t>
            </a:r>
            <a:endParaRPr lang="en-US" sz="1200" dirty="0"/>
          </a:p>
          <a:p>
            <a:pPr marL="0" indent="0" algn="l">
              <a:buNone/>
            </a:pPr>
            <a:endParaRPr lang="en-US" sz="1200" dirty="0"/>
          </a:p>
          <a:p>
            <a:pPr marL="0" indent="0" algn="l">
              <a:buNone/>
            </a:pPr>
            <a:r>
              <a:rPr lang="en-US" sz="1200" dirty="0">
                <a:solidFill>
                  <a:srgbClr val="0B2D4E"/>
                </a:solidFill>
                <a:latin typeface="Calibri" pitchFamily="34" charset="0"/>
                <a:ea typeface="Calibri" pitchFamily="34" charset="-122"/>
                <a:cs typeface="Calibri" pitchFamily="34" charset="-120"/>
              </a:rPr>
              <a:t>Important caveat: IEEE 802.1Q does not name WFQ as one of its transmission-selection algorithms. The 802.1Q model names Strict Priority, Credit-Based Shaper, Enhanced Transmission Selection, and ATS.</a:t>
            </a:r>
            <a:endParaRPr lang="en-US" sz="1200" dirty="0"/>
          </a:p>
          <a:p>
            <a:pPr marL="0" indent="0" algn="l">
              <a:buNone/>
            </a:pPr>
            <a:endParaRPr lang="en-US" sz="1200" dirty="0"/>
          </a:p>
          <a:p>
            <a:pPr marL="0" indent="0" algn="l">
              <a:buNone/>
            </a:pPr>
            <a:r>
              <a:rPr lang="en-US" sz="1200" dirty="0">
                <a:solidFill>
                  <a:srgbClr val="0B2D4E"/>
                </a:solidFill>
                <a:latin typeface="Calibri" pitchFamily="34" charset="0"/>
                <a:ea typeface="Calibri" pitchFamily="34" charset="-122"/>
                <a:cs typeface="Calibri" pitchFamily="34" charset="-120"/>
              </a:rPr>
              <a:t>WFQ is an excellent reference concept — but is not the standard 802.1Q scheduler knob you configure on bridge silicon.</a:t>
            </a:r>
            <a:endParaRPr lang="en-US" sz="1200" dirty="0"/>
          </a:p>
        </p:txBody>
      </p:sp>
      <p:sp>
        <p:nvSpPr>
          <p:cNvPr id="22" name="Shape 20"/>
          <p:cNvSpPr/>
          <p:nvPr/>
        </p:nvSpPr>
        <p:spPr>
          <a:xfrm>
            <a:off x="4800600" y="4279392"/>
            <a:ext cx="3977640" cy="320040"/>
          </a:xfrm>
          <a:prstGeom prst="rect">
            <a:avLst/>
          </a:prstGeom>
          <a:solidFill>
            <a:srgbClr val="8E44AD"/>
          </a:solidFill>
          <a:ln w="12700">
            <a:solidFill>
              <a:srgbClr val="8E44AD"/>
            </a:solidFill>
            <a:prstDash val="solid"/>
          </a:ln>
        </p:spPr>
      </p:sp>
      <p:sp>
        <p:nvSpPr>
          <p:cNvPr id="23" name="Text 21"/>
          <p:cNvSpPr/>
          <p:nvPr/>
        </p:nvSpPr>
        <p:spPr>
          <a:xfrm>
            <a:off x="4910328" y="4279392"/>
            <a:ext cx="3749040" cy="32004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Good reference model — not a named 802.1Q algorithm.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D4E"/>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3200" b="1" dirty="0">
                <a:solidFill>
                  <a:srgbClr val="FFFFFF"/>
                </a:solidFill>
                <a:latin typeface="Trebuchet MS" pitchFamily="34" charset="0"/>
                <a:ea typeface="Trebuchet MS" pitchFamily="34" charset="-122"/>
                <a:cs typeface="Trebuchet MS" pitchFamily="34" charset="-120"/>
              </a:rPr>
              <a:t>Credit-Based Shaper: Beyond Priority Flags</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594360"/>
          </a:xfrm>
          <a:prstGeom prst="rect">
            <a:avLst/>
          </a:prstGeom>
          <a:noFill/>
          <a:ln/>
        </p:spPr>
        <p:txBody>
          <a:bodyPr wrap="square" lIns="0" tIns="0" rIns="0" bIns="0" rtlCol="0" anchor="t"/>
          <a:lstStyle/>
          <a:p>
            <a:pPr marL="0" indent="0" algn="l">
              <a:buNone/>
            </a:pPr>
            <a:r>
              <a:rPr lang="en-US" sz="1400" dirty="0">
                <a:solidFill>
                  <a:srgbClr val="D6EAF8"/>
                </a:solidFill>
                <a:latin typeface="Calibri" pitchFamily="34" charset="0"/>
                <a:ea typeface="Calibri" pitchFamily="34" charset="-122"/>
                <a:cs typeface="Calibri" pitchFamily="34" charset="-120"/>
              </a:rPr>
              <a:t>Some traffic needs better delay and burst behavior than a pure scheduler can deliver — but it does not need a full time-triggered schedule. CBS fills that gap:</a:t>
            </a:r>
            <a:endParaRPr lang="en-US" sz="1400" dirty="0"/>
          </a:p>
        </p:txBody>
      </p:sp>
      <p:sp>
        <p:nvSpPr>
          <p:cNvPr id="5" name="Shape 3"/>
          <p:cNvSpPr/>
          <p:nvPr/>
        </p:nvSpPr>
        <p:spPr>
          <a:xfrm>
            <a:off x="502920" y="1938528"/>
            <a:ext cx="8138160" cy="502920"/>
          </a:xfrm>
          <a:prstGeom prst="rect">
            <a:avLst/>
          </a:prstGeom>
          <a:solidFill>
            <a:srgbClr val="1A4D6E"/>
          </a:solidFill>
          <a:ln w="12700">
            <a:solidFill>
              <a:srgbClr val="1A4D6E"/>
            </a:solidFill>
            <a:prstDash val="solid"/>
          </a:ln>
        </p:spPr>
      </p:sp>
      <p:sp>
        <p:nvSpPr>
          <p:cNvPr id="6" name="Text 4"/>
          <p:cNvSpPr/>
          <p:nvPr/>
        </p:nvSpPr>
        <p:spPr>
          <a:xfrm>
            <a:off x="640080" y="1965960"/>
            <a:ext cx="7863840" cy="448056"/>
          </a:xfrm>
          <a:prstGeom prst="rect">
            <a:avLst/>
          </a:prstGeom>
          <a:noFill/>
          <a:ln/>
        </p:spPr>
        <p:txBody>
          <a:bodyPr wrap="square" lIns="0" tIns="0" rIns="0" bIns="0" rtlCol="0" anchor="ctr"/>
          <a:lstStyle/>
          <a:p>
            <a:pPr marL="0" indent="0" algn="ctr">
              <a:buNone/>
            </a:pPr>
            <a:r>
              <a:rPr lang="en-US" sz="1300" dirty="0">
                <a:solidFill>
                  <a:srgbClr val="F0A500"/>
                </a:solidFill>
                <a:latin typeface="Calibri" pitchFamily="34" charset="0"/>
                <a:ea typeface="Calibri" pitchFamily="34" charset="-122"/>
                <a:cs typeface="Calibri" pitchFamily="34" charset="-120"/>
              </a:rPr>
              <a:t>The problem CBS solves: time-sensitive streams must not bunch into large bursts that hurt their own latency — or the latency of others.</a:t>
            </a:r>
            <a:endParaRPr lang="en-US" sz="1300" dirty="0"/>
          </a:p>
        </p:txBody>
      </p:sp>
      <p:sp>
        <p:nvSpPr>
          <p:cNvPr id="7" name="Shape 5"/>
          <p:cNvSpPr/>
          <p:nvPr/>
        </p:nvSpPr>
        <p:spPr>
          <a:xfrm>
            <a:off x="365760" y="2633472"/>
            <a:ext cx="2670048" cy="1600200"/>
          </a:xfrm>
          <a:prstGeom prst="rect">
            <a:avLst/>
          </a:prstGeom>
          <a:solidFill>
            <a:srgbClr val="1A4D6E"/>
          </a:solidFill>
          <a:ln w="25400">
            <a:solidFill>
              <a:srgbClr val="C0392B"/>
            </a:solidFill>
            <a:prstDash val="solid"/>
          </a:ln>
        </p:spPr>
      </p:sp>
      <p:sp>
        <p:nvSpPr>
          <p:cNvPr id="8" name="Text 6"/>
          <p:cNvSpPr/>
          <p:nvPr/>
        </p:nvSpPr>
        <p:spPr>
          <a:xfrm>
            <a:off x="475488" y="2724912"/>
            <a:ext cx="2450592" cy="384048"/>
          </a:xfrm>
          <a:prstGeom prst="rect">
            <a:avLst/>
          </a:prstGeom>
          <a:noFill/>
          <a:ln/>
        </p:spPr>
        <p:txBody>
          <a:bodyPr wrap="square" lIns="0" tIns="0" rIns="0" bIns="0" rtlCol="0" anchor="ctr"/>
          <a:lstStyle/>
          <a:p>
            <a:pPr marL="0" indent="0" algn="l">
              <a:buNone/>
            </a:pPr>
            <a:r>
              <a:rPr lang="en-US" sz="1200" b="1" dirty="0">
                <a:solidFill>
                  <a:srgbClr val="C0392B"/>
                </a:solidFill>
                <a:latin typeface="Trebuchet MS" pitchFamily="34" charset="0"/>
                <a:ea typeface="Trebuchet MS" pitchFamily="34" charset="-122"/>
                <a:cs typeface="Trebuchet MS" pitchFamily="34" charset="-120"/>
              </a:rPr>
              <a:t>Priority alone is insufficient</a:t>
            </a:r>
            <a:endParaRPr lang="en-US" sz="1200" dirty="0"/>
          </a:p>
        </p:txBody>
      </p:sp>
      <p:sp>
        <p:nvSpPr>
          <p:cNvPr id="9" name="Shape 7"/>
          <p:cNvSpPr/>
          <p:nvPr/>
        </p:nvSpPr>
        <p:spPr>
          <a:xfrm>
            <a:off x="475488" y="3136392"/>
            <a:ext cx="2450592" cy="36576"/>
          </a:xfrm>
          <a:prstGeom prst="rect">
            <a:avLst/>
          </a:prstGeom>
          <a:solidFill>
            <a:srgbClr val="C0392B"/>
          </a:solidFill>
          <a:ln w="12700">
            <a:solidFill>
              <a:srgbClr val="C0392B"/>
            </a:solidFill>
            <a:prstDash val="solid"/>
          </a:ln>
        </p:spPr>
      </p:sp>
      <p:sp>
        <p:nvSpPr>
          <p:cNvPr id="10" name="Text 8"/>
          <p:cNvSpPr/>
          <p:nvPr/>
        </p:nvSpPr>
        <p:spPr>
          <a:xfrm>
            <a:off x="475488" y="3209544"/>
            <a:ext cx="2450592" cy="914400"/>
          </a:xfrm>
          <a:prstGeom prst="rect">
            <a:avLst/>
          </a:prstGeom>
          <a:noFill/>
          <a:ln/>
        </p:spPr>
        <p:txBody>
          <a:bodyPr wrap="square" lIns="0" tIns="0" rIns="0" bIns="0" rtlCol="0" anchor="t"/>
          <a:lstStyle/>
          <a:p>
            <a:pPr marL="0" indent="0" algn="l">
              <a:buNone/>
            </a:pPr>
            <a:r>
              <a:rPr lang="en-US" sz="1200" dirty="0">
                <a:solidFill>
                  <a:srgbClr val="D6EAF8"/>
                </a:solidFill>
                <a:latin typeface="Calibri" pitchFamily="34" charset="0"/>
                <a:ea typeface="Calibri" pitchFamily="34" charset="-122"/>
                <a:cs typeface="Calibri" pitchFamily="34" charset="-120"/>
              </a:rPr>
              <a:t>Strict Priority tells a queue to go first, but it says nothing about how that queue releases frames over time. A burst of high-priority frames can still saturate the link at once.</a:t>
            </a:r>
            <a:endParaRPr lang="en-US" sz="1200" dirty="0"/>
          </a:p>
        </p:txBody>
      </p:sp>
      <p:sp>
        <p:nvSpPr>
          <p:cNvPr id="11" name="Shape 9"/>
          <p:cNvSpPr/>
          <p:nvPr/>
        </p:nvSpPr>
        <p:spPr>
          <a:xfrm>
            <a:off x="3246120" y="2633472"/>
            <a:ext cx="2670048" cy="1600200"/>
          </a:xfrm>
          <a:prstGeom prst="rect">
            <a:avLst/>
          </a:prstGeom>
          <a:solidFill>
            <a:srgbClr val="1A4D6E"/>
          </a:solidFill>
          <a:ln w="25400">
            <a:solidFill>
              <a:srgbClr val="1A9DAA"/>
            </a:solidFill>
            <a:prstDash val="solid"/>
          </a:ln>
        </p:spPr>
      </p:sp>
      <p:sp>
        <p:nvSpPr>
          <p:cNvPr id="12" name="Text 10"/>
          <p:cNvSpPr/>
          <p:nvPr/>
        </p:nvSpPr>
        <p:spPr>
          <a:xfrm>
            <a:off x="3355848" y="2724912"/>
            <a:ext cx="2450592" cy="384048"/>
          </a:xfrm>
          <a:prstGeom prst="rect">
            <a:avLst/>
          </a:prstGeom>
          <a:noFill/>
          <a:ln/>
        </p:spPr>
        <p:txBody>
          <a:bodyPr wrap="square" lIns="0" tIns="0" rIns="0" bIns="0" rtlCol="0" anchor="ctr"/>
          <a:lstStyle/>
          <a:p>
            <a:pPr marL="0" indent="0" algn="l">
              <a:buNone/>
            </a:pPr>
            <a:r>
              <a:rPr lang="en-US" sz="1200" b="1" dirty="0">
                <a:solidFill>
                  <a:srgbClr val="1A9DAA"/>
                </a:solidFill>
                <a:latin typeface="Trebuchet MS" pitchFamily="34" charset="0"/>
                <a:ea typeface="Trebuchet MS" pitchFamily="34" charset="-122"/>
                <a:cs typeface="Trebuchet MS" pitchFamily="34" charset="-120"/>
              </a:rPr>
              <a:t>CBS adds rate discipline</a:t>
            </a:r>
            <a:endParaRPr lang="en-US" sz="1200" dirty="0"/>
          </a:p>
        </p:txBody>
      </p:sp>
      <p:sp>
        <p:nvSpPr>
          <p:cNvPr id="13" name="Shape 11"/>
          <p:cNvSpPr/>
          <p:nvPr/>
        </p:nvSpPr>
        <p:spPr>
          <a:xfrm>
            <a:off x="3355848" y="3136392"/>
            <a:ext cx="2450592" cy="36576"/>
          </a:xfrm>
          <a:prstGeom prst="rect">
            <a:avLst/>
          </a:prstGeom>
          <a:solidFill>
            <a:srgbClr val="1A9DAA"/>
          </a:solidFill>
          <a:ln w="12700">
            <a:solidFill>
              <a:srgbClr val="1A9DAA"/>
            </a:solidFill>
            <a:prstDash val="solid"/>
          </a:ln>
        </p:spPr>
      </p:sp>
      <p:sp>
        <p:nvSpPr>
          <p:cNvPr id="14" name="Text 12"/>
          <p:cNvSpPr/>
          <p:nvPr/>
        </p:nvSpPr>
        <p:spPr>
          <a:xfrm>
            <a:off x="3355848" y="3209544"/>
            <a:ext cx="2450592" cy="914400"/>
          </a:xfrm>
          <a:prstGeom prst="rect">
            <a:avLst/>
          </a:prstGeom>
          <a:noFill/>
          <a:ln/>
        </p:spPr>
        <p:txBody>
          <a:bodyPr wrap="square" lIns="0" tIns="0" rIns="0" bIns="0" rtlCol="0" anchor="t"/>
          <a:lstStyle/>
          <a:p>
            <a:pPr marL="0" indent="0" algn="l">
              <a:buNone/>
            </a:pPr>
            <a:r>
              <a:rPr lang="en-US" sz="1200" dirty="0">
                <a:solidFill>
                  <a:srgbClr val="D6EAF8"/>
                </a:solidFill>
                <a:latin typeface="Calibri" pitchFamily="34" charset="0"/>
                <a:ea typeface="Calibri" pitchFamily="34" charset="-122"/>
                <a:cs typeface="Calibri" pitchFamily="34" charset="-120"/>
              </a:rPr>
              <a:t>The Credit-Based Shaper allows a queue privileged treatment while also smoothing and rate-disciplining its transmission so frames are spread over time, not released all at once.</a:t>
            </a:r>
            <a:endParaRPr lang="en-US" sz="1200" dirty="0"/>
          </a:p>
        </p:txBody>
      </p:sp>
      <p:sp>
        <p:nvSpPr>
          <p:cNvPr id="15" name="Shape 13"/>
          <p:cNvSpPr/>
          <p:nvPr/>
        </p:nvSpPr>
        <p:spPr>
          <a:xfrm>
            <a:off x="6126480" y="2633472"/>
            <a:ext cx="2670048" cy="1600200"/>
          </a:xfrm>
          <a:prstGeom prst="rect">
            <a:avLst/>
          </a:prstGeom>
          <a:solidFill>
            <a:srgbClr val="1A4D6E"/>
          </a:solidFill>
          <a:ln w="25400">
            <a:solidFill>
              <a:srgbClr val="0E7C86"/>
            </a:solidFill>
            <a:prstDash val="solid"/>
          </a:ln>
        </p:spPr>
      </p:sp>
      <p:sp>
        <p:nvSpPr>
          <p:cNvPr id="16" name="Text 14"/>
          <p:cNvSpPr/>
          <p:nvPr/>
        </p:nvSpPr>
        <p:spPr>
          <a:xfrm>
            <a:off x="6236208" y="2724912"/>
            <a:ext cx="2450592" cy="384048"/>
          </a:xfrm>
          <a:prstGeom prst="rect">
            <a:avLst/>
          </a:prstGeom>
          <a:noFill/>
          <a:ln/>
        </p:spPr>
        <p:txBody>
          <a:bodyPr wrap="square" lIns="0" tIns="0" rIns="0" bIns="0" rtlCol="0" anchor="ctr"/>
          <a:lstStyle/>
          <a:p>
            <a:pPr marL="0" indent="0" algn="l">
              <a:buNone/>
            </a:pPr>
            <a:r>
              <a:rPr lang="en-US" sz="1200" b="1" dirty="0">
                <a:solidFill>
                  <a:srgbClr val="0E7C86"/>
                </a:solidFill>
                <a:latin typeface="Trebuchet MS" pitchFamily="34" charset="0"/>
                <a:ea typeface="Trebuchet MS" pitchFamily="34" charset="-122"/>
                <a:cs typeface="Trebuchet MS" pitchFamily="34" charset="-120"/>
              </a:rPr>
              <a:t>IEEE 802.1Qav origin</a:t>
            </a:r>
            <a:endParaRPr lang="en-US" sz="1200" dirty="0"/>
          </a:p>
        </p:txBody>
      </p:sp>
      <p:sp>
        <p:nvSpPr>
          <p:cNvPr id="17" name="Shape 15"/>
          <p:cNvSpPr/>
          <p:nvPr/>
        </p:nvSpPr>
        <p:spPr>
          <a:xfrm>
            <a:off x="6236208" y="3136392"/>
            <a:ext cx="2450592" cy="36576"/>
          </a:xfrm>
          <a:prstGeom prst="rect">
            <a:avLst/>
          </a:prstGeom>
          <a:solidFill>
            <a:srgbClr val="0E7C86"/>
          </a:solidFill>
          <a:ln w="12700">
            <a:solidFill>
              <a:srgbClr val="0E7C86"/>
            </a:solidFill>
            <a:prstDash val="solid"/>
          </a:ln>
        </p:spPr>
      </p:sp>
      <p:sp>
        <p:nvSpPr>
          <p:cNvPr id="18" name="Text 16"/>
          <p:cNvSpPr/>
          <p:nvPr/>
        </p:nvSpPr>
        <p:spPr>
          <a:xfrm>
            <a:off x="6236208" y="3209544"/>
            <a:ext cx="2450592" cy="914400"/>
          </a:xfrm>
          <a:prstGeom prst="rect">
            <a:avLst/>
          </a:prstGeom>
          <a:noFill/>
          <a:ln/>
        </p:spPr>
        <p:txBody>
          <a:bodyPr wrap="square" lIns="0" tIns="0" rIns="0" bIns="0" rtlCol="0" anchor="t"/>
          <a:lstStyle/>
          <a:p>
            <a:pPr marL="0" indent="0" algn="l">
              <a:buNone/>
            </a:pPr>
            <a:r>
              <a:rPr lang="en-US" sz="1200" dirty="0">
                <a:solidFill>
                  <a:srgbClr val="D6EAF8"/>
                </a:solidFill>
                <a:latin typeface="Calibri" pitchFamily="34" charset="0"/>
                <a:ea typeface="Calibri" pitchFamily="34" charset="-122"/>
                <a:cs typeface="Calibri" pitchFamily="34" charset="-120"/>
              </a:rPr>
              <a:t>CBS was introduced in IEEE 802.1Qav for audio/video traffic that needed to use a high fraction of bandwidth while spacing frames out to reduce bursting and bunching.</a:t>
            </a:r>
            <a:endParaRPr lang="en-US" sz="1200" dirty="0"/>
          </a:p>
        </p:txBody>
      </p:sp>
      <p:sp>
        <p:nvSpPr>
          <p:cNvPr id="19" name="Shape 17"/>
          <p:cNvSpPr/>
          <p:nvPr/>
        </p:nvSpPr>
        <p:spPr>
          <a:xfrm>
            <a:off x="502920" y="4370832"/>
            <a:ext cx="8138160" cy="502920"/>
          </a:xfrm>
          <a:prstGeom prst="rect">
            <a:avLst/>
          </a:prstGeom>
          <a:solidFill>
            <a:srgbClr val="1A2D1E"/>
          </a:solidFill>
          <a:ln w="12700">
            <a:solidFill>
              <a:srgbClr val="1A2D1E"/>
            </a:solidFill>
            <a:prstDash val="solid"/>
          </a:ln>
        </p:spPr>
      </p:sp>
      <p:sp>
        <p:nvSpPr>
          <p:cNvPr id="20" name="Shape 18"/>
          <p:cNvSpPr/>
          <p:nvPr/>
        </p:nvSpPr>
        <p:spPr>
          <a:xfrm>
            <a:off x="502920" y="4370832"/>
            <a:ext cx="8138160" cy="502920"/>
          </a:xfrm>
          <a:prstGeom prst="rect">
            <a:avLst/>
          </a:prstGeom>
          <a:solidFill>
            <a:srgbClr val="1A2D1E"/>
          </a:solidFill>
          <a:ln w="25400">
            <a:solidFill>
              <a:srgbClr val="0E7C86"/>
            </a:solidFill>
            <a:prstDash val="solid"/>
          </a:ln>
        </p:spPr>
      </p:sp>
      <p:sp>
        <p:nvSpPr>
          <p:cNvPr id="21" name="Text 19"/>
          <p:cNvSpPr/>
          <p:nvPr/>
        </p:nvSpPr>
        <p:spPr>
          <a:xfrm>
            <a:off x="640080" y="4389120"/>
            <a:ext cx="7863840" cy="466344"/>
          </a:xfrm>
          <a:prstGeom prst="rect">
            <a:avLst/>
          </a:prstGeom>
          <a:noFill/>
          <a:ln/>
        </p:spPr>
        <p:txBody>
          <a:bodyPr wrap="square" lIns="0" tIns="0" rIns="0" bIns="0" rtlCol="0" anchor="ctr"/>
          <a:lstStyle/>
          <a:p>
            <a:pPr marL="0" indent="0" algn="ctr">
              <a:buNone/>
            </a:pPr>
            <a:r>
              <a:rPr lang="en-US" sz="1300" b="1" dirty="0">
                <a:solidFill>
                  <a:srgbClr val="D6EAF8"/>
                </a:solidFill>
                <a:latin typeface="Trebuchet MS" pitchFamily="34" charset="0"/>
                <a:ea typeface="Trebuchet MS" pitchFamily="34" charset="-122"/>
                <a:cs typeface="Trebuchet MS" pitchFamily="34" charset="-120"/>
              </a:rPr>
              <a:t>CBS is a smoothing and rate-disciplining mechanism for a traffic class — not just a priority flag.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8FF"/>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3400" b="1" dirty="0">
                <a:solidFill>
                  <a:srgbClr val="0B2D4E"/>
                </a:solidFill>
                <a:latin typeface="Trebuchet MS" pitchFamily="34" charset="0"/>
                <a:ea typeface="Trebuchet MS" pitchFamily="34" charset="-122"/>
                <a:cs typeface="Trebuchet MS" pitchFamily="34" charset="-120"/>
              </a:rPr>
              <a:t>How CBS Works: The Credit Wallet</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411480"/>
          </a:xfrm>
          <a:prstGeom prst="rect">
            <a:avLst/>
          </a:prstGeom>
          <a:noFill/>
          <a:ln/>
        </p:spPr>
        <p:txBody>
          <a:bodyPr wrap="square" lIns="0" tIns="0" rIns="0" bIns="0" rtlCol="0" anchor="t"/>
          <a:lstStyle/>
          <a:p>
            <a:pPr marL="0" indent="0" algn="l">
              <a:buNone/>
            </a:pPr>
            <a:r>
              <a:rPr lang="en-US" sz="1400" dirty="0">
                <a:solidFill>
                  <a:srgbClr val="0B2D4E"/>
                </a:solidFill>
                <a:latin typeface="Calibri" pitchFamily="34" charset="0"/>
                <a:ea typeface="Calibri" pitchFamily="34" charset="-122"/>
                <a:cs typeface="Calibri" pitchFamily="34" charset="-120"/>
              </a:rPr>
              <a:t>CBS uses four parameters to govern when a traffic class may transmit. Think of it as a credit wallet:</a:t>
            </a:r>
            <a:endParaRPr lang="en-US" sz="1400" dirty="0"/>
          </a:p>
        </p:txBody>
      </p:sp>
      <p:sp>
        <p:nvSpPr>
          <p:cNvPr id="5" name="Shape 3"/>
          <p:cNvSpPr/>
          <p:nvPr/>
        </p:nvSpPr>
        <p:spPr>
          <a:xfrm>
            <a:off x="365760" y="1783080"/>
            <a:ext cx="1325880" cy="822960"/>
          </a:xfrm>
          <a:prstGeom prst="rect">
            <a:avLst/>
          </a:prstGeom>
          <a:solidFill>
            <a:srgbClr val="1A9DAA"/>
          </a:solidFill>
          <a:ln w="12700">
            <a:solidFill>
              <a:srgbClr val="1A9DAA"/>
            </a:solidFill>
            <a:prstDash val="solid"/>
          </a:ln>
        </p:spPr>
      </p:sp>
      <p:sp>
        <p:nvSpPr>
          <p:cNvPr id="6" name="Text 4"/>
          <p:cNvSpPr/>
          <p:nvPr/>
        </p:nvSpPr>
        <p:spPr>
          <a:xfrm>
            <a:off x="365760" y="1783080"/>
            <a:ext cx="132588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idleSlope</a:t>
            </a:r>
            <a:endParaRPr lang="en-US" sz="1300" dirty="0"/>
          </a:p>
        </p:txBody>
      </p:sp>
      <p:sp>
        <p:nvSpPr>
          <p:cNvPr id="7" name="Shape 5"/>
          <p:cNvSpPr/>
          <p:nvPr/>
        </p:nvSpPr>
        <p:spPr>
          <a:xfrm>
            <a:off x="1691640" y="1783080"/>
            <a:ext cx="2880360" cy="822960"/>
          </a:xfrm>
          <a:prstGeom prst="rect">
            <a:avLst/>
          </a:prstGeom>
          <a:solidFill>
            <a:srgbClr val="0B2D4E"/>
          </a:solidFill>
          <a:ln w="12700">
            <a:solidFill>
              <a:srgbClr val="0B2D4E"/>
            </a:solidFill>
            <a:prstDash val="solid"/>
          </a:ln>
        </p:spPr>
      </p:sp>
      <p:sp>
        <p:nvSpPr>
          <p:cNvPr id="8" name="Text 6"/>
          <p:cNvSpPr/>
          <p:nvPr/>
        </p:nvSpPr>
        <p:spPr>
          <a:xfrm>
            <a:off x="1810512" y="1856232"/>
            <a:ext cx="2651760" cy="685800"/>
          </a:xfrm>
          <a:prstGeom prst="rect">
            <a:avLst/>
          </a:prstGeom>
          <a:noFill/>
          <a:ln/>
        </p:spPr>
        <p:txBody>
          <a:bodyPr wrap="square" lIns="0" tIns="0" rIns="0" bIns="0" rtlCol="0" anchor="t"/>
          <a:lstStyle/>
          <a:p>
            <a:pPr marL="0" indent="0" algn="l">
              <a:buNone/>
            </a:pPr>
            <a:r>
              <a:rPr lang="en-US" sz="1200" dirty="0">
                <a:solidFill>
                  <a:srgbClr val="D6EAF8"/>
                </a:solidFill>
                <a:latin typeface="Calibri" pitchFamily="34" charset="0"/>
                <a:ea typeface="Calibri" pitchFamily="34" charset="-122"/>
                <a:cs typeface="Calibri" pitchFamily="34" charset="-120"/>
              </a:rPr>
              <a:t>Rate at which credit accumulates while the queue is waiting (has frames but is not transmitting)</a:t>
            </a:r>
            <a:endParaRPr lang="en-US" sz="1200" dirty="0"/>
          </a:p>
        </p:txBody>
      </p:sp>
      <p:sp>
        <p:nvSpPr>
          <p:cNvPr id="9" name="Shape 7"/>
          <p:cNvSpPr/>
          <p:nvPr/>
        </p:nvSpPr>
        <p:spPr>
          <a:xfrm>
            <a:off x="4709160" y="1783080"/>
            <a:ext cx="1325880" cy="822960"/>
          </a:xfrm>
          <a:prstGeom prst="rect">
            <a:avLst/>
          </a:prstGeom>
          <a:solidFill>
            <a:srgbClr val="C0392B"/>
          </a:solidFill>
          <a:ln w="12700">
            <a:solidFill>
              <a:srgbClr val="C0392B"/>
            </a:solidFill>
            <a:prstDash val="solid"/>
          </a:ln>
        </p:spPr>
      </p:sp>
      <p:sp>
        <p:nvSpPr>
          <p:cNvPr id="10" name="Text 8"/>
          <p:cNvSpPr/>
          <p:nvPr/>
        </p:nvSpPr>
        <p:spPr>
          <a:xfrm>
            <a:off x="4709160" y="1783080"/>
            <a:ext cx="132588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sendSlope</a:t>
            </a:r>
            <a:endParaRPr lang="en-US" sz="1300" dirty="0"/>
          </a:p>
        </p:txBody>
      </p:sp>
      <p:sp>
        <p:nvSpPr>
          <p:cNvPr id="11" name="Shape 9"/>
          <p:cNvSpPr/>
          <p:nvPr/>
        </p:nvSpPr>
        <p:spPr>
          <a:xfrm>
            <a:off x="6035040" y="1783080"/>
            <a:ext cx="2880360" cy="822960"/>
          </a:xfrm>
          <a:prstGeom prst="rect">
            <a:avLst/>
          </a:prstGeom>
          <a:solidFill>
            <a:srgbClr val="0B2D4E"/>
          </a:solidFill>
          <a:ln w="12700">
            <a:solidFill>
              <a:srgbClr val="0B2D4E"/>
            </a:solidFill>
            <a:prstDash val="solid"/>
          </a:ln>
        </p:spPr>
      </p:sp>
      <p:sp>
        <p:nvSpPr>
          <p:cNvPr id="12" name="Text 10"/>
          <p:cNvSpPr/>
          <p:nvPr/>
        </p:nvSpPr>
        <p:spPr>
          <a:xfrm>
            <a:off x="6153912" y="1856232"/>
            <a:ext cx="2651760" cy="685800"/>
          </a:xfrm>
          <a:prstGeom prst="rect">
            <a:avLst/>
          </a:prstGeom>
          <a:noFill/>
          <a:ln/>
        </p:spPr>
        <p:txBody>
          <a:bodyPr wrap="square" lIns="0" tIns="0" rIns="0" bIns="0" rtlCol="0" anchor="t"/>
          <a:lstStyle/>
          <a:p>
            <a:pPr marL="0" indent="0" algn="l">
              <a:buNone/>
            </a:pPr>
            <a:r>
              <a:rPr lang="en-US" sz="1200" dirty="0">
                <a:solidFill>
                  <a:srgbClr val="D6EAF8"/>
                </a:solidFill>
                <a:latin typeface="Calibri" pitchFamily="34" charset="0"/>
                <a:ea typeface="Calibri" pitchFamily="34" charset="-122"/>
                <a:cs typeface="Calibri" pitchFamily="34" charset="-120"/>
              </a:rPr>
              <a:t>Rate at which credit is depleted while the queue is actively transmitting frames</a:t>
            </a:r>
            <a:endParaRPr lang="en-US" sz="1200" dirty="0"/>
          </a:p>
        </p:txBody>
      </p:sp>
      <p:sp>
        <p:nvSpPr>
          <p:cNvPr id="13" name="Shape 11"/>
          <p:cNvSpPr/>
          <p:nvPr/>
        </p:nvSpPr>
        <p:spPr>
          <a:xfrm>
            <a:off x="365760" y="2788920"/>
            <a:ext cx="1325880" cy="822960"/>
          </a:xfrm>
          <a:prstGeom prst="rect">
            <a:avLst/>
          </a:prstGeom>
          <a:solidFill>
            <a:srgbClr val="2980B9"/>
          </a:solidFill>
          <a:ln w="12700">
            <a:solidFill>
              <a:srgbClr val="2980B9"/>
            </a:solidFill>
            <a:prstDash val="solid"/>
          </a:ln>
        </p:spPr>
      </p:sp>
      <p:sp>
        <p:nvSpPr>
          <p:cNvPr id="14" name="Text 12"/>
          <p:cNvSpPr/>
          <p:nvPr/>
        </p:nvSpPr>
        <p:spPr>
          <a:xfrm>
            <a:off x="365760" y="2788920"/>
            <a:ext cx="132588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hiCredit</a:t>
            </a:r>
            <a:endParaRPr lang="en-US" sz="1300" dirty="0"/>
          </a:p>
        </p:txBody>
      </p:sp>
      <p:sp>
        <p:nvSpPr>
          <p:cNvPr id="15" name="Shape 13"/>
          <p:cNvSpPr/>
          <p:nvPr/>
        </p:nvSpPr>
        <p:spPr>
          <a:xfrm>
            <a:off x="1691640" y="2788920"/>
            <a:ext cx="2880360" cy="822960"/>
          </a:xfrm>
          <a:prstGeom prst="rect">
            <a:avLst/>
          </a:prstGeom>
          <a:solidFill>
            <a:srgbClr val="0B2D4E"/>
          </a:solidFill>
          <a:ln w="12700">
            <a:solidFill>
              <a:srgbClr val="0B2D4E"/>
            </a:solidFill>
            <a:prstDash val="solid"/>
          </a:ln>
        </p:spPr>
      </p:sp>
      <p:sp>
        <p:nvSpPr>
          <p:cNvPr id="16" name="Text 14"/>
          <p:cNvSpPr/>
          <p:nvPr/>
        </p:nvSpPr>
        <p:spPr>
          <a:xfrm>
            <a:off x="1810512" y="2862072"/>
            <a:ext cx="2651760" cy="685800"/>
          </a:xfrm>
          <a:prstGeom prst="rect">
            <a:avLst/>
          </a:prstGeom>
          <a:noFill/>
          <a:ln/>
        </p:spPr>
        <p:txBody>
          <a:bodyPr wrap="square" lIns="0" tIns="0" rIns="0" bIns="0" rtlCol="0" anchor="t"/>
          <a:lstStyle/>
          <a:p>
            <a:pPr marL="0" indent="0" algn="l">
              <a:buNone/>
            </a:pPr>
            <a:r>
              <a:rPr lang="en-US" sz="1200" dirty="0">
                <a:solidFill>
                  <a:srgbClr val="D6EAF8"/>
                </a:solidFill>
                <a:latin typeface="Calibri" pitchFamily="34" charset="0"/>
                <a:ea typeface="Calibri" pitchFamily="34" charset="-122"/>
                <a:cs typeface="Calibri" pitchFamily="34" charset="-120"/>
              </a:rPr>
              <a:t>Maximum positive credit that can accumulate — caps how much a burst can be front-loaded</a:t>
            </a:r>
            <a:endParaRPr lang="en-US" sz="1200" dirty="0"/>
          </a:p>
        </p:txBody>
      </p:sp>
      <p:sp>
        <p:nvSpPr>
          <p:cNvPr id="17" name="Shape 15"/>
          <p:cNvSpPr/>
          <p:nvPr/>
        </p:nvSpPr>
        <p:spPr>
          <a:xfrm>
            <a:off x="4709160" y="2788920"/>
            <a:ext cx="1325880" cy="822960"/>
          </a:xfrm>
          <a:prstGeom prst="rect">
            <a:avLst/>
          </a:prstGeom>
          <a:solidFill>
            <a:srgbClr val="E67E22"/>
          </a:solidFill>
          <a:ln w="12700">
            <a:solidFill>
              <a:srgbClr val="E67E22"/>
            </a:solidFill>
            <a:prstDash val="solid"/>
          </a:ln>
        </p:spPr>
      </p:sp>
      <p:sp>
        <p:nvSpPr>
          <p:cNvPr id="18" name="Text 16"/>
          <p:cNvSpPr/>
          <p:nvPr/>
        </p:nvSpPr>
        <p:spPr>
          <a:xfrm>
            <a:off x="4709160" y="2788920"/>
            <a:ext cx="132588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loCredit</a:t>
            </a:r>
            <a:endParaRPr lang="en-US" sz="1300" dirty="0"/>
          </a:p>
        </p:txBody>
      </p:sp>
      <p:sp>
        <p:nvSpPr>
          <p:cNvPr id="19" name="Shape 17"/>
          <p:cNvSpPr/>
          <p:nvPr/>
        </p:nvSpPr>
        <p:spPr>
          <a:xfrm>
            <a:off x="6035040" y="2788920"/>
            <a:ext cx="2880360" cy="822960"/>
          </a:xfrm>
          <a:prstGeom prst="rect">
            <a:avLst/>
          </a:prstGeom>
          <a:solidFill>
            <a:srgbClr val="0B2D4E"/>
          </a:solidFill>
          <a:ln w="12700">
            <a:solidFill>
              <a:srgbClr val="0B2D4E"/>
            </a:solidFill>
            <a:prstDash val="solid"/>
          </a:ln>
        </p:spPr>
      </p:sp>
      <p:sp>
        <p:nvSpPr>
          <p:cNvPr id="20" name="Text 18"/>
          <p:cNvSpPr/>
          <p:nvPr/>
        </p:nvSpPr>
        <p:spPr>
          <a:xfrm>
            <a:off x="6153912" y="2862072"/>
            <a:ext cx="2651760" cy="685800"/>
          </a:xfrm>
          <a:prstGeom prst="rect">
            <a:avLst/>
          </a:prstGeom>
          <a:noFill/>
          <a:ln/>
        </p:spPr>
        <p:txBody>
          <a:bodyPr wrap="square" lIns="0" tIns="0" rIns="0" bIns="0" rtlCol="0" anchor="t"/>
          <a:lstStyle/>
          <a:p>
            <a:pPr marL="0" indent="0" algn="l">
              <a:buNone/>
            </a:pPr>
            <a:r>
              <a:rPr lang="en-US" sz="1200" dirty="0">
                <a:solidFill>
                  <a:srgbClr val="D6EAF8"/>
                </a:solidFill>
                <a:latin typeface="Calibri" pitchFamily="34" charset="0"/>
                <a:ea typeface="Calibri" pitchFamily="34" charset="-122"/>
                <a:cs typeface="Calibri" pitchFamily="34" charset="-120"/>
              </a:rPr>
              <a:t>Minimum credit (can go negative) — how deep in debt the queue can go before it must stop</a:t>
            </a:r>
            <a:endParaRPr lang="en-US" sz="1200" dirty="0"/>
          </a:p>
        </p:txBody>
      </p:sp>
      <p:sp>
        <p:nvSpPr>
          <p:cNvPr id="21" name="Shape 19"/>
          <p:cNvSpPr/>
          <p:nvPr/>
        </p:nvSpPr>
        <p:spPr>
          <a:xfrm>
            <a:off x="502920" y="3858768"/>
            <a:ext cx="8138160" cy="1207008"/>
          </a:xfrm>
          <a:prstGeom prst="rect">
            <a:avLst/>
          </a:prstGeom>
          <a:solidFill>
            <a:srgbClr val="0B2D4E"/>
          </a:solidFill>
          <a:ln w="12700">
            <a:solidFill>
              <a:srgbClr val="0B2D4E"/>
            </a:solidFill>
            <a:prstDash val="solid"/>
          </a:ln>
        </p:spPr>
      </p:sp>
      <p:sp>
        <p:nvSpPr>
          <p:cNvPr id="22" name="Shape 20"/>
          <p:cNvSpPr/>
          <p:nvPr/>
        </p:nvSpPr>
        <p:spPr>
          <a:xfrm>
            <a:off x="502920" y="3858768"/>
            <a:ext cx="8138160" cy="1207008"/>
          </a:xfrm>
          <a:prstGeom prst="rect">
            <a:avLst/>
          </a:prstGeom>
          <a:solidFill>
            <a:srgbClr val="0B2D4E"/>
          </a:solidFill>
          <a:ln w="25400">
            <a:solidFill>
              <a:srgbClr val="F0A500"/>
            </a:solidFill>
            <a:prstDash val="solid"/>
          </a:ln>
        </p:spPr>
      </p:sp>
      <p:sp>
        <p:nvSpPr>
          <p:cNvPr id="23" name="Text 21"/>
          <p:cNvSpPr/>
          <p:nvPr/>
        </p:nvSpPr>
        <p:spPr>
          <a:xfrm>
            <a:off x="640080" y="3931920"/>
            <a:ext cx="7772400" cy="320040"/>
          </a:xfrm>
          <a:prstGeom prst="rect">
            <a:avLst/>
          </a:prstGeom>
          <a:noFill/>
          <a:ln/>
        </p:spPr>
        <p:txBody>
          <a:bodyPr wrap="square" lIns="0" tIns="0" rIns="0" bIns="0" rtlCol="0" anchor="ctr"/>
          <a:lstStyle/>
          <a:p>
            <a:pPr marL="0" indent="0" algn="l">
              <a:buNone/>
            </a:pPr>
            <a:r>
              <a:rPr lang="en-US" sz="1300" b="1" dirty="0">
                <a:solidFill>
                  <a:srgbClr val="F0A500"/>
                </a:solidFill>
                <a:latin typeface="Trebuchet MS" pitchFamily="34" charset="0"/>
                <a:ea typeface="Trebuchet MS" pitchFamily="34" charset="-122"/>
                <a:cs typeface="Trebuchet MS" pitchFamily="34" charset="-120"/>
              </a:rPr>
              <a:t>The credit cycle:</a:t>
            </a:r>
            <a:endParaRPr lang="en-US" sz="1300" dirty="0"/>
          </a:p>
        </p:txBody>
      </p:sp>
      <p:sp>
        <p:nvSpPr>
          <p:cNvPr id="24" name="Text 22"/>
          <p:cNvSpPr/>
          <p:nvPr/>
        </p:nvSpPr>
        <p:spPr>
          <a:xfrm>
            <a:off x="640080" y="4279392"/>
            <a:ext cx="7772400" cy="713232"/>
          </a:xfrm>
          <a:prstGeom prst="rect">
            <a:avLst/>
          </a:prstGeom>
          <a:noFill/>
          <a:ln/>
        </p:spPr>
        <p:txBody>
          <a:bodyPr wrap="square" lIns="0" tIns="0" rIns="0" bIns="0" rtlCol="0" anchor="t"/>
          <a:lstStyle/>
          <a:p>
            <a:pPr marL="0" indent="0" algn="l">
              <a:buNone/>
            </a:pPr>
            <a:r>
              <a:rPr lang="en-US" sz="1200" b="1" dirty="0">
                <a:solidFill>
                  <a:srgbClr val="1A9DAA"/>
                </a:solidFill>
                <a:latin typeface="Calibri" pitchFamily="34" charset="0"/>
                <a:ea typeface="Calibri" pitchFamily="34" charset="-122"/>
                <a:cs typeface="Calibri" pitchFamily="34" charset="-120"/>
              </a:rPr>
              <a:t>Waiting: </a:t>
            </a:r>
            <a:r>
              <a:rPr lang="en-US" sz="1200" dirty="0">
                <a:solidFill>
                  <a:srgbClr val="D6EAF8"/>
                </a:solidFill>
                <a:latin typeface="Calibri" pitchFamily="34" charset="0"/>
                <a:ea typeface="Calibri" pitchFamily="34" charset="-122"/>
                <a:cs typeface="Calibri" pitchFamily="34" charset="-120"/>
              </a:rPr>
              <a:t>credit builds at idleSlope rate.  </a:t>
            </a:r>
            <a:r>
              <a:rPr lang="en-US" sz="1200" b="1" dirty="0">
                <a:solidFill>
                  <a:srgbClr val="C0392B"/>
                </a:solidFill>
                <a:latin typeface="Calibri" pitchFamily="34" charset="0"/>
                <a:ea typeface="Calibri" pitchFamily="34" charset="-122"/>
                <a:cs typeface="Calibri" pitchFamily="34" charset="-120"/>
              </a:rPr>
              <a:t>Transmitting: </a:t>
            </a:r>
            <a:r>
              <a:rPr lang="en-US" sz="1200" dirty="0">
                <a:solidFill>
                  <a:srgbClr val="D6EAF8"/>
                </a:solidFill>
                <a:latin typeface="Calibri" pitchFamily="34" charset="0"/>
                <a:ea typeface="Calibri" pitchFamily="34" charset="-122"/>
                <a:cs typeface="Calibri" pitchFamily="34" charset="-120"/>
              </a:rPr>
              <a:t>credit depletes at sendSlope rate.  </a:t>
            </a:r>
            <a:r>
              <a:rPr lang="en-US" sz="1200" b="1" dirty="0">
                <a:solidFill>
                  <a:srgbClr val="E67E22"/>
                </a:solidFill>
                <a:latin typeface="Calibri" pitchFamily="34" charset="0"/>
                <a:ea typeface="Calibri" pitchFamily="34" charset="-122"/>
                <a:cs typeface="Calibri" pitchFamily="34" charset="-120"/>
              </a:rPr>
              <a:t>Credit goes negative: </a:t>
            </a:r>
            <a:r>
              <a:rPr lang="en-US" sz="1200" dirty="0">
                <a:solidFill>
                  <a:srgbClr val="D6EAF8"/>
                </a:solidFill>
                <a:latin typeface="Calibri" pitchFamily="34" charset="0"/>
                <a:ea typeface="Calibri" pitchFamily="34" charset="-122"/>
                <a:cs typeface="Calibri" pitchFamily="34" charset="-120"/>
              </a:rPr>
              <a:t>queue pauses until credit recovers above zero.  </a:t>
            </a:r>
            <a:r>
              <a:rPr lang="en-US" sz="1200" b="1" dirty="0">
                <a:solidFill>
                  <a:srgbClr val="F0A500"/>
                </a:solidFill>
                <a:latin typeface="Calibri" pitchFamily="34" charset="0"/>
                <a:ea typeface="Calibri" pitchFamily="34" charset="-122"/>
                <a:cs typeface="Calibri" pitchFamily="34" charset="-120"/>
              </a:rPr>
              <a:t>Result: </a:t>
            </a:r>
            <a:r>
              <a:rPr lang="en-US" sz="1200" dirty="0">
                <a:solidFill>
                  <a:srgbClr val="D6EAF8"/>
                </a:solidFill>
                <a:latin typeface="Calibri" pitchFamily="34" charset="0"/>
                <a:ea typeface="Calibri" pitchFamily="34" charset="-122"/>
                <a:cs typeface="Calibri" pitchFamily="34" charset="-120"/>
              </a:rPr>
              <a:t>smooth, rate-disciplined transmission rather than uncontrolled bursts.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2D4E"/>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3200" b="1" dirty="0">
                <a:solidFill>
                  <a:srgbClr val="FFFFFF"/>
                </a:solidFill>
                <a:latin typeface="Trebuchet MS" pitchFamily="34" charset="0"/>
                <a:ea typeface="Trebuchet MS" pitchFamily="34" charset="-122"/>
                <a:cs typeface="Trebuchet MS" pitchFamily="34" charset="-120"/>
              </a:rPr>
              <a:t>CBS vs Strict Priority: A Critical Distinction</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411480"/>
          </a:xfrm>
          <a:prstGeom prst="rect">
            <a:avLst/>
          </a:prstGeom>
          <a:noFill/>
          <a:ln/>
        </p:spPr>
        <p:txBody>
          <a:bodyPr wrap="square" lIns="0" tIns="0" rIns="0" bIns="0" rtlCol="0" anchor="t"/>
          <a:lstStyle/>
          <a:p>
            <a:pPr marL="0" indent="0" algn="l">
              <a:buNone/>
            </a:pPr>
            <a:r>
              <a:rPr lang="en-US" sz="1400" dirty="0">
                <a:solidFill>
                  <a:srgbClr val="D6EAF8"/>
                </a:solidFill>
                <a:latin typeface="Calibri" pitchFamily="34" charset="0"/>
                <a:ea typeface="Calibri" pitchFamily="34" charset="-122"/>
                <a:cs typeface="Calibri" pitchFamily="34" charset="-120"/>
              </a:rPr>
              <a:t>Both give privileged treatment to a traffic class — but their behavioral guarantees are fundamentally different:</a:t>
            </a:r>
            <a:endParaRPr lang="en-US" sz="1400" dirty="0"/>
          </a:p>
        </p:txBody>
      </p:sp>
      <p:sp>
        <p:nvSpPr>
          <p:cNvPr id="5" name="Shape 3"/>
          <p:cNvSpPr/>
          <p:nvPr/>
        </p:nvSpPr>
        <p:spPr>
          <a:xfrm>
            <a:off x="365760" y="1810512"/>
            <a:ext cx="3977640" cy="2606040"/>
          </a:xfrm>
          <a:prstGeom prst="rect">
            <a:avLst/>
          </a:prstGeom>
          <a:solidFill>
            <a:srgbClr val="1A4D6E"/>
          </a:solidFill>
          <a:ln w="25400">
            <a:solidFill>
              <a:srgbClr val="C0392B"/>
            </a:solidFill>
            <a:prstDash val="solid"/>
          </a:ln>
        </p:spPr>
      </p:sp>
      <p:sp>
        <p:nvSpPr>
          <p:cNvPr id="6" name="Shape 4"/>
          <p:cNvSpPr/>
          <p:nvPr/>
        </p:nvSpPr>
        <p:spPr>
          <a:xfrm>
            <a:off x="365760" y="1810512"/>
            <a:ext cx="3977640" cy="438912"/>
          </a:xfrm>
          <a:prstGeom prst="rect">
            <a:avLst/>
          </a:prstGeom>
          <a:solidFill>
            <a:srgbClr val="C0392B"/>
          </a:solidFill>
          <a:ln w="12700">
            <a:solidFill>
              <a:srgbClr val="C0392B"/>
            </a:solidFill>
            <a:prstDash val="solid"/>
          </a:ln>
        </p:spPr>
      </p:sp>
      <p:sp>
        <p:nvSpPr>
          <p:cNvPr id="7" name="Text 5"/>
          <p:cNvSpPr/>
          <p:nvPr/>
        </p:nvSpPr>
        <p:spPr>
          <a:xfrm>
            <a:off x="475488" y="1810512"/>
            <a:ext cx="374904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Strict Priority</a:t>
            </a:r>
            <a:endParaRPr lang="en-US" sz="1600" dirty="0"/>
          </a:p>
        </p:txBody>
      </p:sp>
      <p:sp>
        <p:nvSpPr>
          <p:cNvPr id="8" name="Text 6"/>
          <p:cNvSpPr/>
          <p:nvPr/>
        </p:nvSpPr>
        <p:spPr>
          <a:xfrm>
            <a:off x="475488" y="2304288"/>
            <a:ext cx="3749040" cy="1536192"/>
          </a:xfrm>
          <a:prstGeom prst="rect">
            <a:avLst/>
          </a:prstGeom>
          <a:noFill/>
          <a:ln/>
        </p:spPr>
        <p:txBody>
          <a:bodyPr wrap="square" lIns="0" tIns="0" rIns="0" bIns="0" rtlCol="0" anchor="t"/>
          <a:lstStyle/>
          <a:p>
            <a:pPr marL="0" indent="0" algn="l">
              <a:buNone/>
            </a:pPr>
            <a:r>
              <a:rPr lang="en-US" sz="1300" dirty="0">
                <a:solidFill>
                  <a:srgbClr val="D6EAF8"/>
                </a:solidFill>
                <a:latin typeface="Calibri" pitchFamily="34" charset="0"/>
                <a:ea typeface="Calibri" pitchFamily="34" charset="-122"/>
                <a:cs typeface="Calibri" pitchFamily="34" charset="-120"/>
              </a:rPr>
              <a:t>If a high-priority queue is non-empty, always serve it first. No rate constraint. No smoothing. The queue can burst at full line rate as long as frames are waiting.</a:t>
            </a:r>
            <a:endParaRPr lang="en-US" sz="1300" dirty="0"/>
          </a:p>
          <a:p>
            <a:pPr marL="0" indent="0" algn="l">
              <a:buNone/>
            </a:pPr>
            <a:endParaRPr lang="en-US" sz="1300" dirty="0"/>
          </a:p>
          <a:p>
            <a:pPr marL="0" indent="0" algn="l">
              <a:buNone/>
            </a:pPr>
            <a:r>
              <a:rPr lang="en-US" sz="1300" dirty="0">
                <a:solidFill>
                  <a:srgbClr val="D6EAF8"/>
                </a:solidFill>
                <a:latin typeface="Calibri" pitchFamily="34" charset="0"/>
                <a:ea typeface="Calibri" pitchFamily="34" charset="-122"/>
                <a:cs typeface="Calibri" pitchFamily="34" charset="-120"/>
              </a:rPr>
              <a:t>Protects: urgency (who goes first)</a:t>
            </a:r>
            <a:endParaRPr lang="en-US" sz="1300" dirty="0"/>
          </a:p>
          <a:p>
            <a:pPr marL="0" indent="0" algn="l">
              <a:buNone/>
            </a:pPr>
            <a:r>
              <a:rPr lang="en-US" sz="1300" dirty="0">
                <a:solidFill>
                  <a:srgbClr val="D6EAF8"/>
                </a:solidFill>
                <a:latin typeface="Calibri" pitchFamily="34" charset="0"/>
                <a:ea typeface="Calibri" pitchFamily="34" charset="-122"/>
                <a:cs typeface="Calibri" pitchFamily="34" charset="-120"/>
              </a:rPr>
              <a:t>Leaves open: burst size, inter-frame spacing, instantaneous link saturation</a:t>
            </a:r>
            <a:endParaRPr lang="en-US" sz="1300" dirty="0"/>
          </a:p>
        </p:txBody>
      </p:sp>
      <p:sp>
        <p:nvSpPr>
          <p:cNvPr id="9" name="Shape 7"/>
          <p:cNvSpPr/>
          <p:nvPr/>
        </p:nvSpPr>
        <p:spPr>
          <a:xfrm>
            <a:off x="365760" y="3858768"/>
            <a:ext cx="3977640" cy="320040"/>
          </a:xfrm>
          <a:prstGeom prst="rect">
            <a:avLst/>
          </a:prstGeom>
          <a:solidFill>
            <a:srgbClr val="C0392B"/>
          </a:solidFill>
          <a:ln w="12700">
            <a:solidFill>
              <a:srgbClr val="C0392B"/>
            </a:solidFill>
            <a:prstDash val="solid"/>
          </a:ln>
        </p:spPr>
      </p:sp>
      <p:sp>
        <p:nvSpPr>
          <p:cNvPr id="10" name="Text 8"/>
          <p:cNvSpPr/>
          <p:nvPr/>
        </p:nvSpPr>
        <p:spPr>
          <a:xfrm>
            <a:off x="475488" y="3858768"/>
            <a:ext cx="3749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Protects urgency only</a:t>
            </a:r>
            <a:endParaRPr lang="en-US" sz="1200" dirty="0"/>
          </a:p>
        </p:txBody>
      </p:sp>
      <p:sp>
        <p:nvSpPr>
          <p:cNvPr id="11" name="Shape 9"/>
          <p:cNvSpPr/>
          <p:nvPr/>
        </p:nvSpPr>
        <p:spPr>
          <a:xfrm>
            <a:off x="4800600" y="1810512"/>
            <a:ext cx="3977640" cy="2606040"/>
          </a:xfrm>
          <a:prstGeom prst="rect">
            <a:avLst/>
          </a:prstGeom>
          <a:solidFill>
            <a:srgbClr val="1A4D6E"/>
          </a:solidFill>
          <a:ln w="25400">
            <a:solidFill>
              <a:srgbClr val="1A9DAA"/>
            </a:solidFill>
            <a:prstDash val="solid"/>
          </a:ln>
        </p:spPr>
      </p:sp>
      <p:sp>
        <p:nvSpPr>
          <p:cNvPr id="12" name="Shape 10"/>
          <p:cNvSpPr/>
          <p:nvPr/>
        </p:nvSpPr>
        <p:spPr>
          <a:xfrm>
            <a:off x="4800600" y="1810512"/>
            <a:ext cx="3977640" cy="438912"/>
          </a:xfrm>
          <a:prstGeom prst="rect">
            <a:avLst/>
          </a:prstGeom>
          <a:solidFill>
            <a:srgbClr val="1A9DAA"/>
          </a:solidFill>
          <a:ln w="12700">
            <a:solidFill>
              <a:srgbClr val="1A9DAA"/>
            </a:solidFill>
            <a:prstDash val="solid"/>
          </a:ln>
        </p:spPr>
      </p:sp>
      <p:sp>
        <p:nvSpPr>
          <p:cNvPr id="13" name="Text 11"/>
          <p:cNvSpPr/>
          <p:nvPr/>
        </p:nvSpPr>
        <p:spPr>
          <a:xfrm>
            <a:off x="4910328" y="1810512"/>
            <a:ext cx="374904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Trebuchet MS" pitchFamily="34" charset="0"/>
                <a:ea typeface="Trebuchet MS" pitchFamily="34" charset="-122"/>
                <a:cs typeface="Trebuchet MS" pitchFamily="34" charset="-120"/>
              </a:rPr>
              <a:t>Credit-Based Shaper (CBS)</a:t>
            </a:r>
            <a:endParaRPr lang="en-US" sz="1600" dirty="0"/>
          </a:p>
        </p:txBody>
      </p:sp>
      <p:sp>
        <p:nvSpPr>
          <p:cNvPr id="14" name="Text 12"/>
          <p:cNvSpPr/>
          <p:nvPr/>
        </p:nvSpPr>
        <p:spPr>
          <a:xfrm>
            <a:off x="4910328" y="2304288"/>
            <a:ext cx="3749040" cy="1536192"/>
          </a:xfrm>
          <a:prstGeom prst="rect">
            <a:avLst/>
          </a:prstGeom>
          <a:noFill/>
          <a:ln/>
        </p:spPr>
        <p:txBody>
          <a:bodyPr wrap="square" lIns="0" tIns="0" rIns="0" bIns="0" rtlCol="0" anchor="t"/>
          <a:lstStyle/>
          <a:p>
            <a:pPr marL="0" indent="0" algn="l">
              <a:buNone/>
            </a:pPr>
            <a:r>
              <a:rPr lang="en-US" sz="1300" dirty="0">
                <a:solidFill>
                  <a:srgbClr val="D6EAF8"/>
                </a:solidFill>
                <a:latin typeface="Calibri" pitchFamily="34" charset="0"/>
                <a:ea typeface="Calibri" pitchFamily="34" charset="-122"/>
                <a:cs typeface="Calibri" pitchFamily="34" charset="-120"/>
              </a:rPr>
              <a:t>This class may have privileged treatment, but it is also rate-disciplined by a credit algorithm. Transmission is spread out; the queue cannot burst uncontrollably even under sustained high load.</a:t>
            </a:r>
            <a:endParaRPr lang="en-US" sz="1300" dirty="0"/>
          </a:p>
          <a:p>
            <a:pPr marL="0" indent="0" algn="l">
              <a:buNone/>
            </a:pPr>
            <a:endParaRPr lang="en-US" sz="1300" dirty="0"/>
          </a:p>
          <a:p>
            <a:pPr marL="0" indent="0" algn="l">
              <a:buNone/>
            </a:pPr>
            <a:r>
              <a:rPr lang="en-US" sz="1300" dirty="0">
                <a:solidFill>
                  <a:srgbClr val="D6EAF8"/>
                </a:solidFill>
                <a:latin typeface="Calibri" pitchFamily="34" charset="0"/>
                <a:ea typeface="Calibri" pitchFamily="34" charset="-122"/>
                <a:cs typeface="Calibri" pitchFamily="34" charset="-120"/>
              </a:rPr>
              <a:t>Protects: urgency AND controlled transmission pacing</a:t>
            </a:r>
            <a:endParaRPr lang="en-US" sz="1300" dirty="0"/>
          </a:p>
          <a:p>
            <a:pPr marL="0" indent="0" algn="l">
              <a:buNone/>
            </a:pPr>
            <a:r>
              <a:rPr lang="en-US" sz="1300" dirty="0">
                <a:solidFill>
                  <a:srgbClr val="D6EAF8"/>
                </a:solidFill>
                <a:latin typeface="Calibri" pitchFamily="34" charset="0"/>
                <a:ea typeface="Calibri" pitchFamily="34" charset="-122"/>
                <a:cs typeface="Calibri" pitchFamily="34" charset="-120"/>
              </a:rPr>
              <a:t>Bounds: burst size, average service rate, inter-frame behavior</a:t>
            </a:r>
            <a:endParaRPr lang="en-US" sz="1300" dirty="0"/>
          </a:p>
        </p:txBody>
      </p:sp>
      <p:sp>
        <p:nvSpPr>
          <p:cNvPr id="15" name="Shape 13"/>
          <p:cNvSpPr/>
          <p:nvPr/>
        </p:nvSpPr>
        <p:spPr>
          <a:xfrm>
            <a:off x="4800600" y="3858768"/>
            <a:ext cx="3977640" cy="320040"/>
          </a:xfrm>
          <a:prstGeom prst="rect">
            <a:avLst/>
          </a:prstGeom>
          <a:solidFill>
            <a:srgbClr val="1A9DAA"/>
          </a:solidFill>
          <a:ln w="12700">
            <a:solidFill>
              <a:srgbClr val="1A9DAA"/>
            </a:solidFill>
            <a:prstDash val="solid"/>
          </a:ln>
        </p:spPr>
      </p:sp>
      <p:sp>
        <p:nvSpPr>
          <p:cNvPr id="16" name="Text 14"/>
          <p:cNvSpPr/>
          <p:nvPr/>
        </p:nvSpPr>
        <p:spPr>
          <a:xfrm>
            <a:off x="4910328" y="3858768"/>
            <a:ext cx="374904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Protects urgency and tames burstiness</a:t>
            </a:r>
            <a:endParaRPr lang="en-US" sz="1200" dirty="0"/>
          </a:p>
        </p:txBody>
      </p:sp>
      <p:sp>
        <p:nvSpPr>
          <p:cNvPr id="17" name="Shape 15"/>
          <p:cNvSpPr/>
          <p:nvPr/>
        </p:nvSpPr>
        <p:spPr>
          <a:xfrm>
            <a:off x="365760" y="4315968"/>
            <a:ext cx="8138160" cy="566928"/>
          </a:xfrm>
          <a:prstGeom prst="rect">
            <a:avLst/>
          </a:prstGeom>
          <a:solidFill>
            <a:srgbClr val="1A2D1E"/>
          </a:solidFill>
          <a:ln w="12700">
            <a:solidFill>
              <a:srgbClr val="1A2D1E"/>
            </a:solidFill>
            <a:prstDash val="solid"/>
          </a:ln>
        </p:spPr>
      </p:sp>
      <p:sp>
        <p:nvSpPr>
          <p:cNvPr id="18" name="Shape 16"/>
          <p:cNvSpPr/>
          <p:nvPr/>
        </p:nvSpPr>
        <p:spPr>
          <a:xfrm>
            <a:off x="365760" y="4315968"/>
            <a:ext cx="8138160" cy="566928"/>
          </a:xfrm>
          <a:prstGeom prst="rect">
            <a:avLst/>
          </a:prstGeom>
          <a:solidFill>
            <a:srgbClr val="1A2D1E"/>
          </a:solidFill>
          <a:ln w="25400">
            <a:solidFill>
              <a:srgbClr val="0E7C86"/>
            </a:solidFill>
            <a:prstDash val="solid"/>
          </a:ln>
        </p:spPr>
      </p:sp>
      <p:sp>
        <p:nvSpPr>
          <p:cNvPr id="19" name="Text 17"/>
          <p:cNvSpPr/>
          <p:nvPr/>
        </p:nvSpPr>
        <p:spPr>
          <a:xfrm>
            <a:off x="502920" y="4334256"/>
            <a:ext cx="8046720" cy="530352"/>
          </a:xfrm>
          <a:prstGeom prst="rect">
            <a:avLst/>
          </a:prstGeom>
          <a:noFill/>
          <a:ln/>
        </p:spPr>
        <p:txBody>
          <a:bodyPr wrap="square" lIns="0" tIns="0" rIns="0" bIns="0" rtlCol="0" anchor="ctr"/>
          <a:lstStyle/>
          <a:p>
            <a:pPr marL="0" indent="0" algn="ctr">
              <a:buNone/>
            </a:pPr>
            <a:r>
              <a:rPr lang="en-US" sz="1200" dirty="0">
                <a:solidFill>
                  <a:srgbClr val="D6EAF8"/>
                </a:solidFill>
                <a:latin typeface="Calibri" pitchFamily="34" charset="0"/>
                <a:ea typeface="Calibri" pitchFamily="34" charset="-122"/>
                <a:cs typeface="Calibri" pitchFamily="34" charset="-120"/>
              </a:rPr>
              <a:t>Strict Priority protects urgency. Credit-Based Shaper protects urgency while also taming burstiness. That is why 802.1Q treats CBS as a named algorithm in its own right.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0F8FF"/>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2800" b="1" dirty="0">
                <a:solidFill>
                  <a:srgbClr val="0B2D4E"/>
                </a:solidFill>
                <a:latin typeface="Trebuchet MS" pitchFamily="34" charset="0"/>
                <a:ea typeface="Trebuchet MS" pitchFamily="34" charset="-122"/>
                <a:cs typeface="Trebuchet MS" pitchFamily="34" charset="-120"/>
              </a:rPr>
              <a:t>Management VLAN: What It Is and What It Is Not</a:t>
            </a:r>
            <a:endParaRPr lang="en-US" sz="28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Shape 2"/>
          <p:cNvSpPr/>
          <p:nvPr/>
        </p:nvSpPr>
        <p:spPr>
          <a:xfrm>
            <a:off x="502920" y="1261872"/>
            <a:ext cx="8138160" cy="502920"/>
          </a:xfrm>
          <a:prstGeom prst="rect">
            <a:avLst/>
          </a:prstGeom>
          <a:solidFill>
            <a:srgbClr val="0B2D4E"/>
          </a:solidFill>
          <a:ln w="12700">
            <a:solidFill>
              <a:srgbClr val="0B2D4E"/>
            </a:solidFill>
            <a:prstDash val="solid"/>
          </a:ln>
        </p:spPr>
      </p:sp>
      <p:sp>
        <p:nvSpPr>
          <p:cNvPr id="5" name="Shape 3"/>
          <p:cNvSpPr/>
          <p:nvPr/>
        </p:nvSpPr>
        <p:spPr>
          <a:xfrm>
            <a:off x="502920" y="1261872"/>
            <a:ext cx="8138160" cy="502920"/>
          </a:xfrm>
          <a:prstGeom prst="rect">
            <a:avLst/>
          </a:prstGeom>
          <a:solidFill>
            <a:srgbClr val="0B2D4E"/>
          </a:solidFill>
          <a:ln w="25400">
            <a:solidFill>
              <a:srgbClr val="F0A500"/>
            </a:solidFill>
            <a:prstDash val="solid"/>
          </a:ln>
        </p:spPr>
      </p:sp>
      <p:sp>
        <p:nvSpPr>
          <p:cNvPr id="6" name="Text 4"/>
          <p:cNvSpPr/>
          <p:nvPr/>
        </p:nvSpPr>
        <p:spPr>
          <a:xfrm>
            <a:off x="640080" y="1280160"/>
            <a:ext cx="7863840" cy="466344"/>
          </a:xfrm>
          <a:prstGeom prst="rect">
            <a:avLst/>
          </a:prstGeom>
          <a:noFill/>
          <a:ln/>
        </p:spPr>
        <p:txBody>
          <a:bodyPr wrap="square" lIns="0" tIns="0" rIns="0" bIns="0" rtlCol="0" anchor="ctr"/>
          <a:lstStyle/>
          <a:p>
            <a:pPr marL="0" indent="0" algn="ctr">
              <a:buNone/>
            </a:pPr>
            <a:r>
              <a:rPr lang="en-US" sz="1300" dirty="0">
                <a:solidFill>
                  <a:srgbClr val="D6EAF8"/>
                </a:solidFill>
                <a:latin typeface="Calibri" pitchFamily="34" charset="0"/>
                <a:ea typeface="Calibri" pitchFamily="34" charset="-122"/>
                <a:cs typeface="Calibri" pitchFamily="34" charset="-120"/>
              </a:rPr>
              <a:t>A management VLAN is not a special 802.1Q tag type. It is an ordinary VLAN chosen by the operator to carry management-plane traffic.</a:t>
            </a:r>
            <a:endParaRPr lang="en-US" sz="1300" dirty="0"/>
          </a:p>
        </p:txBody>
      </p:sp>
      <p:sp>
        <p:nvSpPr>
          <p:cNvPr id="7" name="Shape 5"/>
          <p:cNvSpPr/>
          <p:nvPr/>
        </p:nvSpPr>
        <p:spPr>
          <a:xfrm>
            <a:off x="365760" y="1920240"/>
            <a:ext cx="54864" cy="777240"/>
          </a:xfrm>
          <a:prstGeom prst="rect">
            <a:avLst/>
          </a:prstGeom>
          <a:solidFill>
            <a:srgbClr val="0E7C86"/>
          </a:solidFill>
          <a:ln w="12700">
            <a:solidFill>
              <a:srgbClr val="0E7C86"/>
            </a:solidFill>
            <a:prstDash val="solid"/>
          </a:ln>
        </p:spPr>
      </p:sp>
      <p:sp>
        <p:nvSpPr>
          <p:cNvPr id="8" name="Text 6"/>
          <p:cNvSpPr/>
          <p:nvPr/>
        </p:nvSpPr>
        <p:spPr>
          <a:xfrm>
            <a:off x="502920" y="1965960"/>
            <a:ext cx="4297680" cy="320040"/>
          </a:xfrm>
          <a:prstGeom prst="rect">
            <a:avLst/>
          </a:prstGeom>
          <a:noFill/>
          <a:ln/>
        </p:spPr>
        <p:txBody>
          <a:bodyPr wrap="square" lIns="0" tIns="0" rIns="0" bIns="0" rtlCol="0" anchor="ctr"/>
          <a:lstStyle/>
          <a:p>
            <a:pPr marL="0" indent="0" algn="l">
              <a:buNone/>
            </a:pPr>
            <a:r>
              <a:rPr lang="en-US" sz="1300" b="1" dirty="0">
                <a:solidFill>
                  <a:srgbClr val="0B2D4E"/>
                </a:solidFill>
                <a:latin typeface="Trebuchet MS" pitchFamily="34" charset="0"/>
                <a:ea typeface="Trebuchet MS" pitchFamily="34" charset="-122"/>
                <a:cs typeface="Trebuchet MS" pitchFamily="34" charset="-120"/>
              </a:rPr>
              <a:t>What makes it management?</a:t>
            </a:r>
            <a:endParaRPr lang="en-US" sz="1300" dirty="0"/>
          </a:p>
        </p:txBody>
      </p:sp>
      <p:sp>
        <p:nvSpPr>
          <p:cNvPr id="9" name="Text 7"/>
          <p:cNvSpPr/>
          <p:nvPr/>
        </p:nvSpPr>
        <p:spPr>
          <a:xfrm>
            <a:off x="502920" y="2304288"/>
            <a:ext cx="4297680" cy="475488"/>
          </a:xfrm>
          <a:prstGeom prst="rect">
            <a:avLst/>
          </a:prstGeom>
          <a:noFill/>
          <a:ln/>
        </p:spPr>
        <p:txBody>
          <a:bodyPr wrap="square" lIns="0" tIns="0" rIns="0" bIns="0" rtlCol="0" anchor="t"/>
          <a:lstStyle/>
          <a:p>
            <a:pPr marL="0" indent="0" algn="l">
              <a:buNone/>
            </a:pPr>
            <a:r>
              <a:rPr lang="en-US" sz="1200" dirty="0">
                <a:solidFill>
                  <a:srgbClr val="0B2D4E"/>
                </a:solidFill>
                <a:latin typeface="Calibri" pitchFamily="34" charset="0"/>
                <a:ea typeface="Calibri" pitchFamily="34" charset="-122"/>
                <a:cs typeface="Calibri" pitchFamily="34" charset="-120"/>
              </a:rPr>
              <a:t>Not a special EtherType or flag in the tag. Simply the operator's policy choice to dedicate one VLAN to carrying SSH, SNMP, logging, and web control interfaces — and to not mix that with data traffic.</a:t>
            </a:r>
            <a:endParaRPr lang="en-US" sz="1200" dirty="0"/>
          </a:p>
        </p:txBody>
      </p:sp>
      <p:sp>
        <p:nvSpPr>
          <p:cNvPr id="10" name="Shape 8"/>
          <p:cNvSpPr/>
          <p:nvPr/>
        </p:nvSpPr>
        <p:spPr>
          <a:xfrm>
            <a:off x="365760" y="2852928"/>
            <a:ext cx="54864" cy="777240"/>
          </a:xfrm>
          <a:prstGeom prst="rect">
            <a:avLst/>
          </a:prstGeom>
          <a:solidFill>
            <a:srgbClr val="0E7C86"/>
          </a:solidFill>
          <a:ln w="12700">
            <a:solidFill>
              <a:srgbClr val="0E7C86"/>
            </a:solidFill>
            <a:prstDash val="solid"/>
          </a:ln>
        </p:spPr>
      </p:sp>
      <p:sp>
        <p:nvSpPr>
          <p:cNvPr id="11" name="Text 9"/>
          <p:cNvSpPr/>
          <p:nvPr/>
        </p:nvSpPr>
        <p:spPr>
          <a:xfrm>
            <a:off x="502920" y="2898648"/>
            <a:ext cx="4297680" cy="320040"/>
          </a:xfrm>
          <a:prstGeom prst="rect">
            <a:avLst/>
          </a:prstGeom>
          <a:noFill/>
          <a:ln/>
        </p:spPr>
        <p:txBody>
          <a:bodyPr wrap="square" lIns="0" tIns="0" rIns="0" bIns="0" rtlCol="0" anchor="ctr"/>
          <a:lstStyle/>
          <a:p>
            <a:pPr marL="0" indent="0" algn="l">
              <a:buNone/>
            </a:pPr>
            <a:r>
              <a:rPr lang="en-US" sz="1300" b="1" dirty="0">
                <a:solidFill>
                  <a:srgbClr val="0B2D4E"/>
                </a:solidFill>
                <a:latin typeface="Trebuchet MS" pitchFamily="34" charset="0"/>
                <a:ea typeface="Trebuchet MS" pitchFamily="34" charset="-122"/>
                <a:cs typeface="Trebuchet MS" pitchFamily="34" charset="-120"/>
              </a:rPr>
              <a:t>Control-plane isolation</a:t>
            </a:r>
            <a:endParaRPr lang="en-US" sz="1300" dirty="0"/>
          </a:p>
        </p:txBody>
      </p:sp>
      <p:sp>
        <p:nvSpPr>
          <p:cNvPr id="12" name="Text 10"/>
          <p:cNvSpPr/>
          <p:nvPr/>
        </p:nvSpPr>
        <p:spPr>
          <a:xfrm>
            <a:off x="502920" y="3236976"/>
            <a:ext cx="4297680" cy="475488"/>
          </a:xfrm>
          <a:prstGeom prst="rect">
            <a:avLst/>
          </a:prstGeom>
          <a:noFill/>
          <a:ln/>
        </p:spPr>
        <p:txBody>
          <a:bodyPr wrap="square" lIns="0" tIns="0" rIns="0" bIns="0" rtlCol="0" anchor="t"/>
          <a:lstStyle/>
          <a:p>
            <a:pPr marL="0" indent="0" algn="l">
              <a:buNone/>
            </a:pPr>
            <a:r>
              <a:rPr lang="en-US" sz="1200" dirty="0">
                <a:solidFill>
                  <a:srgbClr val="0B2D4E"/>
                </a:solidFill>
                <a:latin typeface="Calibri" pitchFamily="34" charset="0"/>
                <a:ea typeface="Calibri" pitchFamily="34" charset="-122"/>
                <a:cs typeface="Calibri" pitchFamily="34" charset="-120"/>
              </a:rPr>
              <a:t>If management traffic rides in its own VLAN, user or application VLANs do not automatically expose the switch's management interface. That alone reduces accidental exposure significantly.</a:t>
            </a:r>
            <a:endParaRPr lang="en-US" sz="1200" dirty="0"/>
          </a:p>
        </p:txBody>
      </p:sp>
      <p:sp>
        <p:nvSpPr>
          <p:cNvPr id="13" name="Shape 11"/>
          <p:cNvSpPr/>
          <p:nvPr/>
        </p:nvSpPr>
        <p:spPr>
          <a:xfrm>
            <a:off x="365760" y="3785616"/>
            <a:ext cx="54864" cy="777240"/>
          </a:xfrm>
          <a:prstGeom prst="rect">
            <a:avLst/>
          </a:prstGeom>
          <a:solidFill>
            <a:srgbClr val="0E7C86"/>
          </a:solidFill>
          <a:ln w="12700">
            <a:solidFill>
              <a:srgbClr val="0E7C86"/>
            </a:solidFill>
            <a:prstDash val="solid"/>
          </a:ln>
        </p:spPr>
      </p:sp>
      <p:sp>
        <p:nvSpPr>
          <p:cNvPr id="14" name="Text 12"/>
          <p:cNvSpPr/>
          <p:nvPr/>
        </p:nvSpPr>
        <p:spPr>
          <a:xfrm>
            <a:off x="502920" y="3831336"/>
            <a:ext cx="4297680" cy="320040"/>
          </a:xfrm>
          <a:prstGeom prst="rect">
            <a:avLst/>
          </a:prstGeom>
          <a:noFill/>
          <a:ln/>
        </p:spPr>
        <p:txBody>
          <a:bodyPr wrap="square" lIns="0" tIns="0" rIns="0" bIns="0" rtlCol="0" anchor="ctr"/>
          <a:lstStyle/>
          <a:p>
            <a:pPr marL="0" indent="0" algn="l">
              <a:buNone/>
            </a:pPr>
            <a:r>
              <a:rPr lang="en-US" sz="1300" b="1" dirty="0">
                <a:solidFill>
                  <a:srgbClr val="0B2D4E"/>
                </a:solidFill>
                <a:latin typeface="Trebuchet MS" pitchFamily="34" charset="0"/>
                <a:ea typeface="Trebuchet MS" pitchFamily="34" charset="-122"/>
                <a:cs typeface="Trebuchet MS" pitchFamily="34" charset="-120"/>
              </a:rPr>
              <a:t>Operational clarity</a:t>
            </a:r>
            <a:endParaRPr lang="en-US" sz="1300" dirty="0"/>
          </a:p>
        </p:txBody>
      </p:sp>
      <p:sp>
        <p:nvSpPr>
          <p:cNvPr id="15" name="Text 13"/>
          <p:cNvSpPr/>
          <p:nvPr/>
        </p:nvSpPr>
        <p:spPr>
          <a:xfrm>
            <a:off x="502920" y="4169664"/>
            <a:ext cx="4297680" cy="475488"/>
          </a:xfrm>
          <a:prstGeom prst="rect">
            <a:avLst/>
          </a:prstGeom>
          <a:noFill/>
          <a:ln/>
        </p:spPr>
        <p:txBody>
          <a:bodyPr wrap="square" lIns="0" tIns="0" rIns="0" bIns="0" rtlCol="0" anchor="t"/>
          <a:lstStyle/>
          <a:p>
            <a:pPr marL="0" indent="0" algn="l">
              <a:buNone/>
            </a:pPr>
            <a:r>
              <a:rPr lang="en-US" sz="1200" dirty="0">
                <a:solidFill>
                  <a:srgbClr val="0B2D4E"/>
                </a:solidFill>
                <a:latin typeface="Calibri" pitchFamily="34" charset="0"/>
                <a:ea typeface="Calibri" pitchFamily="34" charset="-122"/>
                <a:cs typeface="Calibri" pitchFamily="34" charset="-120"/>
              </a:rPr>
              <a:t>Troubleshooting and automation are simpler when the switch's management address belongs to a known dedicated VLAN, not whichever data VLAN happens to be nearby.</a:t>
            </a:r>
            <a:endParaRPr lang="en-US" sz="1200" dirty="0"/>
          </a:p>
        </p:txBody>
      </p:sp>
      <p:sp>
        <p:nvSpPr>
          <p:cNvPr id="16" name="Shape 14"/>
          <p:cNvSpPr/>
          <p:nvPr/>
        </p:nvSpPr>
        <p:spPr>
          <a:xfrm>
            <a:off x="5074920" y="1920240"/>
            <a:ext cx="3657600" cy="2852928"/>
          </a:xfrm>
          <a:prstGeom prst="rect">
            <a:avLst/>
          </a:prstGeom>
          <a:solidFill>
            <a:srgbClr val="0B2D4E"/>
          </a:solidFill>
          <a:ln w="12700">
            <a:solidFill>
              <a:srgbClr val="0B2D4E"/>
            </a:solidFill>
            <a:prstDash val="solid"/>
          </a:ln>
        </p:spPr>
      </p:sp>
      <p:sp>
        <p:nvSpPr>
          <p:cNvPr id="17" name="Shape 15"/>
          <p:cNvSpPr/>
          <p:nvPr/>
        </p:nvSpPr>
        <p:spPr>
          <a:xfrm>
            <a:off x="5074920" y="1920240"/>
            <a:ext cx="3657600" cy="2852928"/>
          </a:xfrm>
          <a:prstGeom prst="rect">
            <a:avLst/>
          </a:prstGeom>
          <a:solidFill>
            <a:srgbClr val="0B2D4E"/>
          </a:solidFill>
          <a:ln w="25400">
            <a:solidFill>
              <a:srgbClr val="0E7C86"/>
            </a:solidFill>
            <a:prstDash val="solid"/>
          </a:ln>
        </p:spPr>
      </p:sp>
      <p:sp>
        <p:nvSpPr>
          <p:cNvPr id="18" name="Text 16"/>
          <p:cNvSpPr/>
          <p:nvPr/>
        </p:nvSpPr>
        <p:spPr>
          <a:xfrm>
            <a:off x="5193792" y="1993392"/>
            <a:ext cx="3401568" cy="347472"/>
          </a:xfrm>
          <a:prstGeom prst="rect">
            <a:avLst/>
          </a:prstGeom>
          <a:noFill/>
          <a:ln/>
        </p:spPr>
        <p:txBody>
          <a:bodyPr wrap="square" lIns="0" tIns="0" rIns="0" bIns="0" rtlCol="0" anchor="ctr"/>
          <a:lstStyle/>
          <a:p>
            <a:pPr marL="0" indent="0" algn="l">
              <a:buNone/>
            </a:pPr>
            <a:r>
              <a:rPr lang="en-US" sz="1200" b="1" dirty="0">
                <a:solidFill>
                  <a:srgbClr val="0E7C86"/>
                </a:solidFill>
                <a:latin typeface="Trebuchet MS" pitchFamily="34" charset="0"/>
                <a:ea typeface="Trebuchet MS" pitchFamily="34" charset="-122"/>
                <a:cs typeface="Trebuchet MS" pitchFamily="34" charset="-120"/>
              </a:rPr>
              <a:t>Typical management VLAN traffic:</a:t>
            </a:r>
            <a:endParaRPr lang="en-US" sz="1200" dirty="0"/>
          </a:p>
        </p:txBody>
      </p:sp>
      <p:sp>
        <p:nvSpPr>
          <p:cNvPr id="19" name="Shape 17"/>
          <p:cNvSpPr/>
          <p:nvPr/>
        </p:nvSpPr>
        <p:spPr>
          <a:xfrm>
            <a:off x="5193792" y="2359152"/>
            <a:ext cx="3401568" cy="36576"/>
          </a:xfrm>
          <a:prstGeom prst="rect">
            <a:avLst/>
          </a:prstGeom>
          <a:solidFill>
            <a:srgbClr val="0E7C86"/>
          </a:solidFill>
          <a:ln w="12700">
            <a:solidFill>
              <a:srgbClr val="0E7C86"/>
            </a:solidFill>
            <a:prstDash val="solid"/>
          </a:ln>
        </p:spPr>
      </p:sp>
      <p:sp>
        <p:nvSpPr>
          <p:cNvPr id="20" name="Text 18"/>
          <p:cNvSpPr/>
          <p:nvPr/>
        </p:nvSpPr>
        <p:spPr>
          <a:xfrm>
            <a:off x="5193792" y="2450592"/>
            <a:ext cx="3401568" cy="32004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SSH remote access</a:t>
            </a:r>
            <a:endParaRPr lang="en-US" sz="1200" dirty="0"/>
          </a:p>
        </p:txBody>
      </p:sp>
      <p:sp>
        <p:nvSpPr>
          <p:cNvPr id="21" name="Text 19"/>
          <p:cNvSpPr/>
          <p:nvPr/>
        </p:nvSpPr>
        <p:spPr>
          <a:xfrm>
            <a:off x="5193792" y="2798064"/>
            <a:ext cx="3401568" cy="32004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SNMP polling and traps</a:t>
            </a:r>
            <a:endParaRPr lang="en-US" sz="1200" dirty="0"/>
          </a:p>
        </p:txBody>
      </p:sp>
      <p:sp>
        <p:nvSpPr>
          <p:cNvPr id="22" name="Text 20"/>
          <p:cNvSpPr/>
          <p:nvPr/>
        </p:nvSpPr>
        <p:spPr>
          <a:xfrm>
            <a:off x="5193792" y="3145536"/>
            <a:ext cx="3401568" cy="32004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Syslog / event logging</a:t>
            </a:r>
            <a:endParaRPr lang="en-US" sz="1200" dirty="0"/>
          </a:p>
        </p:txBody>
      </p:sp>
      <p:sp>
        <p:nvSpPr>
          <p:cNvPr id="23" name="Text 21"/>
          <p:cNvSpPr/>
          <p:nvPr/>
        </p:nvSpPr>
        <p:spPr>
          <a:xfrm>
            <a:off x="5193792" y="3493008"/>
            <a:ext cx="3401568" cy="32004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Web UI / REST management</a:t>
            </a:r>
            <a:endParaRPr lang="en-US" sz="1200" dirty="0"/>
          </a:p>
        </p:txBody>
      </p:sp>
      <p:sp>
        <p:nvSpPr>
          <p:cNvPr id="24" name="Text 22"/>
          <p:cNvSpPr/>
          <p:nvPr/>
        </p:nvSpPr>
        <p:spPr>
          <a:xfrm>
            <a:off x="5193792" y="3840480"/>
            <a:ext cx="3401568" cy="32004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NETCONF / YANG tooling</a:t>
            </a:r>
            <a:endParaRPr lang="en-US" sz="1200" dirty="0"/>
          </a:p>
        </p:txBody>
      </p:sp>
      <p:sp>
        <p:nvSpPr>
          <p:cNvPr id="25" name="Text 23"/>
          <p:cNvSpPr/>
          <p:nvPr/>
        </p:nvSpPr>
        <p:spPr>
          <a:xfrm>
            <a:off x="5193792" y="4187952"/>
            <a:ext cx="3401568" cy="32004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  </a:t>
            </a:r>
            <a:r>
              <a:rPr lang="en-US" sz="1200" dirty="0">
                <a:solidFill>
                  <a:srgbClr val="D6EAF8"/>
                </a:solidFill>
                <a:latin typeface="Calibri" pitchFamily="34" charset="0"/>
                <a:ea typeface="Calibri" pitchFamily="34" charset="-122"/>
                <a:cs typeface="Calibri" pitchFamily="34" charset="-120"/>
              </a:rPr>
              <a:t>Zero-touch provisioning</a:t>
            </a:r>
            <a:endParaRPr lang="en-US" sz="1200" dirty="0"/>
          </a:p>
        </p:txBody>
      </p:sp>
      <p:sp>
        <p:nvSpPr>
          <p:cNvPr id="26" name="Shape 24"/>
          <p:cNvSpPr/>
          <p:nvPr/>
        </p:nvSpPr>
        <p:spPr>
          <a:xfrm>
            <a:off x="365760" y="4919472"/>
            <a:ext cx="8366760" cy="658368"/>
          </a:xfrm>
          <a:prstGeom prst="rect">
            <a:avLst/>
          </a:prstGeom>
          <a:solidFill>
            <a:srgbClr val="0B2D4E"/>
          </a:solidFill>
          <a:ln w="12700">
            <a:solidFill>
              <a:srgbClr val="0B2D4E"/>
            </a:solidFill>
            <a:prstDash val="solid"/>
          </a:ln>
        </p:spPr>
      </p:sp>
      <p:sp>
        <p:nvSpPr>
          <p:cNvPr id="27" name="Text 25"/>
          <p:cNvSpPr/>
          <p:nvPr/>
        </p:nvSpPr>
        <p:spPr>
          <a:xfrm>
            <a:off x="502920" y="5010912"/>
            <a:ext cx="8183880" cy="347472"/>
          </a:xfrm>
          <a:prstGeom prst="rect">
            <a:avLst/>
          </a:prstGeom>
          <a:noFill/>
          <a:ln/>
        </p:spPr>
        <p:txBody>
          <a:bodyPr wrap="square" lIns="0" tIns="0" rIns="0" bIns="0" rtlCol="0" anchor="ctr"/>
          <a:lstStyle/>
          <a:p>
            <a:pPr marL="0" indent="0" algn="l">
              <a:buNone/>
            </a:pPr>
            <a:r>
              <a:rPr lang="en-US" sz="1300" b="1" dirty="0">
                <a:solidFill>
                  <a:srgbClr val="C0392B"/>
                </a:solidFill>
                <a:latin typeface="Trebuchet MS" pitchFamily="34" charset="0"/>
                <a:ea typeface="Trebuchet MS" pitchFamily="34" charset="-122"/>
                <a:cs typeface="Trebuchet MS" pitchFamily="34" charset="-120"/>
              </a:rPr>
              <a:t>Important caution:</a:t>
            </a:r>
            <a:endParaRPr lang="en-US" sz="1300" dirty="0"/>
          </a:p>
        </p:txBody>
      </p:sp>
      <p:sp>
        <p:nvSpPr>
          <p:cNvPr id="28" name="Text 26"/>
          <p:cNvSpPr/>
          <p:nvPr/>
        </p:nvSpPr>
        <p:spPr>
          <a:xfrm>
            <a:off x="502920" y="5394960"/>
            <a:ext cx="8183880" cy="91440"/>
          </a:xfrm>
          <a:prstGeom prst="rect">
            <a:avLst/>
          </a:prstGeom>
          <a:noFill/>
          <a:ln/>
        </p:spPr>
        <p:txBody>
          <a:bodyPr wrap="square" lIns="0" tIns="0" rIns="0" bIns="0" rtlCol="0" anchor="t"/>
          <a:lstStyle/>
          <a:p>
            <a:pPr marL="0" indent="0" algn="l">
              <a:buNone/>
            </a:pPr>
            <a:r>
              <a:rPr lang="en-US" sz="1200" dirty="0">
                <a:solidFill>
                  <a:srgbClr val="D6EAF8"/>
                </a:solidFill>
                <a:latin typeface="Calibri" pitchFamily="34" charset="0"/>
                <a:ea typeface="Calibri" pitchFamily="34" charset="-122"/>
                <a:cs typeface="Calibri" pitchFamily="34" charset="-120"/>
              </a:rPr>
              <a:t>A management VLAN gives you traffic separation. It does not by itself guarantee secure management. You still need routing policy, authentication, and access control if the management VLAN spans multiple links or devices.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D4E"/>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2600" b="1" dirty="0">
                <a:solidFill>
                  <a:srgbClr val="FFFFFF"/>
                </a:solidFill>
                <a:latin typeface="Trebuchet MS" pitchFamily="34" charset="0"/>
                <a:ea typeface="Trebuchet MS" pitchFamily="34" charset="-122"/>
                <a:cs typeface="Trebuchet MS" pitchFamily="34" charset="-120"/>
              </a:rPr>
              <a:t>Automotive VLANs: Separating Mixed-Criticality Traffic</a:t>
            </a:r>
            <a:endParaRPr lang="en-US" sz="26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475488"/>
          </a:xfrm>
          <a:prstGeom prst="rect">
            <a:avLst/>
          </a:prstGeom>
          <a:noFill/>
          <a:ln/>
        </p:spPr>
        <p:txBody>
          <a:bodyPr wrap="square" lIns="0" tIns="0" rIns="0" bIns="0" rtlCol="0" anchor="t"/>
          <a:lstStyle/>
          <a:p>
            <a:pPr marL="0" indent="0" algn="l">
              <a:buNone/>
            </a:pPr>
            <a:r>
              <a:rPr lang="en-US" sz="1400" dirty="0">
                <a:solidFill>
                  <a:srgbClr val="D6EAF8"/>
                </a:solidFill>
                <a:latin typeface="Calibri" pitchFamily="34" charset="0"/>
                <a:ea typeface="Calibri" pitchFamily="34" charset="-122"/>
                <a:cs typeface="Calibri" pitchFamily="34" charset="-120"/>
              </a:rPr>
              <a:t>Modern vehicles run many traffic types over a single Ethernet fabric. VLANs enforce the separation that safety and performance require:</a:t>
            </a:r>
            <a:endParaRPr lang="en-US" sz="1400" dirty="0"/>
          </a:p>
        </p:txBody>
      </p:sp>
      <p:sp>
        <p:nvSpPr>
          <p:cNvPr id="5" name="Shape 3"/>
          <p:cNvSpPr/>
          <p:nvPr/>
        </p:nvSpPr>
        <p:spPr>
          <a:xfrm>
            <a:off x="365760" y="1828800"/>
            <a:ext cx="1828800" cy="530352"/>
          </a:xfrm>
          <a:prstGeom prst="rect">
            <a:avLst/>
          </a:prstGeom>
          <a:solidFill>
            <a:srgbClr val="C0392B"/>
          </a:solidFill>
          <a:ln w="12700">
            <a:solidFill>
              <a:srgbClr val="C0392B"/>
            </a:solidFill>
            <a:prstDash val="solid"/>
          </a:ln>
        </p:spPr>
      </p:sp>
      <p:sp>
        <p:nvSpPr>
          <p:cNvPr id="6" name="Text 4"/>
          <p:cNvSpPr/>
          <p:nvPr/>
        </p:nvSpPr>
        <p:spPr>
          <a:xfrm>
            <a:off x="411480" y="1828800"/>
            <a:ext cx="173736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Safety-Relevant Control</a:t>
            </a:r>
            <a:endParaRPr lang="en-US" sz="1100" dirty="0"/>
          </a:p>
        </p:txBody>
      </p:sp>
      <p:sp>
        <p:nvSpPr>
          <p:cNvPr id="7" name="Shape 5"/>
          <p:cNvSpPr/>
          <p:nvPr/>
        </p:nvSpPr>
        <p:spPr>
          <a:xfrm>
            <a:off x="2194560" y="1828800"/>
            <a:ext cx="4434840" cy="530352"/>
          </a:xfrm>
          <a:prstGeom prst="rect">
            <a:avLst/>
          </a:prstGeom>
          <a:solidFill>
            <a:srgbClr val="1A4D6E"/>
          </a:solidFill>
          <a:ln w="12700">
            <a:solidFill>
              <a:srgbClr val="1A4D6E"/>
            </a:solidFill>
            <a:prstDash val="solid"/>
          </a:ln>
        </p:spPr>
      </p:sp>
      <p:sp>
        <p:nvSpPr>
          <p:cNvPr id="8" name="Text 6"/>
          <p:cNvSpPr/>
          <p:nvPr/>
        </p:nvSpPr>
        <p:spPr>
          <a:xfrm>
            <a:off x="2304288" y="1828800"/>
            <a:ext cx="4297680" cy="530352"/>
          </a:xfrm>
          <a:prstGeom prst="rect">
            <a:avLst/>
          </a:prstGeom>
          <a:noFill/>
          <a:ln/>
        </p:spPr>
        <p:txBody>
          <a:bodyPr wrap="square" lIns="0" tIns="0" rIns="0" bIns="0" rtlCol="0" anchor="ctr"/>
          <a:lstStyle/>
          <a:p>
            <a:pPr marL="0" indent="0" algn="l">
              <a:buNone/>
            </a:pPr>
            <a:r>
              <a:rPr lang="en-US" sz="1100" dirty="0">
                <a:solidFill>
                  <a:srgbClr val="D6EAF8"/>
                </a:solidFill>
                <a:latin typeface="Calibri" pitchFamily="34" charset="0"/>
                <a:ea typeface="Calibri" pitchFamily="34" charset="-122"/>
                <a:cs typeface="Calibri" pitchFamily="34" charset="-120"/>
              </a:rPr>
              <a:t>Engine, braking, steering control loops</a:t>
            </a:r>
            <a:endParaRPr lang="en-US" sz="1100" dirty="0"/>
          </a:p>
        </p:txBody>
      </p:sp>
      <p:sp>
        <p:nvSpPr>
          <p:cNvPr id="9" name="Shape 7"/>
          <p:cNvSpPr/>
          <p:nvPr/>
        </p:nvSpPr>
        <p:spPr>
          <a:xfrm>
            <a:off x="6629400" y="1828800"/>
            <a:ext cx="2148840" cy="530352"/>
          </a:xfrm>
          <a:prstGeom prst="rect">
            <a:avLst/>
          </a:prstGeom>
          <a:solidFill>
            <a:srgbClr val="C0392B"/>
          </a:solidFill>
          <a:ln w="12700">
            <a:solidFill>
              <a:srgbClr val="C0392B"/>
            </a:solidFill>
            <a:prstDash val="solid"/>
          </a:ln>
        </p:spPr>
      </p:sp>
      <p:sp>
        <p:nvSpPr>
          <p:cNvPr id="10" name="Text 8"/>
          <p:cNvSpPr/>
          <p:nvPr/>
        </p:nvSpPr>
        <p:spPr>
          <a:xfrm>
            <a:off x="6693408" y="1828800"/>
            <a:ext cx="2011680" cy="530352"/>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IVL — must never share learning</a:t>
            </a:r>
            <a:endParaRPr lang="en-US" sz="900" dirty="0"/>
          </a:p>
        </p:txBody>
      </p:sp>
      <p:sp>
        <p:nvSpPr>
          <p:cNvPr id="11" name="Shape 9"/>
          <p:cNvSpPr/>
          <p:nvPr/>
        </p:nvSpPr>
        <p:spPr>
          <a:xfrm>
            <a:off x="365760" y="2450592"/>
            <a:ext cx="1828800" cy="530352"/>
          </a:xfrm>
          <a:prstGeom prst="rect">
            <a:avLst/>
          </a:prstGeom>
          <a:solidFill>
            <a:srgbClr val="E67E22"/>
          </a:solidFill>
          <a:ln w="12700">
            <a:solidFill>
              <a:srgbClr val="E67E22"/>
            </a:solidFill>
            <a:prstDash val="solid"/>
          </a:ln>
        </p:spPr>
      </p:sp>
      <p:sp>
        <p:nvSpPr>
          <p:cNvPr id="12" name="Text 10"/>
          <p:cNvSpPr/>
          <p:nvPr/>
        </p:nvSpPr>
        <p:spPr>
          <a:xfrm>
            <a:off x="411480" y="2450592"/>
            <a:ext cx="173736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Safety-Relevant Media</a:t>
            </a:r>
            <a:endParaRPr lang="en-US" sz="1100" dirty="0"/>
          </a:p>
        </p:txBody>
      </p:sp>
      <p:sp>
        <p:nvSpPr>
          <p:cNvPr id="13" name="Shape 11"/>
          <p:cNvSpPr/>
          <p:nvPr/>
        </p:nvSpPr>
        <p:spPr>
          <a:xfrm>
            <a:off x="2194560" y="2450592"/>
            <a:ext cx="4434840" cy="530352"/>
          </a:xfrm>
          <a:prstGeom prst="rect">
            <a:avLst/>
          </a:prstGeom>
          <a:solidFill>
            <a:srgbClr val="1A4D6E"/>
          </a:solidFill>
          <a:ln w="12700">
            <a:solidFill>
              <a:srgbClr val="1A4D6E"/>
            </a:solidFill>
            <a:prstDash val="solid"/>
          </a:ln>
        </p:spPr>
      </p:sp>
      <p:sp>
        <p:nvSpPr>
          <p:cNvPr id="14" name="Text 12"/>
          <p:cNvSpPr/>
          <p:nvPr/>
        </p:nvSpPr>
        <p:spPr>
          <a:xfrm>
            <a:off x="2304288" y="2450592"/>
            <a:ext cx="4297680" cy="530352"/>
          </a:xfrm>
          <a:prstGeom prst="rect">
            <a:avLst/>
          </a:prstGeom>
          <a:noFill/>
          <a:ln/>
        </p:spPr>
        <p:txBody>
          <a:bodyPr wrap="square" lIns="0" tIns="0" rIns="0" bIns="0" rtlCol="0" anchor="ctr"/>
          <a:lstStyle/>
          <a:p>
            <a:pPr marL="0" indent="0" algn="l">
              <a:buNone/>
            </a:pPr>
            <a:r>
              <a:rPr lang="en-US" sz="1100" dirty="0">
                <a:solidFill>
                  <a:srgbClr val="D6EAF8"/>
                </a:solidFill>
                <a:latin typeface="Calibri" pitchFamily="34" charset="0"/>
                <a:ea typeface="Calibri" pitchFamily="34" charset="-122"/>
                <a:cs typeface="Calibri" pitchFamily="34" charset="-120"/>
              </a:rPr>
              <a:t>ADAS sensor streams, cameras, lidar, radar</a:t>
            </a:r>
            <a:endParaRPr lang="en-US" sz="1100" dirty="0"/>
          </a:p>
        </p:txBody>
      </p:sp>
      <p:sp>
        <p:nvSpPr>
          <p:cNvPr id="15" name="Shape 13"/>
          <p:cNvSpPr/>
          <p:nvPr/>
        </p:nvSpPr>
        <p:spPr>
          <a:xfrm>
            <a:off x="6629400" y="2450592"/>
            <a:ext cx="2148840" cy="530352"/>
          </a:xfrm>
          <a:prstGeom prst="rect">
            <a:avLst/>
          </a:prstGeom>
          <a:solidFill>
            <a:srgbClr val="E67E22"/>
          </a:solidFill>
          <a:ln w="12700">
            <a:solidFill>
              <a:srgbClr val="E67E22"/>
            </a:solidFill>
            <a:prstDash val="solid"/>
          </a:ln>
        </p:spPr>
      </p:sp>
      <p:sp>
        <p:nvSpPr>
          <p:cNvPr id="16" name="Text 14"/>
          <p:cNvSpPr/>
          <p:nvPr/>
        </p:nvSpPr>
        <p:spPr>
          <a:xfrm>
            <a:off x="6693408" y="2450592"/>
            <a:ext cx="2011680" cy="530352"/>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IVL — perception isolation critical</a:t>
            </a:r>
            <a:endParaRPr lang="en-US" sz="900" dirty="0"/>
          </a:p>
        </p:txBody>
      </p:sp>
      <p:sp>
        <p:nvSpPr>
          <p:cNvPr id="17" name="Shape 15"/>
          <p:cNvSpPr/>
          <p:nvPr/>
        </p:nvSpPr>
        <p:spPr>
          <a:xfrm>
            <a:off x="365760" y="3072384"/>
            <a:ext cx="1828800" cy="530352"/>
          </a:xfrm>
          <a:prstGeom prst="rect">
            <a:avLst/>
          </a:prstGeom>
          <a:solidFill>
            <a:srgbClr val="2980B9"/>
          </a:solidFill>
          <a:ln w="12700">
            <a:solidFill>
              <a:srgbClr val="2980B9"/>
            </a:solidFill>
            <a:prstDash val="solid"/>
          </a:ln>
        </p:spPr>
      </p:sp>
      <p:sp>
        <p:nvSpPr>
          <p:cNvPr id="18" name="Text 16"/>
          <p:cNvSpPr/>
          <p:nvPr/>
        </p:nvSpPr>
        <p:spPr>
          <a:xfrm>
            <a:off x="411480" y="3072384"/>
            <a:ext cx="173736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Infotainment / Comfort</a:t>
            </a:r>
            <a:endParaRPr lang="en-US" sz="1100" dirty="0"/>
          </a:p>
        </p:txBody>
      </p:sp>
      <p:sp>
        <p:nvSpPr>
          <p:cNvPr id="19" name="Shape 17"/>
          <p:cNvSpPr/>
          <p:nvPr/>
        </p:nvSpPr>
        <p:spPr>
          <a:xfrm>
            <a:off x="2194560" y="3072384"/>
            <a:ext cx="4434840" cy="530352"/>
          </a:xfrm>
          <a:prstGeom prst="rect">
            <a:avLst/>
          </a:prstGeom>
          <a:solidFill>
            <a:srgbClr val="1A4D6E"/>
          </a:solidFill>
          <a:ln w="12700">
            <a:solidFill>
              <a:srgbClr val="1A4D6E"/>
            </a:solidFill>
            <a:prstDash val="solid"/>
          </a:ln>
        </p:spPr>
      </p:sp>
      <p:sp>
        <p:nvSpPr>
          <p:cNvPr id="20" name="Text 18"/>
          <p:cNvSpPr/>
          <p:nvPr/>
        </p:nvSpPr>
        <p:spPr>
          <a:xfrm>
            <a:off x="2304288" y="3072384"/>
            <a:ext cx="4297680" cy="530352"/>
          </a:xfrm>
          <a:prstGeom prst="rect">
            <a:avLst/>
          </a:prstGeom>
          <a:noFill/>
          <a:ln/>
        </p:spPr>
        <p:txBody>
          <a:bodyPr wrap="square" lIns="0" tIns="0" rIns="0" bIns="0" rtlCol="0" anchor="ctr"/>
          <a:lstStyle/>
          <a:p>
            <a:pPr marL="0" indent="0" algn="l">
              <a:buNone/>
            </a:pPr>
            <a:r>
              <a:rPr lang="en-US" sz="1100" dirty="0">
                <a:solidFill>
                  <a:srgbClr val="D6EAF8"/>
                </a:solidFill>
                <a:latin typeface="Calibri" pitchFamily="34" charset="0"/>
                <a:ea typeface="Calibri" pitchFamily="34" charset="-122"/>
                <a:cs typeface="Calibri" pitchFamily="34" charset="-120"/>
              </a:rPr>
              <a:t>Audio/video, display, A/C, windows, lighting</a:t>
            </a:r>
            <a:endParaRPr lang="en-US" sz="1100" dirty="0"/>
          </a:p>
        </p:txBody>
      </p:sp>
      <p:sp>
        <p:nvSpPr>
          <p:cNvPr id="21" name="Shape 19"/>
          <p:cNvSpPr/>
          <p:nvPr/>
        </p:nvSpPr>
        <p:spPr>
          <a:xfrm>
            <a:off x="6629400" y="3072384"/>
            <a:ext cx="2148840" cy="530352"/>
          </a:xfrm>
          <a:prstGeom prst="rect">
            <a:avLst/>
          </a:prstGeom>
          <a:solidFill>
            <a:srgbClr val="2980B9"/>
          </a:solidFill>
          <a:ln w="12700">
            <a:solidFill>
              <a:srgbClr val="2980B9"/>
            </a:solidFill>
            <a:prstDash val="solid"/>
          </a:ln>
        </p:spPr>
      </p:sp>
      <p:sp>
        <p:nvSpPr>
          <p:cNvPr id="22" name="Text 20"/>
          <p:cNvSpPr/>
          <p:nvPr/>
        </p:nvSpPr>
        <p:spPr>
          <a:xfrm>
            <a:off x="6693408" y="3072384"/>
            <a:ext cx="2011680" cy="530352"/>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IVL — isolate from safety domains</a:t>
            </a:r>
            <a:endParaRPr lang="en-US" sz="900" dirty="0"/>
          </a:p>
        </p:txBody>
      </p:sp>
      <p:sp>
        <p:nvSpPr>
          <p:cNvPr id="23" name="Shape 21"/>
          <p:cNvSpPr/>
          <p:nvPr/>
        </p:nvSpPr>
        <p:spPr>
          <a:xfrm>
            <a:off x="365760" y="3694176"/>
            <a:ext cx="1828800" cy="530352"/>
          </a:xfrm>
          <a:prstGeom prst="rect">
            <a:avLst/>
          </a:prstGeom>
          <a:solidFill>
            <a:srgbClr val="8E44AD"/>
          </a:solidFill>
          <a:ln w="12700">
            <a:solidFill>
              <a:srgbClr val="8E44AD"/>
            </a:solidFill>
            <a:prstDash val="solid"/>
          </a:ln>
        </p:spPr>
      </p:sp>
      <p:sp>
        <p:nvSpPr>
          <p:cNvPr id="24" name="Text 22"/>
          <p:cNvSpPr/>
          <p:nvPr/>
        </p:nvSpPr>
        <p:spPr>
          <a:xfrm>
            <a:off x="411480" y="3694176"/>
            <a:ext cx="173736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Diagnostics / Engineering</a:t>
            </a:r>
            <a:endParaRPr lang="en-US" sz="1100" dirty="0"/>
          </a:p>
        </p:txBody>
      </p:sp>
      <p:sp>
        <p:nvSpPr>
          <p:cNvPr id="25" name="Shape 23"/>
          <p:cNvSpPr/>
          <p:nvPr/>
        </p:nvSpPr>
        <p:spPr>
          <a:xfrm>
            <a:off x="2194560" y="3694176"/>
            <a:ext cx="4434840" cy="530352"/>
          </a:xfrm>
          <a:prstGeom prst="rect">
            <a:avLst/>
          </a:prstGeom>
          <a:solidFill>
            <a:srgbClr val="1A4D6E"/>
          </a:solidFill>
          <a:ln w="12700">
            <a:solidFill>
              <a:srgbClr val="1A4D6E"/>
            </a:solidFill>
            <a:prstDash val="solid"/>
          </a:ln>
        </p:spPr>
      </p:sp>
      <p:sp>
        <p:nvSpPr>
          <p:cNvPr id="26" name="Text 24"/>
          <p:cNvSpPr/>
          <p:nvPr/>
        </p:nvSpPr>
        <p:spPr>
          <a:xfrm>
            <a:off x="2304288" y="3694176"/>
            <a:ext cx="4297680" cy="530352"/>
          </a:xfrm>
          <a:prstGeom prst="rect">
            <a:avLst/>
          </a:prstGeom>
          <a:noFill/>
          <a:ln/>
        </p:spPr>
        <p:txBody>
          <a:bodyPr wrap="square" lIns="0" tIns="0" rIns="0" bIns="0" rtlCol="0" anchor="ctr"/>
          <a:lstStyle/>
          <a:p>
            <a:pPr marL="0" indent="0" algn="l">
              <a:buNone/>
            </a:pPr>
            <a:r>
              <a:rPr lang="en-US" sz="1100" dirty="0">
                <a:solidFill>
                  <a:srgbClr val="D6EAF8"/>
                </a:solidFill>
                <a:latin typeface="Calibri" pitchFamily="34" charset="0"/>
                <a:ea typeface="Calibri" pitchFamily="34" charset="-122"/>
                <a:cs typeface="Calibri" pitchFamily="34" charset="-120"/>
              </a:rPr>
              <a:t>OBD-II, calibration, development logging, debug access</a:t>
            </a:r>
            <a:endParaRPr lang="en-US" sz="1100" dirty="0"/>
          </a:p>
        </p:txBody>
      </p:sp>
      <p:sp>
        <p:nvSpPr>
          <p:cNvPr id="27" name="Shape 25"/>
          <p:cNvSpPr/>
          <p:nvPr/>
        </p:nvSpPr>
        <p:spPr>
          <a:xfrm>
            <a:off x="6629400" y="3694176"/>
            <a:ext cx="2148840" cy="530352"/>
          </a:xfrm>
          <a:prstGeom prst="rect">
            <a:avLst/>
          </a:prstGeom>
          <a:solidFill>
            <a:srgbClr val="8E44AD"/>
          </a:solidFill>
          <a:ln w="12700">
            <a:solidFill>
              <a:srgbClr val="8E44AD"/>
            </a:solidFill>
            <a:prstDash val="solid"/>
          </a:ln>
        </p:spPr>
      </p:sp>
      <p:sp>
        <p:nvSpPr>
          <p:cNvPr id="28" name="Text 26"/>
          <p:cNvSpPr/>
          <p:nvPr/>
        </p:nvSpPr>
        <p:spPr>
          <a:xfrm>
            <a:off x="6693408" y="3694176"/>
            <a:ext cx="2011680" cy="530352"/>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IVL or management VLAN</a:t>
            </a:r>
            <a:endParaRPr lang="en-US" sz="900" dirty="0"/>
          </a:p>
        </p:txBody>
      </p:sp>
      <p:sp>
        <p:nvSpPr>
          <p:cNvPr id="29" name="Shape 27"/>
          <p:cNvSpPr/>
          <p:nvPr/>
        </p:nvSpPr>
        <p:spPr>
          <a:xfrm>
            <a:off x="365760" y="4315968"/>
            <a:ext cx="1828800" cy="530352"/>
          </a:xfrm>
          <a:prstGeom prst="rect">
            <a:avLst/>
          </a:prstGeom>
          <a:solidFill>
            <a:srgbClr val="1A9DAA"/>
          </a:solidFill>
          <a:ln w="12700">
            <a:solidFill>
              <a:srgbClr val="1A9DAA"/>
            </a:solidFill>
            <a:prstDash val="solid"/>
          </a:ln>
        </p:spPr>
      </p:sp>
      <p:sp>
        <p:nvSpPr>
          <p:cNvPr id="30" name="Text 28"/>
          <p:cNvSpPr/>
          <p:nvPr/>
        </p:nvSpPr>
        <p:spPr>
          <a:xfrm>
            <a:off x="411480" y="4315968"/>
            <a:ext cx="1737360"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Management / Service</a:t>
            </a:r>
            <a:endParaRPr lang="en-US" sz="1100" dirty="0"/>
          </a:p>
        </p:txBody>
      </p:sp>
      <p:sp>
        <p:nvSpPr>
          <p:cNvPr id="31" name="Shape 29"/>
          <p:cNvSpPr/>
          <p:nvPr/>
        </p:nvSpPr>
        <p:spPr>
          <a:xfrm>
            <a:off x="2194560" y="4315968"/>
            <a:ext cx="4434840" cy="530352"/>
          </a:xfrm>
          <a:prstGeom prst="rect">
            <a:avLst/>
          </a:prstGeom>
          <a:solidFill>
            <a:srgbClr val="1A4D6E"/>
          </a:solidFill>
          <a:ln w="12700">
            <a:solidFill>
              <a:srgbClr val="1A4D6E"/>
            </a:solidFill>
            <a:prstDash val="solid"/>
          </a:ln>
        </p:spPr>
      </p:sp>
      <p:sp>
        <p:nvSpPr>
          <p:cNvPr id="32" name="Text 30"/>
          <p:cNvSpPr/>
          <p:nvPr/>
        </p:nvSpPr>
        <p:spPr>
          <a:xfrm>
            <a:off x="2304288" y="4315968"/>
            <a:ext cx="4297680" cy="530352"/>
          </a:xfrm>
          <a:prstGeom prst="rect">
            <a:avLst/>
          </a:prstGeom>
          <a:noFill/>
          <a:ln/>
        </p:spPr>
        <p:txBody>
          <a:bodyPr wrap="square" lIns="0" tIns="0" rIns="0" bIns="0" rtlCol="0" anchor="ctr"/>
          <a:lstStyle/>
          <a:p>
            <a:pPr marL="0" indent="0" algn="l">
              <a:buNone/>
            </a:pPr>
            <a:r>
              <a:rPr lang="en-US" sz="1100" dirty="0">
                <a:solidFill>
                  <a:srgbClr val="D6EAF8"/>
                </a:solidFill>
                <a:latin typeface="Calibri" pitchFamily="34" charset="0"/>
                <a:ea typeface="Calibri" pitchFamily="34" charset="-122"/>
                <a:cs typeface="Calibri" pitchFamily="34" charset="-120"/>
              </a:rPr>
              <a:t>Switch management, ECU flashing, plant service tools</a:t>
            </a:r>
            <a:endParaRPr lang="en-US" sz="1100" dirty="0"/>
          </a:p>
        </p:txBody>
      </p:sp>
      <p:sp>
        <p:nvSpPr>
          <p:cNvPr id="33" name="Shape 31"/>
          <p:cNvSpPr/>
          <p:nvPr/>
        </p:nvSpPr>
        <p:spPr>
          <a:xfrm>
            <a:off x="6629400" y="4315968"/>
            <a:ext cx="2148840" cy="530352"/>
          </a:xfrm>
          <a:prstGeom prst="rect">
            <a:avLst/>
          </a:prstGeom>
          <a:solidFill>
            <a:srgbClr val="1A9DAA"/>
          </a:solidFill>
          <a:ln w="12700">
            <a:solidFill>
              <a:srgbClr val="1A9DAA"/>
            </a:solidFill>
            <a:prstDash val="solid"/>
          </a:ln>
        </p:spPr>
      </p:sp>
      <p:sp>
        <p:nvSpPr>
          <p:cNvPr id="34" name="Text 32"/>
          <p:cNvSpPr/>
          <p:nvPr/>
        </p:nvSpPr>
        <p:spPr>
          <a:xfrm>
            <a:off x="6693408" y="4315968"/>
            <a:ext cx="2011680" cy="530352"/>
          </a:xfrm>
          <a:prstGeom prst="rect">
            <a:avLst/>
          </a:prstGeom>
          <a:noFill/>
          <a:ln/>
        </p:spPr>
        <p:txBody>
          <a:bodyPr wrap="square" lIns="0" tIns="0" rIns="0" bIns="0" rtlCol="0" anchor="ctr"/>
          <a:lstStyle/>
          <a:p>
            <a:pPr marL="0" indent="0" algn="ctr">
              <a:buNone/>
            </a:pPr>
            <a:r>
              <a:rPr lang="en-US" sz="900" b="1" dirty="0">
                <a:solidFill>
                  <a:srgbClr val="FFFFFF"/>
                </a:solidFill>
                <a:latin typeface="Trebuchet MS" pitchFamily="34" charset="0"/>
                <a:ea typeface="Trebuchet MS" pitchFamily="34" charset="-122"/>
                <a:cs typeface="Trebuchet MS" pitchFamily="34" charset="-120"/>
              </a:rPr>
              <a:t>Dedicated management VLAN</a:t>
            </a:r>
            <a:endParaRPr lang="en-US" sz="900" dirty="0"/>
          </a:p>
        </p:txBody>
      </p:sp>
      <p:sp>
        <p:nvSpPr>
          <p:cNvPr id="35" name="Shape 33"/>
          <p:cNvSpPr/>
          <p:nvPr/>
        </p:nvSpPr>
        <p:spPr>
          <a:xfrm>
            <a:off x="365760" y="5010912"/>
            <a:ext cx="8366760" cy="658368"/>
          </a:xfrm>
          <a:prstGeom prst="rect">
            <a:avLst/>
          </a:prstGeom>
          <a:solidFill>
            <a:srgbClr val="0B2D4E"/>
          </a:solidFill>
          <a:ln w="12700">
            <a:solidFill>
              <a:srgbClr val="0B2D4E"/>
            </a:solidFill>
            <a:prstDash val="solid"/>
          </a:ln>
        </p:spPr>
      </p:sp>
      <p:sp>
        <p:nvSpPr>
          <p:cNvPr id="36" name="Text 34"/>
          <p:cNvSpPr/>
          <p:nvPr/>
        </p:nvSpPr>
        <p:spPr>
          <a:xfrm>
            <a:off x="502920" y="5102352"/>
            <a:ext cx="8183880" cy="347472"/>
          </a:xfrm>
          <a:prstGeom prst="rect">
            <a:avLst/>
          </a:prstGeom>
          <a:noFill/>
          <a:ln/>
        </p:spPr>
        <p:txBody>
          <a:bodyPr wrap="square" lIns="0" tIns="0" rIns="0" bIns="0" rtlCol="0" anchor="ctr"/>
          <a:lstStyle/>
          <a:p>
            <a:pPr marL="0" indent="0" algn="l">
              <a:buNone/>
            </a:pPr>
            <a:r>
              <a:rPr lang="en-US" sz="1300" b="1" dirty="0">
                <a:solidFill>
                  <a:srgbClr val="F0A500"/>
                </a:solidFill>
                <a:latin typeface="Trebuchet MS" pitchFamily="34" charset="0"/>
                <a:ea typeface="Trebuchet MS" pitchFamily="34" charset="-122"/>
                <a:cs typeface="Trebuchet MS" pitchFamily="34" charset="-120"/>
              </a:rPr>
              <a:t>The automotive VLAN purpose:</a:t>
            </a:r>
            <a:endParaRPr lang="en-US" sz="1300" dirty="0"/>
          </a:p>
        </p:txBody>
      </p:sp>
      <p:sp>
        <p:nvSpPr>
          <p:cNvPr id="37" name="Text 35"/>
          <p:cNvSpPr/>
          <p:nvPr/>
        </p:nvSpPr>
        <p:spPr>
          <a:xfrm>
            <a:off x="502920" y="5486400"/>
            <a:ext cx="8183880" cy="91440"/>
          </a:xfrm>
          <a:prstGeom prst="rect">
            <a:avLst/>
          </a:prstGeom>
          <a:noFill/>
          <a:ln/>
        </p:spPr>
        <p:txBody>
          <a:bodyPr wrap="square" lIns="0" tIns="0" rIns="0" bIns="0" rtlCol="0" anchor="t"/>
          <a:lstStyle/>
          <a:p>
            <a:pPr marL="0" indent="0" algn="l">
              <a:buNone/>
            </a:pPr>
            <a:r>
              <a:rPr lang="en-US" sz="1200" dirty="0">
                <a:solidFill>
                  <a:srgbClr val="D6EAF8"/>
                </a:solidFill>
                <a:latin typeface="Calibri" pitchFamily="34" charset="0"/>
                <a:ea typeface="Calibri" pitchFamily="34" charset="-122"/>
                <a:cs typeface="Calibri" pitchFamily="34" charset="-120"/>
              </a:rPr>
              <a:t>This is not departmental separation for convenience. These domains have genuinely different latency, reliability, and exposure requirements. A safety control loop must not be affected by an infotainment media burst. VLANs and queueing policy together enforce that boundary.</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8FF"/>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3400" b="1" dirty="0">
                <a:solidFill>
                  <a:srgbClr val="0B2D4E"/>
                </a:solidFill>
                <a:latin typeface="Trebuchet MS" pitchFamily="34" charset="0"/>
                <a:ea typeface="Trebuchet MS" pitchFamily="34" charset="-122"/>
                <a:cs typeface="Trebuchet MS" pitchFamily="34" charset="-120"/>
              </a:rPr>
              <a:t>IVL vs SVL in Automotive Networks</a:t>
            </a:r>
            <a:endParaRPr lang="en-US" sz="34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475488"/>
          </a:xfrm>
          <a:prstGeom prst="rect">
            <a:avLst/>
          </a:prstGeom>
          <a:noFill/>
          <a:ln/>
        </p:spPr>
        <p:txBody>
          <a:bodyPr wrap="square" lIns="0" tIns="0" rIns="0" bIns="0" rtlCol="0" anchor="t"/>
          <a:lstStyle/>
          <a:p>
            <a:pPr marL="0" indent="0" algn="l">
              <a:buNone/>
            </a:pPr>
            <a:r>
              <a:rPr lang="en-US" sz="1400" dirty="0">
                <a:solidFill>
                  <a:srgbClr val="0B2D4E"/>
                </a:solidFill>
                <a:latin typeface="Calibri" pitchFamily="34" charset="0"/>
                <a:ea typeface="Calibri" pitchFamily="34" charset="-122"/>
                <a:cs typeface="Calibri" pitchFamily="34" charset="-120"/>
              </a:rPr>
              <a:t>The same decision logic from data communications applies — but the stakes are higher when the traffic carries safety-relevant functions:</a:t>
            </a:r>
            <a:endParaRPr lang="en-US" sz="1400" dirty="0"/>
          </a:p>
        </p:txBody>
      </p:sp>
      <p:sp>
        <p:nvSpPr>
          <p:cNvPr id="5" name="Shape 3"/>
          <p:cNvSpPr/>
          <p:nvPr/>
        </p:nvSpPr>
        <p:spPr>
          <a:xfrm>
            <a:off x="365760" y="1874520"/>
            <a:ext cx="3977640" cy="2907792"/>
          </a:xfrm>
          <a:prstGeom prst="rect">
            <a:avLst/>
          </a:prstGeom>
          <a:solidFill>
            <a:srgbClr val="0B2D4E"/>
          </a:solidFill>
          <a:ln w="25400">
            <a:solidFill>
              <a:srgbClr val="1A9DAA"/>
            </a:solidFill>
            <a:prstDash val="solid"/>
          </a:ln>
        </p:spPr>
      </p:sp>
      <p:sp>
        <p:nvSpPr>
          <p:cNvPr id="6" name="Shape 4"/>
          <p:cNvSpPr/>
          <p:nvPr/>
        </p:nvSpPr>
        <p:spPr>
          <a:xfrm>
            <a:off x="365760" y="1874520"/>
            <a:ext cx="3977640" cy="411480"/>
          </a:xfrm>
          <a:prstGeom prst="rect">
            <a:avLst/>
          </a:prstGeom>
          <a:solidFill>
            <a:srgbClr val="1A9DAA"/>
          </a:solidFill>
          <a:ln w="12700">
            <a:solidFill>
              <a:srgbClr val="1A9DAA"/>
            </a:solidFill>
            <a:prstDash val="solid"/>
          </a:ln>
        </p:spPr>
      </p:sp>
      <p:sp>
        <p:nvSpPr>
          <p:cNvPr id="7" name="Text 5"/>
          <p:cNvSpPr/>
          <p:nvPr/>
        </p:nvSpPr>
        <p:spPr>
          <a:xfrm>
            <a:off x="475488" y="1874520"/>
            <a:ext cx="374904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IVL — Default Automotive Choice</a:t>
            </a:r>
            <a:endParaRPr lang="en-US" sz="1300" dirty="0"/>
          </a:p>
        </p:txBody>
      </p:sp>
      <p:sp>
        <p:nvSpPr>
          <p:cNvPr id="8" name="Text 6"/>
          <p:cNvSpPr/>
          <p:nvPr/>
        </p:nvSpPr>
        <p:spPr>
          <a:xfrm>
            <a:off x="475488" y="2340864"/>
            <a:ext cx="3749040" cy="2331720"/>
          </a:xfrm>
          <a:prstGeom prst="rect">
            <a:avLst/>
          </a:prstGeom>
          <a:noFill/>
          <a:ln/>
        </p:spPr>
        <p:txBody>
          <a:bodyPr wrap="square" lIns="0" tIns="0" rIns="0" bIns="0" rtlCol="0" anchor="t"/>
          <a:lstStyle/>
          <a:p>
            <a:pPr marL="0" indent="0" algn="l">
              <a:buNone/>
            </a:pPr>
            <a:r>
              <a:rPr lang="en-US" sz="1200" dirty="0">
                <a:solidFill>
                  <a:srgbClr val="0B2D4E"/>
                </a:solidFill>
                <a:latin typeface="Calibri" pitchFamily="34" charset="0"/>
                <a:ea typeface="Calibri" pitchFamily="34" charset="-122"/>
                <a:cs typeface="Calibri" pitchFamily="34" charset="-120"/>
              </a:rPr>
              <a:t>Most automotive VLANs exist precisely to separate functional domains with different criticality. An ADAS perception VLAN and an infotainment VLAN must not share forwarding context — their traffic is intended to be isolated.</a:t>
            </a:r>
            <a:endParaRPr lang="en-US" sz="1200" dirty="0"/>
          </a:p>
          <a:p>
            <a:pPr marL="0" indent="0" algn="l">
              <a:buNone/>
            </a:pPr>
            <a:endParaRPr lang="en-US" sz="1200" dirty="0"/>
          </a:p>
          <a:p>
            <a:pPr marL="0" indent="0" algn="l">
              <a:buNone/>
            </a:pPr>
            <a:r>
              <a:rPr lang="en-US" sz="1200" dirty="0">
                <a:solidFill>
                  <a:srgbClr val="0B2D4E"/>
                </a:solidFill>
                <a:latin typeface="Calibri" pitchFamily="34" charset="0"/>
                <a:ea typeface="Calibri" pitchFamily="34" charset="-122"/>
                <a:cs typeface="Calibri" pitchFamily="34" charset="-120"/>
              </a:rPr>
              <a:t>IVL is the cleaner and safer interpretation for any VLAN that represents a true functional boundary.</a:t>
            </a:r>
            <a:endParaRPr lang="en-US" sz="1200" dirty="0"/>
          </a:p>
          <a:p>
            <a:pPr marL="0" indent="0" algn="l">
              <a:buNone/>
            </a:pPr>
            <a:endParaRPr lang="en-US" sz="1200" dirty="0"/>
          </a:p>
          <a:p>
            <a:pPr marL="0" indent="0" algn="l">
              <a:buNone/>
            </a:pPr>
            <a:r>
              <a:rPr lang="en-US" sz="1200" dirty="0">
                <a:solidFill>
                  <a:srgbClr val="0B2D4E"/>
                </a:solidFill>
                <a:latin typeface="Calibri" pitchFamily="34" charset="0"/>
                <a:ea typeface="Calibri" pitchFamily="34" charset="-122"/>
                <a:cs typeface="Calibri" pitchFamily="34" charset="-120"/>
              </a:rPr>
              <a:t>IEEE 802.1Q capability defaults (ivl-capable = true) align with this automotive instinct.</a:t>
            </a:r>
            <a:endParaRPr lang="en-US" sz="1200" dirty="0"/>
          </a:p>
        </p:txBody>
      </p:sp>
      <p:sp>
        <p:nvSpPr>
          <p:cNvPr id="9" name="Shape 7"/>
          <p:cNvSpPr/>
          <p:nvPr/>
        </p:nvSpPr>
        <p:spPr>
          <a:xfrm>
            <a:off x="365760" y="4754880"/>
            <a:ext cx="3977640" cy="347472"/>
          </a:xfrm>
          <a:prstGeom prst="rect">
            <a:avLst/>
          </a:prstGeom>
          <a:solidFill>
            <a:srgbClr val="1A9DAA"/>
          </a:solidFill>
          <a:ln w="12700">
            <a:solidFill>
              <a:srgbClr val="1A9DAA"/>
            </a:solidFill>
            <a:prstDash val="solid"/>
          </a:ln>
        </p:spPr>
      </p:sp>
      <p:sp>
        <p:nvSpPr>
          <p:cNvPr id="10" name="Text 8"/>
          <p:cNvSpPr/>
          <p:nvPr/>
        </p:nvSpPr>
        <p:spPr>
          <a:xfrm>
            <a:off x="475488" y="4754880"/>
            <a:ext cx="37490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Use when: domains must not share learned state</a:t>
            </a:r>
            <a:endParaRPr lang="en-US" sz="1100" dirty="0"/>
          </a:p>
        </p:txBody>
      </p:sp>
      <p:sp>
        <p:nvSpPr>
          <p:cNvPr id="11" name="Shape 9"/>
          <p:cNvSpPr/>
          <p:nvPr/>
        </p:nvSpPr>
        <p:spPr>
          <a:xfrm>
            <a:off x="4800600" y="1874520"/>
            <a:ext cx="3977640" cy="2907792"/>
          </a:xfrm>
          <a:prstGeom prst="rect">
            <a:avLst/>
          </a:prstGeom>
          <a:solidFill>
            <a:srgbClr val="0B2D4E"/>
          </a:solidFill>
          <a:ln w="25400">
            <a:solidFill>
              <a:srgbClr val="E67E22"/>
            </a:solidFill>
            <a:prstDash val="solid"/>
          </a:ln>
        </p:spPr>
      </p:sp>
      <p:sp>
        <p:nvSpPr>
          <p:cNvPr id="12" name="Shape 10"/>
          <p:cNvSpPr/>
          <p:nvPr/>
        </p:nvSpPr>
        <p:spPr>
          <a:xfrm>
            <a:off x="4800600" y="1874520"/>
            <a:ext cx="3977640" cy="411480"/>
          </a:xfrm>
          <a:prstGeom prst="rect">
            <a:avLst/>
          </a:prstGeom>
          <a:solidFill>
            <a:srgbClr val="E67E22"/>
          </a:solidFill>
          <a:ln w="12700">
            <a:solidFill>
              <a:srgbClr val="E67E22"/>
            </a:solidFill>
            <a:prstDash val="solid"/>
          </a:ln>
        </p:spPr>
      </p:sp>
      <p:sp>
        <p:nvSpPr>
          <p:cNvPr id="13" name="Text 11"/>
          <p:cNvSpPr/>
          <p:nvPr/>
        </p:nvSpPr>
        <p:spPr>
          <a:xfrm>
            <a:off x="4910328" y="1874520"/>
            <a:ext cx="374904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SVL — Specialized Automotive Use</a:t>
            </a:r>
            <a:endParaRPr lang="en-US" sz="1300" dirty="0"/>
          </a:p>
        </p:txBody>
      </p:sp>
      <p:sp>
        <p:nvSpPr>
          <p:cNvPr id="14" name="Text 12"/>
          <p:cNvSpPr/>
          <p:nvPr/>
        </p:nvSpPr>
        <p:spPr>
          <a:xfrm>
            <a:off x="4910328" y="2340864"/>
            <a:ext cx="3749040" cy="2331720"/>
          </a:xfrm>
          <a:prstGeom prst="rect">
            <a:avLst/>
          </a:prstGeom>
          <a:noFill/>
          <a:ln/>
        </p:spPr>
        <p:txBody>
          <a:bodyPr wrap="square" lIns="0" tIns="0" rIns="0" bIns="0" rtlCol="0" anchor="t"/>
          <a:lstStyle/>
          <a:p>
            <a:pPr marL="0" indent="0" algn="l">
              <a:buNone/>
            </a:pPr>
            <a:r>
              <a:rPr lang="en-US" sz="1200" dirty="0">
                <a:solidFill>
                  <a:srgbClr val="0B2D4E"/>
                </a:solidFill>
                <a:latin typeface="Calibri" pitchFamily="34" charset="0"/>
                <a:ea typeface="Calibri" pitchFamily="34" charset="-122"/>
                <a:cs typeface="Calibri" pitchFamily="34" charset="-120"/>
              </a:rPr>
              <a:t>SVL can be useful in engineered automotive backbones where several VLANs are meant to share the same learned attachment space while remaining distinguishable for policy or transport reasons.</a:t>
            </a:r>
            <a:endParaRPr lang="en-US" sz="1200" dirty="0"/>
          </a:p>
          <a:p>
            <a:pPr marL="0" indent="0" algn="l">
              <a:buNone/>
            </a:pPr>
            <a:endParaRPr lang="en-US" sz="1200" dirty="0"/>
          </a:p>
          <a:p>
            <a:pPr marL="0" indent="0" algn="l">
              <a:buNone/>
            </a:pPr>
            <a:r>
              <a:rPr lang="en-US" sz="1200" dirty="0">
                <a:solidFill>
                  <a:srgbClr val="0B2D4E"/>
                </a:solidFill>
                <a:latin typeface="Calibri" pitchFamily="34" charset="0"/>
                <a:ea typeface="Calibri" pitchFamily="34" charset="-122"/>
                <a:cs typeface="Calibri" pitchFamily="34" charset="-120"/>
              </a:rPr>
              <a:t>Example: a backbone fabric where VLAN labels indicate traffic class or priority, but all classes reach the same endpoints through the same physical topology.</a:t>
            </a:r>
            <a:endParaRPr lang="en-US" sz="1200" dirty="0"/>
          </a:p>
          <a:p>
            <a:pPr marL="0" indent="0" algn="l">
              <a:buNone/>
            </a:pPr>
            <a:endParaRPr lang="en-US" sz="1200" dirty="0"/>
          </a:p>
          <a:p>
            <a:pPr marL="0" indent="0" algn="l">
              <a:buNone/>
            </a:pPr>
            <a:r>
              <a:rPr lang="en-US" sz="1200" dirty="0">
                <a:solidFill>
                  <a:srgbClr val="0B2D4E"/>
                </a:solidFill>
                <a:latin typeface="Calibri" pitchFamily="34" charset="0"/>
                <a:ea typeface="Calibri" pitchFamily="34" charset="-122"/>
                <a:cs typeface="Calibri" pitchFamily="34" charset="-120"/>
              </a:rPr>
              <a:t>This is more specialized, but it is exactly why the standard supports both models.</a:t>
            </a:r>
            <a:endParaRPr lang="en-US" sz="1200" dirty="0"/>
          </a:p>
        </p:txBody>
      </p:sp>
      <p:sp>
        <p:nvSpPr>
          <p:cNvPr id="15" name="Shape 13"/>
          <p:cNvSpPr/>
          <p:nvPr/>
        </p:nvSpPr>
        <p:spPr>
          <a:xfrm>
            <a:off x="4800600" y="4754880"/>
            <a:ext cx="3977640" cy="347472"/>
          </a:xfrm>
          <a:prstGeom prst="rect">
            <a:avLst/>
          </a:prstGeom>
          <a:solidFill>
            <a:srgbClr val="E67E22"/>
          </a:solidFill>
          <a:ln w="12700">
            <a:solidFill>
              <a:srgbClr val="E67E22"/>
            </a:solidFill>
            <a:prstDash val="solid"/>
          </a:ln>
        </p:spPr>
      </p:sp>
      <p:sp>
        <p:nvSpPr>
          <p:cNvPr id="16" name="Text 14"/>
          <p:cNvSpPr/>
          <p:nvPr/>
        </p:nvSpPr>
        <p:spPr>
          <a:xfrm>
            <a:off x="4910328" y="4754880"/>
            <a:ext cx="374904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Use when: VLANs differ in policy but share topology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D4E"/>
        </a:solidFill>
        <a:effectLst/>
      </p:bgPr>
    </p:bg>
    <p:spTree>
      <p:nvGrpSpPr>
        <p:cNvPr id="1" name=""/>
        <p:cNvGrpSpPr/>
        <p:nvPr/>
      </p:nvGrpSpPr>
      <p:grpSpPr>
        <a:xfrm>
          <a:off x="0" y="0"/>
          <a:ext cx="0" cy="0"/>
          <a:chOff x="0" y="0"/>
          <a:chExt cx="0" cy="0"/>
        </a:xfrm>
      </p:grpSpPr>
      <p:sp>
        <p:nvSpPr>
          <p:cNvPr id="2" name="Text 0"/>
          <p:cNvSpPr/>
          <p:nvPr/>
        </p:nvSpPr>
        <p:spPr>
          <a:xfrm>
            <a:off x="502920" y="320040"/>
            <a:ext cx="8138160" cy="658368"/>
          </a:xfrm>
          <a:prstGeom prst="rect">
            <a:avLst/>
          </a:prstGeom>
          <a:noFill/>
          <a:ln/>
        </p:spPr>
        <p:txBody>
          <a:bodyPr wrap="square" lIns="0" tIns="0" rIns="0" bIns="0" rtlCol="0" anchor="ctr"/>
          <a:lstStyle/>
          <a:p>
            <a:pPr marL="0" indent="0" algn="l">
              <a:buNone/>
            </a:pPr>
            <a:r>
              <a:rPr lang="en-US" sz="3200" b="1" dirty="0">
                <a:solidFill>
                  <a:srgbClr val="FFFFFF"/>
                </a:solidFill>
                <a:latin typeface="Trebuchet MS" pitchFamily="34" charset="0"/>
                <a:ea typeface="Trebuchet MS" pitchFamily="34" charset="-122"/>
                <a:cs typeface="Trebuchet MS" pitchFamily="34" charset="-120"/>
              </a:rPr>
              <a:t>Queuing Policy Choices in Automotive</a:t>
            </a:r>
            <a:endParaRPr lang="en-US" sz="3200" dirty="0"/>
          </a:p>
        </p:txBody>
      </p:sp>
      <p:sp>
        <p:nvSpPr>
          <p:cNvPr id="3" name="Shape 1"/>
          <p:cNvSpPr/>
          <p:nvPr/>
        </p:nvSpPr>
        <p:spPr>
          <a:xfrm>
            <a:off x="502920" y="1051560"/>
            <a:ext cx="1097280" cy="54864"/>
          </a:xfrm>
          <a:prstGeom prst="rect">
            <a:avLst/>
          </a:prstGeom>
          <a:solidFill>
            <a:srgbClr val="0E7C86"/>
          </a:solidFill>
          <a:ln w="12700">
            <a:solidFill>
              <a:srgbClr val="0E7C86"/>
            </a:solidFill>
            <a:prstDash val="solid"/>
          </a:ln>
        </p:spPr>
      </p:sp>
      <p:sp>
        <p:nvSpPr>
          <p:cNvPr id="4" name="Text 2"/>
          <p:cNvSpPr/>
          <p:nvPr/>
        </p:nvSpPr>
        <p:spPr>
          <a:xfrm>
            <a:off x="502920" y="1234440"/>
            <a:ext cx="8138160" cy="384048"/>
          </a:xfrm>
          <a:prstGeom prst="rect">
            <a:avLst/>
          </a:prstGeom>
          <a:noFill/>
          <a:ln/>
        </p:spPr>
        <p:txBody>
          <a:bodyPr wrap="square" lIns="0" tIns="0" rIns="0" bIns="0" rtlCol="0" anchor="t"/>
          <a:lstStyle/>
          <a:p>
            <a:pPr marL="0" indent="0" algn="l">
              <a:buNone/>
            </a:pPr>
            <a:r>
              <a:rPr lang="en-US" sz="1400" dirty="0">
                <a:solidFill>
                  <a:srgbClr val="D6EAF8"/>
                </a:solidFill>
                <a:latin typeface="Calibri" pitchFamily="34" charset="0"/>
                <a:ea typeface="Calibri" pitchFamily="34" charset="-122"/>
                <a:cs typeface="Calibri" pitchFamily="34" charset="-120"/>
              </a:rPr>
              <a:t>Map each traffic class to the least-complex queuing policy that still meets its behavior requirements:</a:t>
            </a:r>
            <a:endParaRPr lang="en-US" sz="1400" dirty="0"/>
          </a:p>
        </p:txBody>
      </p:sp>
      <p:sp>
        <p:nvSpPr>
          <p:cNvPr id="5" name="Shape 3"/>
          <p:cNvSpPr/>
          <p:nvPr/>
        </p:nvSpPr>
        <p:spPr>
          <a:xfrm>
            <a:off x="365760" y="1755648"/>
            <a:ext cx="1828800" cy="347472"/>
          </a:xfrm>
          <a:prstGeom prst="rect">
            <a:avLst/>
          </a:prstGeom>
          <a:solidFill>
            <a:srgbClr val="4A6B82"/>
          </a:solidFill>
          <a:ln w="12700">
            <a:solidFill>
              <a:srgbClr val="4A6B82"/>
            </a:solidFill>
            <a:prstDash val="solid"/>
          </a:ln>
        </p:spPr>
      </p:sp>
      <p:sp>
        <p:nvSpPr>
          <p:cNvPr id="6" name="Shape 4"/>
          <p:cNvSpPr/>
          <p:nvPr/>
        </p:nvSpPr>
        <p:spPr>
          <a:xfrm>
            <a:off x="2194560" y="1755648"/>
            <a:ext cx="4754880" cy="347472"/>
          </a:xfrm>
          <a:prstGeom prst="rect">
            <a:avLst/>
          </a:prstGeom>
          <a:solidFill>
            <a:srgbClr val="4A6B82"/>
          </a:solidFill>
          <a:ln w="12700">
            <a:solidFill>
              <a:srgbClr val="4A6B82"/>
            </a:solidFill>
            <a:prstDash val="solid"/>
          </a:ln>
        </p:spPr>
      </p:sp>
      <p:sp>
        <p:nvSpPr>
          <p:cNvPr id="7" name="Shape 5"/>
          <p:cNvSpPr/>
          <p:nvPr/>
        </p:nvSpPr>
        <p:spPr>
          <a:xfrm>
            <a:off x="6949440" y="1755648"/>
            <a:ext cx="1828800" cy="347472"/>
          </a:xfrm>
          <a:prstGeom prst="rect">
            <a:avLst/>
          </a:prstGeom>
          <a:solidFill>
            <a:srgbClr val="4A6B82"/>
          </a:solidFill>
          <a:ln w="12700">
            <a:solidFill>
              <a:srgbClr val="4A6B82"/>
            </a:solidFill>
            <a:prstDash val="solid"/>
          </a:ln>
        </p:spPr>
      </p:sp>
      <p:sp>
        <p:nvSpPr>
          <p:cNvPr id="8" name="Text 6"/>
          <p:cNvSpPr/>
          <p:nvPr/>
        </p:nvSpPr>
        <p:spPr>
          <a:xfrm>
            <a:off x="457200" y="1755648"/>
            <a:ext cx="1645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Policy</a:t>
            </a:r>
            <a:endParaRPr lang="en-US" sz="1200" dirty="0"/>
          </a:p>
        </p:txBody>
      </p:sp>
      <p:sp>
        <p:nvSpPr>
          <p:cNvPr id="9" name="Text 7"/>
          <p:cNvSpPr/>
          <p:nvPr/>
        </p:nvSpPr>
        <p:spPr>
          <a:xfrm>
            <a:off x="2286000" y="1755648"/>
            <a:ext cx="45720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Automotive Fit</a:t>
            </a:r>
            <a:endParaRPr lang="en-US" sz="1200" dirty="0"/>
          </a:p>
        </p:txBody>
      </p:sp>
      <p:sp>
        <p:nvSpPr>
          <p:cNvPr id="10" name="Text 8"/>
          <p:cNvSpPr/>
          <p:nvPr/>
        </p:nvSpPr>
        <p:spPr>
          <a:xfrm>
            <a:off x="7040880" y="1755648"/>
            <a:ext cx="1645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Verdict</a:t>
            </a:r>
            <a:endParaRPr lang="en-US" sz="1200" dirty="0"/>
          </a:p>
        </p:txBody>
      </p:sp>
      <p:sp>
        <p:nvSpPr>
          <p:cNvPr id="11" name="Shape 9"/>
          <p:cNvSpPr/>
          <p:nvPr/>
        </p:nvSpPr>
        <p:spPr>
          <a:xfrm>
            <a:off x="365760" y="2121408"/>
            <a:ext cx="1828800" cy="685800"/>
          </a:xfrm>
          <a:prstGeom prst="rect">
            <a:avLst/>
          </a:prstGeom>
          <a:solidFill>
            <a:srgbClr val="4A6B82"/>
          </a:solidFill>
          <a:ln w="12700">
            <a:solidFill>
              <a:srgbClr val="4A6B82"/>
            </a:solidFill>
            <a:prstDash val="solid"/>
          </a:ln>
        </p:spPr>
      </p:sp>
      <p:sp>
        <p:nvSpPr>
          <p:cNvPr id="12" name="Text 10"/>
          <p:cNvSpPr/>
          <p:nvPr/>
        </p:nvSpPr>
        <p:spPr>
          <a:xfrm>
            <a:off x="411480" y="2121408"/>
            <a:ext cx="173736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FIFO</a:t>
            </a:r>
            <a:endParaRPr lang="en-US" sz="1300" dirty="0"/>
          </a:p>
        </p:txBody>
      </p:sp>
      <p:sp>
        <p:nvSpPr>
          <p:cNvPr id="13" name="Shape 11"/>
          <p:cNvSpPr/>
          <p:nvPr/>
        </p:nvSpPr>
        <p:spPr>
          <a:xfrm>
            <a:off x="2194560" y="2121408"/>
            <a:ext cx="4754880" cy="685800"/>
          </a:xfrm>
          <a:prstGeom prst="rect">
            <a:avLst/>
          </a:prstGeom>
          <a:solidFill>
            <a:srgbClr val="1A4D6E"/>
          </a:solidFill>
          <a:ln w="12700">
            <a:solidFill>
              <a:srgbClr val="1A4D6E"/>
            </a:solidFill>
            <a:prstDash val="solid"/>
          </a:ln>
        </p:spPr>
      </p:sp>
      <p:sp>
        <p:nvSpPr>
          <p:cNvPr id="14" name="Text 12"/>
          <p:cNvSpPr/>
          <p:nvPr/>
        </p:nvSpPr>
        <p:spPr>
          <a:xfrm>
            <a:off x="2304288" y="2212848"/>
            <a:ext cx="4526280" cy="530352"/>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Too weak for mixed criticality. Bulk infotainment can delay safety-critical frames.</a:t>
            </a:r>
            <a:endParaRPr lang="en-US" sz="1100" dirty="0"/>
          </a:p>
        </p:txBody>
      </p:sp>
      <p:sp>
        <p:nvSpPr>
          <p:cNvPr id="15" name="Shape 13"/>
          <p:cNvSpPr/>
          <p:nvPr/>
        </p:nvSpPr>
        <p:spPr>
          <a:xfrm>
            <a:off x="6949440" y="2121408"/>
            <a:ext cx="1828800" cy="685800"/>
          </a:xfrm>
          <a:prstGeom prst="rect">
            <a:avLst/>
          </a:prstGeom>
          <a:solidFill>
            <a:srgbClr val="4A6B82"/>
          </a:solidFill>
          <a:ln w="12700">
            <a:solidFill>
              <a:srgbClr val="4A6B82"/>
            </a:solidFill>
            <a:prstDash val="solid"/>
          </a:ln>
        </p:spPr>
      </p:sp>
      <p:sp>
        <p:nvSpPr>
          <p:cNvPr id="16" name="Text 14"/>
          <p:cNvSpPr/>
          <p:nvPr/>
        </p:nvSpPr>
        <p:spPr>
          <a:xfrm>
            <a:off x="7022592" y="2121408"/>
            <a:ext cx="1682496" cy="68580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Avoid for any traffic mix</a:t>
            </a:r>
            <a:endParaRPr lang="en-US" sz="1000" dirty="0"/>
          </a:p>
        </p:txBody>
      </p:sp>
      <p:sp>
        <p:nvSpPr>
          <p:cNvPr id="17" name="Shape 15"/>
          <p:cNvSpPr/>
          <p:nvPr/>
        </p:nvSpPr>
        <p:spPr>
          <a:xfrm>
            <a:off x="365760" y="2898648"/>
            <a:ext cx="1828800" cy="685800"/>
          </a:xfrm>
          <a:prstGeom prst="rect">
            <a:avLst/>
          </a:prstGeom>
          <a:solidFill>
            <a:srgbClr val="C0392B"/>
          </a:solidFill>
          <a:ln w="12700">
            <a:solidFill>
              <a:srgbClr val="C0392B"/>
            </a:solidFill>
            <a:prstDash val="solid"/>
          </a:ln>
        </p:spPr>
      </p:sp>
      <p:sp>
        <p:nvSpPr>
          <p:cNvPr id="18" name="Text 16"/>
          <p:cNvSpPr/>
          <p:nvPr/>
        </p:nvSpPr>
        <p:spPr>
          <a:xfrm>
            <a:off x="411480" y="2898648"/>
            <a:ext cx="173736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Strict Priority</a:t>
            </a:r>
            <a:endParaRPr lang="en-US" sz="1300" dirty="0"/>
          </a:p>
        </p:txBody>
      </p:sp>
      <p:sp>
        <p:nvSpPr>
          <p:cNvPr id="19" name="Shape 17"/>
          <p:cNvSpPr/>
          <p:nvPr/>
        </p:nvSpPr>
        <p:spPr>
          <a:xfrm>
            <a:off x="2194560" y="2898648"/>
            <a:ext cx="4754880" cy="685800"/>
          </a:xfrm>
          <a:prstGeom prst="rect">
            <a:avLst/>
          </a:prstGeom>
          <a:solidFill>
            <a:srgbClr val="152845"/>
          </a:solidFill>
          <a:ln w="12700">
            <a:solidFill>
              <a:srgbClr val="152845"/>
            </a:solidFill>
            <a:prstDash val="solid"/>
          </a:ln>
        </p:spPr>
      </p:sp>
      <p:sp>
        <p:nvSpPr>
          <p:cNvPr id="20" name="Text 18"/>
          <p:cNvSpPr/>
          <p:nvPr/>
        </p:nvSpPr>
        <p:spPr>
          <a:xfrm>
            <a:off x="2304288" y="2990088"/>
            <a:ext cx="4526280" cy="530352"/>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Ideal for safety control loops and ADAS streams that must go first under any load.</a:t>
            </a:r>
            <a:endParaRPr lang="en-US" sz="1100" dirty="0"/>
          </a:p>
        </p:txBody>
      </p:sp>
      <p:sp>
        <p:nvSpPr>
          <p:cNvPr id="21" name="Shape 19"/>
          <p:cNvSpPr/>
          <p:nvPr/>
        </p:nvSpPr>
        <p:spPr>
          <a:xfrm>
            <a:off x="6949440" y="2898648"/>
            <a:ext cx="1828800" cy="685800"/>
          </a:xfrm>
          <a:prstGeom prst="rect">
            <a:avLst/>
          </a:prstGeom>
          <a:solidFill>
            <a:srgbClr val="C0392B"/>
          </a:solidFill>
          <a:ln w="12700">
            <a:solidFill>
              <a:srgbClr val="C0392B"/>
            </a:solidFill>
            <a:prstDash val="solid"/>
          </a:ln>
        </p:spPr>
      </p:sp>
      <p:sp>
        <p:nvSpPr>
          <p:cNvPr id="22" name="Text 20"/>
          <p:cNvSpPr/>
          <p:nvPr/>
        </p:nvSpPr>
        <p:spPr>
          <a:xfrm>
            <a:off x="7022592" y="2898648"/>
            <a:ext cx="1682496" cy="68580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Use for highest-criticality classes</a:t>
            </a:r>
            <a:endParaRPr lang="en-US" sz="1000" dirty="0"/>
          </a:p>
        </p:txBody>
      </p:sp>
      <p:sp>
        <p:nvSpPr>
          <p:cNvPr id="23" name="Shape 21"/>
          <p:cNvSpPr/>
          <p:nvPr/>
        </p:nvSpPr>
        <p:spPr>
          <a:xfrm>
            <a:off x="365760" y="3675888"/>
            <a:ext cx="1828800" cy="685800"/>
          </a:xfrm>
          <a:prstGeom prst="rect">
            <a:avLst/>
          </a:prstGeom>
          <a:solidFill>
            <a:srgbClr val="2980B9"/>
          </a:solidFill>
          <a:ln w="12700">
            <a:solidFill>
              <a:srgbClr val="2980B9"/>
            </a:solidFill>
            <a:prstDash val="solid"/>
          </a:ln>
        </p:spPr>
      </p:sp>
      <p:sp>
        <p:nvSpPr>
          <p:cNvPr id="24" name="Text 22"/>
          <p:cNvSpPr/>
          <p:nvPr/>
        </p:nvSpPr>
        <p:spPr>
          <a:xfrm>
            <a:off x="411480" y="3675888"/>
            <a:ext cx="173736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WRR</a:t>
            </a:r>
            <a:endParaRPr lang="en-US" sz="1300" dirty="0"/>
          </a:p>
        </p:txBody>
      </p:sp>
      <p:sp>
        <p:nvSpPr>
          <p:cNvPr id="25" name="Shape 23"/>
          <p:cNvSpPr/>
          <p:nvPr/>
        </p:nvSpPr>
        <p:spPr>
          <a:xfrm>
            <a:off x="2194560" y="3675888"/>
            <a:ext cx="4754880" cy="685800"/>
          </a:xfrm>
          <a:prstGeom prst="rect">
            <a:avLst/>
          </a:prstGeom>
          <a:solidFill>
            <a:srgbClr val="1A4D6E"/>
          </a:solidFill>
          <a:ln w="12700">
            <a:solidFill>
              <a:srgbClr val="1A4D6E"/>
            </a:solidFill>
            <a:prstDash val="solid"/>
          </a:ln>
        </p:spPr>
      </p:sp>
      <p:sp>
        <p:nvSpPr>
          <p:cNvPr id="26" name="Text 24"/>
          <p:cNvSpPr/>
          <p:nvPr/>
        </p:nvSpPr>
        <p:spPr>
          <a:xfrm>
            <a:off x="2304288" y="3767328"/>
            <a:ext cx="4526280" cy="530352"/>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Good for multiple classes that all need reliable service — diagnostics, logging, comfort traffic.</a:t>
            </a:r>
            <a:endParaRPr lang="en-US" sz="1100" dirty="0"/>
          </a:p>
        </p:txBody>
      </p:sp>
      <p:sp>
        <p:nvSpPr>
          <p:cNvPr id="27" name="Shape 25"/>
          <p:cNvSpPr/>
          <p:nvPr/>
        </p:nvSpPr>
        <p:spPr>
          <a:xfrm>
            <a:off x="6949440" y="3675888"/>
            <a:ext cx="1828800" cy="685800"/>
          </a:xfrm>
          <a:prstGeom prst="rect">
            <a:avLst/>
          </a:prstGeom>
          <a:solidFill>
            <a:srgbClr val="2980B9"/>
          </a:solidFill>
          <a:ln w="12700">
            <a:solidFill>
              <a:srgbClr val="2980B9"/>
            </a:solidFill>
            <a:prstDash val="solid"/>
          </a:ln>
        </p:spPr>
      </p:sp>
      <p:sp>
        <p:nvSpPr>
          <p:cNvPr id="28" name="Text 26"/>
          <p:cNvSpPr/>
          <p:nvPr/>
        </p:nvSpPr>
        <p:spPr>
          <a:xfrm>
            <a:off x="7022592" y="3675888"/>
            <a:ext cx="1682496" cy="68580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Use for important non-critical classes</a:t>
            </a:r>
            <a:endParaRPr lang="en-US" sz="1000" dirty="0"/>
          </a:p>
        </p:txBody>
      </p:sp>
      <p:sp>
        <p:nvSpPr>
          <p:cNvPr id="29" name="Shape 27"/>
          <p:cNvSpPr/>
          <p:nvPr/>
        </p:nvSpPr>
        <p:spPr>
          <a:xfrm>
            <a:off x="365760" y="4453128"/>
            <a:ext cx="1828800" cy="685800"/>
          </a:xfrm>
          <a:prstGeom prst="rect">
            <a:avLst/>
          </a:prstGeom>
          <a:solidFill>
            <a:srgbClr val="1A9DAA"/>
          </a:solidFill>
          <a:ln w="12700">
            <a:solidFill>
              <a:srgbClr val="1A9DAA"/>
            </a:solidFill>
            <a:prstDash val="solid"/>
          </a:ln>
        </p:spPr>
      </p:sp>
      <p:sp>
        <p:nvSpPr>
          <p:cNvPr id="30" name="Text 28"/>
          <p:cNvSpPr/>
          <p:nvPr/>
        </p:nvSpPr>
        <p:spPr>
          <a:xfrm>
            <a:off x="411480" y="4453128"/>
            <a:ext cx="1737360" cy="68580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CBS</a:t>
            </a:r>
            <a:endParaRPr lang="en-US" sz="1300" dirty="0"/>
          </a:p>
        </p:txBody>
      </p:sp>
      <p:sp>
        <p:nvSpPr>
          <p:cNvPr id="31" name="Shape 29"/>
          <p:cNvSpPr/>
          <p:nvPr/>
        </p:nvSpPr>
        <p:spPr>
          <a:xfrm>
            <a:off x="2194560" y="4453128"/>
            <a:ext cx="4754880" cy="685800"/>
          </a:xfrm>
          <a:prstGeom prst="rect">
            <a:avLst/>
          </a:prstGeom>
          <a:solidFill>
            <a:srgbClr val="152845"/>
          </a:solidFill>
          <a:ln w="12700">
            <a:solidFill>
              <a:srgbClr val="152845"/>
            </a:solidFill>
            <a:prstDash val="solid"/>
          </a:ln>
        </p:spPr>
      </p:sp>
      <p:sp>
        <p:nvSpPr>
          <p:cNvPr id="32" name="Text 30"/>
          <p:cNvSpPr/>
          <p:nvPr/>
        </p:nvSpPr>
        <p:spPr>
          <a:xfrm>
            <a:off x="2304288" y="4544568"/>
            <a:ext cx="4526280" cy="530352"/>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Ideal for time-sensitive streams like ADAS video and audio/video infotainment — rate-disciplines bursts while fitting TSN toolbox.</a:t>
            </a:r>
            <a:endParaRPr lang="en-US" sz="1100" dirty="0"/>
          </a:p>
        </p:txBody>
      </p:sp>
      <p:sp>
        <p:nvSpPr>
          <p:cNvPr id="33" name="Shape 31"/>
          <p:cNvSpPr/>
          <p:nvPr/>
        </p:nvSpPr>
        <p:spPr>
          <a:xfrm>
            <a:off x="6949440" y="4453128"/>
            <a:ext cx="1828800" cy="685800"/>
          </a:xfrm>
          <a:prstGeom prst="rect">
            <a:avLst/>
          </a:prstGeom>
          <a:solidFill>
            <a:srgbClr val="1A9DAA"/>
          </a:solidFill>
          <a:ln w="12700">
            <a:solidFill>
              <a:srgbClr val="1A9DAA"/>
            </a:solidFill>
            <a:prstDash val="solid"/>
          </a:ln>
        </p:spPr>
      </p:sp>
      <p:sp>
        <p:nvSpPr>
          <p:cNvPr id="34" name="Text 32"/>
          <p:cNvSpPr/>
          <p:nvPr/>
        </p:nvSpPr>
        <p:spPr>
          <a:xfrm>
            <a:off x="7022592" y="4453128"/>
            <a:ext cx="1682496" cy="685800"/>
          </a:xfrm>
          <a:prstGeom prst="rect">
            <a:avLst/>
          </a:prstGeom>
          <a:noFill/>
          <a:ln/>
        </p:spPr>
        <p:txBody>
          <a:bodyPr wrap="square" lIns="0" tIns="0" rIns="0" bIns="0" rtlCol="0" anchor="ctr"/>
          <a:lstStyle/>
          <a:p>
            <a:pPr marL="0" indent="0" algn="ctr">
              <a:buNone/>
            </a:pPr>
            <a:r>
              <a:rPr lang="en-US" sz="1000" b="1" dirty="0">
                <a:solidFill>
                  <a:srgbClr val="FFFFFF"/>
                </a:solidFill>
                <a:latin typeface="Trebuchet MS" pitchFamily="34" charset="0"/>
                <a:ea typeface="Trebuchet MS" pitchFamily="34" charset="-122"/>
                <a:cs typeface="Trebuchet MS" pitchFamily="34" charset="-120"/>
              </a:rPr>
              <a:t>Use for bounded-latency streams</a:t>
            </a:r>
            <a:endParaRPr lang="en-US" sz="1000" dirty="0"/>
          </a:p>
        </p:txBody>
      </p:sp>
      <p:sp>
        <p:nvSpPr>
          <p:cNvPr id="35" name="Shape 33"/>
          <p:cNvSpPr/>
          <p:nvPr/>
        </p:nvSpPr>
        <p:spPr>
          <a:xfrm>
            <a:off x="365760" y="5248656"/>
            <a:ext cx="8366760" cy="475488"/>
          </a:xfrm>
          <a:prstGeom prst="rect">
            <a:avLst/>
          </a:prstGeom>
          <a:solidFill>
            <a:srgbClr val="1A2D1E"/>
          </a:solidFill>
          <a:ln w="12700">
            <a:solidFill>
              <a:srgbClr val="1A2D1E"/>
            </a:solidFill>
            <a:prstDash val="solid"/>
          </a:ln>
        </p:spPr>
      </p:sp>
      <p:sp>
        <p:nvSpPr>
          <p:cNvPr id="36" name="Shape 34"/>
          <p:cNvSpPr/>
          <p:nvPr/>
        </p:nvSpPr>
        <p:spPr>
          <a:xfrm>
            <a:off x="365760" y="5248656"/>
            <a:ext cx="8366760" cy="475488"/>
          </a:xfrm>
          <a:prstGeom prst="rect">
            <a:avLst/>
          </a:prstGeom>
          <a:solidFill>
            <a:srgbClr val="1A2D1E"/>
          </a:solidFill>
          <a:ln w="25400">
            <a:solidFill>
              <a:srgbClr val="0E7C86"/>
            </a:solidFill>
            <a:prstDash val="solid"/>
          </a:ln>
        </p:spPr>
      </p:sp>
      <p:sp>
        <p:nvSpPr>
          <p:cNvPr id="37" name="Text 35"/>
          <p:cNvSpPr/>
          <p:nvPr/>
        </p:nvSpPr>
        <p:spPr>
          <a:xfrm>
            <a:off x="502920" y="5266944"/>
            <a:ext cx="8183880" cy="438912"/>
          </a:xfrm>
          <a:prstGeom prst="rect">
            <a:avLst/>
          </a:prstGeom>
          <a:noFill/>
          <a:ln/>
        </p:spPr>
        <p:txBody>
          <a:bodyPr wrap="square" lIns="0" tIns="0" rIns="0" bIns="0" rtlCol="0" anchor="ctr"/>
          <a:lstStyle/>
          <a:p>
            <a:pPr marL="0" indent="0" algn="ctr">
              <a:buNone/>
            </a:pPr>
            <a:r>
              <a:rPr lang="en-US" sz="1200" dirty="0">
                <a:solidFill>
                  <a:srgbClr val="D6EAF8"/>
                </a:solidFill>
                <a:latin typeface="Calibri" pitchFamily="34" charset="0"/>
                <a:ea typeface="Calibri" pitchFamily="34" charset="-122"/>
                <a:cs typeface="Calibri" pitchFamily="34" charset="-120"/>
              </a:rPr>
              <a:t>CBS and TSN shapers are especially valuable in automotive — bounded latency and controlled burstiness, not just rough prioritization.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2D4E"/>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7C86"/>
          </a:solidFill>
          <a:ln w="12700">
            <a:solidFill>
              <a:srgbClr val="0E7C86"/>
            </a:solidFill>
            <a:prstDash val="solid"/>
          </a:ln>
        </p:spPr>
      </p:sp>
      <p:sp>
        <p:nvSpPr>
          <p:cNvPr id="3" name="Text 1"/>
          <p:cNvSpPr/>
          <p:nvPr/>
        </p:nvSpPr>
        <p:spPr>
          <a:xfrm>
            <a:off x="502920" y="347472"/>
            <a:ext cx="8138160" cy="658368"/>
          </a:xfrm>
          <a:prstGeom prst="rect">
            <a:avLst/>
          </a:prstGeom>
          <a:noFill/>
          <a:ln/>
        </p:spPr>
        <p:txBody>
          <a:bodyPr wrap="square" lIns="0" tIns="0" rIns="0" bIns="0" rtlCol="0" anchor="ctr"/>
          <a:lstStyle/>
          <a:p>
            <a:pPr marL="0" indent="0" algn="l">
              <a:buNone/>
            </a:pPr>
            <a:r>
              <a:rPr lang="en-US" sz="4000" b="1" dirty="0">
                <a:solidFill>
                  <a:srgbClr val="FFFFFF"/>
                </a:solidFill>
                <a:latin typeface="Trebuchet MS" pitchFamily="34" charset="0"/>
                <a:ea typeface="Trebuchet MS" pitchFamily="34" charset="-122"/>
                <a:cs typeface="Trebuchet MS" pitchFamily="34" charset="-120"/>
              </a:rPr>
              <a:t>The Complete Picture</a:t>
            </a:r>
            <a:endParaRPr lang="en-US" sz="4000" dirty="0"/>
          </a:p>
        </p:txBody>
      </p:sp>
      <p:sp>
        <p:nvSpPr>
          <p:cNvPr id="4" name="Shape 2"/>
          <p:cNvSpPr/>
          <p:nvPr/>
        </p:nvSpPr>
        <p:spPr>
          <a:xfrm>
            <a:off x="502920" y="1234440"/>
            <a:ext cx="4069080" cy="841248"/>
          </a:xfrm>
          <a:prstGeom prst="rect">
            <a:avLst/>
          </a:prstGeom>
          <a:solidFill>
            <a:srgbClr val="1A4D6E"/>
          </a:solidFill>
          <a:ln w="25400">
            <a:solidFill>
              <a:srgbClr val="1A9DAA"/>
            </a:solidFill>
            <a:prstDash val="solid"/>
          </a:ln>
        </p:spPr>
      </p:sp>
      <p:sp>
        <p:nvSpPr>
          <p:cNvPr id="5" name="Text 3"/>
          <p:cNvSpPr/>
          <p:nvPr/>
        </p:nvSpPr>
        <p:spPr>
          <a:xfrm>
            <a:off x="612648" y="1289304"/>
            <a:ext cx="1005840" cy="347472"/>
          </a:xfrm>
          <a:prstGeom prst="rect">
            <a:avLst/>
          </a:prstGeom>
          <a:noFill/>
          <a:ln/>
        </p:spPr>
        <p:txBody>
          <a:bodyPr wrap="square" lIns="0" tIns="0" rIns="0" bIns="0" rtlCol="0" anchor="ctr"/>
          <a:lstStyle/>
          <a:p>
            <a:pPr marL="0" indent="0" algn="l">
              <a:buNone/>
            </a:pPr>
            <a:r>
              <a:rPr lang="en-US" sz="1300" b="1" dirty="0">
                <a:solidFill>
                  <a:srgbClr val="1A9DAA"/>
                </a:solidFill>
                <a:latin typeface="Trebuchet MS" pitchFamily="34" charset="0"/>
                <a:ea typeface="Trebuchet MS" pitchFamily="34" charset="-122"/>
                <a:cs typeface="Trebuchet MS" pitchFamily="34" charset="-120"/>
              </a:rPr>
              <a:t>IVL</a:t>
            </a:r>
            <a:endParaRPr lang="en-US" sz="1300" dirty="0"/>
          </a:p>
        </p:txBody>
      </p:sp>
      <p:sp>
        <p:nvSpPr>
          <p:cNvPr id="6" name="Text 4"/>
          <p:cNvSpPr/>
          <p:nvPr/>
        </p:nvSpPr>
        <p:spPr>
          <a:xfrm>
            <a:off x="1709928" y="1289304"/>
            <a:ext cx="2743200" cy="731520"/>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Each VLAN learns independently. The same MAC in two VLANs = two separate entries. Default for true functional separation.</a:t>
            </a:r>
            <a:endParaRPr lang="en-US" sz="1100" dirty="0"/>
          </a:p>
        </p:txBody>
      </p:sp>
      <p:sp>
        <p:nvSpPr>
          <p:cNvPr id="7" name="Shape 5"/>
          <p:cNvSpPr/>
          <p:nvPr/>
        </p:nvSpPr>
        <p:spPr>
          <a:xfrm>
            <a:off x="4846320" y="1234440"/>
            <a:ext cx="4069080" cy="841248"/>
          </a:xfrm>
          <a:prstGeom prst="rect">
            <a:avLst/>
          </a:prstGeom>
          <a:solidFill>
            <a:srgbClr val="1A4D6E"/>
          </a:solidFill>
          <a:ln w="25400">
            <a:solidFill>
              <a:srgbClr val="E67E22"/>
            </a:solidFill>
            <a:prstDash val="solid"/>
          </a:ln>
        </p:spPr>
      </p:sp>
      <p:sp>
        <p:nvSpPr>
          <p:cNvPr id="8" name="Text 6"/>
          <p:cNvSpPr/>
          <p:nvPr/>
        </p:nvSpPr>
        <p:spPr>
          <a:xfrm>
            <a:off x="4956048" y="1289304"/>
            <a:ext cx="1005840" cy="347472"/>
          </a:xfrm>
          <a:prstGeom prst="rect">
            <a:avLst/>
          </a:prstGeom>
          <a:noFill/>
          <a:ln/>
        </p:spPr>
        <p:txBody>
          <a:bodyPr wrap="square" lIns="0" tIns="0" rIns="0" bIns="0" rtlCol="0" anchor="ctr"/>
          <a:lstStyle/>
          <a:p>
            <a:pPr marL="0" indent="0" algn="l">
              <a:buNone/>
            </a:pPr>
            <a:r>
              <a:rPr lang="en-US" sz="1300" b="1" dirty="0">
                <a:solidFill>
                  <a:srgbClr val="E67E22"/>
                </a:solidFill>
                <a:latin typeface="Trebuchet MS" pitchFamily="34" charset="0"/>
                <a:ea typeface="Trebuchet MS" pitchFamily="34" charset="-122"/>
                <a:cs typeface="Trebuchet MS" pitchFamily="34" charset="-120"/>
              </a:rPr>
              <a:t>SVL</a:t>
            </a:r>
            <a:endParaRPr lang="en-US" sz="1300" dirty="0"/>
          </a:p>
        </p:txBody>
      </p:sp>
      <p:sp>
        <p:nvSpPr>
          <p:cNvPr id="9" name="Text 7"/>
          <p:cNvSpPr/>
          <p:nvPr/>
        </p:nvSpPr>
        <p:spPr>
          <a:xfrm>
            <a:off x="6053328" y="1289304"/>
            <a:ext cx="2743200" cy="731520"/>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A configured set of VLANs shares one learned MAC-location view. Use when VLANs are distinct in label but share one attachment space.</a:t>
            </a:r>
            <a:endParaRPr lang="en-US" sz="1100" dirty="0"/>
          </a:p>
        </p:txBody>
      </p:sp>
      <p:sp>
        <p:nvSpPr>
          <p:cNvPr id="10" name="Shape 8"/>
          <p:cNvSpPr/>
          <p:nvPr/>
        </p:nvSpPr>
        <p:spPr>
          <a:xfrm>
            <a:off x="502920" y="2194560"/>
            <a:ext cx="4069080" cy="841248"/>
          </a:xfrm>
          <a:prstGeom prst="rect">
            <a:avLst/>
          </a:prstGeom>
          <a:solidFill>
            <a:srgbClr val="1A4D6E"/>
          </a:solidFill>
          <a:ln w="25400">
            <a:solidFill>
              <a:srgbClr val="4A6B82"/>
            </a:solidFill>
            <a:prstDash val="solid"/>
          </a:ln>
        </p:spPr>
      </p:sp>
      <p:sp>
        <p:nvSpPr>
          <p:cNvPr id="11" name="Text 9"/>
          <p:cNvSpPr/>
          <p:nvPr/>
        </p:nvSpPr>
        <p:spPr>
          <a:xfrm>
            <a:off x="612648" y="2249424"/>
            <a:ext cx="1005840" cy="347472"/>
          </a:xfrm>
          <a:prstGeom prst="rect">
            <a:avLst/>
          </a:prstGeom>
          <a:noFill/>
          <a:ln/>
        </p:spPr>
        <p:txBody>
          <a:bodyPr wrap="square" lIns="0" tIns="0" rIns="0" bIns="0" rtlCol="0" anchor="ctr"/>
          <a:lstStyle/>
          <a:p>
            <a:pPr marL="0" indent="0" algn="l">
              <a:buNone/>
            </a:pPr>
            <a:r>
              <a:rPr lang="en-US" sz="1300" b="1" dirty="0">
                <a:solidFill>
                  <a:srgbClr val="4A6B82"/>
                </a:solidFill>
                <a:latin typeface="Trebuchet MS" pitchFamily="34" charset="0"/>
                <a:ea typeface="Trebuchet MS" pitchFamily="34" charset="-122"/>
                <a:cs typeface="Trebuchet MS" pitchFamily="34" charset="-120"/>
              </a:rPr>
              <a:t>FIFO</a:t>
            </a:r>
            <a:endParaRPr lang="en-US" sz="1300" dirty="0"/>
          </a:p>
        </p:txBody>
      </p:sp>
      <p:sp>
        <p:nvSpPr>
          <p:cNvPr id="12" name="Text 10"/>
          <p:cNvSpPr/>
          <p:nvPr/>
        </p:nvSpPr>
        <p:spPr>
          <a:xfrm>
            <a:off x="1709928" y="2249424"/>
            <a:ext cx="2743200" cy="731520"/>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Simple, blind, no priority. Adequate only on lightly loaded links with no traffic class differentiation needed.</a:t>
            </a:r>
            <a:endParaRPr lang="en-US" sz="1100" dirty="0"/>
          </a:p>
        </p:txBody>
      </p:sp>
      <p:sp>
        <p:nvSpPr>
          <p:cNvPr id="13" name="Shape 11"/>
          <p:cNvSpPr/>
          <p:nvPr/>
        </p:nvSpPr>
        <p:spPr>
          <a:xfrm>
            <a:off x="4846320" y="2194560"/>
            <a:ext cx="4069080" cy="841248"/>
          </a:xfrm>
          <a:prstGeom prst="rect">
            <a:avLst/>
          </a:prstGeom>
          <a:solidFill>
            <a:srgbClr val="1A4D6E"/>
          </a:solidFill>
          <a:ln w="25400">
            <a:solidFill>
              <a:srgbClr val="C0392B"/>
            </a:solidFill>
            <a:prstDash val="solid"/>
          </a:ln>
        </p:spPr>
      </p:sp>
      <p:sp>
        <p:nvSpPr>
          <p:cNvPr id="14" name="Text 12"/>
          <p:cNvSpPr/>
          <p:nvPr/>
        </p:nvSpPr>
        <p:spPr>
          <a:xfrm>
            <a:off x="4956048" y="2249424"/>
            <a:ext cx="1005840" cy="347472"/>
          </a:xfrm>
          <a:prstGeom prst="rect">
            <a:avLst/>
          </a:prstGeom>
          <a:noFill/>
          <a:ln/>
        </p:spPr>
        <p:txBody>
          <a:bodyPr wrap="square" lIns="0" tIns="0" rIns="0" bIns="0" rtlCol="0" anchor="ctr"/>
          <a:lstStyle/>
          <a:p>
            <a:pPr marL="0" indent="0" algn="l">
              <a:buNone/>
            </a:pPr>
            <a:r>
              <a:rPr lang="en-US" sz="1300" b="1" dirty="0">
                <a:solidFill>
                  <a:srgbClr val="C0392B"/>
                </a:solidFill>
                <a:latin typeface="Trebuchet MS" pitchFamily="34" charset="0"/>
                <a:ea typeface="Trebuchet MS" pitchFamily="34" charset="-122"/>
                <a:cs typeface="Trebuchet MS" pitchFamily="34" charset="-120"/>
              </a:rPr>
              <a:t>Strict Priority</a:t>
            </a:r>
            <a:endParaRPr lang="en-US" sz="1300" dirty="0"/>
          </a:p>
        </p:txBody>
      </p:sp>
      <p:sp>
        <p:nvSpPr>
          <p:cNvPr id="15" name="Text 13"/>
          <p:cNvSpPr/>
          <p:nvPr/>
        </p:nvSpPr>
        <p:spPr>
          <a:xfrm>
            <a:off x="6053328" y="2249424"/>
            <a:ext cx="2743200" cy="731520"/>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Top queue always goes first. Minimizes latency for critical traffic. Can starve lower classes under sustained load.</a:t>
            </a:r>
            <a:endParaRPr lang="en-US" sz="1100" dirty="0"/>
          </a:p>
        </p:txBody>
      </p:sp>
      <p:sp>
        <p:nvSpPr>
          <p:cNvPr id="16" name="Shape 14"/>
          <p:cNvSpPr/>
          <p:nvPr/>
        </p:nvSpPr>
        <p:spPr>
          <a:xfrm>
            <a:off x="502920" y="3154680"/>
            <a:ext cx="4069080" cy="841248"/>
          </a:xfrm>
          <a:prstGeom prst="rect">
            <a:avLst/>
          </a:prstGeom>
          <a:solidFill>
            <a:srgbClr val="1A4D6E"/>
          </a:solidFill>
          <a:ln w="25400">
            <a:solidFill>
              <a:srgbClr val="2980B9"/>
            </a:solidFill>
            <a:prstDash val="solid"/>
          </a:ln>
        </p:spPr>
      </p:sp>
      <p:sp>
        <p:nvSpPr>
          <p:cNvPr id="17" name="Text 15"/>
          <p:cNvSpPr/>
          <p:nvPr/>
        </p:nvSpPr>
        <p:spPr>
          <a:xfrm>
            <a:off x="612648" y="3209544"/>
            <a:ext cx="1005840" cy="347472"/>
          </a:xfrm>
          <a:prstGeom prst="rect">
            <a:avLst/>
          </a:prstGeom>
          <a:noFill/>
          <a:ln/>
        </p:spPr>
        <p:txBody>
          <a:bodyPr wrap="square" lIns="0" tIns="0" rIns="0" bIns="0" rtlCol="0" anchor="ctr"/>
          <a:lstStyle/>
          <a:p>
            <a:pPr marL="0" indent="0" algn="l">
              <a:buNone/>
            </a:pPr>
            <a:r>
              <a:rPr lang="en-US" sz="1300" b="1" dirty="0">
                <a:solidFill>
                  <a:srgbClr val="2980B9"/>
                </a:solidFill>
                <a:latin typeface="Trebuchet MS" pitchFamily="34" charset="0"/>
                <a:ea typeface="Trebuchet MS" pitchFamily="34" charset="-122"/>
                <a:cs typeface="Trebuchet MS" pitchFamily="34" charset="-120"/>
              </a:rPr>
              <a:t>WRR</a:t>
            </a:r>
            <a:endParaRPr lang="en-US" sz="1300" dirty="0"/>
          </a:p>
        </p:txBody>
      </p:sp>
      <p:sp>
        <p:nvSpPr>
          <p:cNvPr id="18" name="Text 16"/>
          <p:cNvSpPr/>
          <p:nvPr/>
        </p:nvSpPr>
        <p:spPr>
          <a:xfrm>
            <a:off x="1709928" y="3209544"/>
            <a:ext cx="2743200" cy="731520"/>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Serves queues by configured weight. Proportional service, no starvation. Good for several classes that all deserve bandwidth.</a:t>
            </a:r>
            <a:endParaRPr lang="en-US" sz="1100" dirty="0"/>
          </a:p>
        </p:txBody>
      </p:sp>
      <p:sp>
        <p:nvSpPr>
          <p:cNvPr id="19" name="Shape 17"/>
          <p:cNvSpPr/>
          <p:nvPr/>
        </p:nvSpPr>
        <p:spPr>
          <a:xfrm>
            <a:off x="4846320" y="3154680"/>
            <a:ext cx="4069080" cy="841248"/>
          </a:xfrm>
          <a:prstGeom prst="rect">
            <a:avLst/>
          </a:prstGeom>
          <a:solidFill>
            <a:srgbClr val="1A4D6E"/>
          </a:solidFill>
          <a:ln w="25400">
            <a:solidFill>
              <a:srgbClr val="8E44AD"/>
            </a:solidFill>
            <a:prstDash val="solid"/>
          </a:ln>
        </p:spPr>
      </p:sp>
      <p:sp>
        <p:nvSpPr>
          <p:cNvPr id="20" name="Text 18"/>
          <p:cNvSpPr/>
          <p:nvPr/>
        </p:nvSpPr>
        <p:spPr>
          <a:xfrm>
            <a:off x="4956048" y="3209544"/>
            <a:ext cx="1005840" cy="347472"/>
          </a:xfrm>
          <a:prstGeom prst="rect">
            <a:avLst/>
          </a:prstGeom>
          <a:noFill/>
          <a:ln/>
        </p:spPr>
        <p:txBody>
          <a:bodyPr wrap="square" lIns="0" tIns="0" rIns="0" bIns="0" rtlCol="0" anchor="ctr"/>
          <a:lstStyle/>
          <a:p>
            <a:pPr marL="0" indent="0" algn="l">
              <a:buNone/>
            </a:pPr>
            <a:r>
              <a:rPr lang="en-US" sz="1300" b="1" dirty="0">
                <a:solidFill>
                  <a:srgbClr val="8E44AD"/>
                </a:solidFill>
                <a:latin typeface="Trebuchet MS" pitchFamily="34" charset="0"/>
                <a:ea typeface="Trebuchet MS" pitchFamily="34" charset="-122"/>
                <a:cs typeface="Trebuchet MS" pitchFamily="34" charset="-120"/>
              </a:rPr>
              <a:t>WFQ</a:t>
            </a:r>
            <a:endParaRPr lang="en-US" sz="1300" dirty="0"/>
          </a:p>
        </p:txBody>
      </p:sp>
      <p:sp>
        <p:nvSpPr>
          <p:cNvPr id="21" name="Text 19"/>
          <p:cNvSpPr/>
          <p:nvPr/>
        </p:nvSpPr>
        <p:spPr>
          <a:xfrm>
            <a:off x="6053328" y="3209544"/>
            <a:ext cx="2743200" cy="731520"/>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Fairness-oriented scheduling concept. Excellent reference model. Not a named 802.1Q bridge transmission-selection algorithm.</a:t>
            </a:r>
            <a:endParaRPr lang="en-US" sz="1100" dirty="0"/>
          </a:p>
        </p:txBody>
      </p:sp>
      <p:sp>
        <p:nvSpPr>
          <p:cNvPr id="22" name="Shape 20"/>
          <p:cNvSpPr/>
          <p:nvPr/>
        </p:nvSpPr>
        <p:spPr>
          <a:xfrm>
            <a:off x="502920" y="4114800"/>
            <a:ext cx="4069080" cy="841248"/>
          </a:xfrm>
          <a:prstGeom prst="rect">
            <a:avLst/>
          </a:prstGeom>
          <a:solidFill>
            <a:srgbClr val="1A4D6E"/>
          </a:solidFill>
          <a:ln w="25400">
            <a:solidFill>
              <a:srgbClr val="0E7C86"/>
            </a:solidFill>
            <a:prstDash val="solid"/>
          </a:ln>
        </p:spPr>
      </p:sp>
      <p:sp>
        <p:nvSpPr>
          <p:cNvPr id="23" name="Text 21"/>
          <p:cNvSpPr/>
          <p:nvPr/>
        </p:nvSpPr>
        <p:spPr>
          <a:xfrm>
            <a:off x="612648" y="4169664"/>
            <a:ext cx="1005840" cy="347472"/>
          </a:xfrm>
          <a:prstGeom prst="rect">
            <a:avLst/>
          </a:prstGeom>
          <a:noFill/>
          <a:ln/>
        </p:spPr>
        <p:txBody>
          <a:bodyPr wrap="square" lIns="0" tIns="0" rIns="0" bIns="0" rtlCol="0" anchor="ctr"/>
          <a:lstStyle/>
          <a:p>
            <a:pPr marL="0" indent="0" algn="l">
              <a:buNone/>
            </a:pPr>
            <a:r>
              <a:rPr lang="en-US" sz="1300" b="1" dirty="0">
                <a:solidFill>
                  <a:srgbClr val="0E7C86"/>
                </a:solidFill>
                <a:latin typeface="Trebuchet MS" pitchFamily="34" charset="0"/>
                <a:ea typeface="Trebuchet MS" pitchFamily="34" charset="-122"/>
                <a:cs typeface="Trebuchet MS" pitchFamily="34" charset="-120"/>
              </a:rPr>
              <a:t>CBS</a:t>
            </a:r>
            <a:endParaRPr lang="en-US" sz="1300" dirty="0"/>
          </a:p>
        </p:txBody>
      </p:sp>
      <p:sp>
        <p:nvSpPr>
          <p:cNvPr id="24" name="Text 22"/>
          <p:cNvSpPr/>
          <p:nvPr/>
        </p:nvSpPr>
        <p:spPr>
          <a:xfrm>
            <a:off x="1709928" y="4169664"/>
            <a:ext cx="2743200" cy="731520"/>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Credit accumulates while waiting, depletes while sending. Rate-disciplines a traffic class to smooth bursts. A named 802.1Q TSN algorithm.</a:t>
            </a:r>
            <a:endParaRPr lang="en-US" sz="1100" dirty="0"/>
          </a:p>
        </p:txBody>
      </p:sp>
      <p:sp>
        <p:nvSpPr>
          <p:cNvPr id="25" name="Shape 23"/>
          <p:cNvSpPr/>
          <p:nvPr/>
        </p:nvSpPr>
        <p:spPr>
          <a:xfrm>
            <a:off x="4846320" y="4114800"/>
            <a:ext cx="4069080" cy="841248"/>
          </a:xfrm>
          <a:prstGeom prst="rect">
            <a:avLst/>
          </a:prstGeom>
          <a:solidFill>
            <a:srgbClr val="1A4D6E"/>
          </a:solidFill>
          <a:ln w="25400">
            <a:solidFill>
              <a:srgbClr val="F0A500"/>
            </a:solidFill>
            <a:prstDash val="solid"/>
          </a:ln>
        </p:spPr>
      </p:sp>
      <p:sp>
        <p:nvSpPr>
          <p:cNvPr id="26" name="Text 24"/>
          <p:cNvSpPr/>
          <p:nvPr/>
        </p:nvSpPr>
        <p:spPr>
          <a:xfrm>
            <a:off x="4956048" y="4169664"/>
            <a:ext cx="1005840" cy="347472"/>
          </a:xfrm>
          <a:prstGeom prst="rect">
            <a:avLst/>
          </a:prstGeom>
          <a:noFill/>
          <a:ln/>
        </p:spPr>
        <p:txBody>
          <a:bodyPr wrap="square" lIns="0" tIns="0" rIns="0" bIns="0" rtlCol="0" anchor="ctr"/>
          <a:lstStyle/>
          <a:p>
            <a:pPr marL="0" indent="0" algn="l">
              <a:buNone/>
            </a:pPr>
            <a:r>
              <a:rPr lang="en-US" sz="1300" b="1" dirty="0">
                <a:solidFill>
                  <a:srgbClr val="F0A500"/>
                </a:solidFill>
                <a:latin typeface="Trebuchet MS" pitchFamily="34" charset="0"/>
                <a:ea typeface="Trebuchet MS" pitchFamily="34" charset="-122"/>
                <a:cs typeface="Trebuchet MS" pitchFamily="34" charset="-120"/>
              </a:rPr>
              <a:t>Management VLAN</a:t>
            </a:r>
            <a:endParaRPr lang="en-US" sz="1300" dirty="0"/>
          </a:p>
        </p:txBody>
      </p:sp>
      <p:sp>
        <p:nvSpPr>
          <p:cNvPr id="27" name="Text 25"/>
          <p:cNvSpPr/>
          <p:nvPr/>
        </p:nvSpPr>
        <p:spPr>
          <a:xfrm>
            <a:off x="6053328" y="4169664"/>
            <a:ext cx="2743200" cy="731520"/>
          </a:xfrm>
          <a:prstGeom prst="rect">
            <a:avLst/>
          </a:prstGeom>
          <a:noFill/>
          <a:ln/>
        </p:spPr>
        <p:txBody>
          <a:bodyPr wrap="square" lIns="0" tIns="0" rIns="0" bIns="0" rtlCol="0" anchor="t"/>
          <a:lstStyle/>
          <a:p>
            <a:pPr marL="0" indent="0" algn="l">
              <a:buNone/>
            </a:pPr>
            <a:r>
              <a:rPr lang="en-US" sz="1100" dirty="0">
                <a:solidFill>
                  <a:srgbClr val="D6EAF8"/>
                </a:solidFill>
                <a:latin typeface="Calibri" pitchFamily="34" charset="0"/>
                <a:ea typeface="Calibri" pitchFamily="34" charset="-122"/>
                <a:cs typeface="Calibri" pitchFamily="34" charset="-120"/>
              </a:rPr>
              <a:t>An ordinary VLAN dedicated to device management traffic by policy. Not a special tag type. Gives isolation, not security by itself.</a:t>
            </a:r>
            <a:endParaRPr lang="en-US" sz="1100" dirty="0"/>
          </a:p>
        </p:txBody>
      </p:sp>
      <p:sp>
        <p:nvSpPr>
          <p:cNvPr id="28" name="Shape 26"/>
          <p:cNvSpPr/>
          <p:nvPr/>
        </p:nvSpPr>
        <p:spPr>
          <a:xfrm>
            <a:off x="502920" y="5166360"/>
            <a:ext cx="8138160" cy="347472"/>
          </a:xfrm>
          <a:prstGeom prst="rect">
            <a:avLst/>
          </a:prstGeom>
          <a:solidFill>
            <a:srgbClr val="0E7C86"/>
          </a:solidFill>
          <a:ln w="12700">
            <a:solidFill>
              <a:srgbClr val="0E7C86"/>
            </a:solidFill>
            <a:prstDash val="solid"/>
          </a:ln>
        </p:spPr>
      </p:sp>
      <p:sp>
        <p:nvSpPr>
          <p:cNvPr id="29" name="Text 27"/>
          <p:cNvSpPr/>
          <p:nvPr/>
        </p:nvSpPr>
        <p:spPr>
          <a:xfrm>
            <a:off x="640080" y="5184648"/>
            <a:ext cx="786384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In automotive: VLANs and queuing policy together separate and protect traffic classes with different criticality over one shared Ethernet fabric.</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2998</Words>
  <Application>Microsoft Macintosh PowerPoint</Application>
  <PresentationFormat>On-screen Show (16:9)</PresentationFormat>
  <Paragraphs>312</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SVL, IVL, Queuing, CBS, and Automotive VLANs</dc:title>
  <dc:subject>PptxGenJS Presentation</dc:subject>
  <dc:creator>PptxGenJS</dc:creator>
  <cp:lastModifiedBy>CHOCKALINGAM THIAGARAJAN</cp:lastModifiedBy>
  <cp:revision>2</cp:revision>
  <dcterms:created xsi:type="dcterms:W3CDTF">2026-04-20T17:13:23Z</dcterms:created>
  <dcterms:modified xsi:type="dcterms:W3CDTF">2026-04-22T14:53:19Z</dcterms:modified>
</cp:coreProperties>
</file>