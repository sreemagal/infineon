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73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Forwarding,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VLANs &amp; Congestion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· Filtering · Flooding  |  FDB &amp; Learning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PCP, Traffic Classes  |  C-VLAN &amp; S-VLAN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4160520"/>
            <a:ext cx="8229600" cy="6583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879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→ Learn → Look Up → Filter → Forward or Flood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Bridge's Real Job: Five Decisions per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is not just a box that sends packets onward. For every incoming frame it must answer at least four questions simultaneously: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920240"/>
            <a:ext cx="1508760" cy="141732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9568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450592"/>
            <a:ext cx="138074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252374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VLAN 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frame belong to?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64792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920240"/>
            <a:ext cx="1508760" cy="1417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9568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57400" y="2450592"/>
            <a:ext cx="138074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52374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be recorded?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1508760" cy="1417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19568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Up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94760" y="2450592"/>
            <a:ext cx="138074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52374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destination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in this VLAN?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9512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68112" y="1920240"/>
            <a:ext cx="1508760" cy="1417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9568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32120" y="2450592"/>
            <a:ext cx="138074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252374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egress paths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76872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05472" y="1920240"/>
            <a:ext cx="1508760" cy="1417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9568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Flood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9480" y="2450592"/>
            <a:ext cx="138074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1192" y="252374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port, many ports,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 ports at all?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8138160" cy="475488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112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VLAN-aware bridge, forwarding decisions depend on destination MAC address AND VLAN tag together — not MAC alone.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069080"/>
            <a:ext cx="8138160" cy="89611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605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 mental model: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5445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'the switch looks up a MAC address' — but rather classify, then learn, then look up, then filter, then forward or flood. Each step depends on the one before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Forward, Filter, Flood: Three Distinct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behaviors are not arbitrary. Each has a precise operational meaning and a specific trigger condition: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234440" cy="82296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783080"/>
            <a:ext cx="6995160" cy="82296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837944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bridge knows the right egress 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222199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MAC is known in the VLAN context. The frame goes to exactly where it should — no more, no less.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23444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7360" y="2788920"/>
            <a:ext cx="6995160" cy="82296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843784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bridge knows a path is wrong or forbidden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322783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is intentionally blocked: wrong VLAN context on that port, port not in forwarding state, or policy-based rejection at ingress.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123444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7360" y="3794760"/>
            <a:ext cx="6995160" cy="82296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3849624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bridge does not know one correct destination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423367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unicast, multicast with no matching entry, or broadcast. The frame is sent to all permitted ports in the VLAN scope — the safe discovery behavior.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8138160" cy="347472"/>
          </a:xfrm>
          <a:prstGeom prst="rect">
            <a:avLst/>
          </a:prstGeom>
          <a:solidFill>
            <a:srgbClr val="1A2D1E"/>
          </a:solidFill>
          <a:ln w="12700">
            <a:solidFill>
              <a:srgbClr val="1A2D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754880"/>
            <a:ext cx="8138160" cy="347472"/>
          </a:xfrm>
          <a:prstGeom prst="rect">
            <a:avLst/>
          </a:prstGeom>
          <a:solidFill>
            <a:srgbClr val="1A2D1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731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when you know the right place. Filter when you know a place is wrong. Flood when you do not yet know.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Flooding Is Not a Sign of Failure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is the bridge's normal safe discovery behavior — not an error state. Understanding why requires understanding how learning works: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1691640" cy="77724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901952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sends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frame to 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2103120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1901952"/>
            <a:ext cx="1691640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76856" y="1901952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learns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 port X, VLAN 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1901952"/>
            <a:ext cx="1691640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1901952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unknown: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within VLAN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2103120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901952"/>
            <a:ext cx="169164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901952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replies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 a source)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2103120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1901952"/>
            <a:ext cx="1691640" cy="7772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1901952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learns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 port Z, VLAN 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81381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26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 replies → future traffic to B is unicast directly to port Z. Flooding stops.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2670048" cy="1572768"/>
          </a:xfrm>
          <a:prstGeom prst="rect">
            <a:avLst/>
          </a:prstGeom>
          <a:solidFill>
            <a:srgbClr val="0B2D4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37560"/>
            <a:ext cx="2670048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19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Bridges learn from SOURCES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" y="3822192"/>
            <a:ext cx="2450592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89534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can only know where to deliver traffic to a destination once that destination has transmitted a frame as a source.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337560"/>
            <a:ext cx="2670048" cy="1572768"/>
          </a:xfrm>
          <a:prstGeom prst="rect">
            <a:avLst/>
          </a:prstGeom>
          <a:solidFill>
            <a:srgbClr val="0B2D4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337560"/>
            <a:ext cx="2670048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419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Flooding enables learning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3822192"/>
            <a:ext cx="245059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89534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a frame to all VLAN members is what gives the destination a chance to respond — and that response is what teaches the bridge.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337560"/>
            <a:ext cx="2670048" cy="1572768"/>
          </a:xfrm>
          <a:prstGeom prst="rect">
            <a:avLst/>
          </a:prstGeom>
          <a:solidFill>
            <a:srgbClr val="0B2D4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337560"/>
            <a:ext cx="2670048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3419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reduces future flooding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6208" y="3822192"/>
            <a:ext cx="2450592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89534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 is known, all subsequent traffic to B is unicast. Flooding is self-limiting: it creates the conditions for its own elimination.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Forwarding Database: Not Just a MAC Table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8138160" cy="47548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VLAN-aware bridge: Destination MAC + VLAN context → Forwarding/Filtering decision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FDB is the bridge's memory of where it believes destinations are located. The standard's management model exposes: aging time, max FDB size, count of static entries, count of dynamic entries. Filtering entries carry both a MAC address and a set of VLAN identifiers.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61488"/>
            <a:ext cx="8138160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614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Destination MAC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21992" y="27614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(VID)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9624" y="27614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Egress 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77256" y="27614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04888" y="27614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8138160" cy="329184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AA:BB:CC:11:22:33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21992" y="31638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9624" y="31638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GE0/2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77256" y="31638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04888" y="31638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511296"/>
            <a:ext cx="8138160" cy="329184"/>
          </a:xfrm>
          <a:prstGeom prst="rect">
            <a:avLst/>
          </a:prstGeom>
          <a:solidFill>
            <a:srgbClr val="152845"/>
          </a:solidFill>
          <a:ln w="12700">
            <a:solidFill>
              <a:srgbClr val="1528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1129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AA:BB:CC:44:55:66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21992" y="351129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9624" y="351129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GE0/5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77256" y="351129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04888" y="351129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858768"/>
            <a:ext cx="8138160" cy="329184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5876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AA:BB:CC:77:88:99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21992" y="385876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9624" y="385876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GE0/2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77256" y="385876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04888" y="385876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206240"/>
            <a:ext cx="8138160" cy="329184"/>
          </a:xfrm>
          <a:prstGeom prst="rect">
            <a:avLst/>
          </a:prstGeom>
          <a:solidFill>
            <a:srgbClr val="152845"/>
          </a:solidFill>
          <a:ln w="12700">
            <a:solidFill>
              <a:srgbClr val="152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06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FF:FF:FF:FF:FF:FF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21992" y="4206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9624" y="4206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all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77256" y="4206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04888" y="4206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590288"/>
            <a:ext cx="8138160" cy="384048"/>
          </a:xfrm>
          <a:prstGeom prst="rect">
            <a:avLst/>
          </a:prstGeom>
          <a:solidFill>
            <a:srgbClr val="1A2D1E"/>
          </a:solidFill>
          <a:ln w="12700">
            <a:solidFill>
              <a:srgbClr val="1A2D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590288"/>
            <a:ext cx="8138160" cy="384048"/>
          </a:xfrm>
          <a:prstGeom prst="rect">
            <a:avLst/>
          </a:prstGeom>
          <a:solidFill>
            <a:srgbClr val="1A2D1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60857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MAC address in two different VLANs = two separate FDB entries. Forwarding knowledge is always VLAN-scoped.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Learning, Static Entries, and Aging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FDB can be populated in two fundamentally different ways, and one process keeps it honest over time: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70048" cy="384048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Entries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automatically from observed traffic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MAC + port + VLAN recorded on arrival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by continued traffic from that source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after aging timer (default: 300 seconds)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95344"/>
            <a:ext cx="2670048" cy="347472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8953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— follows the network as it changes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828800"/>
            <a:ext cx="2670048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288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Entries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32257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deliberately by an administrator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706624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derived from passive traffic observation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09067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subject to aging — persist until removed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7472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policy, security, or critical infrastructure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895344"/>
            <a:ext cx="2670048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38953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Intentional — overrides automatic learning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67004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8288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32257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dynamic entries after timeout period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706624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stale entries from persisting after device moves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09067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from the source refreshes the aging clock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47472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 = excess flooding; too long = stale paths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895344"/>
            <a:ext cx="2670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8953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 — keeps learned state believable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70832"/>
            <a:ext cx="8366760" cy="7132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1596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insight on aging: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625679"/>
            <a:ext cx="8183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aging, a bridge could keep sending traffic toward a port long after the device had moved, been unplugged, or reconnected elsewhere. Aging is what makes dynamic learning stay correct in a changing network — it is not cosmetic housekeeping.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Relay: More Than Carrying a Tag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VLAN-aware bridge is not relaying raw Ethernet in one flat universe. It is relaying frames within a specific VLAN context. Every step of the forwarding pipeline is VLAN-scoped: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530352" cy="749808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168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2011680"/>
            <a:ext cx="3840480" cy="74980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66544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 port classifies into VLAN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14016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frame's own tag, or via the port's PVID for untagged frames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530352" cy="7498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4436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6112" y="2944368"/>
            <a:ext cx="3840480" cy="74980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999232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address learned in that VLAN 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46704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FDB entry is: source MAC → port, specifically within this VLAN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77056"/>
            <a:ext cx="530352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77056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6112" y="3877056"/>
            <a:ext cx="3840480" cy="74980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931920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Destination looked up in that VLAN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4279392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 key is destination MAC + VLAN together, never MAC alone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53035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1168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68112" y="2011680"/>
            <a:ext cx="3840480" cy="74980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2066544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Forwarding or flooding within VLAN scope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96128" y="2414016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ports that are members of this VLAN are eligible egress destinations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944368"/>
            <a:ext cx="530352" cy="7498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4436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68112" y="2944368"/>
            <a:ext cx="3840480" cy="74980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2999232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Egress port tags or untags per port config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3346704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transmitted frame carries a tag depends on the egress port's role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347472"/>
          </a:xfrm>
          <a:prstGeom prst="rect">
            <a:avLst/>
          </a:prstGeom>
          <a:solidFill>
            <a:srgbClr val="1A2D1E"/>
          </a:solidFill>
          <a:ln w="12700">
            <a:solidFill>
              <a:srgbClr val="1A2D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754880"/>
            <a:ext cx="8138160" cy="347472"/>
          </a:xfrm>
          <a:prstGeom prst="rect">
            <a:avLst/>
          </a:prstGeom>
          <a:solidFill>
            <a:srgbClr val="1A2D1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7731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relay is not just tag carriage. It is the whole pipeline of classifying, learning, forwarding, filtering, and flooding inside a chosen VLAN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and Trunk Ports: Operational Shorthand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trunk are useful deployment terms — but they are not the deepest 802.1Q architectural concepts. The underlying bridge mechanisms are: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069080" cy="1024128"/>
          </a:xfrm>
          <a:prstGeom prst="rect">
            <a:avLst/>
          </a:prstGeom>
          <a:solidFill>
            <a:srgbClr val="0B2D4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PVID  —  Port VLAN Identifier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VLAN assigned to untagged ingress frames. How access-port behavior is expressed in 802.1Q.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4069080" cy="1024128"/>
          </a:xfrm>
          <a:prstGeom prst="rect">
            <a:avLst/>
          </a:prstGeom>
          <a:solidFill>
            <a:srgbClr val="0B2D4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  —  Acceptable Frame Types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23957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this port admits tagged-only, untagged+priority-tagged, or all frames.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4069080" cy="1024128"/>
          </a:xfrm>
          <a:prstGeom prst="rect">
            <a:avLst/>
          </a:prstGeom>
          <a:solidFill>
            <a:srgbClr val="0B2D4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 —  Ingress Filtering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frames whose VLAN context is not permitted on this port are discarded on arrival.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108960"/>
            <a:ext cx="4069080" cy="1024128"/>
          </a:xfrm>
          <a:prstGeom prst="rect">
            <a:avLst/>
          </a:prstGeom>
          <a:solidFill>
            <a:srgbClr val="0B2D4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200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 —  Egress Tagging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58444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frames leave this port tagged or untagged, and with what tag type.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813816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70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mapping: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6817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style: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ingress mapped to PVID, egress sent untagged for that VLAN.   </a:t>
            </a: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style: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VLANs on one link, usually tagged, under explicit per-port admission rules.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C-VLAN and S-VLAN: Two Tags, Two Roles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C-VLAN and S-VLAN do not just differ by a number. They differ in architectural role — who owns the VLAN meaning and what scope it controls: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77640" cy="2651760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977640" cy="438912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C-VLAN  (Customer VLAN)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749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0x81-00
</a:t>
            </a:r>
            <a:r>
              <a:rPr lang="en-US" sz="13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enterprise side
</a:t>
            </a:r>
            <a:r>
              <a:rPr lang="en-US" sz="13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Customer-local VLAN meaning
</a:t>
            </a:r>
            <a:r>
              <a:rPr lang="en-US" sz="13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customer's administrative domain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77640" cy="2651760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874520"/>
            <a:ext cx="397764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74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S-VLAN  (Service VLAN)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95728"/>
            <a:ext cx="3749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0x88-A8  (from IEEE 802.1ad)
</a:t>
            </a: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side
</a:t>
            </a: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transport or service context
</a:t>
            </a: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provider's administrative domain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8138160" cy="384048"/>
          </a:xfrm>
          <a:prstGeom prst="rect">
            <a:avLst/>
          </a:prstGeom>
          <a:solidFill>
            <a:srgbClr val="1A2D1E"/>
          </a:solidFill>
          <a:ln w="12700">
            <a:solidFill>
              <a:srgbClr val="1A2D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663440"/>
            <a:ext cx="8138160" cy="384048"/>
          </a:xfrm>
          <a:prstGeom prst="rect">
            <a:avLst/>
          </a:prstGeom>
          <a:solidFill>
            <a:srgbClr val="1A2D1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817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Bridge is built around a single S-VLAN component that can carry multiple C-VLAN meanings. The S-VLAN is the relay scope; the C-VLAN is the transported content.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Q-in-Q: What the Outer Tag Really Controls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261872"/>
            <a:ext cx="1143000" cy="749808"/>
          </a:xfrm>
          <a:prstGeom prst="rect">
            <a:avLst/>
          </a:prstGeom>
          <a:solidFill>
            <a:srgbClr val="4A6B82"/>
          </a:solidFill>
          <a:ln w="12700">
            <a:solidFill>
              <a:srgbClr val="4A6B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61872"/>
            <a:ext cx="1143000" cy="749808"/>
          </a:xfrm>
          <a:prstGeom prst="rect">
            <a:avLst/>
          </a:prstGeom>
          <a:solidFill>
            <a:srgbClr val="4A6B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261872"/>
            <a:ext cx="1069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Dst MAC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261872"/>
            <a:ext cx="1143000" cy="749808"/>
          </a:xfrm>
          <a:prstGeom prst="rect">
            <a:avLst/>
          </a:prstGeom>
          <a:solidFill>
            <a:srgbClr val="4A6B82"/>
          </a:solidFill>
          <a:ln w="12700">
            <a:solidFill>
              <a:srgbClr val="4A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261872"/>
            <a:ext cx="1143000" cy="749808"/>
          </a:xfrm>
          <a:prstGeom prst="rect">
            <a:avLst/>
          </a:prstGeom>
          <a:solidFill>
            <a:srgbClr val="4A6B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261872"/>
            <a:ext cx="1069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Src MAC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261872"/>
            <a:ext cx="1600200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261872"/>
            <a:ext cx="1600200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261872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S-VLAN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0x88-A8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(outer)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261872"/>
            <a:ext cx="1600200" cy="749808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261872"/>
            <a:ext cx="1600200" cy="749808"/>
          </a:xfrm>
          <a:prstGeom prst="rect">
            <a:avLst/>
          </a:prstGeom>
          <a:solidFill>
            <a:srgbClr val="1A9D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1261872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C-VLAN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0x81-00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(inner)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261872"/>
            <a:ext cx="1097280" cy="749808"/>
          </a:xfrm>
          <a:prstGeom prst="rect">
            <a:avLst/>
          </a:prstGeom>
          <a:solidFill>
            <a:srgbClr val="4A6B82"/>
          </a:solidFill>
          <a:ln w="12700">
            <a:solidFill>
              <a:srgbClr val="4A6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261872"/>
            <a:ext cx="1097280" cy="749808"/>
          </a:xfrm>
          <a:prstGeom prst="rect">
            <a:avLst/>
          </a:prstGeom>
          <a:solidFill>
            <a:srgbClr val="4A6B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1261872"/>
            <a:ext cx="102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EtherType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261872"/>
            <a:ext cx="1463040" cy="74980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261872"/>
            <a:ext cx="1463040" cy="749808"/>
          </a:xfrm>
          <a:prstGeom prst="rect">
            <a:avLst/>
          </a:prstGeom>
          <a:solidFill>
            <a:srgbClr val="3D3D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261872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Payload...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029968"/>
            <a:ext cx="16002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forwards on outer tag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2029968"/>
            <a:ext cx="1600200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meaning preserved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487168"/>
            <a:ext cx="2670048" cy="2212848"/>
          </a:xfrm>
          <a:prstGeom prst="rect">
            <a:avLst/>
          </a:prstGeom>
          <a:solidFill>
            <a:srgbClr val="0B2D4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5786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Q-in-Q solves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" y="2990088"/>
            <a:ext cx="245059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063240"/>
            <a:ext cx="24505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customers may use the same VLAN IDs. Bridging both into one flat provider domain loses their separation. Q-in-Q wraps each customer in a distinct service tag.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487168"/>
            <a:ext cx="2670048" cy="2212848"/>
          </a:xfrm>
          <a:prstGeom prst="rect">
            <a:avLst/>
          </a:prstGeom>
          <a:solidFill>
            <a:srgbClr val="0B2D4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5786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outer tag works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55848" y="2990088"/>
            <a:ext cx="2450592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063240"/>
            <a:ext cx="24505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network learns and forwards on S-VLAN context. Broadcast, unknown unicast, and multicast flood within S-VLAN scope — not across all customers.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487168"/>
            <a:ext cx="2670048" cy="2212848"/>
          </a:xfrm>
          <a:prstGeom prst="rect">
            <a:avLst/>
          </a:prstGeom>
          <a:solidFill>
            <a:srgbClr val="0B2D4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5786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inner tag is transparent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36208" y="2990088"/>
            <a:ext cx="2450592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063240"/>
            <a:ext cx="24505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C-VLAN rides untouched through the provider fabric. At the provider edge it is stripped away and delivered to the customer in its original form.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Congestion Management: A Pipeline, Not Just Queues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management is what happens when too many eligible frames compete for the same egress resource. Under light load it is invisible. Under heavy load it is everything: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2057400"/>
            <a:ext cx="1325880" cy="123444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1031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" y="2587752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65176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from tag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port default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81912" y="2468880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2057400"/>
            <a:ext cx="1325880" cy="1234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21031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Regenerate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92224" y="2587752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3936" y="265176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 per-port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policy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63240" y="2468880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18688" y="2057400"/>
            <a:ext cx="1325880" cy="12344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1031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Class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73552" y="2587752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65176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44568" y="2468880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0016" y="2057400"/>
            <a:ext cx="1325880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1031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587752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65176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priority,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CBS, ETS...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25896" y="2468880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1344" y="2057400"/>
            <a:ext cx="132588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1031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Policy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6208" y="2587752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65176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first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07224" y="2468880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62672" y="2057400"/>
            <a:ext cx="1325880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210312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17536" y="2587752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265176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leaves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PCP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429000"/>
            <a:ext cx="8138160" cy="16002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520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better description of congestion management: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3904488"/>
            <a:ext cx="7955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'the switch has queues' — but a policy chain: decode priority from the tag, possibly regenerate or remap it, assign to a traffic class, apply a scheduling or shaping algorithm to decide service order, and use DEI to decide what may be sacrificed first under buffer pressure.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Regeneration: Wire Priority vs Bridge Priority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regeneration is how the bridge says: the priority that arrived on the wire does not have to be the priority I use internally.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1828800" cy="6583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901952"/>
            <a:ext cx="1828800" cy="658368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priority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PCP field)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231136"/>
            <a:ext cx="12801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0299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719072"/>
            <a:ext cx="2194560" cy="1024128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19072"/>
            <a:ext cx="2194560" cy="1024128"/>
          </a:xfrm>
          <a:prstGeom prst="rect">
            <a:avLst/>
          </a:prstGeom>
          <a:solidFill>
            <a:srgbClr val="0B2D4E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19072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Regeneration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port, per incoming priority)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231136"/>
            <a:ext cx="12801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0299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1901952"/>
            <a:ext cx="1828800" cy="6583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901952"/>
            <a:ext cx="1828800" cy="658368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priority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(used for class lookup)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2670048" cy="1783080"/>
          </a:xfrm>
          <a:prstGeom prst="rect">
            <a:avLst/>
          </a:prstGeom>
          <a:solidFill>
            <a:srgbClr val="0B2D4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2186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ingress contexts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" y="3593592"/>
            <a:ext cx="2450592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667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received priority 6 on port 1 (trusted uplink) may remain 6. The same value on port 8 (untrusted device) may be demoted to 2 before class lookup.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127248"/>
            <a:ext cx="2670048" cy="1783080"/>
          </a:xfrm>
          <a:prstGeom prst="rect">
            <a:avLst/>
          </a:prstGeom>
          <a:solidFill>
            <a:srgbClr val="0B2D4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2186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boundary translation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55848" y="3593592"/>
            <a:ext cx="245059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6667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at the boundary of different priority conventions or administrative domains may need different regeneration rules to maintain consistent internal behavior.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127248"/>
            <a:ext cx="2670048" cy="1783080"/>
          </a:xfrm>
          <a:prstGeom prst="rect">
            <a:avLst/>
          </a:prstGeom>
          <a:solidFill>
            <a:srgbClr val="0B2D4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2186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Default: pass-through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6208" y="3593592"/>
            <a:ext cx="2450592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6667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default is that regenerated priority equals received priority — so no regeneration unless the administrator configures a different mapping.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PCP Decoding and Encoding: Not Just Pass-Through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is not simply carried through the bridge untouched. 802.1Q defines both a decoding table and an encoding table at each bridge port: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2029968"/>
            <a:ext cx="1325880" cy="118872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06654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Tag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" y="252374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78608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0-7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0/1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81912" y="2414016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2029968"/>
            <a:ext cx="1325880" cy="1188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206654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92224" y="252374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3936" y="2578608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+ DEI -&gt;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priority + drop-eligible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2414016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18688" y="2029968"/>
            <a:ext cx="1325880" cy="1188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06654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252374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578608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 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policy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4568" y="2414016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0016" y="2029968"/>
            <a:ext cx="132588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06654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Class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52374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78608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-&gt;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0-7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25896" y="2414016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1344" y="2029968"/>
            <a:ext cx="1325880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06654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Table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6208" y="252374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578608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priority -&gt;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PCP + DEI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07224" y="2414016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62672" y="2029968"/>
            <a:ext cx="132588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206654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Outgoing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Tag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17536" y="252374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2578608"/>
            <a:ext cx="125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PCP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337560"/>
            <a:ext cx="2670048" cy="1627632"/>
          </a:xfrm>
          <a:prstGeom prst="rect">
            <a:avLst/>
          </a:prstGeom>
          <a:solidFill>
            <a:srgbClr val="1A4D6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4290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 table: ingress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" y="3803904"/>
            <a:ext cx="245059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877056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incoming PCP (0-7) and DEI to internal priority and drop-eligible state. A PCP 5 frame on an untrusted port may decode to a lower internal priority.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46120" y="3337560"/>
            <a:ext cx="2670048" cy="1627632"/>
          </a:xfrm>
          <a:prstGeom prst="rect">
            <a:avLst/>
          </a:prstGeom>
          <a:solidFill>
            <a:srgbClr val="1A4D6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4290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table: egress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55848" y="3803904"/>
            <a:ext cx="2450592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3877056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internal priority and drop-eligible state back to an outgoing PCP value and DEI bit. The outgoing PCP may differ from what arrived, by design.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26480" y="3337560"/>
            <a:ext cx="2670048" cy="1627632"/>
          </a:xfrm>
          <a:prstGeom prst="rect">
            <a:avLst/>
          </a:prstGeom>
          <a:solidFill>
            <a:srgbClr val="1A4D6E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4290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36208" y="3803904"/>
            <a:ext cx="2450592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877056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semantics can be preserved, translated, or normalized across networks. A bridge does not blindly carry the PCP bit — it may actively transform 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Classes and Transmission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an internal priority is only the beginning. The bridge must then decide how that priority is served on egress — via a two-stage mapping: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2011680" cy="27432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01952"/>
            <a:ext cx="2011680" cy="2743200"/>
          </a:xfrm>
          <a:prstGeom prst="rect">
            <a:avLst/>
          </a:prstGeom>
          <a:solidFill>
            <a:srgbClr val="0B2D4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01952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(0 – 7)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3273552"/>
            <a:ext cx="731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307238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901952"/>
            <a:ext cx="2286000" cy="274320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901952"/>
            <a:ext cx="2286000" cy="2743200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Class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95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(lowest)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944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4315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 (highest)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3273552"/>
            <a:ext cx="731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07238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1901952"/>
            <a:ext cx="2514600" cy="27432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901952"/>
            <a:ext cx="2514600" cy="2743200"/>
          </a:xfrm>
          <a:prstGeom prst="rect">
            <a:avLst/>
          </a:prstGeom>
          <a:solidFill>
            <a:srgbClr val="0B2D4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9019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 Algorithm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450592"/>
            <a:ext cx="2286000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450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Priority (SP)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962656"/>
            <a:ext cx="2286000" cy="4389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9626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Shaper (CBS)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3474720"/>
            <a:ext cx="2286000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Transmission Select (ETS)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3986784"/>
            <a:ext cx="228600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9867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Traffic Shaping (ATS)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773168"/>
            <a:ext cx="8138160" cy="34747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7914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congestion, what matters: which class does the frame land in, and which algorithm serves that class.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Eligibility: Who Gets Sacrificed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management is not only about who goes first. It is also about who may be sacrificed when buffers are under stress. That is what the DEI bit expresses: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8138160" cy="6583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38528"/>
            <a:ext cx="8138160" cy="658368"/>
          </a:xfrm>
          <a:prstGeom prst="rect">
            <a:avLst/>
          </a:prstGeom>
          <a:solidFill>
            <a:srgbClr val="1A4D6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 = 0: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93852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drop-eligible. The bridge will protect this frame from discard under congestion.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8138160" cy="6583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51760"/>
            <a:ext cx="8138160" cy="658368"/>
          </a:xfrm>
          <a:prstGeom prst="rect">
            <a:avLst/>
          </a:prstGeom>
          <a:solidFill>
            <a:srgbClr val="1A4D6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 = 1: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65176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Drop-eligible. Under buffer pressure, this frame may be discarded rather than transmitted.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2670048" cy="1572768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5661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 is set by the sender or by policy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977640"/>
            <a:ext cx="2450592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050792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enters a network segment marked as drop-eligible by the originating device, or the bridge policy marks it based on metering (e.g., excess above contracted rate).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3474720"/>
            <a:ext cx="2670048" cy="1572768"/>
          </a:xfrm>
          <a:prstGeom prst="rect">
            <a:avLst/>
          </a:prstGeom>
          <a:solidFill>
            <a:srgbClr val="1A4D6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5661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 interacts with PCP tables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5848" y="3977640"/>
            <a:ext cx="2450592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4050792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PCP decoding and encoding tables model the association between PCP, priority, and drop-eligible state — DEI is not an isolated bit, it is part of the priority-treatment pipeline.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2670048" cy="1572768"/>
          </a:xfrm>
          <a:prstGeom prst="rect">
            <a:avLst/>
          </a:prstGeom>
          <a:solidFill>
            <a:srgbClr val="1A4D6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35661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drop-encoding config per 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6208" y="3977640"/>
            <a:ext cx="245059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4050792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port config specifies whether frames marked drop-eligible must be encodable on that port or else be discarded outright — giving operators fine-grained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Access, Trunk, and VLAN Relay: The Complete 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298448"/>
            <a:ext cx="1371600" cy="502920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984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(untagged)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554480"/>
            <a:ext cx="5943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115568"/>
            <a:ext cx="1920240" cy="8686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115568"/>
            <a:ext cx="1920240" cy="868680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PVID=10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AFT: untagged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untagged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987552"/>
            <a:ext cx="1371600" cy="3218688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3380" y="539496"/>
            <a:ext cx="1371600" cy="3666744"/>
          </a:xfrm>
          <a:prstGeom prst="rect">
            <a:avLst/>
          </a:prstGeom>
          <a:solidFill>
            <a:srgbClr val="0B2D4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987552"/>
            <a:ext cx="137160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VLAN-AWARE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1115568"/>
            <a:ext cx="1920240" cy="8686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115568"/>
            <a:ext cx="1920240" cy="868680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Trunk 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PVID=1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AFT: tagged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10,20,30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554480"/>
            <a:ext cx="5943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298448"/>
            <a:ext cx="1097280" cy="50292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298448"/>
            <a:ext cx="1097280" cy="502920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298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(tagged)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137160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59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(untagged)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2606040"/>
            <a:ext cx="5943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2176272"/>
            <a:ext cx="1920240" cy="8686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2176272"/>
            <a:ext cx="1920240" cy="868680"/>
          </a:xfrm>
          <a:prstGeom prst="rect">
            <a:avLst/>
          </a:prstGeom>
          <a:solidFill>
            <a:srgbClr val="1A4D6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24871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PVID=20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AFT: untagged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untagged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2176272"/>
            <a:ext cx="1920240" cy="8686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176272"/>
            <a:ext cx="1920240" cy="868680"/>
          </a:xfrm>
          <a:prstGeom prst="rect">
            <a:avLst/>
          </a:prstGeom>
          <a:solidFill>
            <a:srgbClr val="1A4D6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Trunk 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24871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PVID=1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AFT: tagged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10,20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52360" y="2606040"/>
            <a:ext cx="5943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2359152"/>
            <a:ext cx="1097280" cy="50292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2359152"/>
            <a:ext cx="1097280" cy="502920"/>
          </a:xfrm>
          <a:prstGeom prst="rect">
            <a:avLst/>
          </a:prstGeom>
          <a:solidFill>
            <a:srgbClr val="1A4D6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2359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other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29000"/>
            <a:ext cx="8138160" cy="43891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472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cases the bridge does the same core job: classify into VLAN context, learn, look up, filter, and forward within scope.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4105656"/>
            <a:ext cx="8366760" cy="749808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69080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difference is only how VLAN context is supplied: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" y="432511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style: context supplied by the port's PVID configuration.    Trunk style: context supplied by the explicit tag carried in the frame.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C-VLAN and S-VLAN in the Provider Bridge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provider bridge, the S-VLAN is the relay scope. The C-VLAN is the transported content. Forwarding, filtering, and flooding happen in the S-VLAN domain: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993392"/>
            <a:ext cx="1417320" cy="566928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993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100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2276856"/>
            <a:ext cx="5029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719072"/>
            <a:ext cx="155448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719072"/>
            <a:ext cx="1554480" cy="1115568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7190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7712" y="217627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S-VLAN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2276856"/>
            <a:ext cx="640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627632"/>
            <a:ext cx="2011680" cy="1298448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627632"/>
            <a:ext cx="2011680" cy="1298448"/>
          </a:xfrm>
          <a:prstGeom prst="rect">
            <a:avLst/>
          </a:prstGeom>
          <a:solidFill>
            <a:srgbClr val="0D3D6B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27632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(forwards on S-VLAN only)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276856"/>
            <a:ext cx="640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719072"/>
            <a:ext cx="155448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719072"/>
            <a:ext cx="1554480" cy="1115568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7190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14032" y="217627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S-VLAN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C-VLAN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0" y="2276856"/>
            <a:ext cx="2743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1993392"/>
            <a:ext cx="0" cy="566928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99232"/>
            <a:ext cx="2670048" cy="1810512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0906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bridges: S-VLAN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" y="3465576"/>
            <a:ext cx="2450592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538728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core switches never inspect or modify the inner C-VLAN. They learn and forward purely on S-VLAN context.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2999232"/>
            <a:ext cx="2670048" cy="1810512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0906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bridges: translate context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3465576"/>
            <a:ext cx="2450592" cy="36576"/>
          </a:xfrm>
          <a:prstGeom prst="rect">
            <a:avLst/>
          </a:prstGeom>
          <a:solidFill>
            <a:srgbClr val="1A9DAA"/>
          </a:solidFill>
          <a:ln w="12700">
            <a:solidFill>
              <a:srgbClr val="1A9D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538728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edge bridge maps incoming customer traffic to an S-VLAN and strips it back on exit — the customer sees only their C-VLAN throughout.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2999232"/>
            <a:ext cx="2670048" cy="1810512"/>
          </a:xfrm>
          <a:prstGeom prst="rect">
            <a:avLst/>
          </a:prstGeom>
          <a:solidFill>
            <a:srgbClr val="1A4D6E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0906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BUM traffic scope is S-VLAN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36208" y="3465576"/>
            <a:ext cx="2450592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538728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Broadcast, unknown unicast, and multicast flood within S-VLAN scope — meaning traffic crosses customer boundaries only within the same service VLAN.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Misconceptions to Unlearn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0972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98448"/>
            <a:ext cx="411480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Flooding is always bad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is the bridge's normal fallback for unknown unicast and multicast before sufficient destination knowledge exists.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98448"/>
            <a:ext cx="411480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98448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The FDB is just a flat MAC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75564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VLAN-aware bridge, forwarding entries are always tied to VLAN context — the key is MAC address plus VLAN, not MAC alone.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411480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32888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Access and trunk are the deepest 802.1Q concepts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9008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operational shorthand. The actual mechanisms are PVID, acceptable frame types, ingress filtering, and egress tagging behavior.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532888"/>
            <a:ext cx="411480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532888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06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PCP just passes through the bridge unchanged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99008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can decode incoming PCP, regenerate priority, map to traffic classes, and then encode a different PCP on egress.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767328"/>
            <a:ext cx="411480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67328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Congestion management just means bigger buffers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2452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policy chain: metering, priority regeneration, traffic-class mapping, scheduling or shaping algorithms, and DEI drop policy.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767328"/>
            <a:ext cx="4114800" cy="1115568"/>
          </a:xfrm>
          <a:prstGeom prst="rect">
            <a:avLst/>
          </a:prstGeom>
          <a:solidFill>
            <a:srgbClr val="1A4D6E"/>
          </a:solidFill>
          <a:ln w="12700">
            <a:solidFill>
              <a:srgbClr val="1A4D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767328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40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S-VLAN and C-VLAN are just two names for the same thing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22452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C-VLAN (0x81-00) carries customer-side VLAN meaning. S-VLAN (0x88-A8) carries provider-side service context. Different EtherTypes, different roles.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Complete Picture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4069080" cy="1024128"/>
          </a:xfrm>
          <a:prstGeom prst="rect">
            <a:avLst/>
          </a:prstGeom>
          <a:solidFill>
            <a:srgbClr val="1A4D6E"/>
          </a:solidFill>
          <a:ln w="25400">
            <a:solidFill>
              <a:srgbClr val="1A9D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9D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Forwarding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Learn → Look Up → Filter → Forward or Flood. Every frame, every time, within VLAN scope.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61872"/>
            <a:ext cx="4069080" cy="1024128"/>
          </a:xfrm>
          <a:prstGeom prst="rect">
            <a:avLst/>
          </a:prstGeom>
          <a:solidFill>
            <a:srgbClr val="1A4D6E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3533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FDB: MAC + VLAN = Decision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0328" y="1700784"/>
            <a:ext cx="3867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FDB key is always destination MAC plus VLAN context. Dynamic entries learn and age; static entries persist by design.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261872"/>
            <a:ext cx="4069080" cy="1024128"/>
          </a:xfrm>
          <a:prstGeom prst="rect">
            <a:avLst/>
          </a:prstGeom>
          <a:solidFill>
            <a:srgbClr val="1A4D6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533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Access, Trunk, VLAN Relay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supply VLAN context: port-assigned (PVID) or tag-carried. The bridge does the same job either way.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450592"/>
            <a:ext cx="4069080" cy="1024128"/>
          </a:xfrm>
          <a:prstGeom prst="rect">
            <a:avLst/>
          </a:prstGeom>
          <a:solidFill>
            <a:srgbClr val="1A4D6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5420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C-VLAN and S-VLAN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926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tags (0x81-00) carry customer meaning. Service tags (0x88-A8) carry provider transport context. Q-in-Q stacks both.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450592"/>
            <a:ext cx="4069080" cy="1024128"/>
          </a:xfrm>
          <a:prstGeom prst="rect">
            <a:avLst/>
          </a:prstGeom>
          <a:solidFill>
            <a:srgbClr val="1A4D6E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420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Congestion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decode → priority regeneration → traffic class → transmission selection → DEI drop policy. Not just queues.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450592"/>
            <a:ext cx="4069080" cy="1024128"/>
          </a:xfrm>
          <a:prstGeom prst="rect">
            <a:avLst/>
          </a:prstGeom>
          <a:solidFill>
            <a:srgbClr val="1A4D6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5420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Eligibility (DEI)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926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may be marked sacrificeable under congestion, separate from their VLAN membership or priority level.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817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frame arrives. The bridge classifies, learns, decides, and either delivers it precisely — or floods it safely until it can.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2941</Words>
  <Application>Microsoft Macintosh PowerPoint</Application>
  <PresentationFormat>On-screen Show (16:9)</PresentationFormat>
  <Paragraphs>392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Forwarding, VLANs, and Congestion Management</dc:title>
  <dc:subject>PptxGenJS Presentation</dc:subject>
  <dc:creator>PptxGenJS</dc:creator>
  <cp:lastModifiedBy>CHOCKALINGAM THIAGARAJAN</cp:lastModifiedBy>
  <cp:revision>3</cp:revision>
  <dcterms:created xsi:type="dcterms:W3CDTF">2026-04-20T17:01:32Z</dcterms:created>
  <dcterms:modified xsi:type="dcterms:W3CDTF">2026-04-22T14:46:03Z</dcterms:modified>
</cp:coreProperties>
</file>