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0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40F1A"/>
          </a:solidFill>
          <a:ln w="12700">
            <a:solidFill>
              <a:srgbClr val="04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00400"/>
            <a:ext cx="2560320" cy="19431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3200400"/>
          </a:xfrm>
          <a:prstGeom prst="rect">
            <a:avLst/>
          </a:prstGeom>
          <a:solidFill>
            <a:srgbClr val="071220"/>
          </a:solidFill>
          <a:ln w="12700">
            <a:solidFill>
              <a:srgbClr val="07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7724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5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ETHERNET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65836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Frame Formats,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&amp; Frame Filtering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58368" y="29077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structure · EtherType · VLAN tagging · Broadcast/Multicast · Filtering · Automotive context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3520440"/>
            <a:ext cx="256032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6393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Technical Briefing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06908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" y="442569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Format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406908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64208" y="442569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406908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98064" y="442569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Bcast/Mcast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9936" y="4069080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931920" y="442569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3792" y="4069080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65776" y="442569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topics structured for a 2-hour delivery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9456" y="1207008"/>
            <a:ext cx="4334256" cy="841248"/>
          </a:xfrm>
          <a:prstGeom prst="rect">
            <a:avLst/>
          </a:prstGeom>
          <a:solidFill>
            <a:srgbClr val="E2F0F8"/>
          </a:solidFill>
          <a:ln w="6350">
            <a:solidFill>
              <a:srgbClr val="B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" y="1207008"/>
            <a:ext cx="402336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1207008"/>
            <a:ext cx="40233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" y="1280160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Frame Structure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1591056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definitive Layer 2 envelope — fields, layout, and what each byte does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9456" y="2139696"/>
            <a:ext cx="4334256" cy="841248"/>
          </a:xfrm>
          <a:prstGeom prst="rect">
            <a:avLst/>
          </a:prstGeom>
          <a:solidFill>
            <a:srgbClr val="E2F0F8"/>
          </a:solidFill>
          <a:ln w="6350">
            <a:solidFill>
              <a:srgbClr val="B8D8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" y="2139696"/>
            <a:ext cx="402336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" y="2139696"/>
            <a:ext cx="40233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" y="2212848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Format Variants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4944" y="2523744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vs 802.3/LLC/SNAP — which format you will actually see and why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" y="3072384"/>
            <a:ext cx="4334256" cy="841248"/>
          </a:xfrm>
          <a:prstGeom prst="rect">
            <a:avLst/>
          </a:prstGeom>
          <a:solidFill>
            <a:srgbClr val="E2F0F8"/>
          </a:solidFill>
          <a:ln w="6350">
            <a:solidFill>
              <a:srgbClr val="B8D8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" y="3072384"/>
            <a:ext cx="402336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" y="3072384"/>
            <a:ext cx="40233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" y="3145536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VLAN-Tagged Frames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4944" y="3456432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Single-tag and double-tag (Q-in-Q) — the 802.1Q four-byte insert explained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9456" y="4005072"/>
            <a:ext cx="4334256" cy="841248"/>
          </a:xfrm>
          <a:prstGeom prst="rect">
            <a:avLst/>
          </a:prstGeom>
          <a:solidFill>
            <a:srgbClr val="E2F0F8"/>
          </a:solidFill>
          <a:ln w="6350">
            <a:solidFill>
              <a:srgbClr val="B8D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" y="4005072"/>
            <a:ext cx="402336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" y="4005072"/>
            <a:ext cx="40233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" y="4078224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Registry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4944" y="4389120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selector — key values, IANA registry, and automotive EtherTypes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207008"/>
            <a:ext cx="4334256" cy="841248"/>
          </a:xfrm>
          <a:prstGeom prst="rect">
            <a:avLst/>
          </a:prstGeom>
          <a:solidFill>
            <a:srgbClr val="E2F5F0"/>
          </a:solidFill>
          <a:ln w="6350">
            <a:solidFill>
              <a:srgbClr val="A7DD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207008"/>
            <a:ext cx="402336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207008"/>
            <a:ext cx="40233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0368" y="1280160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Broadcast, Multicast, Unicast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30368" y="1591056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delivery patterns and what a switch does with each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139696"/>
            <a:ext cx="4334256" cy="841248"/>
          </a:xfrm>
          <a:prstGeom prst="rect">
            <a:avLst/>
          </a:prstGeom>
          <a:solidFill>
            <a:srgbClr val="E2F5F0"/>
          </a:solidFill>
          <a:ln w="6350">
            <a:solidFill>
              <a:srgbClr val="A7DD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139696"/>
            <a:ext cx="402336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139696"/>
            <a:ext cx="40233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30368" y="2212848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Filtering Fundamentals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30368" y="2523744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learning, flooding, VLAN filtering — how a bridge actually decides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072384"/>
            <a:ext cx="4334256" cy="841248"/>
          </a:xfrm>
          <a:prstGeom prst="rect">
            <a:avLst/>
          </a:prstGeom>
          <a:solidFill>
            <a:srgbClr val="E2F5F0"/>
          </a:solidFill>
          <a:ln w="6350">
            <a:solidFill>
              <a:srgbClr val="A7DD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072384"/>
            <a:ext cx="402336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072384"/>
            <a:ext cx="40233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30368" y="3145536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 Frames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230368" y="3456432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MTU &gt; 1500 bytes — when they help, when they hurt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4005072"/>
            <a:ext cx="4334256" cy="841248"/>
          </a:xfrm>
          <a:prstGeom prst="rect">
            <a:avLst/>
          </a:prstGeom>
          <a:solidFill>
            <a:srgbClr val="E2F5F0"/>
          </a:solidFill>
          <a:ln w="6350">
            <a:solidFill>
              <a:srgbClr val="A7DD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4005072"/>
            <a:ext cx="402336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005072"/>
            <a:ext cx="40233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30368" y="4078224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Context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230368" y="4389120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of the above becomes part of a safety and timing architecture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286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16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Frame 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2 envelope — every field, every byte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Frame Anatomy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Ethernet frame on the wire follows this structure — preamble is not shown (stripped at MAC layer)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1294790" cy="658368"/>
          </a:xfrm>
          <a:prstGeom prst="rect">
            <a:avLst/>
          </a:prstGeom>
          <a:solidFill>
            <a:srgbClr val="1E4E82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115568"/>
            <a:ext cx="1221638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" y="1497421"/>
            <a:ext cx="1221638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50822" y="1115568"/>
            <a:ext cx="1294790" cy="658368"/>
          </a:xfrm>
          <a:prstGeom prst="rect">
            <a:avLst/>
          </a:prstGeom>
          <a:solidFill>
            <a:srgbClr val="1C7293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7398" y="1115568"/>
            <a:ext cx="1221638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87398" y="1497421"/>
            <a:ext cx="1221638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45613" y="1115568"/>
            <a:ext cx="863194" cy="658368"/>
          </a:xfrm>
          <a:prstGeom prst="rect">
            <a:avLst/>
          </a:prstGeom>
          <a:solidFill>
            <a:srgbClr val="065A82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2189" y="1115568"/>
            <a:ext cx="790042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/ Length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82189" y="1497421"/>
            <a:ext cx="79004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08806" y="1115568"/>
            <a:ext cx="4315968" cy="658368"/>
          </a:xfrm>
          <a:prstGeom prst="rect">
            <a:avLst/>
          </a:prstGeom>
          <a:solidFill>
            <a:srgbClr val="E2F0F8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5382" y="1115568"/>
            <a:ext cx="4242816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(MAC client data)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45382" y="1497421"/>
            <a:ext cx="4242816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24774" y="1115568"/>
            <a:ext cx="863194" cy="658368"/>
          </a:xfrm>
          <a:prstGeom prst="rect">
            <a:avLst/>
          </a:prstGeom>
          <a:solidFill>
            <a:srgbClr val="5B21B6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61350" y="1115568"/>
            <a:ext cx="790042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61350" y="1497421"/>
            <a:ext cx="79004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883664"/>
            <a:ext cx="2798064" cy="1207008"/>
          </a:xfrm>
          <a:prstGeom prst="rect">
            <a:avLst/>
          </a:prstGeom>
          <a:solidFill>
            <a:srgbClr val="EEF4FA"/>
          </a:solidFill>
          <a:ln w="7620">
            <a:solidFill>
              <a:srgbClr val="B8D8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196596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MAC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84048" y="2286000"/>
            <a:ext cx="25420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bytes. Identifies the intended recipient(s). May be unicast (one node), multicast (group), or broadcast (FF:FF:FF:FF:FF:FF — all nodes on the L2 domain).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27248" y="1883664"/>
            <a:ext cx="2798064" cy="1207008"/>
          </a:xfrm>
          <a:prstGeom prst="rect">
            <a:avLst/>
          </a:prstGeom>
          <a:solidFill>
            <a:srgbClr val="EEF4FA"/>
          </a:solidFill>
          <a:ln w="7620">
            <a:solidFill>
              <a:srgbClr val="B8D8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55264" y="196596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255264" y="2286000"/>
            <a:ext cx="25420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bytes. Always unicast — identifies the frame sender. A switch learns from source MAC addresses to build its forwarding database.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98464" y="1883664"/>
            <a:ext cx="2798064" cy="1207008"/>
          </a:xfrm>
          <a:prstGeom prst="rect">
            <a:avLst/>
          </a:prstGeom>
          <a:solidFill>
            <a:srgbClr val="EEF4FA"/>
          </a:solidFill>
          <a:ln w="7620">
            <a:solidFill>
              <a:srgbClr val="B8D8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196596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/ Length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26480" y="2286000"/>
            <a:ext cx="25420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bytes. If ≥ 0x0600 → EtherType (protocol ID). If &lt; 0x0600 → length (802.3 style). The value 0x0600 = 1536 decimal.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163824"/>
            <a:ext cx="4297680" cy="1481328"/>
          </a:xfrm>
          <a:prstGeom prst="rect">
            <a:avLst/>
          </a:prstGeom>
          <a:solidFill>
            <a:srgbClr val="E2F5F0"/>
          </a:solidFill>
          <a:ln w="7620">
            <a:solidFill>
              <a:srgbClr val="B8D8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3246120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(MAC client data)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84048" y="3566160"/>
            <a:ext cx="404164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46–1500 bytes (standard MTU). Minimum 46 bytes enforced by padding if needed. Carries the upper-layer protocol data — IP packet, ARP, PTP, etc.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163824"/>
            <a:ext cx="4169664" cy="1481328"/>
          </a:xfrm>
          <a:prstGeom prst="rect">
            <a:avLst/>
          </a:prstGeom>
          <a:solidFill>
            <a:srgbClr val="F0EEFF"/>
          </a:solidFill>
          <a:ln w="7620">
            <a:solidFill>
              <a:srgbClr val="B8D8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91456" y="324612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 — Frame Check Sequence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791456" y="3566160"/>
            <a:ext cx="39136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bytes. CRC-32 integrity check over the entire frame from Dst MAC through end of payload. Receiver recalculates and compares — mismatch = frame discarded.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Frame Properties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model: Ethernet is a very specific L2 envelope with addressing, protocol ID, payload, and integrity check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8631936" cy="804672"/>
          </a:xfrm>
          <a:prstGeom prst="rect">
            <a:avLst/>
          </a:prstGeom>
          <a:solidFill>
            <a:srgbClr val="E2F0F8"/>
          </a:solidFill>
          <a:ln w="10160">
            <a:solidFill>
              <a:srgbClr val="B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15568"/>
            <a:ext cx="109728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70432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Ethernet frame is a very specific Layer 2 envelope with addressing, protocol-identification or length information, payload, and an end-of-frame integrity check."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2029968"/>
            <a:ext cx="8631936" cy="457200"/>
          </a:xfrm>
          <a:prstGeom prst="rect">
            <a:avLst/>
          </a:prstGeom>
          <a:solidFill>
            <a:srgbClr val="EEF4FA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2029968"/>
            <a:ext cx="1463040" cy="457200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02996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Preamble + SFD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73936" y="20848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+ 1 = 8 bytes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0" y="2075688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the MAC frame. Added by PHY for clock sync and start-of-frame detection. Stripped before the MAC layer sees the frame.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523744"/>
            <a:ext cx="8631936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523744"/>
            <a:ext cx="14630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523744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frame size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73936" y="25786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bytes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0" y="2569464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Dst MAC through FCS. Minimum enforced to ensure collision detection works correctly at L1.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3017520"/>
            <a:ext cx="8631936" cy="457200"/>
          </a:xfrm>
          <a:prstGeom prst="rect">
            <a:avLst/>
          </a:prstGeom>
          <a:solidFill>
            <a:srgbClr val="EEF4FA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3017520"/>
            <a:ext cx="14630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0175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frame size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73936" y="307238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1518 bytes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00400" y="3063240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untagged max (Dst MAC to FCS). Adds 4 bytes for each VLAN tag (1522 with one tag, 1526 with two tags).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3511296"/>
            <a:ext cx="8631936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511296"/>
            <a:ext cx="14630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511296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payload (MTU)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73936" y="3566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bytes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0" y="3557016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Ethernet MTU. Anything above this is a jumbo frame — device-dependent, not IEEE-standard.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4005072"/>
            <a:ext cx="8631936" cy="457200"/>
          </a:xfrm>
          <a:prstGeom prst="rect">
            <a:avLst/>
          </a:prstGeom>
          <a:solidFill>
            <a:srgbClr val="EEF4FA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4005072"/>
            <a:ext cx="1463040" cy="4572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4005072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 coverage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73936" y="40599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 CRC-32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200400" y="4050792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Dst MAC → end of payload. A single bit error detected with high probability. Errored frames are silently discarded.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" y="4498848"/>
            <a:ext cx="8631936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4498848"/>
            <a:ext cx="14630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449884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73936" y="45537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48-bit MAC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200400" y="4544568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unique (OUI + device ID). First bit of Dst MAC: 0=unicast, 1=multicast/broadcast. Second bit: 0=globally administered.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286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16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Format Variants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vs 802.3/LLC/SNAP — and why Ethernet II won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— The Dominant Format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Basically all modern IP networking uses Ethernet II — EtherType directly identifies the next protocol at Layer 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6032" y="1115568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frame structure: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1294790" cy="621792"/>
          </a:xfrm>
          <a:prstGeom prst="rect">
            <a:avLst/>
          </a:prstGeom>
          <a:solidFill>
            <a:srgbClr val="1E4E82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444752"/>
            <a:ext cx="1221638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" y="1805391"/>
            <a:ext cx="122163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50822" y="1444752"/>
            <a:ext cx="1294790" cy="621792"/>
          </a:xfrm>
          <a:prstGeom prst="rect">
            <a:avLst/>
          </a:prstGeom>
          <a:solidFill>
            <a:srgbClr val="1C7293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7398" y="1444752"/>
            <a:ext cx="1221638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87398" y="1805391"/>
            <a:ext cx="122163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45613" y="1444752"/>
            <a:ext cx="863194" cy="621792"/>
          </a:xfrm>
          <a:prstGeom prst="rect">
            <a:avLst/>
          </a:prstGeom>
          <a:solidFill>
            <a:srgbClr val="D97706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2189" y="1444752"/>
            <a:ext cx="790042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82189" y="1805391"/>
            <a:ext cx="79004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08807" y="1444752"/>
            <a:ext cx="4324432" cy="613284"/>
          </a:xfrm>
          <a:prstGeom prst="rect">
            <a:avLst/>
          </a:prstGeom>
          <a:solidFill>
            <a:srgbClr val="E2F0F8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3" y="1444752"/>
            <a:ext cx="2666389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— next protocol data (IP, ARP, PTP…)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45382" y="1805391"/>
            <a:ext cx="424281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24774" y="1444752"/>
            <a:ext cx="863194" cy="621792"/>
          </a:xfrm>
          <a:prstGeom prst="rect">
            <a:avLst/>
          </a:prstGeom>
          <a:solidFill>
            <a:srgbClr val="5B21B6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1350" y="1444752"/>
            <a:ext cx="790042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61350" y="1805391"/>
            <a:ext cx="79004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77210" y="2066544"/>
            <a:ext cx="0" cy="256032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14016" y="232003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0x0600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EtherType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2834640"/>
            <a:ext cx="4114800" cy="1965960"/>
          </a:xfrm>
          <a:prstGeom prst="rect">
            <a:avLst/>
          </a:prstGeom>
          <a:solidFill>
            <a:srgbClr val="EEF4FA"/>
          </a:solidFill>
          <a:ln w="7620">
            <a:solidFill>
              <a:srgbClr val="B8D8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048" y="2916936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Ethernet II became dominant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84048" y="3236976"/>
            <a:ext cx="3858768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EtherType field directly tells the receiver what the next protocol is — no additional LLC header required.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does not need to inspect a separate LLC header to understand what comes next. EtherType is self-sufficient as a protocol discriminator.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Simplicity: fewer headers → less parsing → lower latency overhead.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35424" y="2834640"/>
            <a:ext cx="4352544" cy="1965960"/>
          </a:xfrm>
          <a:prstGeom prst="rect">
            <a:avLst/>
          </a:prstGeom>
          <a:solidFill>
            <a:srgbClr val="E2F5F0"/>
          </a:solidFill>
          <a:ln w="7620">
            <a:solidFill>
              <a:srgbClr val="B8D8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291693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Ethernet II EtherTypes you will see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663440" y="3236976"/>
            <a:ext cx="4096512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0x0800  IPv4 (the dominant network layer protocol)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0x0806  ARP (address resolution)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0x86DD  IPv6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0x8100  VLAN tag (C-TAG) — insert 4-byte 802.1Q tag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0x88F7  PTP (Precision Time Protocol — gPTP uses this)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0x88CC  LLDP (link layer discovery)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0x88E5  MACsec (802.1AE encryption)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802.3 / LLC / SNAP — The Historical Alternative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802.3 framing uses a length field then carries the protocol identifier inside the payload via LLC and SNAP headers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6032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802.3 + LLC + SNAP frame structure: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1135781" cy="621792"/>
          </a:xfrm>
          <a:prstGeom prst="rect">
            <a:avLst/>
          </a:prstGeom>
          <a:solidFill>
            <a:srgbClr val="1E4E82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444752"/>
            <a:ext cx="1062629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" y="1805391"/>
            <a:ext cx="1062629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391813" y="1444752"/>
            <a:ext cx="1135781" cy="621792"/>
          </a:xfrm>
          <a:prstGeom prst="rect">
            <a:avLst/>
          </a:prstGeom>
          <a:solidFill>
            <a:srgbClr val="1C7293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8389" y="1444752"/>
            <a:ext cx="1062629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28389" y="1805391"/>
            <a:ext cx="1062629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27594" y="1444752"/>
            <a:ext cx="681469" cy="621792"/>
          </a:xfrm>
          <a:prstGeom prst="rect">
            <a:avLst/>
          </a:prstGeom>
          <a:solidFill>
            <a:srgbClr val="718096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4170" y="1444752"/>
            <a:ext cx="608317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64170" y="1805391"/>
            <a:ext cx="608317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9063" y="1444752"/>
            <a:ext cx="454312" cy="621792"/>
          </a:xfrm>
          <a:prstGeom prst="rect">
            <a:avLst/>
          </a:prstGeom>
          <a:solidFill>
            <a:srgbClr val="B45309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5639" y="1444752"/>
            <a:ext cx="381160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DSAP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45639" y="1805391"/>
            <a:ext cx="38116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63375" y="1444752"/>
            <a:ext cx="454312" cy="621792"/>
          </a:xfrm>
          <a:prstGeom prst="rect">
            <a:avLst/>
          </a:prstGeom>
          <a:solidFill>
            <a:srgbClr val="B45309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99951" y="1444752"/>
            <a:ext cx="381160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SSAP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99951" y="1805391"/>
            <a:ext cx="38116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117688" y="1444752"/>
            <a:ext cx="454312" cy="621792"/>
          </a:xfrm>
          <a:prstGeom prst="rect">
            <a:avLst/>
          </a:prstGeom>
          <a:solidFill>
            <a:srgbClr val="B45309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54264" y="1444752"/>
            <a:ext cx="381160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154264" y="1805391"/>
            <a:ext cx="38116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0" y="1444752"/>
            <a:ext cx="681469" cy="621792"/>
          </a:xfrm>
          <a:prstGeom prst="rect">
            <a:avLst/>
          </a:prstGeom>
          <a:solidFill>
            <a:srgbClr val="7C3AED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1444752"/>
            <a:ext cx="608317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08576" y="1805391"/>
            <a:ext cx="608317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53469" y="1444752"/>
            <a:ext cx="681469" cy="621792"/>
          </a:xfrm>
          <a:prstGeom prst="rect">
            <a:avLst/>
          </a:prstGeom>
          <a:solidFill>
            <a:srgbClr val="7C3AED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90045" y="1444752"/>
            <a:ext cx="608317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90045" y="1805391"/>
            <a:ext cx="608317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34937" y="1444752"/>
            <a:ext cx="2271562" cy="621792"/>
          </a:xfrm>
          <a:prstGeom prst="rect">
            <a:avLst/>
          </a:prstGeom>
          <a:solidFill>
            <a:srgbClr val="E2F0F8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71513" y="1444752"/>
            <a:ext cx="2198410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71513" y="1805391"/>
            <a:ext cx="219841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206499" y="1444752"/>
            <a:ext cx="681469" cy="621792"/>
          </a:xfrm>
          <a:prstGeom prst="rect">
            <a:avLst/>
          </a:prstGeom>
          <a:solidFill>
            <a:srgbClr val="5B21B6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43075" y="1444752"/>
            <a:ext cx="608317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43075" y="1805391"/>
            <a:ext cx="608317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42816" y="2066544"/>
            <a:ext cx="1536192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42816" y="2066544"/>
            <a:ext cx="0" cy="201168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79008" y="2066544"/>
            <a:ext cx="0" cy="201168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9392" y="22677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 (3 B)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779008" y="2066544"/>
            <a:ext cx="153619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2066544"/>
            <a:ext cx="0" cy="20116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15584" y="22677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(5 B)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6032" y="2615184"/>
            <a:ext cx="8631936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" y="26151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163824" y="26151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98464" y="26151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802.3 + LLC + SNAP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56032" y="2999232"/>
            <a:ext cx="8631936" cy="329184"/>
          </a:xfrm>
          <a:prstGeom prst="rect">
            <a:avLst/>
          </a:prstGeom>
          <a:solidFill>
            <a:srgbClr val="EEF4FA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30175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ID position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163824" y="30175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field (bytes 13–14)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998464" y="30175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payload in LLC/SNAP headers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56032" y="3346704"/>
            <a:ext cx="8631936" cy="329184"/>
          </a:xfrm>
          <a:prstGeom prst="rect">
            <a:avLst/>
          </a:prstGeom>
          <a:solidFill>
            <a:srgbClr val="F8FBFD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" y="33649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ID style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163824" y="33649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EtherType value ≥ 0x0600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DSAP=0xAA, SSAP=0xAA, OUI + 2-byte protocol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56032" y="3694176"/>
            <a:ext cx="8631936" cy="329184"/>
          </a:xfrm>
          <a:prstGeom prst="rect">
            <a:avLst/>
          </a:prstGeom>
          <a:solidFill>
            <a:srgbClr val="EEF4FA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" y="37124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163824" y="37124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extra bytes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98464" y="37124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bytes of LLC + SNAP overhead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56032" y="4041648"/>
            <a:ext cx="8631936" cy="329184"/>
          </a:xfrm>
          <a:prstGeom prst="rect">
            <a:avLst/>
          </a:prstGeom>
          <a:solidFill>
            <a:srgbClr val="F8FBFD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" y="405993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for receiver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163824" y="405993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 lookup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998464" y="405993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Length, then LLC, then SNAP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56032" y="4389120"/>
            <a:ext cx="8631936" cy="329184"/>
          </a:xfrm>
          <a:prstGeom prst="rect">
            <a:avLst/>
          </a:prstGeom>
          <a:solidFill>
            <a:srgbClr val="EEF4FA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9184" y="44074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modern systems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3163824" y="44074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— all IP/IPv6/ARP/PTP/VLAN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998464" y="44074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— 802.11 WiFi management, STP, some older protocols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56032" y="4736592"/>
            <a:ext cx="8631936" cy="329184"/>
          </a:xfrm>
          <a:prstGeom prst="rect">
            <a:avLst/>
          </a:prstGeom>
          <a:solidFill>
            <a:srgbClr val="F8FBFD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9184" y="4754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relevance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3163824" y="4754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— Ethernet II for all backbone traffic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998464" y="4754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encountered; know it exists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286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16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VLAN-Tagged Frames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Single-tag (802.1Q) · Double-tag (Q-in-Q) · The four-byte insert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802.1Q VLAN Tag — Field by Field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VLAN-tagged frame inserts a 4-byte tag between Source MAC and the original EtherType/payload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6032" y="1078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Untagged Ethernet II: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335024"/>
            <a:ext cx="1726387" cy="420624"/>
          </a:xfrm>
          <a:prstGeom prst="rect">
            <a:avLst/>
          </a:prstGeom>
          <a:solidFill>
            <a:srgbClr val="1E4E82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335024"/>
            <a:ext cx="1653235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" y="1578986"/>
            <a:ext cx="1653235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82419" y="1335024"/>
            <a:ext cx="1726387" cy="420624"/>
          </a:xfrm>
          <a:prstGeom prst="rect">
            <a:avLst/>
          </a:prstGeom>
          <a:solidFill>
            <a:srgbClr val="1C7293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8995" y="1335024"/>
            <a:ext cx="1653235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18995" y="1578986"/>
            <a:ext cx="1653235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08806" y="1335024"/>
            <a:ext cx="1150925" cy="420624"/>
          </a:xfrm>
          <a:prstGeom prst="rect">
            <a:avLst/>
          </a:prstGeom>
          <a:solidFill>
            <a:srgbClr val="D97706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5382" y="1335024"/>
            <a:ext cx="1077773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45382" y="1578986"/>
            <a:ext cx="1077773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59731" y="1335024"/>
            <a:ext cx="2877312" cy="420624"/>
          </a:xfrm>
          <a:prstGeom prst="rect">
            <a:avLst/>
          </a:prstGeom>
          <a:solidFill>
            <a:srgbClr val="E2F0F8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6307" y="1335024"/>
            <a:ext cx="2804160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6307" y="1578986"/>
            <a:ext cx="280416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37043" y="1335024"/>
            <a:ext cx="1150925" cy="420624"/>
          </a:xfrm>
          <a:prstGeom prst="rect">
            <a:avLst/>
          </a:prstGeom>
          <a:solidFill>
            <a:srgbClr val="5B21B6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3619" y="1335024"/>
            <a:ext cx="1077773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3619" y="1578986"/>
            <a:ext cx="1077773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82880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749040" y="21945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VLAN tag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56032" y="2450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Single-tagged frame (C-TAG, 0x8100):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56032" y="2706624"/>
            <a:ext cx="1438656" cy="493776"/>
          </a:xfrm>
          <a:prstGeom prst="rect">
            <a:avLst/>
          </a:prstGeom>
          <a:solidFill>
            <a:srgbClr val="1E4E82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2608" y="2706624"/>
            <a:ext cx="1365504" cy="286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92608" y="2993014"/>
            <a:ext cx="136550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1694688" y="2706624"/>
            <a:ext cx="1438656" cy="493776"/>
          </a:xfrm>
          <a:prstGeom prst="rect">
            <a:avLst/>
          </a:prstGeom>
          <a:solidFill>
            <a:srgbClr val="1C7293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731264" y="2706624"/>
            <a:ext cx="1365504" cy="286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731264" y="2993014"/>
            <a:ext cx="136550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133344" y="2706624"/>
            <a:ext cx="959104" cy="493776"/>
          </a:xfrm>
          <a:prstGeom prst="rect">
            <a:avLst/>
          </a:prstGeom>
          <a:solidFill>
            <a:srgbClr val="1C7293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169920" y="2706624"/>
            <a:ext cx="885952" cy="286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TPID 0x8100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169920" y="2993014"/>
            <a:ext cx="88595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092448" y="2706624"/>
            <a:ext cx="959104" cy="493776"/>
          </a:xfrm>
          <a:prstGeom prst="rect">
            <a:avLst/>
          </a:prstGeom>
          <a:solidFill>
            <a:srgbClr val="1C7293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29024" y="2706624"/>
            <a:ext cx="885952" cy="286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 (PCP|DEI|VID)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129024" y="2993014"/>
            <a:ext cx="88595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051552" y="2706624"/>
            <a:ext cx="959104" cy="493776"/>
          </a:xfrm>
          <a:prstGeom prst="rect">
            <a:avLst/>
          </a:prstGeom>
          <a:solidFill>
            <a:srgbClr val="D97706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88128" y="2706624"/>
            <a:ext cx="885952" cy="286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088128" y="2993014"/>
            <a:ext cx="88595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010656" y="2706624"/>
            <a:ext cx="1918208" cy="493776"/>
          </a:xfrm>
          <a:prstGeom prst="rect">
            <a:avLst/>
          </a:prstGeom>
          <a:solidFill>
            <a:srgbClr val="E2F0F8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47232" y="2706624"/>
            <a:ext cx="1845056" cy="286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047232" y="2993014"/>
            <a:ext cx="184505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7928864" y="2706624"/>
            <a:ext cx="959104" cy="493776"/>
          </a:xfrm>
          <a:prstGeom prst="rect">
            <a:avLst/>
          </a:prstGeom>
          <a:solidFill>
            <a:srgbClr val="5B21B6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965440" y="2706624"/>
            <a:ext cx="885952" cy="286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965440" y="2993014"/>
            <a:ext cx="88595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535424" y="3200400"/>
            <a:ext cx="0" cy="256032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35424" y="3456432"/>
            <a:ext cx="32918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992624" y="3456432"/>
            <a:ext cx="914400" cy="566928"/>
          </a:xfrm>
          <a:prstGeom prst="rect">
            <a:avLst/>
          </a:prstGeom>
          <a:solidFill>
            <a:srgbClr val="065A82"/>
          </a:solidFill>
          <a:ln w="6350">
            <a:solidFill>
              <a:srgbClr val="B8D8E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29200" y="345643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5029200" y="374904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bits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907024" y="3456432"/>
            <a:ext cx="548640" cy="566928"/>
          </a:xfrm>
          <a:prstGeom prst="rect">
            <a:avLst/>
          </a:prstGeom>
          <a:solidFill>
            <a:srgbClr val="065A82"/>
          </a:solidFill>
          <a:ln w="6350">
            <a:solidFill>
              <a:srgbClr val="B8D8E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0" y="345643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943600" y="37490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455664" y="3456432"/>
            <a:ext cx="1828800" cy="566928"/>
          </a:xfrm>
          <a:prstGeom prst="rect">
            <a:avLst/>
          </a:prstGeom>
          <a:solidFill>
            <a:srgbClr val="1C7293"/>
          </a:solidFill>
          <a:ln w="6350">
            <a:solidFill>
              <a:srgbClr val="B8D8E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92240" y="3456432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 (VLAN ID)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492240" y="374904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bits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256032" y="4078224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— Priority Code Point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0–7 (0=lowest, 7=highest). Maps to queue priority. Used by TSN for traffic class assignment.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256032" y="4059936"/>
            <a:ext cx="2706624" cy="27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182112" y="4078224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— Drop Eligible Indicator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bit. Marks frames that may be dropped under congestion.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3182112" y="4059936"/>
            <a:ext cx="2706624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742432" y="4078224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 — VLAN Identifier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bits → 4094 usable VLANs (0 and 4095 reserved). Identifies which VLAN this frame belongs to.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5742432" y="4059936"/>
            <a:ext cx="2706624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Single-Tagged vs Double-Tagged (Q-in-Q)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can carry one or two VLAN tags — OPEN Alliance Layer 2 tests explicitly verify both single and double-tagged behaviour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6032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Single-tagged (C-TAG — 0x8100):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08176"/>
            <a:ext cx="1392248" cy="475488"/>
          </a:xfrm>
          <a:prstGeom prst="rect">
            <a:avLst/>
          </a:prstGeom>
          <a:solidFill>
            <a:srgbClr val="1E4E82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408176"/>
            <a:ext cx="1319096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" y="1683959"/>
            <a:ext cx="131909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8280" y="1408176"/>
            <a:ext cx="1392248" cy="475488"/>
          </a:xfrm>
          <a:prstGeom prst="rect">
            <a:avLst/>
          </a:prstGeom>
          <a:solidFill>
            <a:srgbClr val="1C7293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84856" y="1408176"/>
            <a:ext cx="1319096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84856" y="1683959"/>
            <a:ext cx="131909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40527" y="1408176"/>
            <a:ext cx="835349" cy="475488"/>
          </a:xfrm>
          <a:prstGeom prst="rect">
            <a:avLst/>
          </a:prstGeom>
          <a:solidFill>
            <a:srgbClr val="1C7293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7103" y="1408176"/>
            <a:ext cx="762197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TPID 0x8100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77103" y="1683959"/>
            <a:ext cx="7621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75876" y="1408176"/>
            <a:ext cx="835349" cy="475488"/>
          </a:xfrm>
          <a:prstGeom prst="rect">
            <a:avLst/>
          </a:prstGeom>
          <a:solidFill>
            <a:srgbClr val="1C7293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12452" y="1408176"/>
            <a:ext cx="762197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 (PCP|DEI|VID)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12452" y="1683959"/>
            <a:ext cx="7621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11225" y="1408176"/>
            <a:ext cx="835349" cy="475488"/>
          </a:xfrm>
          <a:prstGeom prst="rect">
            <a:avLst/>
          </a:prstGeom>
          <a:solidFill>
            <a:srgbClr val="D97706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7801" y="1408176"/>
            <a:ext cx="762197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47801" y="1683959"/>
            <a:ext cx="7621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46573" y="1408176"/>
            <a:ext cx="2506046" cy="475488"/>
          </a:xfrm>
          <a:prstGeom prst="rect">
            <a:avLst/>
          </a:prstGeom>
          <a:solidFill>
            <a:srgbClr val="E2F0F8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83149" y="1408176"/>
            <a:ext cx="2432894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83149" y="1683959"/>
            <a:ext cx="243289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52619" y="1408176"/>
            <a:ext cx="835349" cy="475488"/>
          </a:xfrm>
          <a:prstGeom prst="rect">
            <a:avLst/>
          </a:prstGeom>
          <a:solidFill>
            <a:srgbClr val="5B21B6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89195" y="1408176"/>
            <a:ext cx="762197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89195" y="1683959"/>
            <a:ext cx="7621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6032" y="2048256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Double-tagged / Q-in-Q (S-TAG 0x88A8 outer, C-TAG 0x8100 inner):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" y="2395728"/>
            <a:ext cx="1046295" cy="475488"/>
          </a:xfrm>
          <a:prstGeom prst="rect">
            <a:avLst/>
          </a:prstGeom>
          <a:solidFill>
            <a:srgbClr val="1E4E82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2395728"/>
            <a:ext cx="973143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2608" y="2671511"/>
            <a:ext cx="97314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302327" y="2395728"/>
            <a:ext cx="1046295" cy="475488"/>
          </a:xfrm>
          <a:prstGeom prst="rect">
            <a:avLst/>
          </a:prstGeom>
          <a:solidFill>
            <a:srgbClr val="1C7293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38903" y="2395728"/>
            <a:ext cx="973143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338903" y="2671511"/>
            <a:ext cx="97314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348623" y="2395728"/>
            <a:ext cx="784721" cy="475488"/>
          </a:xfrm>
          <a:prstGeom prst="rect">
            <a:avLst/>
          </a:prstGeom>
          <a:solidFill>
            <a:srgbClr val="7C3AED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85199" y="2395728"/>
            <a:ext cx="711569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TPID 0x88A8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385199" y="2671511"/>
            <a:ext cx="711569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33344" y="2395728"/>
            <a:ext cx="784721" cy="475488"/>
          </a:xfrm>
          <a:prstGeom prst="rect">
            <a:avLst/>
          </a:prstGeom>
          <a:solidFill>
            <a:srgbClr val="7C3AED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69920" y="2395728"/>
            <a:ext cx="711569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TCI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169920" y="2671511"/>
            <a:ext cx="711569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918065" y="2395728"/>
            <a:ext cx="784721" cy="475488"/>
          </a:xfrm>
          <a:prstGeom prst="rect">
            <a:avLst/>
          </a:prstGeom>
          <a:solidFill>
            <a:srgbClr val="1C7293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54641" y="2395728"/>
            <a:ext cx="711569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TPID 0x8100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954641" y="2671511"/>
            <a:ext cx="711569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2787" y="2395728"/>
            <a:ext cx="784721" cy="475488"/>
          </a:xfrm>
          <a:prstGeom prst="rect">
            <a:avLst/>
          </a:prstGeom>
          <a:solidFill>
            <a:srgbClr val="1C7293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9363" y="2395728"/>
            <a:ext cx="711569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TCI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39363" y="2671511"/>
            <a:ext cx="711569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7508" y="2395728"/>
            <a:ext cx="784721" cy="475488"/>
          </a:xfrm>
          <a:prstGeom prst="rect">
            <a:avLst/>
          </a:prstGeom>
          <a:solidFill>
            <a:srgbClr val="D97706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24084" y="2395728"/>
            <a:ext cx="711569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524084" y="2671511"/>
            <a:ext cx="711569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72230" y="2395728"/>
            <a:ext cx="1831017" cy="475488"/>
          </a:xfrm>
          <a:prstGeom prst="rect">
            <a:avLst/>
          </a:prstGeom>
          <a:solidFill>
            <a:srgbClr val="E2F0F8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8806" y="2395728"/>
            <a:ext cx="1757865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308806" y="2671511"/>
            <a:ext cx="175786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103247" y="2395728"/>
            <a:ext cx="784721" cy="475488"/>
          </a:xfrm>
          <a:prstGeom prst="rect">
            <a:avLst/>
          </a:prstGeom>
          <a:solidFill>
            <a:srgbClr val="5B21B6"/>
          </a:solidFill>
          <a:ln w="8890">
            <a:solidFill>
              <a:srgbClr val="B8D8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39823" y="2395728"/>
            <a:ext cx="711569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139823" y="2671511"/>
            <a:ext cx="711569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6032" y="2980944"/>
            <a:ext cx="2834640" cy="2011680"/>
          </a:xfrm>
          <a:prstGeom prst="rect">
            <a:avLst/>
          </a:prstGeom>
          <a:solidFill>
            <a:srgbClr val="F0EEFF"/>
          </a:solidFill>
          <a:ln w="7620">
            <a:solidFill>
              <a:srgbClr val="B8D8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84048" y="306324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tag (S-TAG 0x88A8)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384048" y="3383280"/>
            <a:ext cx="2578608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VLAN tag. Added at the edge of a provider or backbone network. Outer TPID 0x88A8 indicates a Service VLAN per IEEE 802.1ad. Outer TCI carries provider-level VLAN ID and PCP.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200400" y="2980944"/>
            <a:ext cx="2834640" cy="2011680"/>
          </a:xfrm>
          <a:prstGeom prst="rect">
            <a:avLst/>
          </a:prstGeom>
          <a:solidFill>
            <a:srgbClr val="E2F5F0"/>
          </a:solidFill>
          <a:ln w="7620">
            <a:solidFill>
              <a:srgbClr val="B8D8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328416" y="306324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tag (C-TAG 0x8100)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3328416" y="3383280"/>
            <a:ext cx="2578608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VLAN tag. The original single-tag inserted by the customer domain. TPID 0x8100. Inner TCI carries customer VLAN ID and priority. Outer switches may or may not inspect this.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144768" y="2980944"/>
            <a:ext cx="2834640" cy="2011680"/>
          </a:xfrm>
          <a:prstGeom prst="rect">
            <a:avLst/>
          </a:prstGeom>
          <a:solidFill>
            <a:srgbClr val="EEF4FA"/>
          </a:solidFill>
          <a:ln w="7620">
            <a:solidFill>
              <a:srgbClr val="B8D8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272784" y="306324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double-tagging matters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6272784" y="3383280"/>
            <a:ext cx="2578608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test specs (OPEN Alliance L2) verify that ECUs and switches correctly handle both single and double-tagged frames. Silicon must parse outer and inner TPID/VID independently.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286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16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Registry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2 protocol selector — key values and automotive-critical EtherTypes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— How It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EtherType field is the Layer 2 protocol selector. Values are registered by IANA and IEEE — not arbitrary.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8631936" cy="804672"/>
          </a:xfrm>
          <a:prstGeom prst="rect">
            <a:avLst/>
          </a:prstGeom>
          <a:solidFill>
            <a:srgbClr val="E2F0F8"/>
          </a:solidFill>
          <a:ln w="10160">
            <a:solidFill>
              <a:srgbClr val="B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15568"/>
            <a:ext cx="109728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61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vs Length disambiguation rule: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3898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2-byte field value ≥ 0x0600 (= 1536 decimal) → it is an EtherType identifying the next protocol.  |  If &lt; 0x0600 → it is a length field (IEEE 802.3 style). The value 0x0600 = 1536 was chosen because the maximum 802.3 payload length is 1500 — so any value &gt; 1500 unambiguously signals an EtherType.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2029968"/>
            <a:ext cx="8631936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2029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94560" y="20299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(hex)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11296" y="20299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/ Purpose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73952" y="20299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relevance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" y="2414016"/>
            <a:ext cx="8631936" cy="256032"/>
          </a:xfrm>
          <a:prstGeom prst="rect">
            <a:avLst/>
          </a:prstGeom>
          <a:solidFill>
            <a:srgbClr val="EEF4FA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2423160"/>
            <a:ext cx="155448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01952" y="2423160"/>
            <a:ext cx="11430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0x0800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81528" y="2423160"/>
            <a:ext cx="283464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Protocol v4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61888" y="2423160"/>
            <a:ext cx="29718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IP-based automotive: SOME/IP, DoIP, diagnostics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684678"/>
            <a:ext cx="8631936" cy="256032"/>
          </a:xfrm>
          <a:prstGeom prst="rect">
            <a:avLst/>
          </a:prstGeom>
          <a:solidFill>
            <a:srgbClr val="F8FBFD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2693822"/>
            <a:ext cx="155448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01952" y="2693822"/>
            <a:ext cx="11430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0x0806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81528" y="2693822"/>
            <a:ext cx="283464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Resolution Protocol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61888" y="2693822"/>
            <a:ext cx="29718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IP-to-MAC mapping; needed for IP-over-Ethernet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2955341"/>
            <a:ext cx="8631936" cy="256032"/>
          </a:xfrm>
          <a:prstGeom prst="rect">
            <a:avLst/>
          </a:prstGeom>
          <a:solidFill>
            <a:srgbClr val="EEF4FA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2964485"/>
            <a:ext cx="155448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01952" y="2964485"/>
            <a:ext cx="11430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0x86DD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81528" y="2964485"/>
            <a:ext cx="283464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Protocol v6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61888" y="2964485"/>
            <a:ext cx="29718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stacks; V2X; 802.1CB CBdb uses IPv6 tuples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226003"/>
            <a:ext cx="8631936" cy="256032"/>
          </a:xfrm>
          <a:prstGeom prst="rect">
            <a:avLst/>
          </a:prstGeom>
          <a:solidFill>
            <a:srgbClr val="F8FBFD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3235147"/>
            <a:ext cx="155448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C-VLAN Tag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01952" y="3235147"/>
            <a:ext cx="11430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0x8100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81528" y="3235147"/>
            <a:ext cx="283464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VLAN tag (802.1Q)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61888" y="3235147"/>
            <a:ext cx="29718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Critical — every VLAN-tagged automotive frame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3496666"/>
            <a:ext cx="8631936" cy="256032"/>
          </a:xfrm>
          <a:prstGeom prst="rect">
            <a:avLst/>
          </a:prstGeom>
          <a:solidFill>
            <a:srgbClr val="EEF4FA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3505810"/>
            <a:ext cx="155448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S-VLAN Tag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01952" y="3505810"/>
            <a:ext cx="11430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0x88A8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81528" y="3505810"/>
            <a:ext cx="283464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VLAN tag / Q-in-Q (802.1ad)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61888" y="3505810"/>
            <a:ext cx="29718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Double-tagging; OPEN Alliance L2 test required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" y="3767328"/>
            <a:ext cx="8631936" cy="256032"/>
          </a:xfrm>
          <a:prstGeom prst="rect">
            <a:avLst/>
          </a:prstGeom>
          <a:solidFill>
            <a:srgbClr val="F8FBFD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0896" y="3776472"/>
            <a:ext cx="155448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901952" y="3776472"/>
            <a:ext cx="11430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0x88CC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081528" y="3776472"/>
            <a:ext cx="283464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Layer Discovery Protocol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61888" y="3776472"/>
            <a:ext cx="29718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Port/topology discovery; DiagnosticLDPDU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6032" y="4037990"/>
            <a:ext cx="8631936" cy="256032"/>
          </a:xfrm>
          <a:prstGeom prst="rect">
            <a:avLst/>
          </a:prstGeom>
          <a:solidFill>
            <a:srgbClr val="EEF4FA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" y="4047134"/>
            <a:ext cx="155448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MACsec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901952" y="4047134"/>
            <a:ext cx="11430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0x88E5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081528" y="4047134"/>
            <a:ext cx="283464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802.1AE — MAC Security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61888" y="4047134"/>
            <a:ext cx="29718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Backbone encryption in safety-critical networks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6032" y="4308653"/>
            <a:ext cx="8631936" cy="256032"/>
          </a:xfrm>
          <a:prstGeom prst="rect">
            <a:avLst/>
          </a:prstGeom>
          <a:solidFill>
            <a:srgbClr val="F8FBFD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" y="4317797"/>
            <a:ext cx="155448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/ gPTP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901952" y="4317797"/>
            <a:ext cx="11430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0x88F7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081528" y="4317797"/>
            <a:ext cx="283464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1588 / 802.1AS Precision Time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961888" y="4317797"/>
            <a:ext cx="29718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Time sync — mandatory for TSN TAS gate schedules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56032" y="4579315"/>
            <a:ext cx="8631936" cy="256032"/>
          </a:xfrm>
          <a:prstGeom prst="rect">
            <a:avLst/>
          </a:prstGeom>
          <a:solidFill>
            <a:srgbClr val="EEF4FA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" y="4588459"/>
            <a:ext cx="155448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AVTP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901952" y="4588459"/>
            <a:ext cx="11430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0x22F0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081528" y="4588459"/>
            <a:ext cx="283464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Video Transport Protocol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961888" y="4588459"/>
            <a:ext cx="29718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CAN-over-Ethernet tunnelling, sensor streams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56032" y="4849978"/>
            <a:ext cx="8631936" cy="256032"/>
          </a:xfrm>
          <a:prstGeom prst="rect">
            <a:avLst/>
          </a:prstGeom>
          <a:solidFill>
            <a:srgbClr val="F8FBFD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0896" y="4859122"/>
            <a:ext cx="155448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R-TAG (FRER)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901952" y="4859122"/>
            <a:ext cx="11430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0xF1C1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081528" y="4859122"/>
            <a:ext cx="283464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802.1CB Redundancy Tag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961888" y="4859122"/>
            <a:ext cx="2971800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Inserted for FRER sequence numbering (disjoint paths)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286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16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Broadcast, Multicast &amp; Unicast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delivery patterns and what a switch does with each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Delivery Patterns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 MAC address tells the switch which delivery pattern is intended — and how expensive it is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8346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795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11556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Unicast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6032" y="1517904"/>
            <a:ext cx="2834640" cy="3438144"/>
          </a:xfrm>
          <a:prstGeom prst="rect">
            <a:avLst/>
          </a:prstGeom>
          <a:solidFill>
            <a:srgbClr val="EEF4FA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5727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pattern: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" y="1773936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AA:BB:CC:11:22:33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(first bit = 0)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2231136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One-to-one. Known unicast is forwarded to exactly one egress port using the forwarding database. Unknown unicast (no FDB entry) is flooded to all ports in the VLAN.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3291840"/>
            <a:ext cx="2615184" cy="2377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29184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action: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65760" y="354787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FDB lookup → single port (or flood if unknown)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3877056"/>
            <a:ext cx="2615184" cy="2377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" y="387705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65760" y="4133088"/>
            <a:ext cx="2615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ECU-to-ECU traffic. Preferred — deterministic forwarding, no unwanted replication.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18688" y="1115568"/>
            <a:ext cx="2834640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79576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21024" y="111556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218688" y="1517904"/>
            <a:ext cx="2834640" cy="3438144"/>
          </a:xfrm>
          <a:prstGeom prst="rect">
            <a:avLst/>
          </a:prstGeom>
          <a:solidFill>
            <a:srgbClr val="E2F5F0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28416" y="15727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pattern: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328416" y="1773936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01:00:5E:xx:xx:xx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(first bit = 1, not all-ones)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328416" y="2231136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One-to-many. Sent to a group of registered receivers. May be selectively forwarded if multicast group membership is known (IGMP/MLD snooping), or flooded if not.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328416" y="3291840"/>
            <a:ext cx="2615184" cy="2377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64992" y="329184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action: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328416" y="354787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forward to group members, or flood VLAN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28416" y="3877056"/>
            <a:ext cx="2615184" cy="2377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364992" y="387705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Automotive: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3328416" y="4133088"/>
            <a:ext cx="2615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/ gPTP (0x01:80:C2:00:00:0E), LLDP (0x01:80:C2:00:00:0E), AVTP streams. Must be tightly controlled.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181344" y="1115568"/>
            <a:ext cx="2834640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179576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583680" y="111556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6181344" y="1517904"/>
            <a:ext cx="2834640" cy="3438144"/>
          </a:xfrm>
          <a:prstGeom prst="rect">
            <a:avLst/>
          </a:prstGeom>
          <a:solidFill>
            <a:srgbClr val="FEF2F2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291072" y="15727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pattern: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6291072" y="1773936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FF:FF:FF:FF:FF:FF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bits = 1)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6291072" y="2231136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One-to-all. Sent to every node in the Layer 2 broadcast domain. Cannot be suppressed at L2 — every port in the VLAN receives it. High cost in switched networks.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291072" y="3291840"/>
            <a:ext cx="2615184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327648" y="329184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action: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6291072" y="354787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to ALL ports in VLAN — no exceptions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6291072" y="3877056"/>
            <a:ext cx="2615184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327648" y="387705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Automotive: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6291072" y="4133088"/>
            <a:ext cx="2615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ARP, DHCP discover. Dangerous in vehicles — one broadcast storm can saturate a safety-critical backbone.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 Bit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bits of the first byte of the destination MAC carry the delivery type — switches inspect these first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6032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48-bit MAC address — byte 1 detail: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640080" cy="621792"/>
          </a:xfrm>
          <a:prstGeom prst="rect">
            <a:avLst/>
          </a:prstGeom>
          <a:solidFill>
            <a:srgbClr val="1C7293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417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640080" cy="621792"/>
          </a:xfrm>
          <a:prstGeom prst="rect">
            <a:avLst/>
          </a:prstGeom>
          <a:solidFill>
            <a:srgbClr val="1C7293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17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72768" y="1417320"/>
            <a:ext cx="640080" cy="621792"/>
          </a:xfrm>
          <a:prstGeom prst="rect">
            <a:avLst/>
          </a:prstGeom>
          <a:solidFill>
            <a:srgbClr val="1C7293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2768" y="1417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31136" y="1417320"/>
            <a:ext cx="640080" cy="621792"/>
          </a:xfrm>
          <a:prstGeom prst="rect">
            <a:avLst/>
          </a:prstGeom>
          <a:solidFill>
            <a:srgbClr val="1C7293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31136" y="1417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89504" y="1417320"/>
            <a:ext cx="640080" cy="621792"/>
          </a:xfrm>
          <a:prstGeom prst="rect">
            <a:avLst/>
          </a:prstGeom>
          <a:solidFill>
            <a:srgbClr val="1C7293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9504" y="1417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47872" y="1417320"/>
            <a:ext cx="640080" cy="621792"/>
          </a:xfrm>
          <a:prstGeom prst="rect">
            <a:avLst/>
          </a:prstGeom>
          <a:solidFill>
            <a:srgbClr val="1C7293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1417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1417320"/>
            <a:ext cx="640080" cy="621792"/>
          </a:xfrm>
          <a:prstGeom prst="rect">
            <a:avLst/>
          </a:prstGeom>
          <a:solidFill>
            <a:srgbClr val="D97706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1417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64608" y="1417320"/>
            <a:ext cx="640080" cy="621792"/>
          </a:xfrm>
          <a:prstGeom prst="rect">
            <a:avLst/>
          </a:prstGeom>
          <a:solidFill>
            <a:srgbClr val="B91C1C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417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22976" y="1417320"/>
            <a:ext cx="3364992" cy="621792"/>
          </a:xfrm>
          <a:prstGeom prst="rect">
            <a:avLst/>
          </a:prstGeom>
          <a:solidFill>
            <a:srgbClr val="B0CDE0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9552" y="141732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2–6 (40 bits) — OUI + device identifier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6112" y="2039112"/>
            <a:ext cx="0" cy="292608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3317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I/G bit (bit 0 of byte 1)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Individual (unicast)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Group (multicast or broadcast)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554480" y="2039112"/>
            <a:ext cx="0" cy="29260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23317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U/L bit (bit 1 of byte 1)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Universally administered (OUI)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Locally administered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3108960"/>
            <a:ext cx="8631936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3108960"/>
            <a:ext cx="8485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automotive multicast MAC addresses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56032" y="3493008"/>
            <a:ext cx="8631936" cy="292608"/>
          </a:xfrm>
          <a:prstGeom prst="rect">
            <a:avLst/>
          </a:prstGeom>
          <a:solidFill>
            <a:srgbClr val="EEF4FA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3502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01:80:C2:00:00:0E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834640" y="3502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LLDP — Link Layer Discovery Protocol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15584" y="3502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802.1 bridge must process this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" y="3803904"/>
            <a:ext cx="8631936" cy="292608"/>
          </a:xfrm>
          <a:prstGeom prst="rect">
            <a:avLst/>
          </a:prstGeom>
          <a:solidFill>
            <a:srgbClr val="F8FBFD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38130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01:80:C2:00:00:00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834640" y="38130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/ RSTP / MSTP Bridge PDUs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15584" y="3813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 — must not leave the segment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" y="4114800"/>
            <a:ext cx="8631936" cy="292608"/>
          </a:xfrm>
          <a:prstGeom prst="rect">
            <a:avLst/>
          </a:prstGeom>
          <a:solidFill>
            <a:srgbClr val="EEF4FA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41239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01:1B:19:00:00:00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834640" y="41239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/ gPTP event messages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815584" y="41239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Time Protocol sync, delay req/resp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56032" y="4425696"/>
            <a:ext cx="8631936" cy="292608"/>
          </a:xfrm>
          <a:prstGeom prst="rect">
            <a:avLst/>
          </a:prstGeom>
          <a:solidFill>
            <a:srgbClr val="F8FBFD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4434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01:80:C2:00:00:0E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834640" y="4434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gPTP (802.1AS uses same as LLDP)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815584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over same multicast for gPTP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56032" y="4736592"/>
            <a:ext cx="8631936" cy="292608"/>
          </a:xfrm>
          <a:prstGeom prst="rect">
            <a:avLst/>
          </a:prstGeom>
          <a:solidFill>
            <a:srgbClr val="EEF4FA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47457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FF:FF:FF:FF:FF:FF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834640" y="47457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— ARP, DHCP discover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815584" y="47457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expensive — replicates to every port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286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16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Filtering Fundamentals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learning · Flooding · VLAN filtering — how a bridge actually decides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Bridge Filters and Forwards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filtering begins with: should this frame be forwarded at all, and if so, to which ports?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133856"/>
            <a:ext cx="18288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13385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arrives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ingress port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1335024"/>
            <a:ext cx="201168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395728" y="1133856"/>
            <a:ext cx="146304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395728" y="1133856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44" y="1335024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69664" y="1133856"/>
            <a:ext cx="18288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169664" y="113385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FDB lookup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 + VLAN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35024"/>
            <a:ext cx="201168" cy="2011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309360" y="1133856"/>
            <a:ext cx="1645920" cy="6583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309360" y="1133856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1335024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266176" y="1133856"/>
            <a:ext cx="64008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8266176" y="113385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port(s)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56032" y="1993392"/>
            <a:ext cx="2779776" cy="1389888"/>
          </a:xfrm>
          <a:prstGeom prst="rect">
            <a:avLst/>
          </a:prstGeom>
          <a:solidFill>
            <a:srgbClr val="E2F5F0"/>
          </a:solidFill>
          <a:ln w="7620">
            <a:solidFill>
              <a:srgbClr val="B8D8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384048" y="207568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Ingress VLAN admission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384048" y="2395728"/>
            <a:ext cx="252374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port a member of the frame's VLAN? If the port is not a member of the VLAN carried by the frame, the frame is discarded immediately — VLAN isolation enforced at ingress.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127248" y="1993392"/>
            <a:ext cx="2779776" cy="1389888"/>
          </a:xfrm>
          <a:prstGeom prst="rect">
            <a:avLst/>
          </a:prstGeom>
          <a:solidFill>
            <a:srgbClr val="EEF4FA"/>
          </a:solidFill>
          <a:ln w="7620">
            <a:solidFill>
              <a:srgbClr val="B8D8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3255264" y="207568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FDB lookup — Dst MAC + VLAN ID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3255264" y="2395728"/>
            <a:ext cx="252374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forwarding database is keyed by (VLAN ID, Dst MAC). In a VLAN-aware bridge the lookup is always a pair — MAC alone is not sufficient. One MAC can be known in multiple VLANs on different ports.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998464" y="1993392"/>
            <a:ext cx="2779776" cy="1389888"/>
          </a:xfrm>
          <a:prstGeom prst="rect">
            <a:avLst/>
          </a:prstGeom>
          <a:solidFill>
            <a:srgbClr val="F0EEFF"/>
          </a:solidFill>
          <a:ln w="7620">
            <a:solidFill>
              <a:srgbClr val="B8D8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126480" y="207568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Forwarding outcome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126480" y="2395728"/>
            <a:ext cx="252374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unicast → forward to single port.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unicast → flood all VLAN ports.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 → group forward or flood.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→ replicate to all VLAN ports.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→ drop (VLAN, security, or storm policy).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256032" y="3493008"/>
            <a:ext cx="8631936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29184" y="3493008"/>
            <a:ext cx="8485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Learning — how the FDB is built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256032" y="3858768"/>
            <a:ext cx="8631936" cy="283464"/>
          </a:xfrm>
          <a:prstGeom prst="rect">
            <a:avLst/>
          </a:prstGeom>
          <a:solidFill>
            <a:srgbClr val="EEF4FA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29184" y="3867912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MAC inspection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2852928" y="3867912"/>
            <a:ext cx="59618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received frame, the switch records {VLAN, Src MAC → ingress port} in the FDB. This is automatic — no configuration needed.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256032" y="4160520"/>
            <a:ext cx="8631936" cy="283464"/>
          </a:xfrm>
          <a:prstGeom prst="rect">
            <a:avLst/>
          </a:prstGeom>
          <a:solidFill>
            <a:srgbClr val="F8FBFD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29184" y="4169664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entry aging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2852928" y="4169664"/>
            <a:ext cx="59618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FDB entries have a configurable aging timer (typically 300 s). If no frame with that source MAC is seen before the timer expires, the entry is removed.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256032" y="4462272"/>
            <a:ext cx="8631936" cy="283464"/>
          </a:xfrm>
          <a:prstGeom prst="rect">
            <a:avLst/>
          </a:prstGeom>
          <a:solidFill>
            <a:srgbClr val="EEF4FA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29184" y="4471416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unicast flooding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2852928" y="4471416"/>
            <a:ext cx="59618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frame arrives with a Dst MAC not in the FDB, the switch floods to all ports in the VLAN — except the ingress port. This is temporary; once the destination replies, its MAC is learned.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256032" y="4764024"/>
            <a:ext cx="8631936" cy="283464"/>
          </a:xfrm>
          <a:prstGeom prst="rect">
            <a:avLst/>
          </a:prstGeom>
          <a:solidFill>
            <a:srgbClr val="F8FBFD"/>
          </a:solidFill>
          <a:ln w="5080">
            <a:solidFill>
              <a:srgbClr val="D4E8F4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329184" y="4773168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scope of learning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2852928" y="4773168"/>
            <a:ext cx="59618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is VLAN-scoped. A MAC learned on VLAN 10 is not visible to VLAN 20 — separate forwarding databases per VLAN.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Filtering — Why It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VLANs all devices share one broadcast domain. With VLANs the switch creates separate logical L2 networks on the same physical infrastructure.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6032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VLAN filtering: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4114800" cy="2377440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2768"/>
            <a:ext cx="118872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7276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1572768"/>
            <a:ext cx="118872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157276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Infotainment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572768"/>
            <a:ext cx="1188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57276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2468880"/>
            <a:ext cx="1188720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246888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2468880"/>
            <a:ext cx="118872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246888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" y="32186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Single broadcast domain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from ANY node reaches ALL nodes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stream floods ADAS safety ECU</a:t>
            </a:r>
            <a:endParaRPr lang="en-US" sz="10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37744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352544" y="2761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VLAN filtering: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0" y="1389888"/>
            <a:ext cx="3858768" cy="2377440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38928" y="1481328"/>
            <a:ext cx="1737360" cy="1051560"/>
          </a:xfrm>
          <a:prstGeom prst="rect">
            <a:avLst/>
          </a:prstGeom>
          <a:solidFill>
            <a:srgbClr val="DBEAFE"/>
          </a:solidFill>
          <a:ln w="7620">
            <a:solidFill>
              <a:srgbClr val="93C5FD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5175504" y="1481328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212080" y="1755648"/>
            <a:ext cx="713232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12080" y="1755648"/>
            <a:ext cx="713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967728" y="1481328"/>
            <a:ext cx="1737360" cy="1051560"/>
          </a:xfrm>
          <a:prstGeom prst="rect">
            <a:avLst/>
          </a:prstGeom>
          <a:solidFill>
            <a:srgbClr val="FEF9C3"/>
          </a:solidFill>
          <a:ln w="7620">
            <a:solidFill>
              <a:srgbClr val="FDE047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7004304" y="1481328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Infotainment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059168" y="1755648"/>
            <a:ext cx="9144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59168" y="175564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tainment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138928" y="2633472"/>
            <a:ext cx="3566160" cy="1024128"/>
          </a:xfrm>
          <a:prstGeom prst="rect">
            <a:avLst/>
          </a:prstGeom>
          <a:solidFill>
            <a:srgbClr val="F3E8FF"/>
          </a:solidFill>
          <a:ln w="7620">
            <a:solidFill>
              <a:srgbClr val="C4B5FD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5175504" y="2633472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  Diagnostics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230368" y="2907792"/>
            <a:ext cx="82296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30368" y="29077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065776" y="3785616"/>
            <a:ext cx="3785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Isolated broadcast domains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stream stays in VLAN 20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VLAN 10 never sees infotainment floods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256032" y="4370832"/>
            <a:ext cx="8631936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9184" y="4389120"/>
            <a:ext cx="8485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filtering is not just tagging — it is how the switch decides that a frame should remain inside one logical L2 domain and not leak into another. In a vehicle, that separation is a safety requirement.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286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16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 Frames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MTU &gt; 1500 bytes — when they help, when they hurt in an automotive context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 Frames — MTU Beyond 1500 Bytes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jumbo frame is any Ethernet frame whose payload exceeds the standard 1500-byte MTU — not an IEEE standard, but common practice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6032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size comparison: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" y="1353143"/>
            <a:ext cx="731520" cy="475488"/>
          </a:xfrm>
          <a:prstGeom prst="rect">
            <a:avLst/>
          </a:prstGeom>
          <a:solidFill>
            <a:srgbClr val="B0CDE0"/>
          </a:solidFill>
          <a:ln w="12700">
            <a:solidFill>
              <a:srgbClr val="B0CD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42646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frame (64 B max)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" y="1910757"/>
            <a:ext cx="1313536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2048256"/>
            <a:ext cx="1222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MTU (1518 B max)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339" y="2486829"/>
            <a:ext cx="8467344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267004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 frame (9018 B max)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2962656"/>
            <a:ext cx="4114800" cy="2103120"/>
          </a:xfrm>
          <a:prstGeom prst="rect">
            <a:avLst/>
          </a:prstGeom>
          <a:solidFill>
            <a:srgbClr val="F0FDF4"/>
          </a:solidFill>
          <a:ln w="7620">
            <a:solidFill>
              <a:srgbClr val="BBF7D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99008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jumbo frames help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" y="3310128"/>
            <a:ext cx="3858768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data transfer efficiency — fewer frames to send the same bytes → lower per-frame overhead (headers, FCS, interframe gap).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 payloads, camera frame buffers, and large diagnostics sessions can all benefit from larger MTUs when the application layer segments data accordingly.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devices on the path must support the same jumbo MTU.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0832" y="2962656"/>
            <a:ext cx="4352544" cy="2103120"/>
          </a:xfrm>
          <a:prstGeom prst="rect">
            <a:avLst/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99008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jumbo frames hurt in automotive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3310128"/>
            <a:ext cx="4096512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Serialisation latency: a 9000-byte jumbo frame at 100 Mbit/s takes 720 µs to transmit. A 1500-byte frame takes only 120 µs. TSN scheduling is designed around standard MTU assumptions.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blocking: if a jumbo frame is already in progress when a time-critical gate should open, the TAS guard band must be sized to the max frame size — wasting gate time.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specs frequently cap MTU at 1500 B for real-time domains.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286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16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Context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frame formats become part of a safety and timing system contract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Ethernet — The Frame Format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vehicles, frame format is not just an interoperability topic — it is part of a timing, filtering, and safety architecture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8631936" cy="822960"/>
          </a:xfrm>
          <a:prstGeom prst="rect">
            <a:avLst/>
          </a:prstGeom>
          <a:solidFill>
            <a:srgbClr val="E2F0F8"/>
          </a:solidFill>
          <a:ln w="10160">
            <a:solidFill>
              <a:srgbClr val="B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15568"/>
            <a:ext cx="10972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70432"/>
            <a:ext cx="8302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"Automotive switched Ethernet is expected to support deterministic low latency, reduced latency variation, per-stream filtering and policing, scheduled traffic, and frame preemption. The frame format is integral to all of these."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2066544"/>
            <a:ext cx="2816352" cy="1371600"/>
          </a:xfrm>
          <a:prstGeom prst="rect">
            <a:avLst/>
          </a:prstGeom>
          <a:solidFill>
            <a:srgbClr val="EEF4FA"/>
          </a:solidFill>
          <a:ln w="6350">
            <a:solidFill>
              <a:srgbClr val="D4E8F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066544"/>
            <a:ext cx="2816352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21408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" y="210312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is universal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65760" y="2523744"/>
            <a:ext cx="25968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automotive backbone protocols — IP, ARP, PTP, LLDP, MACsec, AVTP, FRER — use Ethernet II with EtherType identification. No LLC/SNAP overhead. Simpler parsing, lower latency.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0" y="2066544"/>
            <a:ext cx="2816352" cy="1371600"/>
          </a:xfrm>
          <a:prstGeom prst="rect">
            <a:avLst/>
          </a:prstGeom>
          <a:solidFill>
            <a:srgbClr val="E2F5F0"/>
          </a:solidFill>
          <a:ln w="6350">
            <a:solidFill>
              <a:srgbClr val="D4E8F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2066544"/>
            <a:ext cx="281635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12140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02736" y="210312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tags are mandatory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310128" y="2523744"/>
            <a:ext cx="25968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TSN and AVB use PCP and VLAN ID for traffic separation and priority — not as optional enterprise convenience. The PCP value directly determines which TAS gate window a frame enters.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44768" y="2066544"/>
            <a:ext cx="2816352" cy="1371600"/>
          </a:xfrm>
          <a:prstGeom prst="rect">
            <a:avLst/>
          </a:prstGeom>
          <a:solidFill>
            <a:srgbClr val="FFFBEB"/>
          </a:solidFill>
          <a:ln w="6350">
            <a:solidFill>
              <a:srgbClr val="D4E8F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44768" y="2066544"/>
            <a:ext cx="281635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2121408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47104" y="210312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Broadcast/multicast must be controlled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254496" y="2523744"/>
            <a:ext cx="25968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flooding on a safety backbone is not just inefficient — it is dangerous. TSN PSFP (per-stream filtering and policing, 802.1Qci) enforces admission per stream, per VLAN.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256032" y="3529584"/>
            <a:ext cx="2816352" cy="1371600"/>
          </a:xfrm>
          <a:prstGeom prst="rect">
            <a:avLst/>
          </a:prstGeom>
          <a:solidFill>
            <a:srgbClr val="F0EEFF"/>
          </a:solidFill>
          <a:ln w="6350">
            <a:solidFill>
              <a:srgbClr val="D4E8F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56032" y="3529584"/>
            <a:ext cx="2816352" cy="3840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58444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8368" y="356616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correctness is tested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365760" y="3986784"/>
            <a:ext cx="25968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and Tier-1 suppliers actively verify VLAN isolation, multicast forwarding, and unknown-unicast behaviour. OPEN Alliance L2 test specs cover single-tag, double-tag, and jumbo frame handling explicitly.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00400" y="3529584"/>
            <a:ext cx="2816352" cy="1371600"/>
          </a:xfrm>
          <a:prstGeom prst="rect">
            <a:avLst/>
          </a:prstGeom>
          <a:solidFill>
            <a:srgbClr val="EEF4FA"/>
          </a:solidFill>
          <a:ln w="6350">
            <a:solidFill>
              <a:srgbClr val="D4E8F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0400" y="3529584"/>
            <a:ext cx="2816352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584448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602736" y="356616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timing is part of the design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3310128" y="3986784"/>
            <a:ext cx="25968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 gate schedules are sized around max frame size (guard band). Serialisation time of each frame format is a timing input. A jumbo frame at 100 Mbit/s = 720 µs — longer than many safety stream windows.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144768" y="3529584"/>
            <a:ext cx="2816352" cy="1371600"/>
          </a:xfrm>
          <a:prstGeom prst="rect">
            <a:avLst/>
          </a:prstGeom>
          <a:solidFill>
            <a:srgbClr val="FEF2F2"/>
          </a:solidFill>
          <a:ln w="6350">
            <a:solidFill>
              <a:srgbClr val="D4E8F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144768" y="3529584"/>
            <a:ext cx="2816352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3584448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47104" y="356616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= safety signal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6254496" y="3986784"/>
            <a:ext cx="25968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0x88F7 (PTP) and 0xF1C1 (FRER R-TAG) carry safety-relevant timing and redundancy information. Incorrect EtherType handling means clock loss or FRER deduplication failure — directly impacting ASIL-D streams.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Automotive Frame Format System Contract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ordinary data networking, frame formats are about compatibility. In automotive Ethernet they are part of a system contract.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133856"/>
            <a:ext cx="2048256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3385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EtherType-based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645920"/>
            <a:ext cx="2048256" cy="3310128"/>
          </a:xfrm>
          <a:prstGeom prst="rect">
            <a:avLst/>
          </a:prstGeom>
          <a:solidFill>
            <a:srgbClr val="EEF4FA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1828800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modern vehicle protocols cleanly. EtherType directly selects IP, PTP, MACsec, VLAN, AVTP, FRER — no ambiguity, no LLC overhead.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14016" y="1133856"/>
            <a:ext cx="2048256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14016" y="113385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tags carry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meaning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14016" y="1645920"/>
            <a:ext cx="2048256" cy="3310128"/>
          </a:xfrm>
          <a:prstGeom prst="rect">
            <a:avLst/>
          </a:prstGeom>
          <a:solidFill>
            <a:srgbClr val="E2F5F0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737360"/>
            <a:ext cx="1828800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sets traffic class → TAS gate queue. VID sets forwarding scope → VLAN isolation boundary. Not optional — part of the forwarding contract.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1133856"/>
            <a:ext cx="2048256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13385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Broadcast/multicast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controlled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1645920"/>
            <a:ext cx="2048256" cy="3310128"/>
          </a:xfrm>
          <a:prstGeom prst="rect">
            <a:avLst/>
          </a:prstGeom>
          <a:solidFill>
            <a:srgbClr val="FFFBEB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737360"/>
            <a:ext cx="1828800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ARP, PTP, LLDP multicast are the only expected floods. Unknown unicast and broadcast must not leak into safety domains.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29984" y="1133856"/>
            <a:ext cx="2048256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9984" y="113385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correctness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tested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9984" y="1645920"/>
            <a:ext cx="2048256" cy="3310128"/>
          </a:xfrm>
          <a:prstGeom prst="rect">
            <a:avLst/>
          </a:prstGeom>
          <a:solidFill>
            <a:srgbClr val="F0EEFF"/>
          </a:solidFill>
          <a:ln w="6350">
            <a:solidFill>
              <a:srgbClr val="D4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1737360"/>
            <a:ext cx="1828800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and OPEN Alliance test specifications verify that the right ports receive each frame under each VLAN configuration — not assumed.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6032" y="4882896"/>
            <a:ext cx="8631936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4882896"/>
            <a:ext cx="8485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pillars are tested, not assumed, in an automotive-grade Ethernet stack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58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eight topics connect into a single coherent understanding of Ethernet frame formats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133856"/>
            <a:ext cx="2103120" cy="1810512"/>
          </a:xfrm>
          <a:prstGeom prst="rect">
            <a:avLst/>
          </a:prstGeom>
          <a:solidFill>
            <a:srgbClr val="F8FBFF"/>
          </a:solidFill>
          <a:ln w="6350">
            <a:solidFill>
              <a:srgbClr val="D4E8F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33856"/>
            <a:ext cx="21031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19786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1170432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Structure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1591056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 · Src MAC · EtherType/Length · Payload · FCS. The immutable L2 envelope, 64–1518 bytes standard.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68880" y="1133856"/>
            <a:ext cx="2103120" cy="1810512"/>
          </a:xfrm>
          <a:prstGeom prst="rect">
            <a:avLst/>
          </a:prstGeom>
          <a:solidFill>
            <a:srgbClr val="F8FBFF"/>
          </a:solidFill>
          <a:ln w="6350">
            <a:solidFill>
              <a:srgbClr val="D4E8F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1133856"/>
            <a:ext cx="21031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119786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4640" y="1170432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560320" y="1591056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≥ 0x0600 directly identifies the next protocol. Universal for IP, PTP, MACsec, AVTP — no LLC overhead.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81728" y="1133856"/>
            <a:ext cx="2103120" cy="1810512"/>
          </a:xfrm>
          <a:prstGeom prst="rect">
            <a:avLst/>
          </a:prstGeom>
          <a:solidFill>
            <a:srgbClr val="F8FBFF"/>
          </a:solidFill>
          <a:ln w="6350">
            <a:solidFill>
              <a:srgbClr val="D4E8F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81728" y="1133856"/>
            <a:ext cx="21031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19786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47488" y="1170432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Tags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773168" y="1591056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4-byte insert: TPID + TCI (PCP 3b + DEI 1b + VID 12b). Single-tag (0x8100) or double-tag (S-TAG 0x88A8 + C-TAG 0x8100).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894576" y="1133856"/>
            <a:ext cx="2103120" cy="1810512"/>
          </a:xfrm>
          <a:prstGeom prst="rect">
            <a:avLst/>
          </a:prstGeom>
          <a:solidFill>
            <a:srgbClr val="F8FBFF"/>
          </a:solidFill>
          <a:ln w="6350">
            <a:solidFill>
              <a:srgbClr val="D4E8F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94576" y="1133856"/>
            <a:ext cx="21031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119786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0336" y="1170432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Registry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986016" y="1591056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IANA/IEEE registered values. 0x88F7=PTP, 0x88E5=MACsec, 0xF1C1=FRER R-TAG. Each is a safety-relevant protocol selector.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56032" y="3072384"/>
            <a:ext cx="2103120" cy="1810512"/>
          </a:xfrm>
          <a:prstGeom prst="rect">
            <a:avLst/>
          </a:prstGeom>
          <a:solidFill>
            <a:srgbClr val="F8FBFF"/>
          </a:solidFill>
          <a:ln w="6350">
            <a:solidFill>
              <a:srgbClr val="D4E8F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56032" y="3072384"/>
            <a:ext cx="21031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" y="3136392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21792" y="310896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Patterns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47472" y="3529584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Unicast: single port. Multicast: group or flood. Broadcast: all ports. Bit 0 of byte 1 of Dst MAC determines unicast vs group.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2468880" y="3072384"/>
            <a:ext cx="2103120" cy="1810512"/>
          </a:xfrm>
          <a:prstGeom prst="rect">
            <a:avLst/>
          </a:prstGeom>
          <a:solidFill>
            <a:srgbClr val="F8FBFF"/>
          </a:solidFill>
          <a:ln w="6350">
            <a:solidFill>
              <a:srgbClr val="D4E8F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468880" y="3072384"/>
            <a:ext cx="21031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2032" y="3136392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834640" y="310896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Filtering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2560320" y="3529584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FDB keyed by (VLAN ID, Dst MAC). Learn from source, forward by destination, flood unknowns. VLAN scope is mandatory.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4681728" y="3072384"/>
            <a:ext cx="2103120" cy="1810512"/>
          </a:xfrm>
          <a:prstGeom prst="rect">
            <a:avLst/>
          </a:prstGeom>
          <a:solidFill>
            <a:srgbClr val="F8FBFF"/>
          </a:solidFill>
          <a:ln w="6350">
            <a:solidFill>
              <a:srgbClr val="D4E8F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681728" y="3072384"/>
            <a:ext cx="21031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136392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047488" y="310896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 Frames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4773168" y="3529584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&gt; 1500 B (up to ~9000 B). Helps bulk transfer, hurts TSN latency. Guard band must cover max frame serialisation time.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6894576" y="3072384"/>
            <a:ext cx="2103120" cy="1810512"/>
          </a:xfrm>
          <a:prstGeom prst="rect">
            <a:avLst/>
          </a:prstGeom>
          <a:solidFill>
            <a:srgbClr val="F8FBFF"/>
          </a:solidFill>
          <a:ln w="6350">
            <a:solidFill>
              <a:srgbClr val="D4E8F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894576" y="3072384"/>
            <a:ext cx="21031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7728" y="3136392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260336" y="310896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Contract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6986016" y="3529584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framing + VLAN tags + controlled flooding + tested filtering = the system contract for a vehicle Ethernet backbone.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40F1A"/>
          </a:solidFill>
          <a:ln w="12700">
            <a:solidFill>
              <a:srgbClr val="04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071220"/>
          </a:solidFill>
          <a:ln w="12700">
            <a:solidFill>
              <a:srgbClr val="07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49808"/>
            <a:ext cx="64008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658368" y="2487168"/>
            <a:ext cx="310896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633472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frame structure  —  Dst MAC · Src MAC · EtherType · Payload · FCS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vs 802.3/LLC  —  EtherType directly identifies next protocol (no LLC needed)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tags  —  4-byte 802.1Q insert: PCP (priority) + DEI + VID (VLAN scope)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registry  —  0x88F7 PTP · 0x88E5 MACsec · 0xF1C1 FRER R-TAG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patterns  —  Unicast (FDB lookup) · Multicast (selective) · Broadcast (all ports)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filtering  —  FDB keyed by (VLAN ID, Dst MAC) · VLAN isolation at ingress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 frames  —  MTU &gt; 1500 B · helpful for bulk · harmful for TSN latency budget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contract  —  tested, not assumed · OPEN Alliance L2 test spec verifies all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3789</Words>
  <Application>Microsoft Macintosh PowerPoint</Application>
  <PresentationFormat>On-screen Show (16:9)</PresentationFormat>
  <Paragraphs>535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Ethernet Frame Formats, EtherType, and Frame Filtering</dc:title>
  <dc:subject>PptxGenJS Presentation</dc:subject>
  <dc:creator>PptxGenJS</dc:creator>
  <cp:lastModifiedBy>CHOCKALINGAM THIAGARAJAN</cp:lastModifiedBy>
  <cp:revision>2</cp:revision>
  <dcterms:created xsi:type="dcterms:W3CDTF">2026-04-18T16:45:54Z</dcterms:created>
  <dcterms:modified xsi:type="dcterms:W3CDTF">2026-04-19T05:19:02Z</dcterms:modified>
</cp:coreProperties>
</file>