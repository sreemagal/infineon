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Formats,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&amp; Frame Filtering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49808" y="2578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 ·  VLAN tagging  ·  EtherType registry  ·  Layer 2 forwarding  ·  Automotive context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4206240" cy="1170432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512064" cy="117043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30759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10698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Anatomy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143560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MAC, Src MAC, EtherType/Length, Payload, FCS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286000"/>
            <a:ext cx="4206240" cy="1170432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2286000"/>
            <a:ext cx="512064" cy="117043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63347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23957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vs 802.3/LLC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276148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EtherType-based vs length-based — which dominates and why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3611880"/>
            <a:ext cx="4206240" cy="1170432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3611880"/>
            <a:ext cx="512064" cy="117043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395935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" y="37216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40873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C-TAG (0x8100), S-TAG (0x88A8), PCP, Q-in-Q double tagging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206240" cy="1170432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960120"/>
            <a:ext cx="512064" cy="117043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30759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30952" y="10698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Registry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0952" y="143560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EtherType values: IPv4, IPv6, ARP, PTP, MACsec, AVTP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4206240" cy="1170432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86000"/>
            <a:ext cx="512064" cy="117043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263347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30952" y="23957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Filtering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30952" y="276148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learning, FDB lookup, VLAN-based forwarding decisions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206240" cy="1170432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611880"/>
            <a:ext cx="512064" cy="117043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95935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30952" y="37216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Context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30952" y="40873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filtering contracts, jumbo frames, multicast risk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3A8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Anatomy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2 envelope: addressing, type/length, payload, integrity check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— Fields On The Wire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960120" cy="786384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923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Preamble+SFD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362456"/>
            <a:ext cx="923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25296" y="932688"/>
            <a:ext cx="987552" cy="7863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960120"/>
            <a:ext cx="950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43584" y="1362456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21992" y="932688"/>
            <a:ext cx="987552" cy="7863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960120"/>
            <a:ext cx="950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1362456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932688"/>
            <a:ext cx="914400" cy="7863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960120"/>
            <a:ext cx="877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Length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36976" y="136245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42232" y="932688"/>
            <a:ext cx="2606040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960120"/>
            <a:ext cx="2569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(data)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60520" y="1362456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46–1500 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7416" y="932688"/>
            <a:ext cx="658368" cy="78638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960120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75704" y="1362456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0–46 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24928" y="932688"/>
            <a:ext cx="713232" cy="7863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43216" y="960120"/>
            <a:ext cx="676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43216" y="1362456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" y="1773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Preamble+SFD: PHY-level only, not visible to MAC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0x0600 → Ethernet II (protocol ID)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1500 → IEEE 802.3 (byte count)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1773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CRC-32 over entire frame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2176272"/>
            <a:ext cx="8686800" cy="310896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23113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57984" y="22311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01568" y="223113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2487168"/>
            <a:ext cx="8686800" cy="38404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5420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MAC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57984" y="2542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bytes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01568" y="2542032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Unicast, multicast, or broadcast (FF:FF:FF:FF:FF:FF)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" y="2889504"/>
            <a:ext cx="86868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443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57984" y="29443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bytes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01568" y="2944368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unicast — identifies the transmitting station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3291840"/>
            <a:ext cx="8686800" cy="38404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34670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/ Length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57984" y="3346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01568" y="3346704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0x0600: protocol ID (Ethernet II). ≤ 1500: payload byte count (IEEE 802.3)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6032" y="3694176"/>
            <a:ext cx="86868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749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57984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46–1500 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401568" y="3749040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Upper-layer data; padded to 46 B minimum to meet 64-byte minimum frame size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6032" y="4096512"/>
            <a:ext cx="8686800" cy="38404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15137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157984" y="41513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401568" y="4151376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CRC-32 integrity check — receiver discards frame on mismatch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3A8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vs 802.3/LLC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interpretations of the same 2-byte field after the source MAC address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vs IEEE 802.3+LLC — Frame Layout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326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 (dominant modern format)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43584"/>
            <a:ext cx="914400" cy="60350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4148" y="1243584"/>
            <a:ext cx="914400" cy="60350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2436" y="126187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2436" y="157276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12264" y="1243584"/>
            <a:ext cx="932688" cy="6035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1261872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0552" y="157276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58668" y="1243584"/>
            <a:ext cx="1115568" cy="60350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6956" y="1261872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76956" y="1572768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46–1500B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87952" y="1243584"/>
            <a:ext cx="566928" cy="60350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261872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1572768"/>
            <a:ext cx="530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190195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≥ 0x0600 → directly names the payload protocol (e.g. 0x0800=IPv4, 0x88F7=PTP)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45152" y="9326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 + LLC/SNAP  (legacy)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45152" y="1243584"/>
            <a:ext cx="804672" cy="60350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261872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1572768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60797" y="1243584"/>
            <a:ext cx="804672" cy="60350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9085" y="1261872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79085" y="1572768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76442" y="1243584"/>
            <a:ext cx="713232" cy="603504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4730" y="1261872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4730" y="1572768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00646" y="1243584"/>
            <a:ext cx="658368" cy="603504"/>
          </a:xfrm>
          <a:prstGeom prst="rect">
            <a:avLst/>
          </a:prstGeom>
          <a:solidFill>
            <a:srgbClr val="5A2D82"/>
          </a:solidFill>
          <a:ln w="12700">
            <a:solidFill>
              <a:srgbClr val="5A2D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18934" y="126187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18934" y="157276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69987" y="1243584"/>
            <a:ext cx="530352" cy="60350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8275" y="1261872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8275" y="1572768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11312" y="1243584"/>
            <a:ext cx="1005840" cy="603504"/>
          </a:xfrm>
          <a:prstGeom prst="rect">
            <a:avLst/>
          </a:prstGeom>
          <a:solidFill>
            <a:srgbClr val="9B4DB7"/>
          </a:solidFill>
          <a:ln w="12700">
            <a:solidFill>
              <a:srgbClr val="9B4D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1261872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OUI+Type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1572768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228125" y="1243584"/>
            <a:ext cx="548640" cy="60350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46413" y="1261872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46413" y="157276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787738" y="1243584"/>
            <a:ext cx="512064" cy="60350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06026" y="1261872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806026" y="157276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45152" y="190195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≤ 1500 → protocol identified inside payload via LLC/SNAP, not at Layer 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17136" y="877824"/>
            <a:ext cx="18288" cy="13898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" y="2359152"/>
            <a:ext cx="8686800" cy="38404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4140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0" y="2414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Ethernet II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92240" y="2414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+ LLC/SNAP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56032" y="2761488"/>
            <a:ext cx="86868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8163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2-byte field after Src MAC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0" y="2816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— protocol ID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92240" y="2816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— byte count of data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" y="3163824"/>
            <a:ext cx="8686800" cy="38404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32186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identification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57600" y="3218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 Layer 2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92240" y="3218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payload via LLC/SNAP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56032" y="3566160"/>
            <a:ext cx="8686800" cy="38404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621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IP / TSN / gPTP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0" y="3621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modern stacks use Ethernet II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9224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Rarely used in modern networking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56032" y="3968496"/>
            <a:ext cx="8686800" cy="38404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0233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backbone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Default for all vehicle protocols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922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Historical/legacy only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3A8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Tagging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C-TAG (0x8100), S-TAG (0x88A8), PCP priority field, Q-in-Q double tagging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 Anatomy — The Extra 4 Bytes Inserted After Src MAC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32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25296"/>
            <a:ext cx="1234440" cy="47548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43584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1197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99616" y="1225296"/>
            <a:ext cx="1234440" cy="47548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1243584"/>
            <a:ext cx="11978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17904" y="1481328"/>
            <a:ext cx="1197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1225296"/>
            <a:ext cx="932688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243584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61488" y="1481328"/>
            <a:ext cx="896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85032" y="1225296"/>
            <a:ext cx="19202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243584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03320" y="1481328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14416" y="1225296"/>
            <a:ext cx="640080" cy="4754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1243584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32704" y="1481328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17922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Single-tagged C-TAG (0x8100) — +4 bytes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084832"/>
            <a:ext cx="1005840" cy="53035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10312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72845" y="2084832"/>
            <a:ext cx="1005840" cy="53035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1133" y="210312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91133" y="2377440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9658" y="2084832"/>
            <a:ext cx="768096" cy="53035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7946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0x8100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07946" y="23774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68726" y="2084832"/>
            <a:ext cx="1060704" cy="530352"/>
          </a:xfrm>
          <a:prstGeom prst="rect">
            <a:avLst/>
          </a:prstGeom>
          <a:solidFill>
            <a:srgbClr val="9B4DB7"/>
          </a:solidFill>
          <a:ln w="12700">
            <a:solidFill>
              <a:srgbClr val="9B4D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7014" y="210312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PCP+DEI+VID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87014" y="2377440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40403" y="2084832"/>
            <a:ext cx="82296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58691" y="210312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58691" y="2377440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74336" y="2084832"/>
            <a:ext cx="1591056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2103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92624" y="2377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76365" y="2084832"/>
            <a:ext cx="566928" cy="5303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4653" y="210312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94653" y="2377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6032" y="268833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4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 = Tag Control Info: PCP (3 bits, priority 0–7) | DEI (1 bit, drop eligible) | VID (12 bits, VLAN 1–4094)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6032" y="3035808"/>
            <a:ext cx="1234440" cy="54864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3090672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2608" y="3310128"/>
            <a:ext cx="1161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508760" y="3035808"/>
            <a:ext cx="676656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45336" y="3090672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545336" y="3310128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03704" y="3035808"/>
            <a:ext cx="6684264" cy="54864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40280" y="3090672"/>
            <a:ext cx="6611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240280" y="3310128"/>
            <a:ext cx="6611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6032" y="36758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Double-tagged Q-in-Q: outer S-TAG (0x88A8) + inner C-TAG (0x8100) — +8 bytes total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6032" y="3968496"/>
            <a:ext cx="841248" cy="53035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98678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MAC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74320" y="426110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06424" y="3968496"/>
            <a:ext cx="841248" cy="53035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24712" y="398678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MAC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24712" y="426110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956816" y="3968496"/>
            <a:ext cx="713232" cy="530352"/>
          </a:xfrm>
          <a:prstGeom prst="rect">
            <a:avLst/>
          </a:prstGeom>
          <a:solidFill>
            <a:srgbClr val="B83200"/>
          </a:solidFill>
          <a:ln w="12700">
            <a:solidFill>
              <a:srgbClr val="B832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75104" y="3986784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0x88A8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S-TAG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975104" y="4261104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679192" y="3968496"/>
            <a:ext cx="676656" cy="530352"/>
          </a:xfrm>
          <a:prstGeom prst="rect">
            <a:avLst/>
          </a:prstGeom>
          <a:solidFill>
            <a:srgbClr val="D44010"/>
          </a:solidFill>
          <a:ln w="12700">
            <a:solidFill>
              <a:srgbClr val="D4401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97480" y="3986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697480" y="42611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64992" y="3968496"/>
            <a:ext cx="713232" cy="53035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83280" y="3986784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0x8100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C-TAG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83280" y="4261104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87368" y="3968496"/>
            <a:ext cx="676656" cy="530352"/>
          </a:xfrm>
          <a:prstGeom prst="rect">
            <a:avLst/>
          </a:prstGeom>
          <a:solidFill>
            <a:srgbClr val="9B4DB7"/>
          </a:solidFill>
          <a:ln w="12700">
            <a:solidFill>
              <a:srgbClr val="9B4DB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05656" y="3986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105656" y="42611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773168" y="3968496"/>
            <a:ext cx="786384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91456" y="398678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791456" y="42611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568696" y="3968496"/>
            <a:ext cx="1207008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86984" y="398678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586984" y="4261104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784848" y="3968496"/>
            <a:ext cx="512064" cy="5303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03136" y="3986784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803136" y="426110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256032" y="45537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S-TAG 0x88A8 = service/provider domain  |  Inner C-TAG 0x8100 = customer/endpoint domain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Values — 802.1p Priority Mapping &amp; Automotive Traffic Classes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326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Code Point (PCP) — 3 bits in the TCI field, values 0–7: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8686800" cy="42062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98448"/>
            <a:ext cx="457200" cy="420624"/>
          </a:xfrm>
          <a:prstGeom prst="rect">
            <a:avLst/>
          </a:prstGeom>
          <a:solidFill>
            <a:srgbClr val="1A2070"/>
          </a:solidFill>
          <a:ln w="12700">
            <a:solidFill>
              <a:srgbClr val="1A2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1353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critical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35331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control: gPTP, STP, reserved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737360"/>
            <a:ext cx="868680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737360"/>
            <a:ext cx="457200" cy="420624"/>
          </a:xfrm>
          <a:prstGeom prst="rect">
            <a:avLst/>
          </a:prstGeom>
          <a:solidFill>
            <a:srgbClr val="1A4080"/>
          </a:solidFill>
          <a:ln w="12700">
            <a:solidFill>
              <a:srgbClr val="1A4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1051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" y="17922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urgent real-time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792224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Highest-priority application traffic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176272"/>
            <a:ext cx="8686800" cy="42062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176272"/>
            <a:ext cx="45720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49424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223113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ADAS streams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23113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feeds, radar, LiDAR — time-sensitive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615184"/>
            <a:ext cx="868680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615184"/>
            <a:ext cx="457200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88336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" y="26700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load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2670048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AV, controlled-latency services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054096"/>
            <a:ext cx="8686800" cy="42062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054096"/>
            <a:ext cx="457200" cy="420624"/>
          </a:xfrm>
          <a:prstGeom prst="rect">
            <a:avLst/>
          </a:prstGeom>
          <a:solidFill>
            <a:srgbClr val="3A7A1A"/>
          </a:solidFill>
          <a:ln w="12700">
            <a:solidFill>
              <a:srgbClr val="3A7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27248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" y="31089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effort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3108960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non-real-time control messages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3493008"/>
            <a:ext cx="868680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493008"/>
            <a:ext cx="457200" cy="420624"/>
          </a:xfrm>
          <a:prstGeom prst="rect">
            <a:avLst/>
          </a:prstGeom>
          <a:solidFill>
            <a:srgbClr val="6A6A20"/>
          </a:solidFill>
          <a:ln w="12700">
            <a:solidFill>
              <a:srgbClr val="6A6A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6616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" y="354787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51760" y="354787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treated as best-effort by implementations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3931920"/>
            <a:ext cx="8686800" cy="42062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931920"/>
            <a:ext cx="457200" cy="420624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00507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" y="39867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3986784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best effort — bulk background transfers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4370832"/>
            <a:ext cx="868680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4370832"/>
            <a:ext cx="457200" cy="420624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443984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8096" y="44256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effort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51760" y="442569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no priority assigned to the frame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3A8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Registry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2 protocol selector — key values from the IANA/IEEE-802 registry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EtherType Values — IANA / IEEE Registry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8686800" cy="29260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784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9784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97840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978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86800" cy="320040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0" cy="2651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801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25296" y="1280160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280160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version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90688" y="1261872"/>
            <a:ext cx="1005840" cy="2377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08976" y="128930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563624"/>
            <a:ext cx="8686800" cy="320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581912"/>
            <a:ext cx="914400" cy="265176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1848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25296" y="161848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1618488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Resolution Protocol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90688" y="1600200"/>
            <a:ext cx="1005840" cy="2377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27632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1901952"/>
            <a:ext cx="8686800" cy="320040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1920240"/>
            <a:ext cx="914400" cy="265176"/>
          </a:xfrm>
          <a:prstGeom prst="rect">
            <a:avLst/>
          </a:prstGeom>
          <a:solidFill>
            <a:srgbClr val="155E8C"/>
          </a:solidFill>
          <a:ln w="12700">
            <a:solidFill>
              <a:srgbClr val="155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95681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0x86DD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25296" y="195681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1956816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version 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90688" y="1938528"/>
            <a:ext cx="1005840" cy="2377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1965960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240280"/>
            <a:ext cx="8686800" cy="320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2258568"/>
            <a:ext cx="914400" cy="265176"/>
          </a:xfrm>
          <a:prstGeom prst="rect">
            <a:avLst/>
          </a:prstGeom>
          <a:solidFill>
            <a:srgbClr val="2A7A8A"/>
          </a:solidFill>
          <a:ln w="12700">
            <a:solidFill>
              <a:srgbClr val="2A7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29514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0x8035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225296" y="229514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2295144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ARP (legacy)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90688" y="2276856"/>
            <a:ext cx="1005840" cy="2377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08976" y="230428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578608"/>
            <a:ext cx="8686800" cy="320040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2596896"/>
            <a:ext cx="914400" cy="265176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263347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0x8100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225296" y="2633472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C-TAG (VLAN)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2633472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VLAN Tag — triggers VLAN processing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90688" y="2615184"/>
            <a:ext cx="1005840" cy="23774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08976" y="2642616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2916936"/>
            <a:ext cx="8686800" cy="320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2935224"/>
            <a:ext cx="914400" cy="265176"/>
          </a:xfrm>
          <a:prstGeom prst="rect">
            <a:avLst/>
          </a:prstGeom>
          <a:solidFill>
            <a:srgbClr val="9B2D7A"/>
          </a:solidFill>
          <a:ln w="12700">
            <a:solidFill>
              <a:srgbClr val="9B2D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97180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0x88A8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225296" y="2971800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S-TAG (Q-in-Q)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0" y="2971800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VLAN Tag — outer tag in double-tagging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90688" y="2953512"/>
            <a:ext cx="1005840" cy="23774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298094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6032" y="3255264"/>
            <a:ext cx="8686800" cy="320040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" y="3273552"/>
            <a:ext cx="914400" cy="265176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31012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0x88CC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225296" y="331012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743200" y="3310128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Layer Discovery Protocol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90688" y="3291840"/>
            <a:ext cx="1005840" cy="237744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08976" y="3319272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3593592"/>
            <a:ext cx="8686800" cy="320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" y="3611880"/>
            <a:ext cx="914400" cy="2651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6484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0x88E5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225296" y="364845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MACsec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43200" y="3648456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Access Control Security (IEEE 802.1AE)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790688" y="3630168"/>
            <a:ext cx="1005840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08976" y="3657600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56032" y="3931920"/>
            <a:ext cx="8686800" cy="320040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6032" y="3950208"/>
            <a:ext cx="914400" cy="265176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398678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0x88F7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225296" y="398678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/ gPTP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743200" y="3986784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Time Protocol (IEEE 1588 / 802.1AS)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790688" y="3968496"/>
            <a:ext cx="1005840" cy="237744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08976" y="399592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56032" y="4270248"/>
            <a:ext cx="8686800" cy="320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032" y="4288536"/>
            <a:ext cx="914400" cy="265176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32511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0x22F0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225296" y="4325112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AVTP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743200" y="4325112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Video Transport Protocol (IEEE 1722)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790688" y="4306824"/>
            <a:ext cx="1005840" cy="237744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08976" y="4334256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4608576"/>
            <a:ext cx="8686800" cy="320040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6032" y="4626864"/>
            <a:ext cx="914400" cy="265176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466344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0x8808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225296" y="4663440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Ctrl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2743200" y="4663440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flow control — PAUSE frames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790688" y="4645152"/>
            <a:ext cx="1005840" cy="237744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08976" y="467258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56032" y="4946904"/>
            <a:ext cx="8686800" cy="320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6032" y="4965192"/>
            <a:ext cx="914400" cy="265176"/>
          </a:xfrm>
          <a:prstGeom prst="rect">
            <a:avLst/>
          </a:prstGeom>
          <a:solidFill>
            <a:srgbClr val="2A5E2A"/>
          </a:solidFill>
          <a:ln w="12700">
            <a:solidFill>
              <a:srgbClr val="2A5E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500176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0x893A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225296" y="500176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1905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2743200" y="5001768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networking (informational)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790688" y="4983480"/>
            <a:ext cx="1005840" cy="237744"/>
          </a:xfrm>
          <a:prstGeom prst="rect">
            <a:avLst/>
          </a:prstGeom>
          <a:solidFill>
            <a:srgbClr val="1E6B35"/>
          </a:solidFill>
          <a:ln w="12700">
            <a:solidFill>
              <a:srgbClr val="1E6B3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08976" y="5010912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3A8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Filtering &amp; Forwarding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learning, FDB lookup, VLAN membership checks, flooding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Forwarding Logic — Step-by-Step Decision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1874520" cy="566928"/>
          </a:xfrm>
          <a:prstGeom prst="rect">
            <a:avLst/>
          </a:prstGeom>
          <a:solidFill>
            <a:srgbClr val="555577"/>
          </a:solidFill>
          <a:ln w="12700">
            <a:solidFill>
              <a:srgbClr val="5555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" y="987552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arrives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" y="1298448"/>
            <a:ext cx="1764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ingress port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75004" y="1499616"/>
            <a:ext cx="27432" cy="27432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1719072"/>
            <a:ext cx="146304" cy="5486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773936"/>
            <a:ext cx="187452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" y="1828800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source MAC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" y="2139696"/>
            <a:ext cx="1764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+VLAN → FDB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75004" y="2340864"/>
            <a:ext cx="27432" cy="27432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2560320"/>
            <a:ext cx="146304" cy="5486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615184"/>
            <a:ext cx="1874520" cy="566928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" y="2670048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check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" y="2980944"/>
            <a:ext cx="1764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member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this VLAN?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30552" y="2884932"/>
            <a:ext cx="777240" cy="2743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52928" y="2825496"/>
            <a:ext cx="54864" cy="14630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2788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No→Drop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07792" y="2761488"/>
            <a:ext cx="9144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798064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75004" y="3182112"/>
            <a:ext cx="27432" cy="27432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5568" y="3401568"/>
            <a:ext cx="146304" cy="5486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456432"/>
            <a:ext cx="1874520" cy="56692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0896" y="3511296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Dst MAC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10896" y="3822192"/>
            <a:ext cx="1764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 + VLAN)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30552" y="3726180"/>
            <a:ext cx="1325880" cy="2743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1568" y="3666744"/>
            <a:ext cx="54864" cy="14630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57984" y="36301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93008" y="3456432"/>
            <a:ext cx="192024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47872" y="3511296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unicast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547872" y="3822192"/>
            <a:ext cx="18105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13248" y="3726180"/>
            <a:ext cx="786384" cy="2743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4768" y="3666744"/>
            <a:ext cx="54864" cy="14630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3456432"/>
            <a:ext cx="2011680" cy="566928"/>
          </a:xfrm>
          <a:prstGeom prst="rect">
            <a:avLst/>
          </a:prstGeom>
          <a:solidFill>
            <a:srgbClr val="1A5E7A"/>
          </a:solidFill>
          <a:ln w="12700">
            <a:solidFill>
              <a:srgbClr val="1A5E7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91072" y="3511296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VLAN filter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91072" y="3822192"/>
            <a:ext cx="19019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non-member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28332" y="4023360"/>
            <a:ext cx="27432" cy="27432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68896" y="4242816"/>
            <a:ext cx="146304" cy="5486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4315968"/>
            <a:ext cx="201168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4370832"/>
            <a:ext cx="1938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Transmit on approved port(s)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75004" y="4023360"/>
            <a:ext cx="27432" cy="27432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5568" y="4242816"/>
            <a:ext cx="146304" cy="5486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405993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4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" y="4315968"/>
            <a:ext cx="1874520" cy="51206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0896" y="4370832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UC / MC / BC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10896" y="4681728"/>
            <a:ext cx="176479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within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domain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130552" y="4558284"/>
            <a:ext cx="1325880" cy="2743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01568" y="4498848"/>
            <a:ext cx="54864" cy="14630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61488" y="448056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Unicast, Multicast, Broadcast — Layer 2 Delivery Patterns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2834640" cy="51206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96926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6032" y="1499616"/>
            <a:ext cx="2834640" cy="65836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499616"/>
            <a:ext cx="73152" cy="65836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361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37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6-byte MAC address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176272"/>
            <a:ext cx="283464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176272"/>
            <a:ext cx="73152" cy="65836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12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4140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Known: forward to one specific 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flood within VLAN (FDB miss)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2834640" cy="65836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852928"/>
            <a:ext cx="73152" cy="65836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895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090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traffic, control messages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529584"/>
            <a:ext cx="283464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529584"/>
            <a:ext cx="73152" cy="65836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661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7673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 miss causes flooding — scale carefully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932688"/>
            <a:ext cx="2834640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96926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68496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3218688" y="1499616"/>
            <a:ext cx="2834640" cy="65836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8688" y="1499616"/>
            <a:ext cx="73152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15361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46704" y="1737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01:xx:xx:xx:xx:xx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(LSB of 1st byte = 1)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18688" y="2176272"/>
            <a:ext cx="283464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2176272"/>
            <a:ext cx="73152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2212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46704" y="24140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to all VLAN ports (no IGMP)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if multicast DB exists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18688" y="2852928"/>
            <a:ext cx="2834640" cy="65836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18688" y="2852928"/>
            <a:ext cx="73152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28895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use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46704" y="3090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gPTP: 01:80:C2:00:00:0E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LLDP, AVTP, SOME/IP multicast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18688" y="3529584"/>
            <a:ext cx="283464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8688" y="3529584"/>
            <a:ext cx="73152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46704" y="35661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46704" y="37673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if multicast filter not configured — latency risk in vehicles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81344" y="932688"/>
            <a:ext cx="2834640" cy="5120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96926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∞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31152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181344" y="1499616"/>
            <a:ext cx="2834640" cy="65836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1344" y="1499616"/>
            <a:ext cx="7315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15361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9360" y="1737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FF:FF:FF:FF:FF:FF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ones)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81344" y="2176272"/>
            <a:ext cx="283464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81344" y="2176272"/>
            <a:ext cx="7315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2212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24140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to ALL ports in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domain / VLAN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81344" y="2852928"/>
            <a:ext cx="2834640" cy="658368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81344" y="2852928"/>
            <a:ext cx="7315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8895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use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09360" y="30906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requests, DHCP discover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81344" y="3529584"/>
            <a:ext cx="283464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81344" y="3529584"/>
            <a:ext cx="73152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35661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09360" y="37673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risk — must be tightly controlled in automotive backbones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56032" y="4297680"/>
            <a:ext cx="86868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4352544"/>
            <a:ext cx="8430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Automotive: broadcast and unknown-unicast flooding is dangerous in vehicle backbones with 100 µs latency budgets. Tight VLAN design and multicast filtering are mandatory engineering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3A8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Context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filtering contracts, jumbo frames — vehicle engineering requirements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as a System Contract in Automotive Networks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4206240" cy="1901952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32688"/>
            <a:ext cx="73152" cy="1901952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932688"/>
            <a:ext cx="1280160" cy="384048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II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82496" y="102412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Framing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408176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modern vehicle protocols — IP, ARP, gPTP, LLDP, MACsec, AVTP — use Ethernet II EtherType framing. EtherType directly identifies every payload at Layer 2.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45152" y="932688"/>
            <a:ext cx="4206240" cy="1901952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932688"/>
            <a:ext cx="73152" cy="190195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18304" y="932688"/>
            <a:ext cx="1280160" cy="384048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05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71616" y="102412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Tags Are Mandatory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1408176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(3-bit priority) and VID (12-bit domain) are part of the forwarding contract. TSN and AVB use these to segregate traffic. Switches must honour them exactly.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4206240" cy="1901952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44368"/>
            <a:ext cx="73152" cy="19019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2944368"/>
            <a:ext cx="128016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BC/MC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82496" y="303580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Control Is Safety-Critical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3419856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target ~100 µs leaves no room for uncontrolled flooding. Unknown unicast, multicast without state, and broadcast all cause wider replication than intended.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45152" y="2944368"/>
            <a:ext cx="4206240" cy="1901952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2944368"/>
            <a:ext cx="73152" cy="19019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8304" y="2944368"/>
            <a:ext cx="12801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17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71616" y="303580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Is Actively Tested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9744" y="3419856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Layer 2 test specs verify frames go to exactly the expected ports and not to others. Single- and double-tagged frame correctness is proven, not assumed.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 — Efficiency vs Serialisation Latency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4160520" cy="310896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7840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 — What They 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298448"/>
            <a:ext cx="416052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Ethernet payload: 1500 bytes max (IEEE 802.3)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frame: payload &gt; 1500 bytes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practical limit: ~9000 bytes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formally standardised — vendor/system agreement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fewer frames for bulk data → lower per-frame overhead → higher throughput efficiency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26864" y="932688"/>
            <a:ext cx="4297680" cy="31089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978408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Latency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26864" y="1298448"/>
            <a:ext cx="429768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 delay = time to push all bits onto the link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Gbit/s: 9000-byte jumbo ≈ 72 µs serialisation time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Gbit/s: 1500-byte standard ≈ 12 µs serialisation time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latency target: ~100 µs end-to-end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jumbo can consume 72% of total latency budget just on the first hop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07992" y="932688"/>
            <a:ext cx="18288" cy="3657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36393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Serialisation time at 1 Gbit/s: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" y="39684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B  (~12 µs)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12848" y="3986784"/>
            <a:ext cx="73152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399592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µs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" y="4261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9000 B  (~72 µs)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12848" y="4279392"/>
            <a:ext cx="43891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428853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µs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12848" y="3904488"/>
            <a:ext cx="18288" cy="67665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3904488"/>
            <a:ext cx="18288" cy="67665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12848" y="3904488"/>
            <a:ext cx="6053328" cy="1828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785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100 µs automotive latency budget →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A3A8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 formats, EtherType, and filtering — the complete picture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Ethernet Frames in Automotive Networks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86868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4206240" cy="124358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73152" cy="12435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932688"/>
            <a:ext cx="1737360" cy="3657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9669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371600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format. EtherType field directly identifies payload protocol. All vehicle protocols (IP, gPTP, LLDP, MACsec, AVTP) use Ethernet II.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932688"/>
            <a:ext cx="4206240" cy="124358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932688"/>
            <a:ext cx="73152" cy="124358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8304" y="932688"/>
            <a:ext cx="1737360" cy="36576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99669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Tags (C-TAG/S-TAG)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9744" y="1371600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C-TAG (0x8100) adds PCP (priority 0–7) and VID (VLAN domain 1–4094). In automotive they define the forwarding contract — mandatory, not optional.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286000"/>
            <a:ext cx="4206240" cy="124358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86000"/>
            <a:ext cx="73152" cy="12435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2286000"/>
            <a:ext cx="173736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35000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 Registry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" y="2724912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0x0800=IPv4, 0x88F7=PTP, 0x88E5=MACsec, 0x8100=VLAN, 0x22F0=AVTP. Values ≥ 0x0600 = protocol ID. Values ≤ 1500 = length (802.3 format).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5152" y="2286000"/>
            <a:ext cx="4206240" cy="124358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2286000"/>
            <a:ext cx="73152" cy="1243584"/>
          </a:xfrm>
          <a:prstGeom prst="rect">
            <a:avLst/>
          </a:prstGeom>
          <a:solidFill>
            <a:srgbClr val="1A5E7A"/>
          </a:solidFill>
          <a:ln w="12700">
            <a:solidFill>
              <a:srgbClr val="1A5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2286000"/>
            <a:ext cx="1737360" cy="365760"/>
          </a:xfrm>
          <a:prstGeom prst="rect">
            <a:avLst/>
          </a:prstGeom>
          <a:solidFill>
            <a:srgbClr val="1A5E7A"/>
          </a:solidFill>
          <a:ln w="12700">
            <a:solidFill>
              <a:srgbClr val="1A5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350008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Filtering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9744" y="2724912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source MAC. Forward on destination MAC + VLAN (FDB). FDB miss → flood. Egress VLAN filter removes non-member ports before transmit.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639312"/>
            <a:ext cx="4206240" cy="124358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639312"/>
            <a:ext cx="73152" cy="12435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" y="3639312"/>
            <a:ext cx="1737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70332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/ Multicast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078224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= FF:FF:FF:FF:FF:FF, flooded everywhere. Uncontrolled flooding is dangerous in vehicles with tight latency budgets. Must be engineered.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45152" y="3639312"/>
            <a:ext cx="4206240" cy="1243584"/>
          </a:xfrm>
          <a:prstGeom prst="rect">
            <a:avLst/>
          </a:prstGeom>
          <a:solidFill>
            <a:srgbClr val="EBF0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5152" y="3639312"/>
            <a:ext cx="73152" cy="1243584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4" y="3639312"/>
            <a:ext cx="1737360" cy="36576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70332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Frames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9744" y="4078224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&gt; 1500 B. 9000-byte frame = 72 µs serialisation at 1 Gbit/s — 72% of a 100 µs automotive budget. Use only for non-time-critical bulk traffic.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 ·  VLAN C-TAG / S-TAG  ·  EtherType Registry  ·  Layer 2 Filtering  ·  Automotive Frame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Ethernet Frame Formats, EtherType &amp; Frame Filtering</dc:title>
  <dc:subject>PptxGenJS Presentation</dc:subject>
  <dc:creator>PptxGenJS</dc:creator>
  <cp:lastModifiedBy>PptxGenJS</cp:lastModifiedBy>
  <cp:revision>1</cp:revision>
  <dcterms:created xsi:type="dcterms:W3CDTF">2026-04-18T16:06:41Z</dcterms:created>
  <dcterms:modified xsi:type="dcterms:W3CDTF">2026-04-18T16:06:41Z</dcterms:modified>
</cp:coreProperties>
</file>