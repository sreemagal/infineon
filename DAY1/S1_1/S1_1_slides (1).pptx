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D1B52"/>
          </a:solidFill>
          <a:ln w="12700">
            <a:solidFill>
              <a:srgbClr val="0D1B52"/>
            </a:solidFill>
            <a:prstDash val="solid"/>
          </a:ln>
        </p:spPr>
      </p:sp>
      <p:sp>
        <p:nvSpPr>
          <p:cNvPr id="3" name="Shape 1"/>
          <p:cNvSpPr/>
          <p:nvPr/>
        </p:nvSpPr>
        <p:spPr>
          <a:xfrm>
            <a:off x="6217920" y="3108960"/>
            <a:ext cx="2926080" cy="2103120"/>
          </a:xfrm>
          <a:prstGeom prst="rect">
            <a:avLst/>
          </a:prstGeom>
          <a:solidFill>
            <a:srgbClr val="0F2258"/>
          </a:solidFill>
          <a:ln w="12700">
            <a:solidFill>
              <a:srgbClr val="0F2258"/>
            </a:solidFill>
            <a:prstDash val="solid"/>
          </a:ln>
        </p:spPr>
      </p:sp>
      <p:sp>
        <p:nvSpPr>
          <p:cNvPr id="4" name="Text 2"/>
          <p:cNvSpPr/>
          <p:nvPr/>
        </p:nvSpPr>
        <p:spPr>
          <a:xfrm>
            <a:off x="640080" y="914400"/>
            <a:ext cx="7315200" cy="457200"/>
          </a:xfrm>
          <a:prstGeom prst="rect">
            <a:avLst/>
          </a:prstGeom>
          <a:noFill/>
          <a:ln/>
        </p:spPr>
        <p:txBody>
          <a:bodyPr wrap="square" rtlCol="0" anchor="ctr"/>
          <a:lstStyle/>
          <a:p>
            <a:pPr indent="0" marL="0">
              <a:buNone/>
            </a:pPr>
            <a:r>
              <a:rPr lang="en-US" sz="1300" spc="500" kern="0" dirty="0">
                <a:solidFill>
                  <a:srgbClr val="CADCFC"/>
                </a:solidFill>
                <a:latin typeface="Calibri" pitchFamily="34" charset="0"/>
                <a:ea typeface="Calibri" pitchFamily="34" charset="-122"/>
                <a:cs typeface="Calibri" pitchFamily="34" charset="-120"/>
              </a:rPr>
              <a:t>AUTOMOTIVE ETHERNET</a:t>
            </a:r>
            <a:endParaRPr lang="en-US" sz="1300" dirty="0"/>
          </a:p>
        </p:txBody>
      </p:sp>
      <p:sp>
        <p:nvSpPr>
          <p:cNvPr id="5" name="Text 3"/>
          <p:cNvSpPr/>
          <p:nvPr/>
        </p:nvSpPr>
        <p:spPr>
          <a:xfrm>
            <a:off x="640080" y="1353312"/>
            <a:ext cx="6858000" cy="1143000"/>
          </a:xfrm>
          <a:prstGeom prst="rect">
            <a:avLst/>
          </a:prstGeom>
          <a:noFill/>
          <a:ln/>
        </p:spPr>
        <p:txBody>
          <a:bodyPr wrap="square"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Foundations</a:t>
            </a:r>
            <a:endParaRPr lang="en-US" sz="5800" dirty="0"/>
          </a:p>
        </p:txBody>
      </p:sp>
      <p:sp>
        <p:nvSpPr>
          <p:cNvPr id="6" name="Text 4"/>
          <p:cNvSpPr/>
          <p:nvPr/>
        </p:nvSpPr>
        <p:spPr>
          <a:xfrm>
            <a:off x="640080" y="2514600"/>
            <a:ext cx="6858000" cy="822960"/>
          </a:xfrm>
          <a:prstGeom prst="rect">
            <a:avLst/>
          </a:prstGeom>
          <a:noFill/>
          <a:ln/>
        </p:spPr>
        <p:txBody>
          <a:bodyPr wrap="square" rtlCol="0" anchor="ctr"/>
          <a:lstStyle/>
          <a:p>
            <a:pPr indent="0" marL="0">
              <a:lnSpc>
                <a:spcPct val="150000"/>
              </a:lnSpc>
              <a:buNone/>
            </a:pPr>
            <a:r>
              <a:rPr lang="en-US" sz="1400" dirty="0">
                <a:solidFill>
                  <a:srgbClr val="CADCFC"/>
                </a:solidFill>
                <a:latin typeface="Calibri" pitchFamily="34" charset="0"/>
                <a:ea typeface="Calibri" pitchFamily="34" charset="-122"/>
                <a:cs typeface="Calibri" pitchFamily="34" charset="-120"/>
              </a:rPr>
              <a:t>OSI Model  ·  IEEE 802 Family  ·  Domain vs Zonal Architecture</a:t>
            </a:r>
            <a:endParaRPr lang="en-US" sz="1400" dirty="0"/>
          </a:p>
          <a:p>
            <a:pPr indent="0" marL="0">
              <a:lnSpc>
                <a:spcPct val="150000"/>
              </a:lnSpc>
              <a:buNone/>
            </a:pPr>
            <a:r>
              <a:rPr lang="en-US" sz="1400" dirty="0">
                <a:solidFill>
                  <a:srgbClr val="CADCFC"/>
                </a:solidFill>
                <a:latin typeface="Calibri" pitchFamily="34" charset="0"/>
                <a:ea typeface="Calibri" pitchFamily="34" charset="-122"/>
                <a:cs typeface="Calibri" pitchFamily="34" charset="-120"/>
              </a:rPr>
              <a:t>OPEN Alliance SIG  ·  TC10 Sleep/Wake  ·  TC14 10BASE-T1S</a:t>
            </a:r>
            <a:endParaRPr lang="en-US" sz="1400" dirty="0"/>
          </a:p>
        </p:txBody>
      </p:sp>
      <p:sp>
        <p:nvSpPr>
          <p:cNvPr id="7" name="Shape 5"/>
          <p:cNvSpPr/>
          <p:nvPr/>
        </p:nvSpPr>
        <p:spPr>
          <a:xfrm>
            <a:off x="640080" y="3429000"/>
            <a:ext cx="2286000" cy="41148"/>
          </a:xfrm>
          <a:prstGeom prst="rect">
            <a:avLst/>
          </a:prstGeom>
          <a:solidFill>
            <a:srgbClr val="60A5FA"/>
          </a:solidFill>
          <a:ln w="12700">
            <a:solidFill>
              <a:srgbClr val="60A5FA"/>
            </a:solidFill>
            <a:prstDash val="solid"/>
          </a:ln>
        </p:spPr>
      </p:sp>
      <p:sp>
        <p:nvSpPr>
          <p:cNvPr id="8" name="Text 6"/>
          <p:cNvSpPr/>
          <p:nvPr/>
        </p:nvSpPr>
        <p:spPr>
          <a:xfrm>
            <a:off x="640080" y="3547872"/>
            <a:ext cx="4572000" cy="292608"/>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2-Hour Technical Briefing</a:t>
            </a:r>
            <a:endParaRPr lang="en-US" sz="1300" dirty="0"/>
          </a:p>
        </p:txBody>
      </p:sp>
      <p:pic>
        <p:nvPicPr>
          <p:cNvPr id="9" name="Image 0" descr="preencoded.png">    </p:cNvPr>
          <p:cNvPicPr>
            <a:picLocks noChangeAspect="1"/>
          </p:cNvPicPr>
          <p:nvPr/>
        </p:nvPicPr>
        <p:blipFill>
          <a:blip r:embed="rId1"/>
          <a:stretch>
            <a:fillRect/>
          </a:stretch>
        </p:blipFill>
        <p:spPr>
          <a:xfrm>
            <a:off x="640080" y="4096512"/>
            <a:ext cx="347472" cy="347472"/>
          </a:xfrm>
          <a:prstGeom prst="rect">
            <a:avLst/>
          </a:prstGeom>
        </p:spPr>
      </p:pic>
      <p:sp>
        <p:nvSpPr>
          <p:cNvPr id="10" name="Text 7"/>
          <p:cNvSpPr/>
          <p:nvPr/>
        </p:nvSpPr>
        <p:spPr>
          <a:xfrm>
            <a:off x="502920" y="4480560"/>
            <a:ext cx="1188720" cy="219456"/>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OSI Model</a:t>
            </a:r>
            <a:endParaRPr lang="en-US" sz="900" dirty="0"/>
          </a:p>
        </p:txBody>
      </p:sp>
      <p:pic>
        <p:nvPicPr>
          <p:cNvPr id="11" name="Image 1" descr="preencoded.png">    </p:cNvPr>
          <p:cNvPicPr>
            <a:picLocks noChangeAspect="1"/>
          </p:cNvPicPr>
          <p:nvPr/>
        </p:nvPicPr>
        <p:blipFill>
          <a:blip r:embed="rId2"/>
          <a:stretch>
            <a:fillRect/>
          </a:stretch>
        </p:blipFill>
        <p:spPr>
          <a:xfrm>
            <a:off x="1755648" y="4096512"/>
            <a:ext cx="347472" cy="347472"/>
          </a:xfrm>
          <a:prstGeom prst="rect">
            <a:avLst/>
          </a:prstGeom>
        </p:spPr>
      </p:pic>
      <p:sp>
        <p:nvSpPr>
          <p:cNvPr id="12" name="Text 8"/>
          <p:cNvSpPr/>
          <p:nvPr/>
        </p:nvSpPr>
        <p:spPr>
          <a:xfrm>
            <a:off x="1618488" y="4480560"/>
            <a:ext cx="1188720" cy="219456"/>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IEEE 802</a:t>
            </a:r>
            <a:endParaRPr lang="en-US" sz="900" dirty="0"/>
          </a:p>
        </p:txBody>
      </p:sp>
      <p:pic>
        <p:nvPicPr>
          <p:cNvPr id="13" name="Image 2" descr="preencoded.png">    </p:cNvPr>
          <p:cNvPicPr>
            <a:picLocks noChangeAspect="1"/>
          </p:cNvPicPr>
          <p:nvPr/>
        </p:nvPicPr>
        <p:blipFill>
          <a:blip r:embed="rId3"/>
          <a:stretch>
            <a:fillRect/>
          </a:stretch>
        </p:blipFill>
        <p:spPr>
          <a:xfrm>
            <a:off x="2871216" y="4096512"/>
            <a:ext cx="347472" cy="347472"/>
          </a:xfrm>
          <a:prstGeom prst="rect">
            <a:avLst/>
          </a:prstGeom>
        </p:spPr>
      </p:pic>
      <p:sp>
        <p:nvSpPr>
          <p:cNvPr id="14" name="Text 9"/>
          <p:cNvSpPr/>
          <p:nvPr/>
        </p:nvSpPr>
        <p:spPr>
          <a:xfrm>
            <a:off x="2734056" y="4480560"/>
            <a:ext cx="1188720" cy="219456"/>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Architecture</a:t>
            </a:r>
            <a:endParaRPr lang="en-US" sz="900" dirty="0"/>
          </a:p>
        </p:txBody>
      </p:sp>
      <p:pic>
        <p:nvPicPr>
          <p:cNvPr id="15" name="Image 3" descr="preencoded.png">    </p:cNvPr>
          <p:cNvPicPr>
            <a:picLocks noChangeAspect="1"/>
          </p:cNvPicPr>
          <p:nvPr/>
        </p:nvPicPr>
        <p:blipFill>
          <a:blip r:embed="rId4"/>
          <a:stretch>
            <a:fillRect/>
          </a:stretch>
        </p:blipFill>
        <p:spPr>
          <a:xfrm>
            <a:off x="3986784" y="4096512"/>
            <a:ext cx="347472" cy="347472"/>
          </a:xfrm>
          <a:prstGeom prst="rect">
            <a:avLst/>
          </a:prstGeom>
        </p:spPr>
      </p:pic>
      <p:sp>
        <p:nvSpPr>
          <p:cNvPr id="16" name="Text 10"/>
          <p:cNvSpPr/>
          <p:nvPr/>
        </p:nvSpPr>
        <p:spPr>
          <a:xfrm>
            <a:off x="3849624" y="4480560"/>
            <a:ext cx="1188720" cy="219456"/>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OPEN Alliance</a:t>
            </a:r>
            <a:endParaRPr lang="en-US" sz="900" dirty="0"/>
          </a:p>
        </p:txBody>
      </p:sp>
      <p:pic>
        <p:nvPicPr>
          <p:cNvPr id="17" name="Image 4" descr="preencoded.png">    </p:cNvPr>
          <p:cNvPicPr>
            <a:picLocks noChangeAspect="1"/>
          </p:cNvPicPr>
          <p:nvPr/>
        </p:nvPicPr>
        <p:blipFill>
          <a:blip r:embed="rId5"/>
          <a:stretch>
            <a:fillRect/>
          </a:stretch>
        </p:blipFill>
        <p:spPr>
          <a:xfrm>
            <a:off x="5102352" y="4096512"/>
            <a:ext cx="347472" cy="347472"/>
          </a:xfrm>
          <a:prstGeom prst="rect">
            <a:avLst/>
          </a:prstGeom>
        </p:spPr>
      </p:pic>
      <p:sp>
        <p:nvSpPr>
          <p:cNvPr id="18" name="Text 11"/>
          <p:cNvSpPr/>
          <p:nvPr/>
        </p:nvSpPr>
        <p:spPr>
          <a:xfrm>
            <a:off x="4965192" y="4480560"/>
            <a:ext cx="1188720" cy="219456"/>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TC10/TC14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Agenda</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Seven topics structured for a 2-hour delivery</a:t>
            </a:r>
            <a:endParaRPr lang="en-US" sz="1250" dirty="0"/>
          </a:p>
        </p:txBody>
      </p:sp>
      <p:sp>
        <p:nvSpPr>
          <p:cNvPr id="5" name="Shape 3"/>
          <p:cNvSpPr/>
          <p:nvPr/>
        </p:nvSpPr>
        <p:spPr>
          <a:xfrm>
            <a:off x="201168" y="1207008"/>
            <a:ext cx="4315968" cy="841248"/>
          </a:xfrm>
          <a:prstGeom prst="rect">
            <a:avLst/>
          </a:prstGeom>
          <a:solidFill>
            <a:srgbClr val="EEF2FF"/>
          </a:solidFill>
          <a:ln w="6350">
            <a:solidFill>
              <a:srgbClr val="C7D2FE"/>
            </a:solidFill>
            <a:prstDash val="solid"/>
          </a:ln>
        </p:spPr>
      </p:sp>
      <p:sp>
        <p:nvSpPr>
          <p:cNvPr id="6" name="Shape 4"/>
          <p:cNvSpPr/>
          <p:nvPr/>
        </p:nvSpPr>
        <p:spPr>
          <a:xfrm>
            <a:off x="201168" y="1207008"/>
            <a:ext cx="402336" cy="841248"/>
          </a:xfrm>
          <a:prstGeom prst="rect">
            <a:avLst/>
          </a:prstGeom>
          <a:solidFill>
            <a:srgbClr val="1E2761"/>
          </a:solidFill>
          <a:ln w="12700">
            <a:solidFill>
              <a:srgbClr val="1E2761"/>
            </a:solidFill>
            <a:prstDash val="solid"/>
          </a:ln>
        </p:spPr>
      </p:sp>
      <p:sp>
        <p:nvSpPr>
          <p:cNvPr id="7" name="Text 5"/>
          <p:cNvSpPr/>
          <p:nvPr/>
        </p:nvSpPr>
        <p:spPr>
          <a:xfrm>
            <a:off x="201168" y="1207008"/>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658368" y="1280160"/>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OSI Seven-Layer Model</a:t>
            </a:r>
            <a:endParaRPr lang="en-US" sz="1250" dirty="0"/>
          </a:p>
        </p:txBody>
      </p:sp>
      <p:sp>
        <p:nvSpPr>
          <p:cNvPr id="9" name="Text 7"/>
          <p:cNvSpPr/>
          <p:nvPr/>
        </p:nvSpPr>
        <p:spPr>
          <a:xfrm>
            <a:off x="658368" y="1572768"/>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Conceptual framework — separating signalling, framing, routing, transport, application</a:t>
            </a:r>
            <a:endParaRPr lang="en-US" sz="1050" dirty="0"/>
          </a:p>
        </p:txBody>
      </p:sp>
      <p:sp>
        <p:nvSpPr>
          <p:cNvPr id="10" name="Shape 8"/>
          <p:cNvSpPr/>
          <p:nvPr/>
        </p:nvSpPr>
        <p:spPr>
          <a:xfrm>
            <a:off x="201168" y="2139696"/>
            <a:ext cx="4315968" cy="841248"/>
          </a:xfrm>
          <a:prstGeom prst="rect">
            <a:avLst/>
          </a:prstGeom>
          <a:solidFill>
            <a:srgbClr val="EEF2FF"/>
          </a:solidFill>
          <a:ln w="6350">
            <a:solidFill>
              <a:srgbClr val="C7D2FE"/>
            </a:solidFill>
            <a:prstDash val="solid"/>
          </a:ln>
        </p:spPr>
      </p:sp>
      <p:sp>
        <p:nvSpPr>
          <p:cNvPr id="11" name="Shape 9"/>
          <p:cNvSpPr/>
          <p:nvPr/>
        </p:nvSpPr>
        <p:spPr>
          <a:xfrm>
            <a:off x="201168" y="2139696"/>
            <a:ext cx="402336" cy="841248"/>
          </a:xfrm>
          <a:prstGeom prst="rect">
            <a:avLst/>
          </a:prstGeom>
          <a:solidFill>
            <a:srgbClr val="1E2761"/>
          </a:solidFill>
          <a:ln w="12700">
            <a:solidFill>
              <a:srgbClr val="1E2761"/>
            </a:solidFill>
            <a:prstDash val="solid"/>
          </a:ln>
        </p:spPr>
      </p:sp>
      <p:sp>
        <p:nvSpPr>
          <p:cNvPr id="12" name="Text 10"/>
          <p:cNvSpPr/>
          <p:nvPr/>
        </p:nvSpPr>
        <p:spPr>
          <a:xfrm>
            <a:off x="201168" y="2139696"/>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658368" y="2212848"/>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IEEE 802 Family Structure</a:t>
            </a:r>
            <a:endParaRPr lang="en-US" sz="1250" dirty="0"/>
          </a:p>
        </p:txBody>
      </p:sp>
      <p:sp>
        <p:nvSpPr>
          <p:cNvPr id="14" name="Text 12"/>
          <p:cNvSpPr/>
          <p:nvPr/>
        </p:nvSpPr>
        <p:spPr>
          <a:xfrm>
            <a:off x="658368" y="2505456"/>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802.3 PHY/MAC vs 802.1 bridging, VLANs, TSN — the critical two-way split</a:t>
            </a:r>
            <a:endParaRPr lang="en-US" sz="1050" dirty="0"/>
          </a:p>
        </p:txBody>
      </p:sp>
      <p:sp>
        <p:nvSpPr>
          <p:cNvPr id="15" name="Shape 13"/>
          <p:cNvSpPr/>
          <p:nvPr/>
        </p:nvSpPr>
        <p:spPr>
          <a:xfrm>
            <a:off x="201168" y="3072384"/>
            <a:ext cx="4315968" cy="841248"/>
          </a:xfrm>
          <a:prstGeom prst="rect">
            <a:avLst/>
          </a:prstGeom>
          <a:solidFill>
            <a:srgbClr val="EEF2FF"/>
          </a:solidFill>
          <a:ln w="6350">
            <a:solidFill>
              <a:srgbClr val="C7D2FE"/>
            </a:solidFill>
            <a:prstDash val="solid"/>
          </a:ln>
        </p:spPr>
      </p:sp>
      <p:sp>
        <p:nvSpPr>
          <p:cNvPr id="16" name="Shape 14"/>
          <p:cNvSpPr/>
          <p:nvPr/>
        </p:nvSpPr>
        <p:spPr>
          <a:xfrm>
            <a:off x="201168" y="3072384"/>
            <a:ext cx="402336" cy="841248"/>
          </a:xfrm>
          <a:prstGeom prst="rect">
            <a:avLst/>
          </a:prstGeom>
          <a:solidFill>
            <a:srgbClr val="1E2761"/>
          </a:solidFill>
          <a:ln w="12700">
            <a:solidFill>
              <a:srgbClr val="1E2761"/>
            </a:solidFill>
            <a:prstDash val="solid"/>
          </a:ln>
        </p:spPr>
      </p:sp>
      <p:sp>
        <p:nvSpPr>
          <p:cNvPr id="17" name="Text 15"/>
          <p:cNvSpPr/>
          <p:nvPr/>
        </p:nvSpPr>
        <p:spPr>
          <a:xfrm>
            <a:off x="201168" y="3072384"/>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658368" y="3145536"/>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Domain Architecture</a:t>
            </a:r>
            <a:endParaRPr lang="en-US" sz="1250" dirty="0"/>
          </a:p>
        </p:txBody>
      </p:sp>
      <p:sp>
        <p:nvSpPr>
          <p:cNvPr id="19" name="Text 17"/>
          <p:cNvSpPr/>
          <p:nvPr/>
        </p:nvSpPr>
        <p:spPr>
          <a:xfrm>
            <a:off x="658368" y="3438144"/>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Function-grouped ECUs, Ethernet backbones, IP-based modularity and software reuse</a:t>
            </a:r>
            <a:endParaRPr lang="en-US" sz="1050" dirty="0"/>
          </a:p>
        </p:txBody>
      </p:sp>
      <p:sp>
        <p:nvSpPr>
          <p:cNvPr id="20" name="Shape 18"/>
          <p:cNvSpPr/>
          <p:nvPr/>
        </p:nvSpPr>
        <p:spPr>
          <a:xfrm>
            <a:off x="201168" y="4005072"/>
            <a:ext cx="4315968" cy="841248"/>
          </a:xfrm>
          <a:prstGeom prst="rect">
            <a:avLst/>
          </a:prstGeom>
          <a:solidFill>
            <a:srgbClr val="EEF2FF"/>
          </a:solidFill>
          <a:ln w="6350">
            <a:solidFill>
              <a:srgbClr val="C7D2FE"/>
            </a:solidFill>
            <a:prstDash val="solid"/>
          </a:ln>
        </p:spPr>
      </p:sp>
      <p:sp>
        <p:nvSpPr>
          <p:cNvPr id="21" name="Shape 19"/>
          <p:cNvSpPr/>
          <p:nvPr/>
        </p:nvSpPr>
        <p:spPr>
          <a:xfrm>
            <a:off x="201168" y="4005072"/>
            <a:ext cx="402336" cy="841248"/>
          </a:xfrm>
          <a:prstGeom prst="rect">
            <a:avLst/>
          </a:prstGeom>
          <a:solidFill>
            <a:srgbClr val="1E2761"/>
          </a:solidFill>
          <a:ln w="12700">
            <a:solidFill>
              <a:srgbClr val="1E2761"/>
            </a:solidFill>
            <a:prstDash val="solid"/>
          </a:ln>
        </p:spPr>
      </p:sp>
      <p:sp>
        <p:nvSpPr>
          <p:cNvPr id="22" name="Text 20"/>
          <p:cNvSpPr/>
          <p:nvPr/>
        </p:nvSpPr>
        <p:spPr>
          <a:xfrm>
            <a:off x="201168" y="4005072"/>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658368" y="4078224"/>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Zonal Architecture</a:t>
            </a:r>
            <a:endParaRPr lang="en-US" sz="1250" dirty="0"/>
          </a:p>
        </p:txBody>
      </p:sp>
      <p:sp>
        <p:nvSpPr>
          <p:cNvPr id="24" name="Text 22"/>
          <p:cNvSpPr/>
          <p:nvPr/>
        </p:nvSpPr>
        <p:spPr>
          <a:xfrm>
            <a:off x="658368" y="4370832"/>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Geography-first topology, shared Ethernet infrastructure, TSN becomes mandatory</a:t>
            </a:r>
            <a:endParaRPr lang="en-US" sz="1050" dirty="0"/>
          </a:p>
        </p:txBody>
      </p:sp>
      <p:sp>
        <p:nvSpPr>
          <p:cNvPr id="25" name="Shape 23"/>
          <p:cNvSpPr/>
          <p:nvPr/>
        </p:nvSpPr>
        <p:spPr>
          <a:xfrm>
            <a:off x="4727448" y="1207008"/>
            <a:ext cx="4315968" cy="841248"/>
          </a:xfrm>
          <a:prstGeom prst="rect">
            <a:avLst/>
          </a:prstGeom>
          <a:solidFill>
            <a:srgbClr val="F0FDFA"/>
          </a:solidFill>
          <a:ln w="6350">
            <a:solidFill>
              <a:srgbClr val="A7F3D0"/>
            </a:solidFill>
            <a:prstDash val="solid"/>
          </a:ln>
        </p:spPr>
      </p:sp>
      <p:sp>
        <p:nvSpPr>
          <p:cNvPr id="26" name="Shape 24"/>
          <p:cNvSpPr/>
          <p:nvPr/>
        </p:nvSpPr>
        <p:spPr>
          <a:xfrm>
            <a:off x="4727448" y="1207008"/>
            <a:ext cx="402336" cy="841248"/>
          </a:xfrm>
          <a:prstGeom prst="rect">
            <a:avLst/>
          </a:prstGeom>
          <a:solidFill>
            <a:srgbClr val="0D9488"/>
          </a:solidFill>
          <a:ln w="12700">
            <a:solidFill>
              <a:srgbClr val="0D9488"/>
            </a:solidFill>
            <a:prstDash val="solid"/>
          </a:ln>
        </p:spPr>
      </p:sp>
      <p:sp>
        <p:nvSpPr>
          <p:cNvPr id="27" name="Text 25"/>
          <p:cNvSpPr/>
          <p:nvPr/>
        </p:nvSpPr>
        <p:spPr>
          <a:xfrm>
            <a:off x="4727448" y="1207008"/>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5184648" y="1280160"/>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OPEN Alliance SIG</a:t>
            </a:r>
            <a:endParaRPr lang="en-US" sz="1250" dirty="0"/>
          </a:p>
        </p:txBody>
      </p:sp>
      <p:sp>
        <p:nvSpPr>
          <p:cNvPr id="29" name="Text 27"/>
          <p:cNvSpPr/>
          <p:nvPr/>
        </p:nvSpPr>
        <p:spPr>
          <a:xfrm>
            <a:off x="5184648" y="1572768"/>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Profiling IEEE Ethernet for vehicle-grade conformance and interoperability</a:t>
            </a:r>
            <a:endParaRPr lang="en-US" sz="1050" dirty="0"/>
          </a:p>
        </p:txBody>
      </p:sp>
      <p:sp>
        <p:nvSpPr>
          <p:cNvPr id="30" name="Shape 28"/>
          <p:cNvSpPr/>
          <p:nvPr/>
        </p:nvSpPr>
        <p:spPr>
          <a:xfrm>
            <a:off x="4727448" y="2139696"/>
            <a:ext cx="4315968" cy="841248"/>
          </a:xfrm>
          <a:prstGeom prst="rect">
            <a:avLst/>
          </a:prstGeom>
          <a:solidFill>
            <a:srgbClr val="F0FDFA"/>
          </a:solidFill>
          <a:ln w="6350">
            <a:solidFill>
              <a:srgbClr val="A7F3D0"/>
            </a:solidFill>
            <a:prstDash val="solid"/>
          </a:ln>
        </p:spPr>
      </p:sp>
      <p:sp>
        <p:nvSpPr>
          <p:cNvPr id="31" name="Shape 29"/>
          <p:cNvSpPr/>
          <p:nvPr/>
        </p:nvSpPr>
        <p:spPr>
          <a:xfrm>
            <a:off x="4727448" y="2139696"/>
            <a:ext cx="402336" cy="841248"/>
          </a:xfrm>
          <a:prstGeom prst="rect">
            <a:avLst/>
          </a:prstGeom>
          <a:solidFill>
            <a:srgbClr val="0D9488"/>
          </a:solidFill>
          <a:ln w="12700">
            <a:solidFill>
              <a:srgbClr val="0D9488"/>
            </a:solidFill>
            <a:prstDash val="solid"/>
          </a:ln>
        </p:spPr>
      </p:sp>
      <p:sp>
        <p:nvSpPr>
          <p:cNvPr id="32" name="Text 30"/>
          <p:cNvSpPr/>
          <p:nvPr/>
        </p:nvSpPr>
        <p:spPr>
          <a:xfrm>
            <a:off x="4727448" y="2139696"/>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5184648" y="2212848"/>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TC10 — Sleep and Wake-Up</a:t>
            </a:r>
            <a:endParaRPr lang="en-US" sz="1250" dirty="0"/>
          </a:p>
        </p:txBody>
      </p:sp>
      <p:sp>
        <p:nvSpPr>
          <p:cNvPr id="34" name="Text 32"/>
          <p:cNvSpPr/>
          <p:nvPr/>
        </p:nvSpPr>
        <p:spPr>
          <a:xfrm>
            <a:off x="5184648" y="2505456"/>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Partial networking, low-power states, fast and deterministic PHY wake</a:t>
            </a:r>
            <a:endParaRPr lang="en-US" sz="1050" dirty="0"/>
          </a:p>
        </p:txBody>
      </p:sp>
      <p:sp>
        <p:nvSpPr>
          <p:cNvPr id="35" name="Shape 33"/>
          <p:cNvSpPr/>
          <p:nvPr/>
        </p:nvSpPr>
        <p:spPr>
          <a:xfrm>
            <a:off x="4727448" y="3072384"/>
            <a:ext cx="4315968" cy="841248"/>
          </a:xfrm>
          <a:prstGeom prst="rect">
            <a:avLst/>
          </a:prstGeom>
          <a:solidFill>
            <a:srgbClr val="F0FDFA"/>
          </a:solidFill>
          <a:ln w="6350">
            <a:solidFill>
              <a:srgbClr val="A7F3D0"/>
            </a:solidFill>
            <a:prstDash val="solid"/>
          </a:ln>
        </p:spPr>
      </p:sp>
      <p:sp>
        <p:nvSpPr>
          <p:cNvPr id="36" name="Shape 34"/>
          <p:cNvSpPr/>
          <p:nvPr/>
        </p:nvSpPr>
        <p:spPr>
          <a:xfrm>
            <a:off x="4727448" y="3072384"/>
            <a:ext cx="402336" cy="841248"/>
          </a:xfrm>
          <a:prstGeom prst="rect">
            <a:avLst/>
          </a:prstGeom>
          <a:solidFill>
            <a:srgbClr val="0D9488"/>
          </a:solidFill>
          <a:ln w="12700">
            <a:solidFill>
              <a:srgbClr val="0D9488"/>
            </a:solidFill>
            <a:prstDash val="solid"/>
          </a:ln>
        </p:spPr>
      </p:sp>
      <p:sp>
        <p:nvSpPr>
          <p:cNvPr id="37" name="Text 35"/>
          <p:cNvSpPr/>
          <p:nvPr/>
        </p:nvSpPr>
        <p:spPr>
          <a:xfrm>
            <a:off x="4727448" y="3072384"/>
            <a:ext cx="402336" cy="8412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8" name="Text 36"/>
          <p:cNvSpPr/>
          <p:nvPr/>
        </p:nvSpPr>
        <p:spPr>
          <a:xfrm>
            <a:off x="5184648" y="3145536"/>
            <a:ext cx="3785616"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TC14 — 10BASE-T1S</a:t>
            </a:r>
            <a:endParaRPr lang="en-US" sz="1250" dirty="0"/>
          </a:p>
        </p:txBody>
      </p:sp>
      <p:sp>
        <p:nvSpPr>
          <p:cNvPr id="39" name="Text 37"/>
          <p:cNvSpPr/>
          <p:nvPr/>
        </p:nvSpPr>
        <p:spPr>
          <a:xfrm>
            <a:off x="5184648" y="3438144"/>
            <a:ext cx="3785616" cy="420624"/>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Multidrop PLCA bus, automotive profile, conformance testing, TC10 interaction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1</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OSI Seven-Layer Model</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The conceptual framework for reasoning about network communication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The Seven OSI Layers</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Lower layers move signals and frames · Upper layers move meaning and conversations</a:t>
            </a:r>
            <a:endParaRPr lang="en-US" sz="1250" dirty="0"/>
          </a:p>
        </p:txBody>
      </p:sp>
      <p:sp>
        <p:nvSpPr>
          <p:cNvPr id="5" name="Shape 3"/>
          <p:cNvSpPr/>
          <p:nvPr/>
        </p:nvSpPr>
        <p:spPr>
          <a:xfrm>
            <a:off x="201168" y="1115568"/>
            <a:ext cx="5303520" cy="475488"/>
          </a:xfrm>
          <a:prstGeom prst="rect">
            <a:avLst/>
          </a:prstGeom>
          <a:solidFill>
            <a:srgbClr val="DBEAFE"/>
          </a:solidFill>
          <a:ln w="6350">
            <a:solidFill>
              <a:srgbClr val="E5E7EB"/>
            </a:solidFill>
            <a:prstDash val="solid"/>
          </a:ln>
        </p:spPr>
      </p:sp>
      <p:sp>
        <p:nvSpPr>
          <p:cNvPr id="6" name="Shape 4"/>
          <p:cNvSpPr/>
          <p:nvPr/>
        </p:nvSpPr>
        <p:spPr>
          <a:xfrm>
            <a:off x="201168" y="1115568"/>
            <a:ext cx="384048" cy="475488"/>
          </a:xfrm>
          <a:prstGeom prst="rect">
            <a:avLst/>
          </a:prstGeom>
          <a:solidFill>
            <a:srgbClr val="1E2761"/>
          </a:solidFill>
          <a:ln w="12700">
            <a:solidFill>
              <a:srgbClr val="1E2761"/>
            </a:solidFill>
            <a:prstDash val="solid"/>
          </a:ln>
        </p:spPr>
      </p:sp>
      <p:sp>
        <p:nvSpPr>
          <p:cNvPr id="7" name="Text 5"/>
          <p:cNvSpPr/>
          <p:nvPr/>
        </p:nvSpPr>
        <p:spPr>
          <a:xfrm>
            <a:off x="201168" y="111556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8" name="Text 6"/>
          <p:cNvSpPr/>
          <p:nvPr/>
        </p:nvSpPr>
        <p:spPr>
          <a:xfrm>
            <a:off x="640080" y="1152144"/>
            <a:ext cx="1463040" cy="219456"/>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Application</a:t>
            </a:r>
            <a:endParaRPr lang="en-US" sz="1250" dirty="0"/>
          </a:p>
        </p:txBody>
      </p:sp>
      <p:sp>
        <p:nvSpPr>
          <p:cNvPr id="9" name="Text 7"/>
          <p:cNvSpPr/>
          <p:nvPr/>
        </p:nvSpPr>
        <p:spPr>
          <a:xfrm>
            <a:off x="640080" y="135331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Highest layer — closest to user or application function. Service interfaces.</a:t>
            </a:r>
            <a:endParaRPr lang="en-US" sz="1000" dirty="0"/>
          </a:p>
        </p:txBody>
      </p:sp>
      <p:sp>
        <p:nvSpPr>
          <p:cNvPr id="10" name="Shape 8"/>
          <p:cNvSpPr/>
          <p:nvPr/>
        </p:nvSpPr>
        <p:spPr>
          <a:xfrm>
            <a:off x="201168" y="1641348"/>
            <a:ext cx="5303520" cy="475488"/>
          </a:xfrm>
          <a:prstGeom prst="rect">
            <a:avLst/>
          </a:prstGeom>
          <a:solidFill>
            <a:srgbClr val="EDE9FE"/>
          </a:solidFill>
          <a:ln w="6350">
            <a:solidFill>
              <a:srgbClr val="E5E7EB"/>
            </a:solidFill>
            <a:prstDash val="solid"/>
          </a:ln>
        </p:spPr>
      </p:sp>
      <p:sp>
        <p:nvSpPr>
          <p:cNvPr id="11" name="Shape 9"/>
          <p:cNvSpPr/>
          <p:nvPr/>
        </p:nvSpPr>
        <p:spPr>
          <a:xfrm>
            <a:off x="201168" y="1641348"/>
            <a:ext cx="384048" cy="475488"/>
          </a:xfrm>
          <a:prstGeom prst="rect">
            <a:avLst/>
          </a:prstGeom>
          <a:solidFill>
            <a:srgbClr val="3730A3"/>
          </a:solidFill>
          <a:ln w="12700">
            <a:solidFill>
              <a:srgbClr val="3730A3"/>
            </a:solidFill>
            <a:prstDash val="solid"/>
          </a:ln>
        </p:spPr>
      </p:sp>
      <p:sp>
        <p:nvSpPr>
          <p:cNvPr id="12" name="Text 10"/>
          <p:cNvSpPr/>
          <p:nvPr/>
        </p:nvSpPr>
        <p:spPr>
          <a:xfrm>
            <a:off x="201168" y="164134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3" name="Text 11"/>
          <p:cNvSpPr/>
          <p:nvPr/>
        </p:nvSpPr>
        <p:spPr>
          <a:xfrm>
            <a:off x="640080" y="1677924"/>
            <a:ext cx="1463040" cy="219456"/>
          </a:xfrm>
          <a:prstGeom prst="rect">
            <a:avLst/>
          </a:prstGeom>
          <a:noFill/>
          <a:ln/>
        </p:spPr>
        <p:txBody>
          <a:bodyPr wrap="square" rtlCol="0" anchor="ctr"/>
          <a:lstStyle/>
          <a:p>
            <a:pPr indent="0" marL="0">
              <a:buNone/>
            </a:pPr>
            <a:r>
              <a:rPr lang="en-US" sz="1250" b="1" dirty="0">
                <a:solidFill>
                  <a:srgbClr val="3730A3"/>
                </a:solidFill>
                <a:latin typeface="Calibri" pitchFamily="34" charset="0"/>
                <a:ea typeface="Calibri" pitchFamily="34" charset="-122"/>
                <a:cs typeface="Calibri" pitchFamily="34" charset="-120"/>
              </a:rPr>
              <a:t>Presentation</a:t>
            </a:r>
            <a:endParaRPr lang="en-US" sz="1250" dirty="0"/>
          </a:p>
        </p:txBody>
      </p:sp>
      <p:sp>
        <p:nvSpPr>
          <p:cNvPr id="14" name="Text 12"/>
          <p:cNvSpPr/>
          <p:nvPr/>
        </p:nvSpPr>
        <p:spPr>
          <a:xfrm>
            <a:off x="640080" y="187909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Data format, encoding, encryption — ensures readable data between systems.</a:t>
            </a:r>
            <a:endParaRPr lang="en-US" sz="1000" dirty="0"/>
          </a:p>
        </p:txBody>
      </p:sp>
      <p:sp>
        <p:nvSpPr>
          <p:cNvPr id="15" name="Shape 13"/>
          <p:cNvSpPr/>
          <p:nvPr/>
        </p:nvSpPr>
        <p:spPr>
          <a:xfrm>
            <a:off x="201168" y="2167128"/>
            <a:ext cx="5303520" cy="475488"/>
          </a:xfrm>
          <a:prstGeom prst="rect">
            <a:avLst/>
          </a:prstGeom>
          <a:solidFill>
            <a:srgbClr val="DCFCE7"/>
          </a:solidFill>
          <a:ln w="6350">
            <a:solidFill>
              <a:srgbClr val="E5E7EB"/>
            </a:solidFill>
            <a:prstDash val="solid"/>
          </a:ln>
        </p:spPr>
      </p:sp>
      <p:sp>
        <p:nvSpPr>
          <p:cNvPr id="16" name="Shape 14"/>
          <p:cNvSpPr/>
          <p:nvPr/>
        </p:nvSpPr>
        <p:spPr>
          <a:xfrm>
            <a:off x="201168" y="2167128"/>
            <a:ext cx="384048" cy="475488"/>
          </a:xfrm>
          <a:prstGeom prst="rect">
            <a:avLst/>
          </a:prstGeom>
          <a:solidFill>
            <a:srgbClr val="065F46"/>
          </a:solidFill>
          <a:ln w="12700">
            <a:solidFill>
              <a:srgbClr val="065F46"/>
            </a:solidFill>
            <a:prstDash val="solid"/>
          </a:ln>
        </p:spPr>
      </p:sp>
      <p:sp>
        <p:nvSpPr>
          <p:cNvPr id="17" name="Text 15"/>
          <p:cNvSpPr/>
          <p:nvPr/>
        </p:nvSpPr>
        <p:spPr>
          <a:xfrm>
            <a:off x="201168" y="216712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640080" y="2203704"/>
            <a:ext cx="1463040" cy="219456"/>
          </a:xfrm>
          <a:prstGeom prst="rect">
            <a:avLst/>
          </a:prstGeom>
          <a:noFill/>
          <a:ln/>
        </p:spPr>
        <p:txBody>
          <a:bodyPr wrap="square" rtlCol="0" anchor="ctr"/>
          <a:lstStyle/>
          <a:p>
            <a:pPr indent="0" marL="0">
              <a:buNone/>
            </a:pPr>
            <a:r>
              <a:rPr lang="en-US" sz="1250" b="1" dirty="0">
                <a:solidFill>
                  <a:srgbClr val="065F46"/>
                </a:solidFill>
                <a:latin typeface="Calibri" pitchFamily="34" charset="0"/>
                <a:ea typeface="Calibri" pitchFamily="34" charset="-122"/>
                <a:cs typeface="Calibri" pitchFamily="34" charset="-120"/>
              </a:rPr>
              <a:t>Session</a:t>
            </a:r>
            <a:endParaRPr lang="en-US" sz="1250" dirty="0"/>
          </a:p>
        </p:txBody>
      </p:sp>
      <p:sp>
        <p:nvSpPr>
          <p:cNvPr id="19" name="Text 17"/>
          <p:cNvSpPr/>
          <p:nvPr/>
        </p:nvSpPr>
        <p:spPr>
          <a:xfrm>
            <a:off x="640080" y="240487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Manages data exchange between presentation-layer entities.</a:t>
            </a:r>
            <a:endParaRPr lang="en-US" sz="1000" dirty="0"/>
          </a:p>
        </p:txBody>
      </p:sp>
      <p:sp>
        <p:nvSpPr>
          <p:cNvPr id="20" name="Shape 18"/>
          <p:cNvSpPr/>
          <p:nvPr/>
        </p:nvSpPr>
        <p:spPr>
          <a:xfrm>
            <a:off x="201168" y="2692908"/>
            <a:ext cx="5303520" cy="475488"/>
          </a:xfrm>
          <a:prstGeom prst="rect">
            <a:avLst/>
          </a:prstGeom>
          <a:solidFill>
            <a:srgbClr val="CCFBF1"/>
          </a:solidFill>
          <a:ln w="6350">
            <a:solidFill>
              <a:srgbClr val="E5E7EB"/>
            </a:solidFill>
            <a:prstDash val="solid"/>
          </a:ln>
        </p:spPr>
      </p:sp>
      <p:sp>
        <p:nvSpPr>
          <p:cNvPr id="21" name="Shape 19"/>
          <p:cNvSpPr/>
          <p:nvPr/>
        </p:nvSpPr>
        <p:spPr>
          <a:xfrm>
            <a:off x="201168" y="2692908"/>
            <a:ext cx="384048" cy="475488"/>
          </a:xfrm>
          <a:prstGeom prst="rect">
            <a:avLst/>
          </a:prstGeom>
          <a:solidFill>
            <a:srgbClr val="0F766E"/>
          </a:solidFill>
          <a:ln w="12700">
            <a:solidFill>
              <a:srgbClr val="0F766E"/>
            </a:solidFill>
            <a:prstDash val="solid"/>
          </a:ln>
        </p:spPr>
      </p:sp>
      <p:sp>
        <p:nvSpPr>
          <p:cNvPr id="22" name="Text 20"/>
          <p:cNvSpPr/>
          <p:nvPr/>
        </p:nvSpPr>
        <p:spPr>
          <a:xfrm>
            <a:off x="201168" y="269290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640080" y="2729484"/>
            <a:ext cx="1463040" cy="219456"/>
          </a:xfrm>
          <a:prstGeom prst="rect">
            <a:avLst/>
          </a:prstGeom>
          <a:noFill/>
          <a:ln/>
        </p:spPr>
        <p:txBody>
          <a:bodyPr wrap="square"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Transport</a:t>
            </a:r>
            <a:endParaRPr lang="en-US" sz="1250" dirty="0"/>
          </a:p>
        </p:txBody>
      </p:sp>
      <p:sp>
        <p:nvSpPr>
          <p:cNvPr id="24" name="Text 22"/>
          <p:cNvSpPr/>
          <p:nvPr/>
        </p:nvSpPr>
        <p:spPr>
          <a:xfrm>
            <a:off x="640080" y="293065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Reliable end-to-end communication — TCP/UDP, flow and error control.</a:t>
            </a:r>
            <a:endParaRPr lang="en-US" sz="1000" dirty="0"/>
          </a:p>
        </p:txBody>
      </p:sp>
      <p:sp>
        <p:nvSpPr>
          <p:cNvPr id="25" name="Shape 23"/>
          <p:cNvSpPr/>
          <p:nvPr/>
        </p:nvSpPr>
        <p:spPr>
          <a:xfrm>
            <a:off x="201168" y="3218688"/>
            <a:ext cx="5303520" cy="475488"/>
          </a:xfrm>
          <a:prstGeom prst="rect">
            <a:avLst/>
          </a:prstGeom>
          <a:solidFill>
            <a:srgbClr val="FEF3C7"/>
          </a:solidFill>
          <a:ln w="6350">
            <a:solidFill>
              <a:srgbClr val="E5E7EB"/>
            </a:solidFill>
            <a:prstDash val="solid"/>
          </a:ln>
        </p:spPr>
      </p:sp>
      <p:sp>
        <p:nvSpPr>
          <p:cNvPr id="26" name="Shape 24"/>
          <p:cNvSpPr/>
          <p:nvPr/>
        </p:nvSpPr>
        <p:spPr>
          <a:xfrm>
            <a:off x="201168" y="3218688"/>
            <a:ext cx="384048" cy="475488"/>
          </a:xfrm>
          <a:prstGeom prst="rect">
            <a:avLst/>
          </a:prstGeom>
          <a:solidFill>
            <a:srgbClr val="92400E"/>
          </a:solidFill>
          <a:ln w="12700">
            <a:solidFill>
              <a:srgbClr val="92400E"/>
            </a:solidFill>
            <a:prstDash val="solid"/>
          </a:ln>
        </p:spPr>
      </p:sp>
      <p:sp>
        <p:nvSpPr>
          <p:cNvPr id="27" name="Text 25"/>
          <p:cNvSpPr/>
          <p:nvPr/>
        </p:nvSpPr>
        <p:spPr>
          <a:xfrm>
            <a:off x="201168" y="321868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6"/>
          <p:cNvSpPr/>
          <p:nvPr/>
        </p:nvSpPr>
        <p:spPr>
          <a:xfrm>
            <a:off x="640080" y="3255264"/>
            <a:ext cx="1463040" cy="219456"/>
          </a:xfrm>
          <a:prstGeom prst="rect">
            <a:avLst/>
          </a:prstGeom>
          <a:noFill/>
          <a:ln/>
        </p:spPr>
        <p:txBody>
          <a:bodyPr wrap="square" rtlCol="0" anchor="ctr"/>
          <a:lstStyle/>
          <a:p>
            <a:pPr indent="0" marL="0">
              <a:buNone/>
            </a:pPr>
            <a:r>
              <a:rPr lang="en-US" sz="1250" b="1" dirty="0">
                <a:solidFill>
                  <a:srgbClr val="92400E"/>
                </a:solidFill>
                <a:latin typeface="Calibri" pitchFamily="34" charset="0"/>
                <a:ea typeface="Calibri" pitchFamily="34" charset="-122"/>
                <a:cs typeface="Calibri" pitchFamily="34" charset="-120"/>
              </a:rPr>
              <a:t>Network</a:t>
            </a:r>
            <a:endParaRPr lang="en-US" sz="1250" dirty="0"/>
          </a:p>
        </p:txBody>
      </p:sp>
      <p:sp>
        <p:nvSpPr>
          <p:cNvPr id="29" name="Text 27"/>
          <p:cNvSpPr/>
          <p:nvPr/>
        </p:nvSpPr>
        <p:spPr>
          <a:xfrm>
            <a:off x="640080" y="345643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Connectivity and path selection between end systems — IP lives at this layer.</a:t>
            </a:r>
            <a:endParaRPr lang="en-US" sz="1000" dirty="0"/>
          </a:p>
        </p:txBody>
      </p:sp>
      <p:sp>
        <p:nvSpPr>
          <p:cNvPr id="30" name="Shape 28"/>
          <p:cNvSpPr/>
          <p:nvPr/>
        </p:nvSpPr>
        <p:spPr>
          <a:xfrm>
            <a:off x="201168" y="3744468"/>
            <a:ext cx="5303520" cy="475488"/>
          </a:xfrm>
          <a:prstGeom prst="rect">
            <a:avLst/>
          </a:prstGeom>
          <a:solidFill>
            <a:srgbClr val="FFE4E6"/>
          </a:solidFill>
          <a:ln w="6350">
            <a:solidFill>
              <a:srgbClr val="E5E7EB"/>
            </a:solidFill>
            <a:prstDash val="solid"/>
          </a:ln>
        </p:spPr>
      </p:sp>
      <p:sp>
        <p:nvSpPr>
          <p:cNvPr id="31" name="Shape 29"/>
          <p:cNvSpPr/>
          <p:nvPr/>
        </p:nvSpPr>
        <p:spPr>
          <a:xfrm>
            <a:off x="201168" y="3744468"/>
            <a:ext cx="384048" cy="475488"/>
          </a:xfrm>
          <a:prstGeom prst="rect">
            <a:avLst/>
          </a:prstGeom>
          <a:solidFill>
            <a:srgbClr val="9F1239"/>
          </a:solidFill>
          <a:ln w="12700">
            <a:solidFill>
              <a:srgbClr val="9F1239"/>
            </a:solidFill>
            <a:prstDash val="solid"/>
          </a:ln>
        </p:spPr>
      </p:sp>
      <p:sp>
        <p:nvSpPr>
          <p:cNvPr id="32" name="Text 30"/>
          <p:cNvSpPr/>
          <p:nvPr/>
        </p:nvSpPr>
        <p:spPr>
          <a:xfrm>
            <a:off x="201168" y="374446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3" name="Text 31"/>
          <p:cNvSpPr/>
          <p:nvPr/>
        </p:nvSpPr>
        <p:spPr>
          <a:xfrm>
            <a:off x="640080" y="3781044"/>
            <a:ext cx="1463040" cy="219456"/>
          </a:xfrm>
          <a:prstGeom prst="rect">
            <a:avLst/>
          </a:prstGeom>
          <a:noFill/>
          <a:ln/>
        </p:spPr>
        <p:txBody>
          <a:bodyPr wrap="square" rtlCol="0" anchor="ctr"/>
          <a:lstStyle/>
          <a:p>
            <a:pPr indent="0" marL="0">
              <a:buNone/>
            </a:pPr>
            <a:r>
              <a:rPr lang="en-US" sz="1250" b="1" dirty="0">
                <a:solidFill>
                  <a:srgbClr val="9F1239"/>
                </a:solidFill>
                <a:latin typeface="Calibri" pitchFamily="34" charset="0"/>
                <a:ea typeface="Calibri" pitchFamily="34" charset="-122"/>
                <a:cs typeface="Calibri" pitchFamily="34" charset="-120"/>
              </a:rPr>
              <a:t>Data Link</a:t>
            </a:r>
            <a:endParaRPr lang="en-US" sz="1250" dirty="0"/>
          </a:p>
        </p:txBody>
      </p:sp>
      <p:sp>
        <p:nvSpPr>
          <p:cNvPr id="34" name="Text 32"/>
          <p:cNvSpPr/>
          <p:nvPr/>
        </p:nvSpPr>
        <p:spPr>
          <a:xfrm>
            <a:off x="640080" y="398221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Frame transport across a physical link — physical addressing (MAC). IEEE 802.3.</a:t>
            </a:r>
            <a:endParaRPr lang="en-US" sz="1000" dirty="0"/>
          </a:p>
        </p:txBody>
      </p:sp>
      <p:sp>
        <p:nvSpPr>
          <p:cNvPr id="35" name="Shape 33"/>
          <p:cNvSpPr/>
          <p:nvPr/>
        </p:nvSpPr>
        <p:spPr>
          <a:xfrm>
            <a:off x="201168" y="4270248"/>
            <a:ext cx="5303520" cy="475488"/>
          </a:xfrm>
          <a:prstGeom prst="rect">
            <a:avLst/>
          </a:prstGeom>
          <a:solidFill>
            <a:srgbClr val="F3E8FF"/>
          </a:solidFill>
          <a:ln w="6350">
            <a:solidFill>
              <a:srgbClr val="E5E7EB"/>
            </a:solidFill>
            <a:prstDash val="solid"/>
          </a:ln>
        </p:spPr>
      </p:sp>
      <p:sp>
        <p:nvSpPr>
          <p:cNvPr id="36" name="Shape 34"/>
          <p:cNvSpPr/>
          <p:nvPr/>
        </p:nvSpPr>
        <p:spPr>
          <a:xfrm>
            <a:off x="201168" y="4270248"/>
            <a:ext cx="384048" cy="475488"/>
          </a:xfrm>
          <a:prstGeom prst="rect">
            <a:avLst/>
          </a:prstGeom>
          <a:solidFill>
            <a:srgbClr val="5B21B6"/>
          </a:solidFill>
          <a:ln w="12700">
            <a:solidFill>
              <a:srgbClr val="5B21B6"/>
            </a:solidFill>
            <a:prstDash val="solid"/>
          </a:ln>
        </p:spPr>
      </p:sp>
      <p:sp>
        <p:nvSpPr>
          <p:cNvPr id="37" name="Text 35"/>
          <p:cNvSpPr/>
          <p:nvPr/>
        </p:nvSpPr>
        <p:spPr>
          <a:xfrm>
            <a:off x="201168" y="4270248"/>
            <a:ext cx="384048"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8" name="Text 36"/>
          <p:cNvSpPr/>
          <p:nvPr/>
        </p:nvSpPr>
        <p:spPr>
          <a:xfrm>
            <a:off x="640080" y="4306824"/>
            <a:ext cx="1463040" cy="219456"/>
          </a:xfrm>
          <a:prstGeom prst="rect">
            <a:avLst/>
          </a:prstGeom>
          <a:noFill/>
          <a:ln/>
        </p:spPr>
        <p:txBody>
          <a:bodyPr wrap="square" rtlCol="0" anchor="ctr"/>
          <a:lstStyle/>
          <a:p>
            <a:pPr indent="0" marL="0">
              <a:buNone/>
            </a:pPr>
            <a:r>
              <a:rPr lang="en-US" sz="1250" b="1" dirty="0">
                <a:solidFill>
                  <a:srgbClr val="5B21B6"/>
                </a:solidFill>
                <a:latin typeface="Calibri" pitchFamily="34" charset="0"/>
                <a:ea typeface="Calibri" pitchFamily="34" charset="-122"/>
                <a:cs typeface="Calibri" pitchFamily="34" charset="-120"/>
              </a:rPr>
              <a:t>Physical</a:t>
            </a:r>
            <a:endParaRPr lang="en-US" sz="1250" dirty="0"/>
          </a:p>
        </p:txBody>
      </p:sp>
      <p:sp>
        <p:nvSpPr>
          <p:cNvPr id="39" name="Text 37"/>
          <p:cNvSpPr/>
          <p:nvPr/>
        </p:nvSpPr>
        <p:spPr>
          <a:xfrm>
            <a:off x="640080" y="4507992"/>
            <a:ext cx="4791456" cy="20116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Signalling over the medium — electrical, mechanical, procedural. PHY.</a:t>
            </a:r>
            <a:endParaRPr lang="en-US" sz="1000" dirty="0"/>
          </a:p>
        </p:txBody>
      </p:sp>
      <p:sp>
        <p:nvSpPr>
          <p:cNvPr id="40" name="Shape 38"/>
          <p:cNvSpPr/>
          <p:nvPr/>
        </p:nvSpPr>
        <p:spPr>
          <a:xfrm>
            <a:off x="5742432" y="1115568"/>
            <a:ext cx="3090672" cy="3703320"/>
          </a:xfrm>
          <a:prstGeom prst="rect">
            <a:avLst/>
          </a:prstGeom>
          <a:solidFill>
            <a:srgbClr val="1E2761"/>
          </a:solidFill>
          <a:ln w="12700">
            <a:solidFill>
              <a:srgbClr val="1E2761"/>
            </a:solidFill>
            <a:prstDash val="solid"/>
          </a:ln>
        </p:spPr>
      </p:sp>
      <p:sp>
        <p:nvSpPr>
          <p:cNvPr id="41" name="Text 39"/>
          <p:cNvSpPr/>
          <p:nvPr/>
        </p:nvSpPr>
        <p:spPr>
          <a:xfrm>
            <a:off x="5870448" y="1207008"/>
            <a:ext cx="2834640" cy="32918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OSI Matters</a:t>
            </a:r>
            <a:endParaRPr lang="en-US" sz="1400" dirty="0"/>
          </a:p>
        </p:txBody>
      </p:sp>
      <p:sp>
        <p:nvSpPr>
          <p:cNvPr id="42" name="Text 40"/>
          <p:cNvSpPr/>
          <p:nvPr/>
        </p:nvSpPr>
        <p:spPr>
          <a:xfrm>
            <a:off x="5870448" y="1572768"/>
            <a:ext cx="2834640" cy="3127248"/>
          </a:xfrm>
          <a:prstGeom prst="rect">
            <a:avLst/>
          </a:prstGeom>
          <a:noFill/>
          <a:ln/>
        </p:spPr>
        <p:txBody>
          <a:bodyPr wrap="square" rtlCol="0" anchor="ctr"/>
          <a:lstStyle/>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Separates functional concerns that would otherwise get conflated</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A PHY issue (L1), a switch-queueing issue (L2), and an IP routing issue (L3) require different debugging approaches</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IEEE 802.3 occupies Layers 1 and 2</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IEEE 802.1 operates above Layer 2</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SOME/IP sits at Layer 7 — a completely different debug domain</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Lower layers: move signals, frames, packets</a:t>
            </a:r>
            <a:endParaRPr lang="en-US" sz="1100" dirty="0"/>
          </a:p>
          <a:p>
            <a:pPr marL="342900" indent="-342900">
              <a:lnSpc>
                <a:spcPct val="130000"/>
              </a:lnSpc>
              <a:buSzPct val="100000"/>
              <a:buChar char="•"/>
            </a:pPr>
            <a:r>
              <a:rPr lang="en-US" sz="1100" dirty="0">
                <a:solidFill>
                  <a:srgbClr val="CADCFC"/>
                </a:solidFill>
                <a:latin typeface="Calibri" pitchFamily="34" charset="0"/>
                <a:ea typeface="Calibri" pitchFamily="34" charset="-122"/>
                <a:cs typeface="Calibri" pitchFamily="34" charset="-120"/>
              </a:rPr>
              <a:t>Upper layers: move meaning and structure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OSI Mapping — 802.3 and 802.1</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Ethernet discussions become tractable once you stop treating Ethernet as one undivided thing</a:t>
            </a:r>
            <a:endParaRPr lang="en-US" sz="1250" dirty="0"/>
          </a:p>
        </p:txBody>
      </p:sp>
      <p:sp>
        <p:nvSpPr>
          <p:cNvPr id="5" name="Shape 3"/>
          <p:cNvSpPr/>
          <p:nvPr/>
        </p:nvSpPr>
        <p:spPr>
          <a:xfrm>
            <a:off x="201168" y="1115568"/>
            <a:ext cx="4187952" cy="3657600"/>
          </a:xfrm>
          <a:prstGeom prst="rect">
            <a:avLst/>
          </a:prstGeom>
          <a:solidFill>
            <a:srgbClr val="EEF2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6" name="Shape 4"/>
          <p:cNvSpPr/>
          <p:nvPr/>
        </p:nvSpPr>
        <p:spPr>
          <a:xfrm>
            <a:off x="201168" y="1115568"/>
            <a:ext cx="4187952" cy="402336"/>
          </a:xfrm>
          <a:prstGeom prst="rect">
            <a:avLst/>
          </a:prstGeom>
          <a:solidFill>
            <a:srgbClr val="1E2761"/>
          </a:solidFill>
          <a:ln w="12700">
            <a:solidFill>
              <a:srgbClr val="1E2761"/>
            </a:solidFill>
            <a:prstDash val="solid"/>
          </a:ln>
        </p:spPr>
      </p:sp>
      <p:sp>
        <p:nvSpPr>
          <p:cNvPr id="7" name="Text 5"/>
          <p:cNvSpPr/>
          <p:nvPr/>
        </p:nvSpPr>
        <p:spPr>
          <a:xfrm>
            <a:off x="292608" y="1115568"/>
            <a:ext cx="4005072" cy="40233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IEEE 802.3 — Layers 1 &amp; 2</a:t>
            </a:r>
            <a:endParaRPr lang="en-US" sz="1400" dirty="0"/>
          </a:p>
        </p:txBody>
      </p:sp>
      <p:sp>
        <p:nvSpPr>
          <p:cNvPr id="8" name="Text 6"/>
          <p:cNvSpPr/>
          <p:nvPr/>
        </p:nvSpPr>
        <p:spPr>
          <a:xfrm>
            <a:off x="329184" y="1572768"/>
            <a:ext cx="3913632" cy="3127248"/>
          </a:xfrm>
          <a:prstGeom prst="rect">
            <a:avLst/>
          </a:prstGeom>
          <a:noFill/>
          <a:ln/>
        </p:spPr>
        <p:txBody>
          <a:bodyPr wrap="square" rtlCol="0" anchor="t"/>
          <a:lstStyle/>
          <a:p>
            <a:pPr indent="0" marL="0">
              <a:lnSpc>
                <a:spcPct val="135000"/>
              </a:lnSpc>
              <a:buNone/>
            </a:pPr>
            <a:r>
              <a:rPr lang="en-US" sz="1150" b="1" dirty="0">
                <a:solidFill>
                  <a:srgbClr val="1E2761"/>
                </a:solidFill>
                <a:latin typeface="Calibri" pitchFamily="34" charset="0"/>
                <a:ea typeface="Calibri" pitchFamily="34" charset="-122"/>
                <a:cs typeface="Calibri" pitchFamily="34" charset="-120"/>
              </a:rPr>
              <a:t>Physical Layer (L1)
</a:t>
            </a:r>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100BASE-T1, 1000BASE-T1, 10BASE-T1S
Line coding, MDI, PLCA, AEC-Q100 grade PHY
CISPR 25 Class 5 EMC compliance
</a:t>
            </a:r>
            <a:pPr indent="0" marL="0">
              <a:lnSpc>
                <a:spcPct val="135000"/>
              </a:lnSpc>
              <a:buNone/>
            </a:pPr>
            <a:r>
              <a:rPr lang="en-US" sz="1150" b="1" dirty="0">
                <a:solidFill>
                  <a:srgbClr val="1E2761"/>
                </a:solidFill>
                <a:latin typeface="Calibri" pitchFamily="34" charset="0"/>
                <a:ea typeface="Calibri" pitchFamily="34" charset="-122"/>
                <a:cs typeface="Calibri" pitchFamily="34" charset="-120"/>
              </a:rPr>
              <a:t>Data Link Layer (L2)
</a:t>
            </a:r>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MAC — frame format, addressing, CSMA/CD</a:t>
            </a:r>
            <a:endParaRPr lang="en-US" sz="1150" dirty="0"/>
          </a:p>
          <a:p>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MDIO management interface (MDC/MDIO)</a:t>
            </a:r>
            <a:endParaRPr lang="en-US" sz="1150" dirty="0"/>
          </a:p>
          <a:p>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MII, RGMII, SGMII — MAC-PHY interface</a:t>
            </a:r>
            <a:endParaRPr lang="en-US" sz="1150" dirty="0"/>
          </a:p>
          <a:p>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AutoNeg and link establishment</a:t>
            </a:r>
            <a:endParaRPr lang="en-US" sz="1150" dirty="0"/>
          </a:p>
        </p:txBody>
      </p:sp>
      <p:sp>
        <p:nvSpPr>
          <p:cNvPr id="9" name="Shape 7"/>
          <p:cNvSpPr/>
          <p:nvPr/>
        </p:nvSpPr>
        <p:spPr>
          <a:xfrm>
            <a:off x="4645152" y="1115568"/>
            <a:ext cx="4187952" cy="3657600"/>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10" name="Shape 8"/>
          <p:cNvSpPr/>
          <p:nvPr/>
        </p:nvSpPr>
        <p:spPr>
          <a:xfrm>
            <a:off x="4645152" y="1115568"/>
            <a:ext cx="4187952" cy="402336"/>
          </a:xfrm>
          <a:prstGeom prst="rect">
            <a:avLst/>
          </a:prstGeom>
          <a:solidFill>
            <a:srgbClr val="0D9488"/>
          </a:solidFill>
          <a:ln w="12700">
            <a:solidFill>
              <a:srgbClr val="0D9488"/>
            </a:solidFill>
            <a:prstDash val="solid"/>
          </a:ln>
        </p:spPr>
      </p:sp>
      <p:sp>
        <p:nvSpPr>
          <p:cNvPr id="11" name="Text 9"/>
          <p:cNvSpPr/>
          <p:nvPr/>
        </p:nvSpPr>
        <p:spPr>
          <a:xfrm>
            <a:off x="4736592" y="1115568"/>
            <a:ext cx="4005072" cy="40233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IEEE 802.1 — Above Layer 2</a:t>
            </a:r>
            <a:endParaRPr lang="en-US" sz="1400" dirty="0"/>
          </a:p>
        </p:txBody>
      </p:sp>
      <p:sp>
        <p:nvSpPr>
          <p:cNvPr id="12" name="Text 10"/>
          <p:cNvSpPr/>
          <p:nvPr/>
        </p:nvSpPr>
        <p:spPr>
          <a:xfrm>
            <a:off x="4773168" y="1572768"/>
            <a:ext cx="3913632" cy="3127248"/>
          </a:xfrm>
          <a:prstGeom prst="rect">
            <a:avLst/>
          </a:prstGeom>
          <a:noFill/>
          <a:ln/>
        </p:spPr>
        <p:txBody>
          <a:bodyPr wrap="square" rtlCol="0" anchor="t"/>
          <a:lstStyle/>
          <a:p>
            <a:pPr indent="0" marL="0">
              <a:lnSpc>
                <a:spcPct val="135000"/>
              </a:lnSpc>
              <a:buNone/>
            </a:pPr>
            <a:r>
              <a:rPr lang="en-US" sz="1150" b="1" dirty="0">
                <a:solidFill>
                  <a:srgbClr val="0D9488"/>
                </a:solidFill>
                <a:latin typeface="Calibri" pitchFamily="34" charset="0"/>
                <a:ea typeface="Calibri" pitchFamily="34" charset="-122"/>
                <a:cs typeface="Calibri" pitchFamily="34" charset="-120"/>
              </a:rPr>
              <a:t>Bridging &amp; Switching
</a:t>
            </a:r>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VLANs (802.1Q), STP/RSTP/MSTP
Forwarding databases, port roles
</a:t>
            </a:r>
            <a:pPr indent="0" marL="0">
              <a:lnSpc>
                <a:spcPct val="135000"/>
              </a:lnSpc>
              <a:buNone/>
            </a:pPr>
            <a:r>
              <a:rPr lang="en-US" sz="1150" b="1" dirty="0">
                <a:solidFill>
                  <a:srgbClr val="0D9488"/>
                </a:solidFill>
                <a:latin typeface="Calibri" pitchFamily="34" charset="0"/>
                <a:ea typeface="Calibri" pitchFamily="34" charset="-122"/>
                <a:cs typeface="Calibri" pitchFamily="34" charset="-120"/>
              </a:rPr>
              <a:t>Time-Sensitive Networking (TSN)
</a:t>
            </a:r>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gPTP (802.1AS), TAS (802.1Qbv), CBS
FRER (802.1CB), Stream reservation
</a:t>
            </a:r>
            <a:pPr indent="0" marL="0">
              <a:lnSpc>
                <a:spcPct val="135000"/>
              </a:lnSpc>
              <a:buNone/>
            </a:pPr>
            <a:r>
              <a:rPr lang="en-US" sz="1150" b="1" dirty="0">
                <a:solidFill>
                  <a:srgbClr val="0D9488"/>
                </a:solidFill>
                <a:latin typeface="Calibri" pitchFamily="34" charset="0"/>
                <a:ea typeface="Calibri" pitchFamily="34" charset="-122"/>
                <a:cs typeface="Calibri" pitchFamily="34" charset="-120"/>
              </a:rPr>
              <a:t>Security &amp; Management
</a:t>
            </a:r>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MACsec (802.1AE), 802.1X port auth</a:t>
            </a:r>
            <a:endParaRPr lang="en-US" sz="1150" dirty="0"/>
          </a:p>
          <a:p>
            <a:pPr indent="0" marL="0">
              <a:lnSpc>
                <a:spcPct val="135000"/>
              </a:lnSpc>
              <a:buNone/>
            </a:pPr>
            <a:r>
              <a:rPr lang="en-US" sz="1150" dirty="0">
                <a:solidFill>
                  <a:srgbClr val="374151"/>
                </a:solidFill>
                <a:latin typeface="Calibri" pitchFamily="34" charset="0"/>
                <a:ea typeface="Calibri" pitchFamily="34" charset="-122"/>
                <a:cs typeface="Calibri" pitchFamily="34" charset="-120"/>
              </a:rPr>
              <a:t>YANG models, NETCONF/RESTCONF</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2</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IEEE 802 Family Structure</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802.3 Ethernet · 802.1 Bridging &amp; TSN · The automotive two-way split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The IEEE 802 Family</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IEEE 802 = LAN/MAN Standards Committee — multiple working groups, each covering a different networking domain</a:t>
            </a:r>
            <a:endParaRPr lang="en-US" sz="1250" dirty="0"/>
          </a:p>
        </p:txBody>
      </p:sp>
      <p:sp>
        <p:nvSpPr>
          <p:cNvPr id="5" name="Shape 3"/>
          <p:cNvSpPr/>
          <p:nvPr/>
        </p:nvSpPr>
        <p:spPr>
          <a:xfrm>
            <a:off x="201168" y="1115568"/>
            <a:ext cx="8631936" cy="694944"/>
          </a:xfrm>
          <a:prstGeom prst="rect">
            <a:avLst/>
          </a:prstGeom>
          <a:solidFill>
            <a:srgbClr val="F9FAFB"/>
          </a:solidFill>
          <a:ln w="6350">
            <a:solidFill>
              <a:srgbClr val="E5E7EB"/>
            </a:solidFill>
            <a:prstDash val="solid"/>
          </a:ln>
        </p:spPr>
      </p:sp>
      <p:sp>
        <p:nvSpPr>
          <p:cNvPr id="6" name="Shape 4"/>
          <p:cNvSpPr/>
          <p:nvPr/>
        </p:nvSpPr>
        <p:spPr>
          <a:xfrm>
            <a:off x="201168" y="1115568"/>
            <a:ext cx="1097280" cy="694944"/>
          </a:xfrm>
          <a:prstGeom prst="rect">
            <a:avLst/>
          </a:prstGeom>
          <a:solidFill>
            <a:srgbClr val="1E2761"/>
          </a:solidFill>
          <a:ln w="12700">
            <a:solidFill>
              <a:srgbClr val="1E2761"/>
            </a:solidFill>
            <a:prstDash val="solid"/>
          </a:ln>
        </p:spPr>
      </p:sp>
      <p:sp>
        <p:nvSpPr>
          <p:cNvPr id="7" name="Text 5"/>
          <p:cNvSpPr/>
          <p:nvPr/>
        </p:nvSpPr>
        <p:spPr>
          <a:xfrm>
            <a:off x="201168" y="1115568"/>
            <a:ext cx="1097280" cy="69494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802.3</a:t>
            </a:r>
            <a:endParaRPr lang="en-US" sz="1400" dirty="0"/>
          </a:p>
        </p:txBody>
      </p:sp>
      <p:sp>
        <p:nvSpPr>
          <p:cNvPr id="8" name="Text 6"/>
          <p:cNvSpPr/>
          <p:nvPr/>
        </p:nvSpPr>
        <p:spPr>
          <a:xfrm>
            <a:off x="1371600" y="1188720"/>
            <a:ext cx="1828800" cy="237744"/>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Ethernet</a:t>
            </a:r>
            <a:endParaRPr lang="en-US" sz="1300" dirty="0"/>
          </a:p>
        </p:txBody>
      </p:sp>
      <p:sp>
        <p:nvSpPr>
          <p:cNvPr id="9" name="Text 7"/>
          <p:cNvSpPr/>
          <p:nvPr/>
        </p:nvSpPr>
        <p:spPr>
          <a:xfrm>
            <a:off x="1371600" y="1444752"/>
            <a:ext cx="7388352" cy="31089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Physical layer + MAC. All Ethernet speeds — 10 Mbit/s to 800 Gbit/s. Automotive: 10BASE-T1S, 100BASE-T1, 1000BASE-T1.</a:t>
            </a:r>
            <a:endParaRPr lang="en-US" sz="1100" dirty="0"/>
          </a:p>
        </p:txBody>
      </p:sp>
      <p:sp>
        <p:nvSpPr>
          <p:cNvPr id="10" name="Shape 8"/>
          <p:cNvSpPr/>
          <p:nvPr/>
        </p:nvSpPr>
        <p:spPr>
          <a:xfrm>
            <a:off x="201168" y="1883664"/>
            <a:ext cx="8631936" cy="694944"/>
          </a:xfrm>
          <a:prstGeom prst="rect">
            <a:avLst/>
          </a:prstGeom>
          <a:solidFill>
            <a:srgbClr val="F9FAFB"/>
          </a:solidFill>
          <a:ln w="6350">
            <a:solidFill>
              <a:srgbClr val="E5E7EB"/>
            </a:solidFill>
            <a:prstDash val="solid"/>
          </a:ln>
        </p:spPr>
      </p:sp>
      <p:sp>
        <p:nvSpPr>
          <p:cNvPr id="11" name="Shape 9"/>
          <p:cNvSpPr/>
          <p:nvPr/>
        </p:nvSpPr>
        <p:spPr>
          <a:xfrm>
            <a:off x="201168" y="1883664"/>
            <a:ext cx="1097280" cy="694944"/>
          </a:xfrm>
          <a:prstGeom prst="rect">
            <a:avLst/>
          </a:prstGeom>
          <a:solidFill>
            <a:srgbClr val="0D9488"/>
          </a:solidFill>
          <a:ln w="12700">
            <a:solidFill>
              <a:srgbClr val="0D9488"/>
            </a:solidFill>
            <a:prstDash val="solid"/>
          </a:ln>
        </p:spPr>
      </p:sp>
      <p:sp>
        <p:nvSpPr>
          <p:cNvPr id="12" name="Text 10"/>
          <p:cNvSpPr/>
          <p:nvPr/>
        </p:nvSpPr>
        <p:spPr>
          <a:xfrm>
            <a:off x="201168" y="1883664"/>
            <a:ext cx="1097280" cy="69494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802.1</a:t>
            </a:r>
            <a:endParaRPr lang="en-US" sz="1400" dirty="0"/>
          </a:p>
        </p:txBody>
      </p:sp>
      <p:sp>
        <p:nvSpPr>
          <p:cNvPr id="13" name="Text 11"/>
          <p:cNvSpPr/>
          <p:nvPr/>
        </p:nvSpPr>
        <p:spPr>
          <a:xfrm>
            <a:off x="1371600" y="1956816"/>
            <a:ext cx="1828800" cy="237744"/>
          </a:xfrm>
          <a:prstGeom prst="rect">
            <a:avLst/>
          </a:prstGeom>
          <a:noFill/>
          <a:ln/>
        </p:spPr>
        <p:txBody>
          <a:bodyPr wrap="square"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Bridging &amp; TSN</a:t>
            </a:r>
            <a:endParaRPr lang="en-US" sz="1300" dirty="0"/>
          </a:p>
        </p:txBody>
      </p:sp>
      <p:sp>
        <p:nvSpPr>
          <p:cNvPr id="14" name="Text 12"/>
          <p:cNvSpPr/>
          <p:nvPr/>
        </p:nvSpPr>
        <p:spPr>
          <a:xfrm>
            <a:off x="1371600" y="2212848"/>
            <a:ext cx="7388352" cy="31089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Bridging, VLANs, TSN, MACsec, management. Everything above the Ethernet MAC. The architecture working group.</a:t>
            </a:r>
            <a:endParaRPr lang="en-US" sz="1100" dirty="0"/>
          </a:p>
        </p:txBody>
      </p:sp>
      <p:sp>
        <p:nvSpPr>
          <p:cNvPr id="15" name="Shape 13"/>
          <p:cNvSpPr/>
          <p:nvPr/>
        </p:nvSpPr>
        <p:spPr>
          <a:xfrm>
            <a:off x="201168" y="2651760"/>
            <a:ext cx="8631936" cy="694944"/>
          </a:xfrm>
          <a:prstGeom prst="rect">
            <a:avLst/>
          </a:prstGeom>
          <a:solidFill>
            <a:srgbClr val="F9FAFB"/>
          </a:solidFill>
          <a:ln w="6350">
            <a:solidFill>
              <a:srgbClr val="E5E7EB"/>
            </a:solidFill>
            <a:prstDash val="solid"/>
          </a:ln>
        </p:spPr>
      </p:sp>
      <p:sp>
        <p:nvSpPr>
          <p:cNvPr id="16" name="Shape 14"/>
          <p:cNvSpPr/>
          <p:nvPr/>
        </p:nvSpPr>
        <p:spPr>
          <a:xfrm>
            <a:off x="201168" y="2651760"/>
            <a:ext cx="1097280" cy="694944"/>
          </a:xfrm>
          <a:prstGeom prst="rect">
            <a:avLst/>
          </a:prstGeom>
          <a:solidFill>
            <a:srgbClr val="7C3AED"/>
          </a:solidFill>
          <a:ln w="12700">
            <a:solidFill>
              <a:srgbClr val="7C3AED"/>
            </a:solidFill>
            <a:prstDash val="solid"/>
          </a:ln>
        </p:spPr>
      </p:sp>
      <p:sp>
        <p:nvSpPr>
          <p:cNvPr id="17" name="Text 15"/>
          <p:cNvSpPr/>
          <p:nvPr/>
        </p:nvSpPr>
        <p:spPr>
          <a:xfrm>
            <a:off x="201168" y="2651760"/>
            <a:ext cx="1097280" cy="69494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802.11</a:t>
            </a:r>
            <a:endParaRPr lang="en-US" sz="1400" dirty="0"/>
          </a:p>
        </p:txBody>
      </p:sp>
      <p:sp>
        <p:nvSpPr>
          <p:cNvPr id="18" name="Text 16"/>
          <p:cNvSpPr/>
          <p:nvPr/>
        </p:nvSpPr>
        <p:spPr>
          <a:xfrm>
            <a:off x="1371600" y="2724912"/>
            <a:ext cx="1828800" cy="237744"/>
          </a:xfrm>
          <a:prstGeom prst="rect">
            <a:avLst/>
          </a:prstGeom>
          <a:noFill/>
          <a:ln/>
        </p:spPr>
        <p:txBody>
          <a:bodyPr wrap="square"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Wi-Fi (WLAN)</a:t>
            </a:r>
            <a:endParaRPr lang="en-US" sz="1300" dirty="0"/>
          </a:p>
        </p:txBody>
      </p:sp>
      <p:sp>
        <p:nvSpPr>
          <p:cNvPr id="19" name="Text 17"/>
          <p:cNvSpPr/>
          <p:nvPr/>
        </p:nvSpPr>
        <p:spPr>
          <a:xfrm>
            <a:off x="1371600" y="2980944"/>
            <a:ext cx="7388352" cy="31089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Wireless LAN. A separate media family from 802.3. V2X and in-vehicle Wi-Fi connectivity.</a:t>
            </a:r>
            <a:endParaRPr lang="en-US" sz="1100" dirty="0"/>
          </a:p>
        </p:txBody>
      </p:sp>
      <p:sp>
        <p:nvSpPr>
          <p:cNvPr id="20" name="Shape 18"/>
          <p:cNvSpPr/>
          <p:nvPr/>
        </p:nvSpPr>
        <p:spPr>
          <a:xfrm>
            <a:off x="201168" y="3419856"/>
            <a:ext cx="8631936" cy="694944"/>
          </a:xfrm>
          <a:prstGeom prst="rect">
            <a:avLst/>
          </a:prstGeom>
          <a:solidFill>
            <a:srgbClr val="F9FAFB"/>
          </a:solidFill>
          <a:ln w="6350">
            <a:solidFill>
              <a:srgbClr val="E5E7EB"/>
            </a:solidFill>
            <a:prstDash val="solid"/>
          </a:ln>
        </p:spPr>
      </p:sp>
      <p:sp>
        <p:nvSpPr>
          <p:cNvPr id="21" name="Shape 19"/>
          <p:cNvSpPr/>
          <p:nvPr/>
        </p:nvSpPr>
        <p:spPr>
          <a:xfrm>
            <a:off x="201168" y="3419856"/>
            <a:ext cx="1097280" cy="694944"/>
          </a:xfrm>
          <a:prstGeom prst="rect">
            <a:avLst/>
          </a:prstGeom>
          <a:solidFill>
            <a:srgbClr val="BE185D"/>
          </a:solidFill>
          <a:ln w="12700">
            <a:solidFill>
              <a:srgbClr val="BE185D"/>
            </a:solidFill>
            <a:prstDash val="solid"/>
          </a:ln>
        </p:spPr>
      </p:sp>
      <p:sp>
        <p:nvSpPr>
          <p:cNvPr id="22" name="Text 20"/>
          <p:cNvSpPr/>
          <p:nvPr/>
        </p:nvSpPr>
        <p:spPr>
          <a:xfrm>
            <a:off x="201168" y="3419856"/>
            <a:ext cx="1097280" cy="69494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802.15</a:t>
            </a:r>
            <a:endParaRPr lang="en-US" sz="1400" dirty="0"/>
          </a:p>
        </p:txBody>
      </p:sp>
      <p:sp>
        <p:nvSpPr>
          <p:cNvPr id="23" name="Text 21"/>
          <p:cNvSpPr/>
          <p:nvPr/>
        </p:nvSpPr>
        <p:spPr>
          <a:xfrm>
            <a:off x="1371600" y="3493008"/>
            <a:ext cx="1828800" cy="237744"/>
          </a:xfrm>
          <a:prstGeom prst="rect">
            <a:avLst/>
          </a:prstGeom>
          <a:noFill/>
          <a:ln/>
        </p:spPr>
        <p:txBody>
          <a:bodyPr wrap="square" rtlCol="0" anchor="ctr"/>
          <a:lstStyle/>
          <a:p>
            <a:pPr indent="0" marL="0">
              <a:buNone/>
            </a:pPr>
            <a:r>
              <a:rPr lang="en-US" sz="1300" b="1" dirty="0">
                <a:solidFill>
                  <a:srgbClr val="BE185D"/>
                </a:solidFill>
                <a:latin typeface="Calibri" pitchFamily="34" charset="0"/>
                <a:ea typeface="Calibri" pitchFamily="34" charset="-122"/>
                <a:cs typeface="Calibri" pitchFamily="34" charset="-120"/>
              </a:rPr>
              <a:t>Wireless PAN</a:t>
            </a:r>
            <a:endParaRPr lang="en-US" sz="1300" dirty="0"/>
          </a:p>
        </p:txBody>
      </p:sp>
      <p:sp>
        <p:nvSpPr>
          <p:cNvPr id="24" name="Text 22"/>
          <p:cNvSpPr/>
          <p:nvPr/>
        </p:nvSpPr>
        <p:spPr>
          <a:xfrm>
            <a:off x="1371600" y="3749040"/>
            <a:ext cx="7388352" cy="31089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Short-range wireless: Bluetooth, Zigbee, UWB. Automotive: key fobs, TPMS, interior sensing.</a:t>
            </a:r>
            <a:endParaRPr lang="en-US" sz="1100" dirty="0"/>
          </a:p>
        </p:txBody>
      </p:sp>
      <p:sp>
        <p:nvSpPr>
          <p:cNvPr id="25" name="Shape 23"/>
          <p:cNvSpPr/>
          <p:nvPr/>
        </p:nvSpPr>
        <p:spPr>
          <a:xfrm>
            <a:off x="201168" y="4187952"/>
            <a:ext cx="8631936" cy="694944"/>
          </a:xfrm>
          <a:prstGeom prst="rect">
            <a:avLst/>
          </a:prstGeom>
          <a:solidFill>
            <a:srgbClr val="F9FAFB"/>
          </a:solidFill>
          <a:ln w="6350">
            <a:solidFill>
              <a:srgbClr val="E5E7EB"/>
            </a:solidFill>
            <a:prstDash val="solid"/>
          </a:ln>
        </p:spPr>
      </p:sp>
      <p:sp>
        <p:nvSpPr>
          <p:cNvPr id="26" name="Shape 24"/>
          <p:cNvSpPr/>
          <p:nvPr/>
        </p:nvSpPr>
        <p:spPr>
          <a:xfrm>
            <a:off x="201168" y="4187952"/>
            <a:ext cx="1097280" cy="694944"/>
          </a:xfrm>
          <a:prstGeom prst="rect">
            <a:avLst/>
          </a:prstGeom>
          <a:solidFill>
            <a:srgbClr val="92400E"/>
          </a:solidFill>
          <a:ln w="12700">
            <a:solidFill>
              <a:srgbClr val="92400E"/>
            </a:solidFill>
            <a:prstDash val="solid"/>
          </a:ln>
        </p:spPr>
      </p:sp>
      <p:sp>
        <p:nvSpPr>
          <p:cNvPr id="27" name="Text 25"/>
          <p:cNvSpPr/>
          <p:nvPr/>
        </p:nvSpPr>
        <p:spPr>
          <a:xfrm>
            <a:off x="201168" y="4187952"/>
            <a:ext cx="1097280" cy="69494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802.2</a:t>
            </a:r>
            <a:endParaRPr lang="en-US" sz="1400" dirty="0"/>
          </a:p>
        </p:txBody>
      </p:sp>
      <p:sp>
        <p:nvSpPr>
          <p:cNvPr id="28" name="Text 26"/>
          <p:cNvSpPr/>
          <p:nvPr/>
        </p:nvSpPr>
        <p:spPr>
          <a:xfrm>
            <a:off x="1371600" y="4261104"/>
            <a:ext cx="1828800" cy="237744"/>
          </a:xfrm>
          <a:prstGeom prst="rect">
            <a:avLst/>
          </a:prstGeom>
          <a:noFill/>
          <a:ln/>
        </p:spPr>
        <p:txBody>
          <a:bodyPr wrap="square"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LLC sublayer (hist.)</a:t>
            </a:r>
            <a:endParaRPr lang="en-US" sz="1300" dirty="0"/>
          </a:p>
        </p:txBody>
      </p:sp>
      <p:sp>
        <p:nvSpPr>
          <p:cNvPr id="29" name="Text 27"/>
          <p:cNvSpPr/>
          <p:nvPr/>
        </p:nvSpPr>
        <p:spPr>
          <a:xfrm>
            <a:off x="1371600" y="4517136"/>
            <a:ext cx="7388352" cy="31089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Logical Link Control — historical L2 service interface used with 802.3 and 802.11.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802.3 vs 802.1 — When You Are on Each Side</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Automotive engineers need both sides simultaneously — knowing which side you are on prevents layer-confusion during debug</a:t>
            </a:r>
            <a:endParaRPr lang="en-US" sz="1250" dirty="0"/>
          </a:p>
        </p:txBody>
      </p:sp>
      <p:sp>
        <p:nvSpPr>
          <p:cNvPr id="5" name="Shape 3"/>
          <p:cNvSpPr/>
          <p:nvPr/>
        </p:nvSpPr>
        <p:spPr>
          <a:xfrm>
            <a:off x="201168" y="1115568"/>
            <a:ext cx="4187952" cy="402336"/>
          </a:xfrm>
          <a:prstGeom prst="rect">
            <a:avLst/>
          </a:prstGeom>
          <a:solidFill>
            <a:srgbClr val="1E2761"/>
          </a:solidFill>
          <a:ln w="12700">
            <a:solidFill>
              <a:srgbClr val="1E2761"/>
            </a:solidFill>
            <a:prstDash val="solid"/>
          </a:ln>
        </p:spPr>
      </p:sp>
      <p:sp>
        <p:nvSpPr>
          <p:cNvPr id="6" name="Text 4"/>
          <p:cNvSpPr/>
          <p:nvPr/>
        </p:nvSpPr>
        <p:spPr>
          <a:xfrm>
            <a:off x="274320" y="1115568"/>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IEEE 802.3 — You are here when…</a:t>
            </a:r>
            <a:endParaRPr lang="en-US" sz="1300" dirty="0"/>
          </a:p>
        </p:txBody>
      </p:sp>
      <p:sp>
        <p:nvSpPr>
          <p:cNvPr id="7" name="Shape 5"/>
          <p:cNvSpPr/>
          <p:nvPr/>
        </p:nvSpPr>
        <p:spPr>
          <a:xfrm>
            <a:off x="4645152" y="1115568"/>
            <a:ext cx="4187952" cy="402336"/>
          </a:xfrm>
          <a:prstGeom prst="rect">
            <a:avLst/>
          </a:prstGeom>
          <a:solidFill>
            <a:srgbClr val="0D9488"/>
          </a:solidFill>
          <a:ln w="12700">
            <a:solidFill>
              <a:srgbClr val="0D9488"/>
            </a:solidFill>
            <a:prstDash val="solid"/>
          </a:ln>
        </p:spPr>
      </p:sp>
      <p:sp>
        <p:nvSpPr>
          <p:cNvPr id="8" name="Text 6"/>
          <p:cNvSpPr/>
          <p:nvPr/>
        </p:nvSpPr>
        <p:spPr>
          <a:xfrm>
            <a:off x="4718304" y="1115568"/>
            <a:ext cx="40233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IEEE 802.1 — You are here when…</a:t>
            </a:r>
            <a:endParaRPr lang="en-US" sz="1300" dirty="0"/>
          </a:p>
        </p:txBody>
      </p:sp>
      <p:sp>
        <p:nvSpPr>
          <p:cNvPr id="9" name="Shape 7"/>
          <p:cNvSpPr/>
          <p:nvPr/>
        </p:nvSpPr>
        <p:spPr>
          <a:xfrm>
            <a:off x="201168" y="1591056"/>
            <a:ext cx="4187952" cy="475488"/>
          </a:xfrm>
          <a:prstGeom prst="rect">
            <a:avLst/>
          </a:prstGeom>
          <a:solidFill>
            <a:srgbClr val="EEF2FF"/>
          </a:solidFill>
          <a:ln w="6350">
            <a:solidFill>
              <a:srgbClr val="E0E7FF"/>
            </a:solidFill>
            <a:prstDash val="solid"/>
          </a:ln>
        </p:spPr>
      </p:sp>
      <p:pic>
        <p:nvPicPr>
          <p:cNvPr id="10" name="Image 0" descr="preencoded.png">    </p:cNvPr>
          <p:cNvPicPr>
            <a:picLocks noChangeAspect="1"/>
          </p:cNvPicPr>
          <p:nvPr/>
        </p:nvPicPr>
        <p:blipFill>
          <a:blip r:embed="rId1"/>
          <a:stretch>
            <a:fillRect/>
          </a:stretch>
        </p:blipFill>
        <p:spPr>
          <a:xfrm>
            <a:off x="274320" y="1719072"/>
            <a:ext cx="201168" cy="201168"/>
          </a:xfrm>
          <a:prstGeom prst="rect">
            <a:avLst/>
          </a:prstGeom>
        </p:spPr>
      </p:pic>
      <p:sp>
        <p:nvSpPr>
          <p:cNvPr id="11" name="Text 8"/>
          <p:cNvSpPr/>
          <p:nvPr/>
        </p:nvSpPr>
        <p:spPr>
          <a:xfrm>
            <a:off x="530352" y="162763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Selecting a PHY: 100BASE-T1 or 1000BASE-T1</a:t>
            </a:r>
            <a:endParaRPr lang="en-US" sz="1100" dirty="0"/>
          </a:p>
        </p:txBody>
      </p:sp>
      <p:sp>
        <p:nvSpPr>
          <p:cNvPr id="12" name="Shape 9"/>
          <p:cNvSpPr/>
          <p:nvPr/>
        </p:nvSpPr>
        <p:spPr>
          <a:xfrm>
            <a:off x="201168" y="2139696"/>
            <a:ext cx="4187952" cy="475488"/>
          </a:xfrm>
          <a:prstGeom prst="rect">
            <a:avLst/>
          </a:prstGeom>
          <a:solidFill>
            <a:srgbClr val="F8FAFF"/>
          </a:solidFill>
          <a:ln w="6350">
            <a:solidFill>
              <a:srgbClr val="E0E7FF"/>
            </a:solidFill>
            <a:prstDash val="solid"/>
          </a:ln>
        </p:spPr>
      </p:sp>
      <p:pic>
        <p:nvPicPr>
          <p:cNvPr id="13" name="Image 1" descr="preencoded.png">    </p:cNvPr>
          <p:cNvPicPr>
            <a:picLocks noChangeAspect="1"/>
          </p:cNvPicPr>
          <p:nvPr/>
        </p:nvPicPr>
        <p:blipFill>
          <a:blip r:embed="rId2"/>
          <a:stretch>
            <a:fillRect/>
          </a:stretch>
        </p:blipFill>
        <p:spPr>
          <a:xfrm>
            <a:off x="274320" y="2267712"/>
            <a:ext cx="201168" cy="201168"/>
          </a:xfrm>
          <a:prstGeom prst="rect">
            <a:avLst/>
          </a:prstGeom>
        </p:spPr>
      </p:pic>
      <p:sp>
        <p:nvSpPr>
          <p:cNvPr id="14" name="Text 10"/>
          <p:cNvSpPr/>
          <p:nvPr/>
        </p:nvSpPr>
        <p:spPr>
          <a:xfrm>
            <a:off x="530352" y="217627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Investigating link-up failures or eye diagrams</a:t>
            </a:r>
            <a:endParaRPr lang="en-US" sz="1100" dirty="0"/>
          </a:p>
        </p:txBody>
      </p:sp>
      <p:sp>
        <p:nvSpPr>
          <p:cNvPr id="15" name="Shape 11"/>
          <p:cNvSpPr/>
          <p:nvPr/>
        </p:nvSpPr>
        <p:spPr>
          <a:xfrm>
            <a:off x="201168" y="2688336"/>
            <a:ext cx="4187952" cy="475488"/>
          </a:xfrm>
          <a:prstGeom prst="rect">
            <a:avLst/>
          </a:prstGeom>
          <a:solidFill>
            <a:srgbClr val="EEF2FF"/>
          </a:solidFill>
          <a:ln w="6350">
            <a:solidFill>
              <a:srgbClr val="E0E7FF"/>
            </a:solidFill>
            <a:prstDash val="solid"/>
          </a:ln>
        </p:spPr>
      </p:sp>
      <p:pic>
        <p:nvPicPr>
          <p:cNvPr id="16" name="Image 2" descr="preencoded.png">    </p:cNvPr>
          <p:cNvPicPr>
            <a:picLocks noChangeAspect="1"/>
          </p:cNvPicPr>
          <p:nvPr/>
        </p:nvPicPr>
        <p:blipFill>
          <a:blip r:embed="rId3"/>
          <a:stretch>
            <a:fillRect/>
          </a:stretch>
        </p:blipFill>
        <p:spPr>
          <a:xfrm>
            <a:off x="274320" y="2816352"/>
            <a:ext cx="201168" cy="201168"/>
          </a:xfrm>
          <a:prstGeom prst="rect">
            <a:avLst/>
          </a:prstGeom>
        </p:spPr>
      </p:pic>
      <p:sp>
        <p:nvSpPr>
          <p:cNvPr id="17" name="Text 12"/>
          <p:cNvSpPr/>
          <p:nvPr/>
        </p:nvSpPr>
        <p:spPr>
          <a:xfrm>
            <a:off x="530352" y="272491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Reading MDC/MDIO register maps</a:t>
            </a:r>
            <a:endParaRPr lang="en-US" sz="1100" dirty="0"/>
          </a:p>
        </p:txBody>
      </p:sp>
      <p:sp>
        <p:nvSpPr>
          <p:cNvPr id="18" name="Shape 13"/>
          <p:cNvSpPr/>
          <p:nvPr/>
        </p:nvSpPr>
        <p:spPr>
          <a:xfrm>
            <a:off x="201168" y="3236976"/>
            <a:ext cx="4187952" cy="475488"/>
          </a:xfrm>
          <a:prstGeom prst="rect">
            <a:avLst/>
          </a:prstGeom>
          <a:solidFill>
            <a:srgbClr val="F8FAFF"/>
          </a:solidFill>
          <a:ln w="6350">
            <a:solidFill>
              <a:srgbClr val="E0E7FF"/>
            </a:solidFill>
            <a:prstDash val="solid"/>
          </a:ln>
        </p:spPr>
      </p:sp>
      <p:pic>
        <p:nvPicPr>
          <p:cNvPr id="19" name="Image 3" descr="preencoded.png">    </p:cNvPr>
          <p:cNvPicPr>
            <a:picLocks noChangeAspect="1"/>
          </p:cNvPicPr>
          <p:nvPr/>
        </p:nvPicPr>
        <p:blipFill>
          <a:blip r:embed="rId4"/>
          <a:stretch>
            <a:fillRect/>
          </a:stretch>
        </p:blipFill>
        <p:spPr>
          <a:xfrm>
            <a:off x="274320" y="3364992"/>
            <a:ext cx="201168" cy="201168"/>
          </a:xfrm>
          <a:prstGeom prst="rect">
            <a:avLst/>
          </a:prstGeom>
        </p:spPr>
      </p:pic>
      <p:sp>
        <p:nvSpPr>
          <p:cNvPr id="20" name="Text 14"/>
          <p:cNvSpPr/>
          <p:nvPr/>
        </p:nvSpPr>
        <p:spPr>
          <a:xfrm>
            <a:off x="530352" y="327355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Understanding PLCA for 10BASE-T1S multidrop</a:t>
            </a:r>
            <a:endParaRPr lang="en-US" sz="1100" dirty="0"/>
          </a:p>
        </p:txBody>
      </p:sp>
      <p:sp>
        <p:nvSpPr>
          <p:cNvPr id="21" name="Shape 15"/>
          <p:cNvSpPr/>
          <p:nvPr/>
        </p:nvSpPr>
        <p:spPr>
          <a:xfrm>
            <a:off x="201168" y="3785616"/>
            <a:ext cx="4187952" cy="475488"/>
          </a:xfrm>
          <a:prstGeom prst="rect">
            <a:avLst/>
          </a:prstGeom>
          <a:solidFill>
            <a:srgbClr val="EEF2FF"/>
          </a:solidFill>
          <a:ln w="6350">
            <a:solidFill>
              <a:srgbClr val="E0E7FF"/>
            </a:solidFill>
            <a:prstDash val="solid"/>
          </a:ln>
        </p:spPr>
      </p:sp>
      <p:pic>
        <p:nvPicPr>
          <p:cNvPr id="22" name="Image 4" descr="preencoded.png">    </p:cNvPr>
          <p:cNvPicPr>
            <a:picLocks noChangeAspect="1"/>
          </p:cNvPicPr>
          <p:nvPr/>
        </p:nvPicPr>
        <p:blipFill>
          <a:blip r:embed="rId5"/>
          <a:stretch>
            <a:fillRect/>
          </a:stretch>
        </p:blipFill>
        <p:spPr>
          <a:xfrm>
            <a:off x="274320" y="3913632"/>
            <a:ext cx="201168" cy="201168"/>
          </a:xfrm>
          <a:prstGeom prst="rect">
            <a:avLst/>
          </a:prstGeom>
        </p:spPr>
      </p:pic>
      <p:sp>
        <p:nvSpPr>
          <p:cNvPr id="23" name="Text 16"/>
          <p:cNvSpPr/>
          <p:nvPr/>
        </p:nvSpPr>
        <p:spPr>
          <a:xfrm>
            <a:off x="530352" y="382219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Configuring MII / RGMII / SGMII</a:t>
            </a:r>
            <a:endParaRPr lang="en-US" sz="1100" dirty="0"/>
          </a:p>
        </p:txBody>
      </p:sp>
      <p:sp>
        <p:nvSpPr>
          <p:cNvPr id="24" name="Shape 17"/>
          <p:cNvSpPr/>
          <p:nvPr/>
        </p:nvSpPr>
        <p:spPr>
          <a:xfrm>
            <a:off x="201168" y="4334256"/>
            <a:ext cx="4187952" cy="475488"/>
          </a:xfrm>
          <a:prstGeom prst="rect">
            <a:avLst/>
          </a:prstGeom>
          <a:solidFill>
            <a:srgbClr val="F8FAFF"/>
          </a:solidFill>
          <a:ln w="6350">
            <a:solidFill>
              <a:srgbClr val="E0E7FF"/>
            </a:solidFill>
            <a:prstDash val="solid"/>
          </a:ln>
        </p:spPr>
      </p:sp>
      <p:pic>
        <p:nvPicPr>
          <p:cNvPr id="25" name="Image 5" descr="preencoded.png">    </p:cNvPr>
          <p:cNvPicPr>
            <a:picLocks noChangeAspect="1"/>
          </p:cNvPicPr>
          <p:nvPr/>
        </p:nvPicPr>
        <p:blipFill>
          <a:blip r:embed="rId6"/>
          <a:stretch>
            <a:fillRect/>
          </a:stretch>
        </p:blipFill>
        <p:spPr>
          <a:xfrm>
            <a:off x="274320" y="4462272"/>
            <a:ext cx="201168" cy="201168"/>
          </a:xfrm>
          <a:prstGeom prst="rect">
            <a:avLst/>
          </a:prstGeom>
        </p:spPr>
      </p:pic>
      <p:sp>
        <p:nvSpPr>
          <p:cNvPr id="26" name="Text 18"/>
          <p:cNvSpPr/>
          <p:nvPr/>
        </p:nvSpPr>
        <p:spPr>
          <a:xfrm>
            <a:off x="530352" y="437083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Measuring EMI to CISPR 25 Class 5</a:t>
            </a:r>
            <a:endParaRPr lang="en-US" sz="1100" dirty="0"/>
          </a:p>
        </p:txBody>
      </p:sp>
      <p:sp>
        <p:nvSpPr>
          <p:cNvPr id="27" name="Shape 19"/>
          <p:cNvSpPr/>
          <p:nvPr/>
        </p:nvSpPr>
        <p:spPr>
          <a:xfrm>
            <a:off x="4645152" y="1591056"/>
            <a:ext cx="4187952" cy="475488"/>
          </a:xfrm>
          <a:prstGeom prst="rect">
            <a:avLst/>
          </a:prstGeom>
          <a:solidFill>
            <a:srgbClr val="F0FDFA"/>
          </a:solidFill>
          <a:ln w="6350">
            <a:solidFill>
              <a:srgbClr val="CCFBF1"/>
            </a:solidFill>
            <a:prstDash val="solid"/>
          </a:ln>
        </p:spPr>
      </p:sp>
      <p:pic>
        <p:nvPicPr>
          <p:cNvPr id="28" name="Image 6" descr="preencoded.png">    </p:cNvPr>
          <p:cNvPicPr>
            <a:picLocks noChangeAspect="1"/>
          </p:cNvPicPr>
          <p:nvPr/>
        </p:nvPicPr>
        <p:blipFill>
          <a:blip r:embed="rId7"/>
          <a:stretch>
            <a:fillRect/>
          </a:stretch>
        </p:blipFill>
        <p:spPr>
          <a:xfrm>
            <a:off x="4718304" y="1719072"/>
            <a:ext cx="201168" cy="201168"/>
          </a:xfrm>
          <a:prstGeom prst="rect">
            <a:avLst/>
          </a:prstGeom>
        </p:spPr>
      </p:pic>
      <p:sp>
        <p:nvSpPr>
          <p:cNvPr id="29" name="Text 20"/>
          <p:cNvSpPr/>
          <p:nvPr/>
        </p:nvSpPr>
        <p:spPr>
          <a:xfrm>
            <a:off x="4974336" y="162763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Designing VLAN segmentation: ADAS vs infotainment</a:t>
            </a:r>
            <a:endParaRPr lang="en-US" sz="1100" dirty="0"/>
          </a:p>
        </p:txBody>
      </p:sp>
      <p:sp>
        <p:nvSpPr>
          <p:cNvPr id="30" name="Shape 21"/>
          <p:cNvSpPr/>
          <p:nvPr/>
        </p:nvSpPr>
        <p:spPr>
          <a:xfrm>
            <a:off x="4645152" y="2139696"/>
            <a:ext cx="4187952" cy="475488"/>
          </a:xfrm>
          <a:prstGeom prst="rect">
            <a:avLst/>
          </a:prstGeom>
          <a:solidFill>
            <a:srgbClr val="F8FFFD"/>
          </a:solidFill>
          <a:ln w="6350">
            <a:solidFill>
              <a:srgbClr val="CCFBF1"/>
            </a:solidFill>
            <a:prstDash val="solid"/>
          </a:ln>
        </p:spPr>
      </p:sp>
      <p:pic>
        <p:nvPicPr>
          <p:cNvPr id="31" name="Image 7" descr="preencoded.png">    </p:cNvPr>
          <p:cNvPicPr>
            <a:picLocks noChangeAspect="1"/>
          </p:cNvPicPr>
          <p:nvPr/>
        </p:nvPicPr>
        <p:blipFill>
          <a:blip r:embed="rId8"/>
          <a:stretch>
            <a:fillRect/>
          </a:stretch>
        </p:blipFill>
        <p:spPr>
          <a:xfrm>
            <a:off x="4718304" y="2267712"/>
            <a:ext cx="201168" cy="201168"/>
          </a:xfrm>
          <a:prstGeom prst="rect">
            <a:avLst/>
          </a:prstGeom>
        </p:spPr>
      </p:pic>
      <p:sp>
        <p:nvSpPr>
          <p:cNvPr id="32" name="Text 22"/>
          <p:cNvSpPr/>
          <p:nvPr/>
        </p:nvSpPr>
        <p:spPr>
          <a:xfrm>
            <a:off x="4974336" y="217627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Configuring TAS gate schedules for brake-by-wire</a:t>
            </a:r>
            <a:endParaRPr lang="en-US" sz="1100" dirty="0"/>
          </a:p>
        </p:txBody>
      </p:sp>
      <p:sp>
        <p:nvSpPr>
          <p:cNvPr id="33" name="Shape 23"/>
          <p:cNvSpPr/>
          <p:nvPr/>
        </p:nvSpPr>
        <p:spPr>
          <a:xfrm>
            <a:off x="4645152" y="2688336"/>
            <a:ext cx="4187952" cy="475488"/>
          </a:xfrm>
          <a:prstGeom prst="rect">
            <a:avLst/>
          </a:prstGeom>
          <a:solidFill>
            <a:srgbClr val="F0FDFA"/>
          </a:solidFill>
          <a:ln w="6350">
            <a:solidFill>
              <a:srgbClr val="CCFBF1"/>
            </a:solidFill>
            <a:prstDash val="solid"/>
          </a:ln>
        </p:spPr>
      </p:sp>
      <p:pic>
        <p:nvPicPr>
          <p:cNvPr id="34" name="Image 8" descr="preencoded.png">    </p:cNvPr>
          <p:cNvPicPr>
            <a:picLocks noChangeAspect="1"/>
          </p:cNvPicPr>
          <p:nvPr/>
        </p:nvPicPr>
        <p:blipFill>
          <a:blip r:embed="rId9"/>
          <a:stretch>
            <a:fillRect/>
          </a:stretch>
        </p:blipFill>
        <p:spPr>
          <a:xfrm>
            <a:off x="4718304" y="2816352"/>
            <a:ext cx="201168" cy="201168"/>
          </a:xfrm>
          <a:prstGeom prst="rect">
            <a:avLst/>
          </a:prstGeom>
        </p:spPr>
      </p:pic>
      <p:sp>
        <p:nvSpPr>
          <p:cNvPr id="35" name="Text 24"/>
          <p:cNvSpPr/>
          <p:nvPr/>
        </p:nvSpPr>
        <p:spPr>
          <a:xfrm>
            <a:off x="4974336" y="272491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Setting up gPTP synchronisation across a backbone</a:t>
            </a:r>
            <a:endParaRPr lang="en-US" sz="1100" dirty="0"/>
          </a:p>
        </p:txBody>
      </p:sp>
      <p:sp>
        <p:nvSpPr>
          <p:cNvPr id="36" name="Shape 25"/>
          <p:cNvSpPr/>
          <p:nvPr/>
        </p:nvSpPr>
        <p:spPr>
          <a:xfrm>
            <a:off x="4645152" y="3236976"/>
            <a:ext cx="4187952" cy="475488"/>
          </a:xfrm>
          <a:prstGeom prst="rect">
            <a:avLst/>
          </a:prstGeom>
          <a:solidFill>
            <a:srgbClr val="F8FFFD"/>
          </a:solidFill>
          <a:ln w="6350">
            <a:solidFill>
              <a:srgbClr val="CCFBF1"/>
            </a:solidFill>
            <a:prstDash val="solid"/>
          </a:ln>
        </p:spPr>
      </p:sp>
      <p:pic>
        <p:nvPicPr>
          <p:cNvPr id="37" name="Image 9" descr="preencoded.png">    </p:cNvPr>
          <p:cNvPicPr>
            <a:picLocks noChangeAspect="1"/>
          </p:cNvPicPr>
          <p:nvPr/>
        </p:nvPicPr>
        <p:blipFill>
          <a:blip r:embed="rId10"/>
          <a:stretch>
            <a:fillRect/>
          </a:stretch>
        </p:blipFill>
        <p:spPr>
          <a:xfrm>
            <a:off x="4718304" y="3364992"/>
            <a:ext cx="201168" cy="201168"/>
          </a:xfrm>
          <a:prstGeom prst="rect">
            <a:avLst/>
          </a:prstGeom>
        </p:spPr>
      </p:pic>
      <p:sp>
        <p:nvSpPr>
          <p:cNvPr id="38" name="Text 26"/>
          <p:cNvSpPr/>
          <p:nvPr/>
        </p:nvSpPr>
        <p:spPr>
          <a:xfrm>
            <a:off x="4974336" y="327355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Deploying FRER for safety-critical redundancy</a:t>
            </a:r>
            <a:endParaRPr lang="en-US" sz="1100" dirty="0"/>
          </a:p>
        </p:txBody>
      </p:sp>
      <p:sp>
        <p:nvSpPr>
          <p:cNvPr id="39" name="Shape 27"/>
          <p:cNvSpPr/>
          <p:nvPr/>
        </p:nvSpPr>
        <p:spPr>
          <a:xfrm>
            <a:off x="4645152" y="3785616"/>
            <a:ext cx="4187952" cy="475488"/>
          </a:xfrm>
          <a:prstGeom prst="rect">
            <a:avLst/>
          </a:prstGeom>
          <a:solidFill>
            <a:srgbClr val="F0FDFA"/>
          </a:solidFill>
          <a:ln w="6350">
            <a:solidFill>
              <a:srgbClr val="CCFBF1"/>
            </a:solidFill>
            <a:prstDash val="solid"/>
          </a:ln>
        </p:spPr>
      </p:sp>
      <p:pic>
        <p:nvPicPr>
          <p:cNvPr id="40" name="Image 10" descr="preencoded.png">    </p:cNvPr>
          <p:cNvPicPr>
            <a:picLocks noChangeAspect="1"/>
          </p:cNvPicPr>
          <p:nvPr/>
        </p:nvPicPr>
        <p:blipFill>
          <a:blip r:embed="rId11"/>
          <a:stretch>
            <a:fillRect/>
          </a:stretch>
        </p:blipFill>
        <p:spPr>
          <a:xfrm>
            <a:off x="4718304" y="3913632"/>
            <a:ext cx="201168" cy="201168"/>
          </a:xfrm>
          <a:prstGeom prst="rect">
            <a:avLst/>
          </a:prstGeom>
        </p:spPr>
      </p:pic>
      <p:sp>
        <p:nvSpPr>
          <p:cNvPr id="41" name="Text 28"/>
          <p:cNvSpPr/>
          <p:nvPr/>
        </p:nvSpPr>
        <p:spPr>
          <a:xfrm>
            <a:off x="4974336" y="382219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Writing YANG/NETCONF for a central zone switch</a:t>
            </a:r>
            <a:endParaRPr lang="en-US" sz="1100" dirty="0"/>
          </a:p>
        </p:txBody>
      </p:sp>
      <p:sp>
        <p:nvSpPr>
          <p:cNvPr id="42" name="Shape 29"/>
          <p:cNvSpPr/>
          <p:nvPr/>
        </p:nvSpPr>
        <p:spPr>
          <a:xfrm>
            <a:off x="4645152" y="4334256"/>
            <a:ext cx="4187952" cy="475488"/>
          </a:xfrm>
          <a:prstGeom prst="rect">
            <a:avLst/>
          </a:prstGeom>
          <a:solidFill>
            <a:srgbClr val="F8FFFD"/>
          </a:solidFill>
          <a:ln w="6350">
            <a:solidFill>
              <a:srgbClr val="CCFBF1"/>
            </a:solidFill>
            <a:prstDash val="solid"/>
          </a:ln>
        </p:spPr>
      </p:sp>
      <p:pic>
        <p:nvPicPr>
          <p:cNvPr id="43" name="Image 11" descr="preencoded.png">    </p:cNvPr>
          <p:cNvPicPr>
            <a:picLocks noChangeAspect="1"/>
          </p:cNvPicPr>
          <p:nvPr/>
        </p:nvPicPr>
        <p:blipFill>
          <a:blip r:embed="rId12"/>
          <a:stretch>
            <a:fillRect/>
          </a:stretch>
        </p:blipFill>
        <p:spPr>
          <a:xfrm>
            <a:off x="4718304" y="4462272"/>
            <a:ext cx="201168" cy="201168"/>
          </a:xfrm>
          <a:prstGeom prst="rect">
            <a:avLst/>
          </a:prstGeom>
        </p:spPr>
      </p:pic>
      <p:sp>
        <p:nvSpPr>
          <p:cNvPr id="44" name="Text 30"/>
          <p:cNvSpPr/>
          <p:nvPr/>
        </p:nvSpPr>
        <p:spPr>
          <a:xfrm>
            <a:off x="4974336" y="4370832"/>
            <a:ext cx="3767328" cy="402336"/>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Implementing MACsec for backbone encryption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3</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Domain Architecture</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Functions grouped by responsibility · Ethernet backbone · IP software reuse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Domain Architecture — Fundamentals</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Functions grouped by domain · Domain controllers talk over Ethernet · IP enables software reuse across programs</a:t>
            </a:r>
            <a:endParaRPr lang="en-US" sz="1250" dirty="0"/>
          </a:p>
        </p:txBody>
      </p:sp>
      <p:sp>
        <p:nvSpPr>
          <p:cNvPr id="5" name="Shape 3"/>
          <p:cNvSpPr/>
          <p:nvPr/>
        </p:nvSpPr>
        <p:spPr>
          <a:xfrm>
            <a:off x="3200400" y="1188720"/>
            <a:ext cx="1993392" cy="3337560"/>
          </a:xfrm>
          <a:prstGeom prst="rect">
            <a:avLst/>
          </a:prstGeom>
          <a:solidFill>
            <a:srgbClr val="E8EDFF"/>
          </a:solidFill>
          <a:ln w="12700">
            <a:solidFill>
              <a:srgbClr val="C7D2FE"/>
            </a:solidFill>
            <a:prstDash val="solid"/>
          </a:ln>
        </p:spPr>
      </p:sp>
      <p:sp>
        <p:nvSpPr>
          <p:cNvPr id="6" name="Text 4"/>
          <p:cNvSpPr/>
          <p:nvPr/>
        </p:nvSpPr>
        <p:spPr>
          <a:xfrm>
            <a:off x="3200400" y="2468880"/>
            <a:ext cx="1993392" cy="64008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Ethernet</a:t>
            </a:r>
            <a:endParaRPr lang="en-US" sz="1200" dirty="0"/>
          </a:p>
          <a:p>
            <a:pPr algn="ctr" indent="0" marL="0">
              <a:buNone/>
            </a:pPr>
            <a:r>
              <a:rPr lang="en-US" sz="1200" b="1" dirty="0">
                <a:solidFill>
                  <a:srgbClr val="1E2761"/>
                </a:solidFill>
                <a:latin typeface="Calibri" pitchFamily="34" charset="0"/>
                <a:ea typeface="Calibri" pitchFamily="34" charset="-122"/>
                <a:cs typeface="Calibri" pitchFamily="34" charset="-120"/>
              </a:rPr>
              <a:t>Backbone</a:t>
            </a:r>
            <a:endParaRPr lang="en-US" sz="1200" dirty="0"/>
          </a:p>
        </p:txBody>
      </p:sp>
      <p:sp>
        <p:nvSpPr>
          <p:cNvPr id="7" name="Shape 5"/>
          <p:cNvSpPr/>
          <p:nvPr/>
        </p:nvSpPr>
        <p:spPr>
          <a:xfrm>
            <a:off x="201168" y="1188720"/>
            <a:ext cx="2880360" cy="960120"/>
          </a:xfrm>
          <a:prstGeom prst="rect">
            <a:avLst/>
          </a:prstGeom>
          <a:solidFill>
            <a:srgbClr val="1E2761"/>
          </a:solidFill>
          <a:ln w="12700">
            <a:solidFill>
              <a:srgbClr val="1E2761"/>
            </a:solidFill>
            <a:prstDash val="solid"/>
          </a:ln>
          <a:effectLst>
            <a:outerShdw sx="100000" sy="100000" kx="0" ky="0" algn="bl" rotWithShape="0" blurRad="63500" dist="25400" dir="8100000">
              <a:srgbClr val="000000">
                <a:alpha val="15000"/>
              </a:srgbClr>
            </a:outerShdw>
          </a:effectLst>
        </p:spPr>
      </p:sp>
      <p:sp>
        <p:nvSpPr>
          <p:cNvPr id="8" name="Text 6"/>
          <p:cNvSpPr/>
          <p:nvPr/>
        </p:nvSpPr>
        <p:spPr>
          <a:xfrm>
            <a:off x="201168" y="1188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ADAS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Domain Ctrl</a:t>
            </a:r>
            <a:endParaRPr lang="en-US" sz="1150" dirty="0"/>
          </a:p>
        </p:txBody>
      </p:sp>
      <p:sp>
        <p:nvSpPr>
          <p:cNvPr id="9" name="Shape 7"/>
          <p:cNvSpPr/>
          <p:nvPr/>
        </p:nvSpPr>
        <p:spPr>
          <a:xfrm>
            <a:off x="3081528" y="1664208"/>
            <a:ext cx="320040" cy="0"/>
          </a:xfrm>
          <a:prstGeom prst="line">
            <a:avLst/>
          </a:prstGeom>
          <a:noFill/>
          <a:ln w="19050">
            <a:solidFill>
              <a:srgbClr val="1E2761"/>
            </a:solidFill>
            <a:prstDash val="solid"/>
          </a:ln>
        </p:spPr>
      </p:sp>
      <p:sp>
        <p:nvSpPr>
          <p:cNvPr id="10" name="Shape 8"/>
          <p:cNvSpPr/>
          <p:nvPr/>
        </p:nvSpPr>
        <p:spPr>
          <a:xfrm>
            <a:off x="201168" y="2331720"/>
            <a:ext cx="2880360" cy="960120"/>
          </a:xfrm>
          <a:prstGeom prst="rect">
            <a:avLst/>
          </a:prstGeom>
          <a:solidFill>
            <a:srgbClr val="0D9488"/>
          </a:solidFill>
          <a:ln w="12700">
            <a:solidFill>
              <a:srgbClr val="0D9488"/>
            </a:solidFill>
            <a:prstDash val="solid"/>
          </a:ln>
          <a:effectLst>
            <a:outerShdw sx="100000" sy="100000" kx="0" ky="0" algn="bl" rotWithShape="0" blurRad="63500" dist="25400" dir="8100000">
              <a:srgbClr val="000000">
                <a:alpha val="15000"/>
              </a:srgbClr>
            </a:outerShdw>
          </a:effectLst>
        </p:spPr>
      </p:sp>
      <p:sp>
        <p:nvSpPr>
          <p:cNvPr id="11" name="Text 9"/>
          <p:cNvSpPr/>
          <p:nvPr/>
        </p:nvSpPr>
        <p:spPr>
          <a:xfrm>
            <a:off x="201168" y="2331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Infotainment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Domain Ctrl</a:t>
            </a:r>
            <a:endParaRPr lang="en-US" sz="1150" dirty="0"/>
          </a:p>
        </p:txBody>
      </p:sp>
      <p:sp>
        <p:nvSpPr>
          <p:cNvPr id="12" name="Shape 10"/>
          <p:cNvSpPr/>
          <p:nvPr/>
        </p:nvSpPr>
        <p:spPr>
          <a:xfrm>
            <a:off x="3081528" y="2807208"/>
            <a:ext cx="320040" cy="0"/>
          </a:xfrm>
          <a:prstGeom prst="line">
            <a:avLst/>
          </a:prstGeom>
          <a:noFill/>
          <a:ln w="19050">
            <a:solidFill>
              <a:srgbClr val="1E2761"/>
            </a:solidFill>
            <a:prstDash val="solid"/>
          </a:ln>
        </p:spPr>
      </p:sp>
      <p:sp>
        <p:nvSpPr>
          <p:cNvPr id="13" name="Shape 11"/>
          <p:cNvSpPr/>
          <p:nvPr/>
        </p:nvSpPr>
        <p:spPr>
          <a:xfrm>
            <a:off x="201168" y="3474720"/>
            <a:ext cx="2880360" cy="960120"/>
          </a:xfrm>
          <a:prstGeom prst="rect">
            <a:avLst/>
          </a:prstGeom>
          <a:solidFill>
            <a:srgbClr val="7C3AED"/>
          </a:solidFill>
          <a:ln w="12700">
            <a:solidFill>
              <a:srgbClr val="7C3AED"/>
            </a:solidFill>
            <a:prstDash val="solid"/>
          </a:ln>
          <a:effectLst>
            <a:outerShdw sx="100000" sy="100000" kx="0" ky="0" algn="bl" rotWithShape="0" blurRad="63500" dist="25400" dir="8100000">
              <a:srgbClr val="000000">
                <a:alpha val="15000"/>
              </a:srgbClr>
            </a:outerShdw>
          </a:effectLst>
        </p:spPr>
      </p:sp>
      <p:sp>
        <p:nvSpPr>
          <p:cNvPr id="14" name="Text 12"/>
          <p:cNvSpPr/>
          <p:nvPr/>
        </p:nvSpPr>
        <p:spPr>
          <a:xfrm>
            <a:off x="201168" y="3474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Powertrain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Domain Ctrl</a:t>
            </a:r>
            <a:endParaRPr lang="en-US" sz="1150" dirty="0"/>
          </a:p>
        </p:txBody>
      </p:sp>
      <p:sp>
        <p:nvSpPr>
          <p:cNvPr id="15" name="Shape 13"/>
          <p:cNvSpPr/>
          <p:nvPr/>
        </p:nvSpPr>
        <p:spPr>
          <a:xfrm>
            <a:off x="3081528" y="3950208"/>
            <a:ext cx="320040" cy="0"/>
          </a:xfrm>
          <a:prstGeom prst="line">
            <a:avLst/>
          </a:prstGeom>
          <a:noFill/>
          <a:ln w="19050">
            <a:solidFill>
              <a:srgbClr val="1E2761"/>
            </a:solidFill>
            <a:prstDash val="solid"/>
          </a:ln>
        </p:spPr>
      </p:sp>
      <p:sp>
        <p:nvSpPr>
          <p:cNvPr id="16" name="Shape 14"/>
          <p:cNvSpPr/>
          <p:nvPr/>
        </p:nvSpPr>
        <p:spPr>
          <a:xfrm>
            <a:off x="5303520" y="1188720"/>
            <a:ext cx="2880360" cy="960120"/>
          </a:xfrm>
          <a:prstGeom prst="rect">
            <a:avLst/>
          </a:prstGeom>
          <a:solidFill>
            <a:srgbClr val="BE185D"/>
          </a:solidFill>
          <a:ln w="12700">
            <a:solidFill>
              <a:srgbClr val="BE185D"/>
            </a:solidFill>
            <a:prstDash val="solid"/>
          </a:ln>
          <a:effectLst>
            <a:outerShdw sx="100000" sy="100000" kx="0" ky="0" algn="bl" rotWithShape="0" blurRad="63500" dist="25400" dir="8100000">
              <a:srgbClr val="000000">
                <a:alpha val="15000"/>
              </a:srgbClr>
            </a:outerShdw>
          </a:effectLst>
        </p:spPr>
      </p:sp>
      <p:sp>
        <p:nvSpPr>
          <p:cNvPr id="17" name="Text 15"/>
          <p:cNvSpPr/>
          <p:nvPr/>
        </p:nvSpPr>
        <p:spPr>
          <a:xfrm>
            <a:off x="5303520" y="1188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Body &amp; Comfort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Domain Ctrl</a:t>
            </a:r>
            <a:endParaRPr lang="en-US" sz="1150" dirty="0"/>
          </a:p>
        </p:txBody>
      </p:sp>
      <p:sp>
        <p:nvSpPr>
          <p:cNvPr id="18" name="Shape 16"/>
          <p:cNvSpPr/>
          <p:nvPr/>
        </p:nvSpPr>
        <p:spPr>
          <a:xfrm>
            <a:off x="5193792" y="1664208"/>
            <a:ext cx="109728" cy="0"/>
          </a:xfrm>
          <a:prstGeom prst="line">
            <a:avLst/>
          </a:prstGeom>
          <a:noFill/>
          <a:ln w="19050">
            <a:solidFill>
              <a:srgbClr val="1E2761"/>
            </a:solidFill>
            <a:prstDash val="solid"/>
          </a:ln>
        </p:spPr>
      </p:sp>
      <p:sp>
        <p:nvSpPr>
          <p:cNvPr id="19" name="Shape 17"/>
          <p:cNvSpPr/>
          <p:nvPr/>
        </p:nvSpPr>
        <p:spPr>
          <a:xfrm>
            <a:off x="5303520" y="2331720"/>
            <a:ext cx="2880360" cy="960120"/>
          </a:xfrm>
          <a:prstGeom prst="rect">
            <a:avLst/>
          </a:prstGeom>
          <a:solidFill>
            <a:srgbClr val="92400E"/>
          </a:solidFill>
          <a:ln w="12700">
            <a:solidFill>
              <a:srgbClr val="92400E"/>
            </a:solidFill>
            <a:prstDash val="solid"/>
          </a:ln>
          <a:effectLst>
            <a:outerShdw sx="100000" sy="100000" kx="0" ky="0" algn="bl" rotWithShape="0" blurRad="63500" dist="25400" dir="8100000">
              <a:srgbClr val="000000">
                <a:alpha val="15000"/>
              </a:srgbClr>
            </a:outerShdw>
          </a:effectLst>
        </p:spPr>
      </p:sp>
      <p:sp>
        <p:nvSpPr>
          <p:cNvPr id="20" name="Text 18"/>
          <p:cNvSpPr/>
          <p:nvPr/>
        </p:nvSpPr>
        <p:spPr>
          <a:xfrm>
            <a:off x="5303520" y="2331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Chassis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Domain Ctrl</a:t>
            </a:r>
            <a:endParaRPr lang="en-US" sz="1150" dirty="0"/>
          </a:p>
        </p:txBody>
      </p:sp>
      <p:sp>
        <p:nvSpPr>
          <p:cNvPr id="21" name="Shape 19"/>
          <p:cNvSpPr/>
          <p:nvPr/>
        </p:nvSpPr>
        <p:spPr>
          <a:xfrm>
            <a:off x="5193792" y="2807208"/>
            <a:ext cx="109728" cy="0"/>
          </a:xfrm>
          <a:prstGeom prst="line">
            <a:avLst/>
          </a:prstGeom>
          <a:noFill/>
          <a:ln w="19050">
            <a:solidFill>
              <a:srgbClr val="1E2761"/>
            </a:solidFill>
            <a:prstDash val="solid"/>
          </a:ln>
        </p:spPr>
      </p:sp>
      <p:sp>
        <p:nvSpPr>
          <p:cNvPr id="22" name="Shape 20"/>
          <p:cNvSpPr/>
          <p:nvPr/>
        </p:nvSpPr>
        <p:spPr>
          <a:xfrm>
            <a:off x="5303520" y="3474720"/>
            <a:ext cx="2880360" cy="960120"/>
          </a:xfrm>
          <a:prstGeom prst="rect">
            <a:avLst/>
          </a:prstGeom>
          <a:solidFill>
            <a:srgbClr val="065F46"/>
          </a:solidFill>
          <a:ln w="12700">
            <a:solidFill>
              <a:srgbClr val="065F46"/>
            </a:solidFill>
            <a:prstDash val="solid"/>
          </a:ln>
          <a:effectLst>
            <a:outerShdw sx="100000" sy="100000" kx="0" ky="0" algn="bl" rotWithShape="0" blurRad="63500" dist="25400" dir="8100000">
              <a:srgbClr val="000000">
                <a:alpha val="15000"/>
              </a:srgbClr>
            </a:outerShdw>
          </a:effectLst>
        </p:spPr>
      </p:sp>
      <p:sp>
        <p:nvSpPr>
          <p:cNvPr id="23" name="Text 21"/>
          <p:cNvSpPr/>
          <p:nvPr/>
        </p:nvSpPr>
        <p:spPr>
          <a:xfrm>
            <a:off x="5303520" y="3474720"/>
            <a:ext cx="2880360"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Central Gateway</a:t>
            </a:r>
            <a:endParaRPr lang="en-US" sz="1150" dirty="0"/>
          </a:p>
        </p:txBody>
      </p:sp>
      <p:sp>
        <p:nvSpPr>
          <p:cNvPr id="24" name="Shape 22"/>
          <p:cNvSpPr/>
          <p:nvPr/>
        </p:nvSpPr>
        <p:spPr>
          <a:xfrm>
            <a:off x="5193792" y="3950208"/>
            <a:ext cx="109728" cy="0"/>
          </a:xfrm>
          <a:prstGeom prst="line">
            <a:avLst/>
          </a:prstGeom>
          <a:noFill/>
          <a:ln w="19050">
            <a:solidFill>
              <a:srgbClr val="1E2761"/>
            </a:solidFill>
            <a:prstDash val="solid"/>
          </a:ln>
        </p:spPr>
      </p:sp>
      <p:sp>
        <p:nvSpPr>
          <p:cNvPr id="25" name="Shape 23"/>
          <p:cNvSpPr/>
          <p:nvPr/>
        </p:nvSpPr>
        <p:spPr>
          <a:xfrm>
            <a:off x="7315200" y="1188720"/>
            <a:ext cx="1517904" cy="896112"/>
          </a:xfrm>
          <a:prstGeom prst="rect">
            <a:avLst/>
          </a:prstGeom>
          <a:solidFill>
            <a:srgbClr val="EEF2FF"/>
          </a:solidFill>
          <a:ln w="6350">
            <a:solidFill>
              <a:srgbClr val="D1D5DB"/>
            </a:solidFill>
            <a:prstDash val="solid"/>
          </a:ln>
        </p:spPr>
      </p:sp>
      <p:sp>
        <p:nvSpPr>
          <p:cNvPr id="26" name="Text 24"/>
          <p:cNvSpPr/>
          <p:nvPr/>
        </p:nvSpPr>
        <p:spPr>
          <a:xfrm>
            <a:off x="7388352" y="1243584"/>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Functions grouped by domain</a:t>
            </a:r>
            <a:endParaRPr lang="en-US" sz="1000" dirty="0"/>
          </a:p>
        </p:txBody>
      </p:sp>
      <p:sp>
        <p:nvSpPr>
          <p:cNvPr id="27" name="Text 25"/>
          <p:cNvSpPr/>
          <p:nvPr/>
        </p:nvSpPr>
        <p:spPr>
          <a:xfrm>
            <a:off x="7388352" y="1499616"/>
            <a:ext cx="1371600" cy="530352"/>
          </a:xfrm>
          <a:prstGeom prst="rect">
            <a:avLst/>
          </a:prstGeom>
          <a:noFill/>
          <a:ln/>
        </p:spPr>
        <p:txBody>
          <a:bodyPr wrap="square" rtlCol="0" anchor="t"/>
          <a:lstStyle/>
          <a:p>
            <a:pPr indent="0" marL="0">
              <a:buNone/>
            </a:pPr>
            <a:r>
              <a:rPr lang="en-US" sz="950" dirty="0">
                <a:solidFill>
                  <a:srgbClr val="374151"/>
                </a:solidFill>
                <a:latin typeface="Calibri" pitchFamily="34" charset="0"/>
                <a:ea typeface="Calibri" pitchFamily="34" charset="-122"/>
                <a:cs typeface="Calibri" pitchFamily="34" charset="-120"/>
              </a:rPr>
              <a:t>ADAS, infotainment, powertrain, body, chassis — each with its own domain controller.</a:t>
            </a:r>
            <a:endParaRPr lang="en-US" sz="950" dirty="0"/>
          </a:p>
        </p:txBody>
      </p:sp>
      <p:sp>
        <p:nvSpPr>
          <p:cNvPr id="28" name="Shape 26"/>
          <p:cNvSpPr/>
          <p:nvPr/>
        </p:nvSpPr>
        <p:spPr>
          <a:xfrm>
            <a:off x="7315200" y="2176272"/>
            <a:ext cx="1517904" cy="896112"/>
          </a:xfrm>
          <a:prstGeom prst="rect">
            <a:avLst/>
          </a:prstGeom>
          <a:solidFill>
            <a:srgbClr val="F0FDFA"/>
          </a:solidFill>
          <a:ln w="6350">
            <a:solidFill>
              <a:srgbClr val="D1D5DB"/>
            </a:solidFill>
            <a:prstDash val="solid"/>
          </a:ln>
        </p:spPr>
      </p:sp>
      <p:sp>
        <p:nvSpPr>
          <p:cNvPr id="29" name="Text 27"/>
          <p:cNvSpPr/>
          <p:nvPr/>
        </p:nvSpPr>
        <p:spPr>
          <a:xfrm>
            <a:off x="7388352" y="2231136"/>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Ethernet is the backbone</a:t>
            </a:r>
            <a:endParaRPr lang="en-US" sz="1000" dirty="0"/>
          </a:p>
        </p:txBody>
      </p:sp>
      <p:sp>
        <p:nvSpPr>
          <p:cNvPr id="30" name="Text 28"/>
          <p:cNvSpPr/>
          <p:nvPr/>
        </p:nvSpPr>
        <p:spPr>
          <a:xfrm>
            <a:off x="7388352" y="2487168"/>
            <a:ext cx="1371600" cy="530352"/>
          </a:xfrm>
          <a:prstGeom prst="rect">
            <a:avLst/>
          </a:prstGeom>
          <a:noFill/>
          <a:ln/>
        </p:spPr>
        <p:txBody>
          <a:bodyPr wrap="square" rtlCol="0" anchor="t"/>
          <a:lstStyle/>
          <a:p>
            <a:pPr indent="0" marL="0">
              <a:buNone/>
            </a:pPr>
            <a:r>
              <a:rPr lang="en-US" sz="950" dirty="0">
                <a:solidFill>
                  <a:srgbClr val="374151"/>
                </a:solidFill>
                <a:latin typeface="Calibri" pitchFamily="34" charset="0"/>
                <a:ea typeface="Calibri" pitchFamily="34" charset="-122"/>
                <a:cs typeface="Calibri" pitchFamily="34" charset="-120"/>
              </a:rPr>
              <a:t>Domain controllers talk over Ethernet — not CAN or LIN. High bandwidth, IP-based.</a:t>
            </a:r>
            <a:endParaRPr lang="en-US" sz="950" dirty="0"/>
          </a:p>
        </p:txBody>
      </p:sp>
      <p:sp>
        <p:nvSpPr>
          <p:cNvPr id="31" name="Shape 29"/>
          <p:cNvSpPr/>
          <p:nvPr/>
        </p:nvSpPr>
        <p:spPr>
          <a:xfrm>
            <a:off x="7315200" y="3163824"/>
            <a:ext cx="1517904" cy="896112"/>
          </a:xfrm>
          <a:prstGeom prst="rect">
            <a:avLst/>
          </a:prstGeom>
          <a:solidFill>
            <a:srgbClr val="EEF2FF"/>
          </a:solidFill>
          <a:ln w="6350">
            <a:solidFill>
              <a:srgbClr val="D1D5DB"/>
            </a:solidFill>
            <a:prstDash val="solid"/>
          </a:ln>
        </p:spPr>
      </p:sp>
      <p:sp>
        <p:nvSpPr>
          <p:cNvPr id="32" name="Text 30"/>
          <p:cNvSpPr/>
          <p:nvPr/>
        </p:nvSpPr>
        <p:spPr>
          <a:xfrm>
            <a:off x="7388352" y="3218688"/>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IP = software reuse</a:t>
            </a:r>
            <a:endParaRPr lang="en-US" sz="1000" dirty="0"/>
          </a:p>
        </p:txBody>
      </p:sp>
      <p:sp>
        <p:nvSpPr>
          <p:cNvPr id="33" name="Text 31"/>
          <p:cNvSpPr/>
          <p:nvPr/>
        </p:nvSpPr>
        <p:spPr>
          <a:xfrm>
            <a:off x="7388352" y="3474720"/>
            <a:ext cx="1371600" cy="530352"/>
          </a:xfrm>
          <a:prstGeom prst="rect">
            <a:avLst/>
          </a:prstGeom>
          <a:noFill/>
          <a:ln/>
        </p:spPr>
        <p:txBody>
          <a:bodyPr wrap="square" rtlCol="0" anchor="t"/>
          <a:lstStyle/>
          <a:p>
            <a:pPr indent="0" marL="0">
              <a:buNone/>
            </a:pPr>
            <a:r>
              <a:rPr lang="en-US" sz="950" dirty="0">
                <a:solidFill>
                  <a:srgbClr val="374151"/>
                </a:solidFill>
                <a:latin typeface="Calibri" pitchFamily="34" charset="0"/>
                <a:ea typeface="Calibri" pitchFamily="34" charset="-122"/>
                <a:cs typeface="Calibri" pitchFamily="34" charset="-120"/>
              </a:rPr>
              <a:t>Applications over IP → ECU code reused across car programs and model lines.</a:t>
            </a:r>
            <a:endParaRPr lang="en-US" sz="950" dirty="0"/>
          </a:p>
        </p:txBody>
      </p:sp>
      <p:sp>
        <p:nvSpPr>
          <p:cNvPr id="34" name="Shape 32"/>
          <p:cNvSpPr/>
          <p:nvPr/>
        </p:nvSpPr>
        <p:spPr>
          <a:xfrm>
            <a:off x="7315200" y="4151376"/>
            <a:ext cx="1517904" cy="896112"/>
          </a:xfrm>
          <a:prstGeom prst="rect">
            <a:avLst/>
          </a:prstGeom>
          <a:solidFill>
            <a:srgbClr val="F0FDFA"/>
          </a:solidFill>
          <a:ln w="6350">
            <a:solidFill>
              <a:srgbClr val="D1D5DB"/>
            </a:solidFill>
            <a:prstDash val="solid"/>
          </a:ln>
        </p:spPr>
      </p:sp>
      <p:sp>
        <p:nvSpPr>
          <p:cNvPr id="35" name="Text 33"/>
          <p:cNvSpPr/>
          <p:nvPr/>
        </p:nvSpPr>
        <p:spPr>
          <a:xfrm>
            <a:off x="7388352" y="4206240"/>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Scales across variants</a:t>
            </a:r>
            <a:endParaRPr lang="en-US" sz="1000" dirty="0"/>
          </a:p>
        </p:txBody>
      </p:sp>
      <p:sp>
        <p:nvSpPr>
          <p:cNvPr id="36" name="Text 34"/>
          <p:cNvSpPr/>
          <p:nvPr/>
        </p:nvSpPr>
        <p:spPr>
          <a:xfrm>
            <a:off x="7388352" y="4462272"/>
            <a:ext cx="1371600" cy="530352"/>
          </a:xfrm>
          <a:prstGeom prst="rect">
            <a:avLst/>
          </a:prstGeom>
          <a:noFill/>
          <a:ln/>
        </p:spPr>
        <p:txBody>
          <a:bodyPr wrap="square" rtlCol="0" anchor="t"/>
          <a:lstStyle/>
          <a:p>
            <a:pPr indent="0" marL="0">
              <a:buNone/>
            </a:pPr>
            <a:r>
              <a:rPr lang="en-US" sz="950" dirty="0">
                <a:solidFill>
                  <a:srgbClr val="374151"/>
                </a:solidFill>
                <a:latin typeface="Calibri" pitchFamily="34" charset="0"/>
                <a:ea typeface="Calibri" pitchFamily="34" charset="-122"/>
                <a:cs typeface="Calibri" pitchFamily="34" charset="-120"/>
              </a:rPr>
              <a:t>Same architecture scales from entry-level to flagship within a model line.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Three Phases of Vehicle Architecture</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The evolution from function-specific wiring to geography-first Ethernet infrastructure</a:t>
            </a:r>
            <a:endParaRPr lang="en-US" sz="1250" dirty="0"/>
          </a:p>
        </p:txBody>
      </p:sp>
      <p:sp>
        <p:nvSpPr>
          <p:cNvPr id="5" name="Shape 3"/>
          <p:cNvSpPr/>
          <p:nvPr/>
        </p:nvSpPr>
        <p:spPr>
          <a:xfrm>
            <a:off x="201168" y="1115568"/>
            <a:ext cx="2871216" cy="402336"/>
          </a:xfrm>
          <a:prstGeom prst="rect">
            <a:avLst/>
          </a:prstGeom>
          <a:solidFill>
            <a:srgbClr val="1E2761"/>
          </a:solidFill>
          <a:ln w="12700">
            <a:solidFill>
              <a:srgbClr val="1E2761"/>
            </a:solidFill>
            <a:prstDash val="solid"/>
          </a:ln>
        </p:spPr>
      </p:sp>
      <p:sp>
        <p:nvSpPr>
          <p:cNvPr id="6" name="Text 4"/>
          <p:cNvSpPr/>
          <p:nvPr/>
        </p:nvSpPr>
        <p:spPr>
          <a:xfrm>
            <a:off x="201168" y="1115568"/>
            <a:ext cx="2871216"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Traditional / Central GW</a:t>
            </a:r>
            <a:endParaRPr lang="en-US" sz="1250" dirty="0"/>
          </a:p>
        </p:txBody>
      </p:sp>
      <p:sp>
        <p:nvSpPr>
          <p:cNvPr id="7" name="Shape 5"/>
          <p:cNvSpPr/>
          <p:nvPr/>
        </p:nvSpPr>
        <p:spPr>
          <a:xfrm>
            <a:off x="201168" y="1517904"/>
            <a:ext cx="2871216" cy="3419856"/>
          </a:xfrm>
          <a:prstGeom prst="rect">
            <a:avLst/>
          </a:prstGeom>
          <a:solidFill>
            <a:srgbClr val="EEF2FF"/>
          </a:solidFill>
          <a:ln w="6350">
            <a:solidFill>
              <a:srgbClr val="E5E7EB"/>
            </a:solidFill>
            <a:prstDash val="solid"/>
          </a:ln>
        </p:spPr>
      </p:sp>
      <p:sp>
        <p:nvSpPr>
          <p:cNvPr id="8" name="Text 6"/>
          <p:cNvSpPr/>
          <p:nvPr/>
        </p:nvSpPr>
        <p:spPr>
          <a:xfrm>
            <a:off x="310896" y="1591056"/>
            <a:ext cx="2651760" cy="3273552"/>
          </a:xfrm>
          <a:prstGeom prst="rect">
            <a:avLst/>
          </a:prstGeom>
          <a:noFill/>
          <a:ln/>
        </p:spPr>
        <p:txBody>
          <a:bodyPr wrap="square" rtlCol="0" anchor="ctr"/>
          <a:lstStyle/>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Many function-specific ECUs</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Non-Ethernet links (CAN, LIN, FlexRay)</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Ethernet only where bandwidth forced it</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Point-to-point function wiring</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Heavy wiring harness — one wire per signal</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Gateway translates between bus protocols</a:t>
            </a:r>
            <a:endParaRPr lang="en-US" sz="1150" dirty="0"/>
          </a:p>
        </p:txBody>
      </p:sp>
      <p:sp>
        <p:nvSpPr>
          <p:cNvPr id="9" name="Shape 7"/>
          <p:cNvSpPr/>
          <p:nvPr/>
        </p:nvSpPr>
        <p:spPr>
          <a:xfrm>
            <a:off x="3182112" y="1115568"/>
            <a:ext cx="2871216" cy="402336"/>
          </a:xfrm>
          <a:prstGeom prst="rect">
            <a:avLst/>
          </a:prstGeom>
          <a:solidFill>
            <a:srgbClr val="0D9488"/>
          </a:solidFill>
          <a:ln w="12700">
            <a:solidFill>
              <a:srgbClr val="0D9488"/>
            </a:solidFill>
            <a:prstDash val="solid"/>
          </a:ln>
        </p:spPr>
      </p:sp>
      <p:sp>
        <p:nvSpPr>
          <p:cNvPr id="10" name="Text 8"/>
          <p:cNvSpPr/>
          <p:nvPr/>
        </p:nvSpPr>
        <p:spPr>
          <a:xfrm>
            <a:off x="3182112" y="1115568"/>
            <a:ext cx="2871216"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Domain Architecture</a:t>
            </a:r>
            <a:endParaRPr lang="en-US" sz="1250" dirty="0"/>
          </a:p>
        </p:txBody>
      </p:sp>
      <p:sp>
        <p:nvSpPr>
          <p:cNvPr id="11" name="Shape 9"/>
          <p:cNvSpPr/>
          <p:nvPr/>
        </p:nvSpPr>
        <p:spPr>
          <a:xfrm>
            <a:off x="3182112" y="1517904"/>
            <a:ext cx="2871216" cy="3419856"/>
          </a:xfrm>
          <a:prstGeom prst="rect">
            <a:avLst/>
          </a:prstGeom>
          <a:solidFill>
            <a:srgbClr val="F0FDFA"/>
          </a:solidFill>
          <a:ln w="6350">
            <a:solidFill>
              <a:srgbClr val="E5E7EB"/>
            </a:solidFill>
            <a:prstDash val="solid"/>
          </a:ln>
        </p:spPr>
      </p:sp>
      <p:sp>
        <p:nvSpPr>
          <p:cNvPr id="12" name="Text 10"/>
          <p:cNvSpPr/>
          <p:nvPr/>
        </p:nvSpPr>
        <p:spPr>
          <a:xfrm>
            <a:off x="3291840" y="1591056"/>
            <a:ext cx="2651760" cy="3273552"/>
          </a:xfrm>
          <a:prstGeom prst="rect">
            <a:avLst/>
          </a:prstGeom>
          <a:noFill/>
          <a:ln/>
        </p:spPr>
        <p:txBody>
          <a:bodyPr wrap="square" rtlCol="0" anchor="ctr"/>
          <a:lstStyle/>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Functions grouped by domain</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Domain controllers on Ethernet backbone</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Strong IP / software modularity</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ECU code reused across car programs</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Reduced gateway complexity</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Current OEM focus (per IEEE use-case doc)</a:t>
            </a:r>
            <a:endParaRPr lang="en-US" sz="1150" dirty="0"/>
          </a:p>
        </p:txBody>
      </p:sp>
      <p:sp>
        <p:nvSpPr>
          <p:cNvPr id="13" name="Shape 11"/>
          <p:cNvSpPr/>
          <p:nvPr/>
        </p:nvSpPr>
        <p:spPr>
          <a:xfrm>
            <a:off x="6163056" y="1115568"/>
            <a:ext cx="2871216" cy="402336"/>
          </a:xfrm>
          <a:prstGeom prst="rect">
            <a:avLst/>
          </a:prstGeom>
          <a:solidFill>
            <a:srgbClr val="7C3AED"/>
          </a:solidFill>
          <a:ln w="12700">
            <a:solidFill>
              <a:srgbClr val="7C3AED"/>
            </a:solidFill>
            <a:prstDash val="solid"/>
          </a:ln>
        </p:spPr>
      </p:sp>
      <p:sp>
        <p:nvSpPr>
          <p:cNvPr id="14" name="Text 12"/>
          <p:cNvSpPr/>
          <p:nvPr/>
        </p:nvSpPr>
        <p:spPr>
          <a:xfrm>
            <a:off x="6163056" y="1115568"/>
            <a:ext cx="2871216" cy="402336"/>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Zonal Architecture</a:t>
            </a:r>
            <a:endParaRPr lang="en-US" sz="1250" dirty="0"/>
          </a:p>
        </p:txBody>
      </p:sp>
      <p:sp>
        <p:nvSpPr>
          <p:cNvPr id="15" name="Shape 13"/>
          <p:cNvSpPr/>
          <p:nvPr/>
        </p:nvSpPr>
        <p:spPr>
          <a:xfrm>
            <a:off x="6163056" y="1517904"/>
            <a:ext cx="2871216" cy="3419856"/>
          </a:xfrm>
          <a:prstGeom prst="rect">
            <a:avLst/>
          </a:prstGeom>
          <a:solidFill>
            <a:srgbClr val="F5F3FF"/>
          </a:solidFill>
          <a:ln w="6350">
            <a:solidFill>
              <a:srgbClr val="E5E7EB"/>
            </a:solidFill>
            <a:prstDash val="solid"/>
          </a:ln>
        </p:spPr>
      </p:sp>
      <p:sp>
        <p:nvSpPr>
          <p:cNvPr id="16" name="Text 14"/>
          <p:cNvSpPr/>
          <p:nvPr/>
        </p:nvSpPr>
        <p:spPr>
          <a:xfrm>
            <a:off x="6272784" y="1591056"/>
            <a:ext cx="2651760" cy="3273552"/>
          </a:xfrm>
          <a:prstGeom prst="rect">
            <a:avLst/>
          </a:prstGeom>
          <a:noFill/>
          <a:ln/>
        </p:spPr>
        <p:txBody>
          <a:bodyPr wrap="square" rtlCol="0" anchor="ctr"/>
          <a:lstStyle/>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Physical zones = primary organiser</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Many functions share one Ethernet backbone</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TSN + Ethernet switching mandatory</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Smaller, lighter wiring harness</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Better OTA update support</a:t>
            </a:r>
            <a:endParaRPr lang="en-US" sz="1150" dirty="0"/>
          </a:p>
          <a:p>
            <a:pPr marL="342900" indent="-342900">
              <a:lnSpc>
                <a:spcPct val="140000"/>
              </a:lnSpc>
              <a:buSzPct val="100000"/>
              <a:buChar char="•"/>
            </a:pPr>
            <a:r>
              <a:rPr lang="en-US" sz="1150" dirty="0">
                <a:solidFill>
                  <a:srgbClr val="374151"/>
                </a:solidFill>
                <a:latin typeface="Calibri" pitchFamily="34" charset="0"/>
                <a:ea typeface="Calibri" pitchFamily="34" charset="-122"/>
                <a:cs typeface="Calibri" pitchFamily="34" charset="-120"/>
              </a:rPr>
              <a:t>Same topology reused across variants</a:t>
            </a:r>
            <a:endParaRPr lang="en-US" sz="1150" dirty="0"/>
          </a:p>
        </p:txBody>
      </p:sp>
      <p:pic>
        <p:nvPicPr>
          <p:cNvPr id="17" name="Image 0" descr="preencoded.png">    </p:cNvPr>
          <p:cNvPicPr>
            <a:picLocks noChangeAspect="1"/>
          </p:cNvPicPr>
          <p:nvPr/>
        </p:nvPicPr>
        <p:blipFill>
          <a:blip r:embed="rId1"/>
          <a:stretch>
            <a:fillRect/>
          </a:stretch>
        </p:blipFill>
        <p:spPr>
          <a:xfrm>
            <a:off x="2907792" y="2606040"/>
            <a:ext cx="274320" cy="274320"/>
          </a:xfrm>
          <a:prstGeom prst="rect">
            <a:avLst/>
          </a:prstGeom>
        </p:spPr>
      </p:pic>
      <p:pic>
        <p:nvPicPr>
          <p:cNvPr id="18" name="Image 1" descr="preencoded.png">    </p:cNvPr>
          <p:cNvPicPr>
            <a:picLocks noChangeAspect="1"/>
          </p:cNvPicPr>
          <p:nvPr/>
        </p:nvPicPr>
        <p:blipFill>
          <a:blip r:embed="rId2"/>
          <a:stretch>
            <a:fillRect/>
          </a:stretch>
        </p:blipFill>
        <p:spPr>
          <a:xfrm>
            <a:off x="5888736" y="2606040"/>
            <a:ext cx="274320"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4</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Zonal Architecture</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Geography-first · Shared Ethernet backbone · TSN as a hard requirement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Zonal Architecture — What Changes</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Grouping principle shifts from function to physical location — zone controllers aggregate all nearby ECUs</a:t>
            </a:r>
            <a:endParaRPr lang="en-US" sz="1250" dirty="0"/>
          </a:p>
        </p:txBody>
      </p:sp>
      <p:sp>
        <p:nvSpPr>
          <p:cNvPr id="5" name="Shape 3"/>
          <p:cNvSpPr/>
          <p:nvPr/>
        </p:nvSpPr>
        <p:spPr>
          <a:xfrm>
            <a:off x="1463040" y="1371600"/>
            <a:ext cx="3657600" cy="1645920"/>
          </a:xfrm>
          <a:prstGeom prst="rect">
            <a:avLst/>
          </a:prstGeom>
          <a:solidFill>
            <a:srgbClr val="EEF2FF"/>
          </a:solidFill>
          <a:ln w="19050">
            <a:solidFill>
              <a:srgbClr val="60A5FA"/>
            </a:solidFill>
            <a:prstDash val="dash"/>
          </a:ln>
        </p:spPr>
      </p:sp>
      <p:sp>
        <p:nvSpPr>
          <p:cNvPr id="6" name="Text 4"/>
          <p:cNvSpPr/>
          <p:nvPr/>
        </p:nvSpPr>
        <p:spPr>
          <a:xfrm>
            <a:off x="2103120" y="1828800"/>
            <a:ext cx="2377440" cy="548640"/>
          </a:xfrm>
          <a:prstGeom prst="rect">
            <a:avLst/>
          </a:prstGeom>
          <a:noFill/>
          <a:ln/>
        </p:spPr>
        <p:txBody>
          <a:bodyPr wrap="square" rtlCol="0" anchor="ctr"/>
          <a:lstStyle/>
          <a:p>
            <a:pPr algn="ctr" indent="0" marL="0">
              <a:buNone/>
            </a:pPr>
            <a:r>
              <a:rPr lang="en-US" sz="1050" b="1" dirty="0">
                <a:solidFill>
                  <a:srgbClr val="60A5FA"/>
                </a:solidFill>
                <a:latin typeface="Calibri" pitchFamily="34" charset="0"/>
                <a:ea typeface="Calibri" pitchFamily="34" charset="-122"/>
                <a:cs typeface="Calibri" pitchFamily="34" charset="-120"/>
              </a:rPr>
              <a:t>Ethernet</a:t>
            </a:r>
            <a:endParaRPr lang="en-US" sz="1050" dirty="0"/>
          </a:p>
          <a:p>
            <a:pPr algn="ctr" indent="0" marL="0">
              <a:buNone/>
            </a:pPr>
            <a:r>
              <a:rPr lang="en-US" sz="1050" b="1" dirty="0">
                <a:solidFill>
                  <a:srgbClr val="60A5FA"/>
                </a:solidFill>
                <a:latin typeface="Calibri" pitchFamily="34" charset="0"/>
                <a:ea typeface="Calibri" pitchFamily="34" charset="-122"/>
                <a:cs typeface="Calibri" pitchFamily="34" charset="-120"/>
              </a:rPr>
              <a:t>Backbone (TSN)</a:t>
            </a:r>
            <a:endParaRPr lang="en-US" sz="1050" dirty="0"/>
          </a:p>
        </p:txBody>
      </p:sp>
      <p:sp>
        <p:nvSpPr>
          <p:cNvPr id="7" name="Shape 5"/>
          <p:cNvSpPr/>
          <p:nvPr/>
        </p:nvSpPr>
        <p:spPr>
          <a:xfrm>
            <a:off x="201168" y="1188720"/>
            <a:ext cx="2029968" cy="914400"/>
          </a:xfrm>
          <a:prstGeom prst="rect">
            <a:avLst/>
          </a:prstGeom>
          <a:solidFill>
            <a:srgbClr val="1E2761"/>
          </a:solidFill>
          <a:ln w="12700">
            <a:solidFill>
              <a:srgbClr val="1E2761"/>
            </a:solidFill>
            <a:prstDash val="solid"/>
          </a:ln>
          <a:effectLst>
            <a:outerShdw sx="100000" sy="100000" kx="0" ky="0" algn="bl" rotWithShape="0" blurRad="50800" dist="25400" dir="8100000">
              <a:srgbClr val="000000">
                <a:alpha val="15000"/>
              </a:srgbClr>
            </a:outerShdw>
          </a:effectLst>
        </p:spPr>
      </p:sp>
      <p:sp>
        <p:nvSpPr>
          <p:cNvPr id="8" name="Text 6"/>
          <p:cNvSpPr/>
          <p:nvPr/>
        </p:nvSpPr>
        <p:spPr>
          <a:xfrm>
            <a:off x="201168" y="1188720"/>
            <a:ext cx="2029968"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Front Left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9" name="Shape 7"/>
          <p:cNvSpPr/>
          <p:nvPr/>
        </p:nvSpPr>
        <p:spPr>
          <a:xfrm>
            <a:off x="201168" y="2377440"/>
            <a:ext cx="2029968" cy="914400"/>
          </a:xfrm>
          <a:prstGeom prst="rect">
            <a:avLst/>
          </a:prstGeom>
          <a:solidFill>
            <a:srgbClr val="0D9488"/>
          </a:solidFill>
          <a:ln w="12700">
            <a:solidFill>
              <a:srgbClr val="0D9488"/>
            </a:solidFill>
            <a:prstDash val="solid"/>
          </a:ln>
          <a:effectLst>
            <a:outerShdw sx="100000" sy="100000" kx="0" ky="0" algn="bl" rotWithShape="0" blurRad="50800" dist="25400" dir="8100000">
              <a:srgbClr val="000000">
                <a:alpha val="15000"/>
              </a:srgbClr>
            </a:outerShdw>
          </a:effectLst>
        </p:spPr>
      </p:sp>
      <p:sp>
        <p:nvSpPr>
          <p:cNvPr id="10" name="Text 8"/>
          <p:cNvSpPr/>
          <p:nvPr/>
        </p:nvSpPr>
        <p:spPr>
          <a:xfrm>
            <a:off x="201168" y="2377440"/>
            <a:ext cx="2029968"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Front Right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1" name="Shape 9"/>
          <p:cNvSpPr/>
          <p:nvPr/>
        </p:nvSpPr>
        <p:spPr>
          <a:xfrm>
            <a:off x="2377440" y="1737360"/>
            <a:ext cx="2029968" cy="914400"/>
          </a:xfrm>
          <a:prstGeom prst="rect">
            <a:avLst/>
          </a:prstGeom>
          <a:solidFill>
            <a:srgbClr val="7C3AED"/>
          </a:solidFill>
          <a:ln w="12700">
            <a:solidFill>
              <a:srgbClr val="7C3AED"/>
            </a:solidFill>
            <a:prstDash val="solid"/>
          </a:ln>
          <a:effectLst>
            <a:outerShdw sx="100000" sy="100000" kx="0" ky="0" algn="bl" rotWithShape="0" blurRad="50800" dist="25400" dir="8100000">
              <a:srgbClr val="000000">
                <a:alpha val="15000"/>
              </a:srgbClr>
            </a:outerShdw>
          </a:effectLst>
        </p:spPr>
      </p:sp>
      <p:sp>
        <p:nvSpPr>
          <p:cNvPr id="12" name="Text 10"/>
          <p:cNvSpPr/>
          <p:nvPr/>
        </p:nvSpPr>
        <p:spPr>
          <a:xfrm>
            <a:off x="2377440" y="1737360"/>
            <a:ext cx="2029968"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Central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Compute</a:t>
            </a:r>
            <a:endParaRPr lang="en-US" sz="1100" dirty="0"/>
          </a:p>
        </p:txBody>
      </p:sp>
      <p:sp>
        <p:nvSpPr>
          <p:cNvPr id="13" name="Shape 11"/>
          <p:cNvSpPr/>
          <p:nvPr/>
        </p:nvSpPr>
        <p:spPr>
          <a:xfrm>
            <a:off x="4480560" y="1188720"/>
            <a:ext cx="2029968" cy="914400"/>
          </a:xfrm>
          <a:prstGeom prst="rect">
            <a:avLst/>
          </a:prstGeom>
          <a:solidFill>
            <a:srgbClr val="BE185D"/>
          </a:solidFill>
          <a:ln w="12700">
            <a:solidFill>
              <a:srgbClr val="BE185D"/>
            </a:solidFill>
            <a:prstDash val="solid"/>
          </a:ln>
          <a:effectLst>
            <a:outerShdw sx="100000" sy="100000" kx="0" ky="0" algn="bl" rotWithShape="0" blurRad="50800" dist="25400" dir="8100000">
              <a:srgbClr val="000000">
                <a:alpha val="15000"/>
              </a:srgbClr>
            </a:outerShdw>
          </a:effectLst>
        </p:spPr>
      </p:sp>
      <p:sp>
        <p:nvSpPr>
          <p:cNvPr id="14" name="Text 12"/>
          <p:cNvSpPr/>
          <p:nvPr/>
        </p:nvSpPr>
        <p:spPr>
          <a:xfrm>
            <a:off x="4480560" y="1188720"/>
            <a:ext cx="2029968"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Rear Left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5" name="Shape 13"/>
          <p:cNvSpPr/>
          <p:nvPr/>
        </p:nvSpPr>
        <p:spPr>
          <a:xfrm>
            <a:off x="4480560" y="2377440"/>
            <a:ext cx="2029968" cy="914400"/>
          </a:xfrm>
          <a:prstGeom prst="rect">
            <a:avLst/>
          </a:prstGeom>
          <a:solidFill>
            <a:srgbClr val="92400E"/>
          </a:solidFill>
          <a:ln w="12700">
            <a:solidFill>
              <a:srgbClr val="92400E"/>
            </a:solidFill>
            <a:prstDash val="solid"/>
          </a:ln>
          <a:effectLst>
            <a:outerShdw sx="100000" sy="100000" kx="0" ky="0" algn="bl" rotWithShape="0" blurRad="50800" dist="25400" dir="8100000">
              <a:srgbClr val="000000">
                <a:alpha val="15000"/>
              </a:srgbClr>
            </a:outerShdw>
          </a:effectLst>
        </p:spPr>
      </p:sp>
      <p:sp>
        <p:nvSpPr>
          <p:cNvPr id="16" name="Text 14"/>
          <p:cNvSpPr/>
          <p:nvPr/>
        </p:nvSpPr>
        <p:spPr>
          <a:xfrm>
            <a:off x="4480560" y="2377440"/>
            <a:ext cx="2029968" cy="9144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Rear Right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7" name="Shape 15"/>
          <p:cNvSpPr/>
          <p:nvPr/>
        </p:nvSpPr>
        <p:spPr>
          <a:xfrm>
            <a:off x="2231136" y="1645920"/>
            <a:ext cx="146304" cy="0"/>
          </a:xfrm>
          <a:prstGeom prst="line">
            <a:avLst/>
          </a:prstGeom>
          <a:noFill/>
          <a:ln w="15240">
            <a:solidFill>
              <a:srgbClr val="6B7280"/>
            </a:solidFill>
            <a:prstDash val="solid"/>
          </a:ln>
        </p:spPr>
      </p:sp>
      <p:sp>
        <p:nvSpPr>
          <p:cNvPr id="18" name="Shape 16"/>
          <p:cNvSpPr/>
          <p:nvPr/>
        </p:nvSpPr>
        <p:spPr>
          <a:xfrm>
            <a:off x="2231136" y="2834640"/>
            <a:ext cx="146304" cy="0"/>
          </a:xfrm>
          <a:prstGeom prst="line">
            <a:avLst/>
          </a:prstGeom>
          <a:noFill/>
          <a:ln w="15240">
            <a:solidFill>
              <a:srgbClr val="6B7280"/>
            </a:solidFill>
            <a:prstDash val="solid"/>
          </a:ln>
        </p:spPr>
      </p:sp>
      <p:sp>
        <p:nvSpPr>
          <p:cNvPr id="19" name="Shape 17"/>
          <p:cNvSpPr/>
          <p:nvPr/>
        </p:nvSpPr>
        <p:spPr>
          <a:xfrm>
            <a:off x="4407408" y="1645920"/>
            <a:ext cx="73152" cy="0"/>
          </a:xfrm>
          <a:prstGeom prst="line">
            <a:avLst/>
          </a:prstGeom>
          <a:noFill/>
          <a:ln w="15240">
            <a:solidFill>
              <a:srgbClr val="6B7280"/>
            </a:solidFill>
            <a:prstDash val="solid"/>
          </a:ln>
        </p:spPr>
      </p:sp>
      <p:sp>
        <p:nvSpPr>
          <p:cNvPr id="20" name="Shape 18"/>
          <p:cNvSpPr/>
          <p:nvPr/>
        </p:nvSpPr>
        <p:spPr>
          <a:xfrm>
            <a:off x="4407408" y="2834640"/>
            <a:ext cx="73152" cy="0"/>
          </a:xfrm>
          <a:prstGeom prst="line">
            <a:avLst/>
          </a:prstGeom>
          <a:noFill/>
          <a:ln w="15240">
            <a:solidFill>
              <a:srgbClr val="6B7280"/>
            </a:solidFill>
            <a:prstDash val="solid"/>
          </a:ln>
        </p:spPr>
      </p:sp>
      <p:sp>
        <p:nvSpPr>
          <p:cNvPr id="21" name="Shape 19"/>
          <p:cNvSpPr/>
          <p:nvPr/>
        </p:nvSpPr>
        <p:spPr>
          <a:xfrm>
            <a:off x="6675120" y="1188720"/>
            <a:ext cx="2157984" cy="877824"/>
          </a:xfrm>
          <a:prstGeom prst="rect">
            <a:avLst/>
          </a:prstGeom>
          <a:solidFill>
            <a:srgbClr val="E1F5EE"/>
          </a:solidFill>
          <a:ln w="6350">
            <a:solidFill>
              <a:srgbClr val="E5E7EB"/>
            </a:solidFill>
            <a:prstDash val="solid"/>
          </a:ln>
        </p:spPr>
      </p:sp>
      <p:sp>
        <p:nvSpPr>
          <p:cNvPr id="22" name="Shape 20"/>
          <p:cNvSpPr/>
          <p:nvPr/>
        </p:nvSpPr>
        <p:spPr>
          <a:xfrm>
            <a:off x="6675120" y="1188720"/>
            <a:ext cx="91440" cy="877824"/>
          </a:xfrm>
          <a:prstGeom prst="rect">
            <a:avLst/>
          </a:prstGeom>
          <a:solidFill>
            <a:srgbClr val="0D9488"/>
          </a:solidFill>
          <a:ln w="12700">
            <a:solidFill>
              <a:srgbClr val="0D9488"/>
            </a:solidFill>
            <a:prstDash val="solid"/>
          </a:ln>
        </p:spPr>
      </p:sp>
      <p:sp>
        <p:nvSpPr>
          <p:cNvPr id="23" name="Text 21"/>
          <p:cNvSpPr/>
          <p:nvPr/>
        </p:nvSpPr>
        <p:spPr>
          <a:xfrm>
            <a:off x="6821424" y="1261872"/>
            <a:ext cx="1956816" cy="25603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 Harness weight &amp; cost</a:t>
            </a:r>
            <a:endParaRPr lang="en-US" sz="1100" dirty="0"/>
          </a:p>
        </p:txBody>
      </p:sp>
      <p:sp>
        <p:nvSpPr>
          <p:cNvPr id="24" name="Text 22"/>
          <p:cNvSpPr/>
          <p:nvPr/>
        </p:nvSpPr>
        <p:spPr>
          <a:xfrm>
            <a:off x="6821424" y="1536192"/>
            <a:ext cx="1956816" cy="47548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Fewer long runs — zone controllers aggregate local ECUs over short cable runs</a:t>
            </a:r>
            <a:endParaRPr lang="en-US" sz="1000" dirty="0"/>
          </a:p>
        </p:txBody>
      </p:sp>
      <p:sp>
        <p:nvSpPr>
          <p:cNvPr id="25" name="Shape 23"/>
          <p:cNvSpPr/>
          <p:nvPr/>
        </p:nvSpPr>
        <p:spPr>
          <a:xfrm>
            <a:off x="6675120" y="2157984"/>
            <a:ext cx="2157984" cy="877824"/>
          </a:xfrm>
          <a:prstGeom prst="rect">
            <a:avLst/>
          </a:prstGeom>
          <a:solidFill>
            <a:srgbClr val="EEF2FF"/>
          </a:solidFill>
          <a:ln w="6350">
            <a:solidFill>
              <a:srgbClr val="E5E7EB"/>
            </a:solidFill>
            <a:prstDash val="solid"/>
          </a:ln>
        </p:spPr>
      </p:sp>
      <p:sp>
        <p:nvSpPr>
          <p:cNvPr id="26" name="Shape 24"/>
          <p:cNvSpPr/>
          <p:nvPr/>
        </p:nvSpPr>
        <p:spPr>
          <a:xfrm>
            <a:off x="6675120" y="2157984"/>
            <a:ext cx="91440" cy="877824"/>
          </a:xfrm>
          <a:prstGeom prst="rect">
            <a:avLst/>
          </a:prstGeom>
          <a:solidFill>
            <a:srgbClr val="1E2761"/>
          </a:solidFill>
          <a:ln w="12700">
            <a:solidFill>
              <a:srgbClr val="1E2761"/>
            </a:solidFill>
            <a:prstDash val="solid"/>
          </a:ln>
        </p:spPr>
      </p:sp>
      <p:sp>
        <p:nvSpPr>
          <p:cNvPr id="27" name="Text 25"/>
          <p:cNvSpPr/>
          <p:nvPr/>
        </p:nvSpPr>
        <p:spPr>
          <a:xfrm>
            <a:off x="6821424" y="2231136"/>
            <a:ext cx="1956816" cy="256032"/>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Any data, anywhere</a:t>
            </a:r>
            <a:endParaRPr lang="en-US" sz="1100" dirty="0"/>
          </a:p>
        </p:txBody>
      </p:sp>
      <p:sp>
        <p:nvSpPr>
          <p:cNvPr id="28" name="Text 26"/>
          <p:cNvSpPr/>
          <p:nvPr/>
        </p:nvSpPr>
        <p:spPr>
          <a:xfrm>
            <a:off x="6821424" y="2505456"/>
            <a:ext cx="1956816" cy="47548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Shared Ethernet backbone — no dedicated point-to-point runs between domains</a:t>
            </a:r>
            <a:endParaRPr lang="en-US" sz="1000" dirty="0"/>
          </a:p>
        </p:txBody>
      </p:sp>
      <p:sp>
        <p:nvSpPr>
          <p:cNvPr id="29" name="Shape 27"/>
          <p:cNvSpPr/>
          <p:nvPr/>
        </p:nvSpPr>
        <p:spPr>
          <a:xfrm>
            <a:off x="6675120" y="3127248"/>
            <a:ext cx="2157984" cy="877824"/>
          </a:xfrm>
          <a:prstGeom prst="rect">
            <a:avLst/>
          </a:prstGeom>
          <a:solidFill>
            <a:srgbClr val="F0FDFA"/>
          </a:solidFill>
          <a:ln w="6350">
            <a:solidFill>
              <a:srgbClr val="E5E7EB"/>
            </a:solidFill>
            <a:prstDash val="solid"/>
          </a:ln>
        </p:spPr>
      </p:sp>
      <p:sp>
        <p:nvSpPr>
          <p:cNvPr id="30" name="Shape 28"/>
          <p:cNvSpPr/>
          <p:nvPr/>
        </p:nvSpPr>
        <p:spPr>
          <a:xfrm>
            <a:off x="6675120" y="3127248"/>
            <a:ext cx="91440" cy="877824"/>
          </a:xfrm>
          <a:prstGeom prst="rect">
            <a:avLst/>
          </a:prstGeom>
          <a:solidFill>
            <a:srgbClr val="0D9488"/>
          </a:solidFill>
          <a:ln w="12700">
            <a:solidFill>
              <a:srgbClr val="0D9488"/>
            </a:solidFill>
            <a:prstDash val="solid"/>
          </a:ln>
        </p:spPr>
      </p:sp>
      <p:sp>
        <p:nvSpPr>
          <p:cNvPr id="31" name="Text 29"/>
          <p:cNvSpPr/>
          <p:nvPr/>
        </p:nvSpPr>
        <p:spPr>
          <a:xfrm>
            <a:off x="6821424" y="3200400"/>
            <a:ext cx="1956816" cy="256032"/>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OTA update friendly</a:t>
            </a:r>
            <a:endParaRPr lang="en-US" sz="1100" dirty="0"/>
          </a:p>
        </p:txBody>
      </p:sp>
      <p:sp>
        <p:nvSpPr>
          <p:cNvPr id="32" name="Text 30"/>
          <p:cNvSpPr/>
          <p:nvPr/>
        </p:nvSpPr>
        <p:spPr>
          <a:xfrm>
            <a:off x="6821424" y="3474720"/>
            <a:ext cx="1956816" cy="47548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Software delivered centrally over Ethernet — no physical access to each ECU</a:t>
            </a:r>
            <a:endParaRPr lang="en-US" sz="1000" dirty="0"/>
          </a:p>
        </p:txBody>
      </p:sp>
      <p:sp>
        <p:nvSpPr>
          <p:cNvPr id="33" name="Shape 31"/>
          <p:cNvSpPr/>
          <p:nvPr/>
        </p:nvSpPr>
        <p:spPr>
          <a:xfrm>
            <a:off x="6675120" y="4096512"/>
            <a:ext cx="2157984" cy="877824"/>
          </a:xfrm>
          <a:prstGeom prst="rect">
            <a:avLst/>
          </a:prstGeom>
          <a:solidFill>
            <a:srgbClr val="FEF3C7"/>
          </a:solidFill>
          <a:ln w="6350">
            <a:solidFill>
              <a:srgbClr val="E5E7EB"/>
            </a:solidFill>
            <a:prstDash val="solid"/>
          </a:ln>
        </p:spPr>
      </p:sp>
      <p:sp>
        <p:nvSpPr>
          <p:cNvPr id="34" name="Shape 32"/>
          <p:cNvSpPr/>
          <p:nvPr/>
        </p:nvSpPr>
        <p:spPr>
          <a:xfrm>
            <a:off x="6675120" y="4096512"/>
            <a:ext cx="91440" cy="877824"/>
          </a:xfrm>
          <a:prstGeom prst="rect">
            <a:avLst/>
          </a:prstGeom>
          <a:solidFill>
            <a:srgbClr val="B45309"/>
          </a:solidFill>
          <a:ln w="12700">
            <a:solidFill>
              <a:srgbClr val="B45309"/>
            </a:solidFill>
            <a:prstDash val="solid"/>
          </a:ln>
        </p:spPr>
      </p:sp>
      <p:sp>
        <p:nvSpPr>
          <p:cNvPr id="35" name="Text 33"/>
          <p:cNvSpPr/>
          <p:nvPr/>
        </p:nvSpPr>
        <p:spPr>
          <a:xfrm>
            <a:off x="6821424" y="4169664"/>
            <a:ext cx="1956816" cy="256032"/>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Requires TSN expertise</a:t>
            </a:r>
            <a:endParaRPr lang="en-US" sz="1100" dirty="0"/>
          </a:p>
        </p:txBody>
      </p:sp>
      <p:sp>
        <p:nvSpPr>
          <p:cNvPr id="36" name="Text 34"/>
          <p:cNvSpPr/>
          <p:nvPr/>
        </p:nvSpPr>
        <p:spPr>
          <a:xfrm>
            <a:off x="6821424" y="4443984"/>
            <a:ext cx="1956816" cy="475488"/>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VLANs, TAS, gPTP, FRER all become mandatory — deep 802.1Q skills required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Zonal Architecture — IEEE Stated Drivers</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From the IEEE automotive use-case document — quantified trends and explicit requirements</a:t>
            </a:r>
            <a:endParaRPr lang="en-US" sz="1250" dirty="0"/>
          </a:p>
        </p:txBody>
      </p:sp>
      <p:sp>
        <p:nvSpPr>
          <p:cNvPr id="5" name="Shape 3"/>
          <p:cNvSpPr/>
          <p:nvPr/>
        </p:nvSpPr>
        <p:spPr>
          <a:xfrm>
            <a:off x="201168" y="1115568"/>
            <a:ext cx="8631936" cy="914400"/>
          </a:xfrm>
          <a:prstGeom prst="rect">
            <a:avLst/>
          </a:prstGeom>
          <a:solidFill>
            <a:srgbClr val="EEF2FF"/>
          </a:solidFill>
          <a:ln w="10160">
            <a:solidFill>
              <a:srgbClr val="C7D2FE"/>
            </a:solidFill>
            <a:prstDash val="solid"/>
          </a:ln>
        </p:spPr>
      </p:sp>
      <p:sp>
        <p:nvSpPr>
          <p:cNvPr id="6" name="Shape 4"/>
          <p:cNvSpPr/>
          <p:nvPr/>
        </p:nvSpPr>
        <p:spPr>
          <a:xfrm>
            <a:off x="201168" y="1115568"/>
            <a:ext cx="109728" cy="914400"/>
          </a:xfrm>
          <a:prstGeom prst="rect">
            <a:avLst/>
          </a:prstGeom>
          <a:solidFill>
            <a:srgbClr val="1E2761"/>
          </a:solidFill>
          <a:ln w="12700">
            <a:solidFill>
              <a:srgbClr val="1E2761"/>
            </a:solidFill>
            <a:prstDash val="solid"/>
          </a:ln>
        </p:spPr>
      </p:sp>
      <p:sp>
        <p:nvSpPr>
          <p:cNvPr id="7" name="Text 5"/>
          <p:cNvSpPr/>
          <p:nvPr/>
        </p:nvSpPr>
        <p:spPr>
          <a:xfrm>
            <a:off x="384048" y="1170432"/>
            <a:ext cx="8321040" cy="804672"/>
          </a:xfrm>
          <a:prstGeom prst="rect">
            <a:avLst/>
          </a:prstGeom>
          <a:noFill/>
          <a:ln/>
        </p:spPr>
        <p:txBody>
          <a:bodyPr wrap="square" rtlCol="0" anchor="ctr"/>
          <a:lstStyle/>
          <a:p>
            <a:pPr indent="0" marL="0">
              <a:lnSpc>
                <a:spcPct val="140000"/>
              </a:lnSpc>
              <a:buNone/>
            </a:pPr>
            <a:r>
              <a:rPr lang="en-US" sz="1200" i="1" dirty="0">
                <a:solidFill>
                  <a:srgbClr val="1E2761"/>
                </a:solidFill>
                <a:latin typeface="Calibri" pitchFamily="34" charset="0"/>
                <a:ea typeface="Calibri" pitchFamily="34" charset="-122"/>
                <a:cs typeface="Calibri" pitchFamily="34" charset="-120"/>
              </a:rPr>
              <a:t>"Zonal networks are seen by many as the flexible networking solution. Ethernet's scalable bandwidth and TSN capabilities become requirements here, on top of the OSI layering and IP addressing that domain networks introduced."</a:t>
            </a:r>
            <a:endParaRPr lang="en-US" sz="1200" dirty="0"/>
          </a:p>
        </p:txBody>
      </p:sp>
      <p:sp>
        <p:nvSpPr>
          <p:cNvPr id="8" name="Shape 6"/>
          <p:cNvSpPr/>
          <p:nvPr/>
        </p:nvSpPr>
        <p:spPr>
          <a:xfrm>
            <a:off x="201168" y="2176272"/>
            <a:ext cx="2816352" cy="1298448"/>
          </a:xfrm>
          <a:prstGeom prst="rect">
            <a:avLst/>
          </a:prstGeom>
          <a:solidFill>
            <a:srgbClr val="F8FAFF"/>
          </a:solidFill>
          <a:ln w="6350">
            <a:solidFill>
              <a:srgbClr val="E0E7FF"/>
            </a:solidFill>
            <a:prstDash val="solid"/>
          </a:ln>
        </p:spPr>
      </p:sp>
      <p:sp>
        <p:nvSpPr>
          <p:cNvPr id="9" name="Shape 7"/>
          <p:cNvSpPr/>
          <p:nvPr/>
        </p:nvSpPr>
        <p:spPr>
          <a:xfrm>
            <a:off x="201168" y="2176272"/>
            <a:ext cx="457200" cy="1298448"/>
          </a:xfrm>
          <a:prstGeom prst="rect">
            <a:avLst/>
          </a:prstGeom>
          <a:solidFill>
            <a:srgbClr val="1E2761"/>
          </a:solidFill>
          <a:ln w="12700">
            <a:solidFill>
              <a:srgbClr val="1E2761"/>
            </a:solidFill>
            <a:prstDash val="solid"/>
          </a:ln>
        </p:spPr>
      </p:sp>
      <p:pic>
        <p:nvPicPr>
          <p:cNvPr id="10" name="Image 0" descr="preencoded.png">    </p:cNvPr>
          <p:cNvPicPr>
            <a:picLocks noChangeAspect="1"/>
          </p:cNvPicPr>
          <p:nvPr/>
        </p:nvPicPr>
        <p:blipFill>
          <a:blip r:embed="rId1"/>
          <a:stretch>
            <a:fillRect/>
          </a:stretch>
        </p:blipFill>
        <p:spPr>
          <a:xfrm>
            <a:off x="292608" y="2651760"/>
            <a:ext cx="274320" cy="274320"/>
          </a:xfrm>
          <a:prstGeom prst="rect">
            <a:avLst/>
          </a:prstGeom>
        </p:spPr>
      </p:pic>
      <p:sp>
        <p:nvSpPr>
          <p:cNvPr id="11" name="Text 8"/>
          <p:cNvSpPr/>
          <p:nvPr/>
        </p:nvSpPr>
        <p:spPr>
          <a:xfrm>
            <a:off x="731520" y="228600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Harness Reduction</a:t>
            </a:r>
            <a:endParaRPr lang="en-US" sz="1200" dirty="0"/>
          </a:p>
        </p:txBody>
      </p:sp>
      <p:sp>
        <p:nvSpPr>
          <p:cNvPr id="12" name="Text 9"/>
          <p:cNvSpPr/>
          <p:nvPr/>
        </p:nvSpPr>
        <p:spPr>
          <a:xfrm>
            <a:off x="731520" y="261518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Wiring harness size, weight, cost, and complexity all decrease.</a:t>
            </a:r>
            <a:endParaRPr lang="en-US" sz="1100" dirty="0"/>
          </a:p>
        </p:txBody>
      </p:sp>
      <p:sp>
        <p:nvSpPr>
          <p:cNvPr id="13" name="Shape 10"/>
          <p:cNvSpPr/>
          <p:nvPr/>
        </p:nvSpPr>
        <p:spPr>
          <a:xfrm>
            <a:off x="3145536" y="2176272"/>
            <a:ext cx="2816352" cy="1298448"/>
          </a:xfrm>
          <a:prstGeom prst="rect">
            <a:avLst/>
          </a:prstGeom>
          <a:solidFill>
            <a:srgbClr val="F8FAFF"/>
          </a:solidFill>
          <a:ln w="6350">
            <a:solidFill>
              <a:srgbClr val="E0E7FF"/>
            </a:solidFill>
            <a:prstDash val="solid"/>
          </a:ln>
        </p:spPr>
      </p:sp>
      <p:sp>
        <p:nvSpPr>
          <p:cNvPr id="14" name="Shape 11"/>
          <p:cNvSpPr/>
          <p:nvPr/>
        </p:nvSpPr>
        <p:spPr>
          <a:xfrm>
            <a:off x="3145536" y="2176272"/>
            <a:ext cx="457200" cy="1298448"/>
          </a:xfrm>
          <a:prstGeom prst="rect">
            <a:avLst/>
          </a:prstGeom>
          <a:solidFill>
            <a:srgbClr val="1E2761"/>
          </a:solidFill>
          <a:ln w="12700">
            <a:solidFill>
              <a:srgbClr val="1E2761"/>
            </a:solidFill>
            <a:prstDash val="solid"/>
          </a:ln>
        </p:spPr>
      </p:sp>
      <p:pic>
        <p:nvPicPr>
          <p:cNvPr id="15" name="Image 1" descr="preencoded.png">    </p:cNvPr>
          <p:cNvPicPr>
            <a:picLocks noChangeAspect="1"/>
          </p:cNvPicPr>
          <p:nvPr/>
        </p:nvPicPr>
        <p:blipFill>
          <a:blip r:embed="rId2"/>
          <a:stretch>
            <a:fillRect/>
          </a:stretch>
        </p:blipFill>
        <p:spPr>
          <a:xfrm>
            <a:off x="3236976" y="2651760"/>
            <a:ext cx="274320" cy="274320"/>
          </a:xfrm>
          <a:prstGeom prst="rect">
            <a:avLst/>
          </a:prstGeom>
        </p:spPr>
      </p:pic>
      <p:sp>
        <p:nvSpPr>
          <p:cNvPr id="16" name="Text 12"/>
          <p:cNvSpPr/>
          <p:nvPr/>
        </p:nvSpPr>
        <p:spPr>
          <a:xfrm>
            <a:off x="3675888" y="228600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Topology Freedom</a:t>
            </a:r>
            <a:endParaRPr lang="en-US" sz="1200" dirty="0"/>
          </a:p>
        </p:txBody>
      </p:sp>
      <p:sp>
        <p:nvSpPr>
          <p:cNvPr id="17" name="Text 13"/>
          <p:cNvSpPr/>
          <p:nvPr/>
        </p:nvSpPr>
        <p:spPr>
          <a:xfrm>
            <a:off x="3675888" y="261518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Any data can flow anywhere without unnecessary dedicated links.</a:t>
            </a:r>
            <a:endParaRPr lang="en-US" sz="1100" dirty="0"/>
          </a:p>
        </p:txBody>
      </p:sp>
      <p:sp>
        <p:nvSpPr>
          <p:cNvPr id="18" name="Shape 14"/>
          <p:cNvSpPr/>
          <p:nvPr/>
        </p:nvSpPr>
        <p:spPr>
          <a:xfrm>
            <a:off x="6089904" y="2176272"/>
            <a:ext cx="2816352" cy="1298448"/>
          </a:xfrm>
          <a:prstGeom prst="rect">
            <a:avLst/>
          </a:prstGeom>
          <a:solidFill>
            <a:srgbClr val="F8FAFF"/>
          </a:solidFill>
          <a:ln w="6350">
            <a:solidFill>
              <a:srgbClr val="E0E7FF"/>
            </a:solidFill>
            <a:prstDash val="solid"/>
          </a:ln>
        </p:spPr>
      </p:sp>
      <p:sp>
        <p:nvSpPr>
          <p:cNvPr id="19" name="Shape 15"/>
          <p:cNvSpPr/>
          <p:nvPr/>
        </p:nvSpPr>
        <p:spPr>
          <a:xfrm>
            <a:off x="6089904" y="2176272"/>
            <a:ext cx="457200" cy="1298448"/>
          </a:xfrm>
          <a:prstGeom prst="rect">
            <a:avLst/>
          </a:prstGeom>
          <a:solidFill>
            <a:srgbClr val="1E2761"/>
          </a:solidFill>
          <a:ln w="12700">
            <a:solidFill>
              <a:srgbClr val="1E2761"/>
            </a:solidFill>
            <a:prstDash val="solid"/>
          </a:ln>
        </p:spPr>
      </p:sp>
      <p:pic>
        <p:nvPicPr>
          <p:cNvPr id="20" name="Image 2" descr="preencoded.png">    </p:cNvPr>
          <p:cNvPicPr>
            <a:picLocks noChangeAspect="1"/>
          </p:cNvPicPr>
          <p:nvPr/>
        </p:nvPicPr>
        <p:blipFill>
          <a:blip r:embed="rId3"/>
          <a:stretch>
            <a:fillRect/>
          </a:stretch>
        </p:blipFill>
        <p:spPr>
          <a:xfrm>
            <a:off x="6181344" y="2651760"/>
            <a:ext cx="274320" cy="274320"/>
          </a:xfrm>
          <a:prstGeom prst="rect">
            <a:avLst/>
          </a:prstGeom>
        </p:spPr>
      </p:pic>
      <p:sp>
        <p:nvSpPr>
          <p:cNvPr id="21" name="Text 16"/>
          <p:cNvSpPr/>
          <p:nvPr/>
        </p:nvSpPr>
        <p:spPr>
          <a:xfrm>
            <a:off x="6620256" y="228600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OTA Update Support</a:t>
            </a:r>
            <a:endParaRPr lang="en-US" sz="1200" dirty="0"/>
          </a:p>
        </p:txBody>
      </p:sp>
      <p:sp>
        <p:nvSpPr>
          <p:cNvPr id="22" name="Text 17"/>
          <p:cNvSpPr/>
          <p:nvPr/>
        </p:nvSpPr>
        <p:spPr>
          <a:xfrm>
            <a:off x="6620256" y="261518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Software updates delivered centrally over the backbone.</a:t>
            </a:r>
            <a:endParaRPr lang="en-US" sz="1100" dirty="0"/>
          </a:p>
        </p:txBody>
      </p:sp>
      <p:sp>
        <p:nvSpPr>
          <p:cNvPr id="23" name="Shape 18"/>
          <p:cNvSpPr/>
          <p:nvPr/>
        </p:nvSpPr>
        <p:spPr>
          <a:xfrm>
            <a:off x="201168" y="3593592"/>
            <a:ext cx="2816352" cy="1298448"/>
          </a:xfrm>
          <a:prstGeom prst="rect">
            <a:avLst/>
          </a:prstGeom>
          <a:solidFill>
            <a:srgbClr val="F8FAFF"/>
          </a:solidFill>
          <a:ln w="6350">
            <a:solidFill>
              <a:srgbClr val="E0E7FF"/>
            </a:solidFill>
            <a:prstDash val="solid"/>
          </a:ln>
        </p:spPr>
      </p:sp>
      <p:sp>
        <p:nvSpPr>
          <p:cNvPr id="24" name="Shape 19"/>
          <p:cNvSpPr/>
          <p:nvPr/>
        </p:nvSpPr>
        <p:spPr>
          <a:xfrm>
            <a:off x="201168" y="3593592"/>
            <a:ext cx="457200" cy="1298448"/>
          </a:xfrm>
          <a:prstGeom prst="rect">
            <a:avLst/>
          </a:prstGeom>
          <a:solidFill>
            <a:srgbClr val="1E2761"/>
          </a:solidFill>
          <a:ln w="12700">
            <a:solidFill>
              <a:srgbClr val="1E2761"/>
            </a:solidFill>
            <a:prstDash val="solid"/>
          </a:ln>
        </p:spPr>
      </p:sp>
      <p:pic>
        <p:nvPicPr>
          <p:cNvPr id="25" name="Image 3" descr="preencoded.png">    </p:cNvPr>
          <p:cNvPicPr>
            <a:picLocks noChangeAspect="1"/>
          </p:cNvPicPr>
          <p:nvPr/>
        </p:nvPicPr>
        <p:blipFill>
          <a:blip r:embed="rId4"/>
          <a:stretch>
            <a:fillRect/>
          </a:stretch>
        </p:blipFill>
        <p:spPr>
          <a:xfrm>
            <a:off x="292608" y="4069080"/>
            <a:ext cx="274320" cy="274320"/>
          </a:xfrm>
          <a:prstGeom prst="rect">
            <a:avLst/>
          </a:prstGeom>
        </p:spPr>
      </p:pic>
      <p:sp>
        <p:nvSpPr>
          <p:cNvPr id="26" name="Text 20"/>
          <p:cNvSpPr/>
          <p:nvPr/>
        </p:nvSpPr>
        <p:spPr>
          <a:xfrm>
            <a:off x="731520" y="370332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Architecture Reuse</a:t>
            </a:r>
            <a:endParaRPr lang="en-US" sz="1200" dirty="0"/>
          </a:p>
        </p:txBody>
      </p:sp>
      <p:sp>
        <p:nvSpPr>
          <p:cNvPr id="27" name="Text 21"/>
          <p:cNvSpPr/>
          <p:nvPr/>
        </p:nvSpPr>
        <p:spPr>
          <a:xfrm>
            <a:off x="731520" y="403250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Same zone topology scales across low-, mid-, high-end variants.</a:t>
            </a:r>
            <a:endParaRPr lang="en-US" sz="1100" dirty="0"/>
          </a:p>
        </p:txBody>
      </p:sp>
      <p:sp>
        <p:nvSpPr>
          <p:cNvPr id="28" name="Shape 22"/>
          <p:cNvSpPr/>
          <p:nvPr/>
        </p:nvSpPr>
        <p:spPr>
          <a:xfrm>
            <a:off x="3145536" y="3593592"/>
            <a:ext cx="2816352" cy="1298448"/>
          </a:xfrm>
          <a:prstGeom prst="rect">
            <a:avLst/>
          </a:prstGeom>
          <a:solidFill>
            <a:srgbClr val="F8FAFF"/>
          </a:solidFill>
          <a:ln w="6350">
            <a:solidFill>
              <a:srgbClr val="E0E7FF"/>
            </a:solidFill>
            <a:prstDash val="solid"/>
          </a:ln>
        </p:spPr>
      </p:sp>
      <p:sp>
        <p:nvSpPr>
          <p:cNvPr id="29" name="Shape 23"/>
          <p:cNvSpPr/>
          <p:nvPr/>
        </p:nvSpPr>
        <p:spPr>
          <a:xfrm>
            <a:off x="3145536" y="3593592"/>
            <a:ext cx="457200" cy="1298448"/>
          </a:xfrm>
          <a:prstGeom prst="rect">
            <a:avLst/>
          </a:prstGeom>
          <a:solidFill>
            <a:srgbClr val="1E2761"/>
          </a:solidFill>
          <a:ln w="12700">
            <a:solidFill>
              <a:srgbClr val="1E2761"/>
            </a:solidFill>
            <a:prstDash val="solid"/>
          </a:ln>
        </p:spPr>
      </p:sp>
      <p:pic>
        <p:nvPicPr>
          <p:cNvPr id="30" name="Image 4" descr="preencoded.png">    </p:cNvPr>
          <p:cNvPicPr>
            <a:picLocks noChangeAspect="1"/>
          </p:cNvPicPr>
          <p:nvPr/>
        </p:nvPicPr>
        <p:blipFill>
          <a:blip r:embed="rId5"/>
          <a:stretch>
            <a:fillRect/>
          </a:stretch>
        </p:blipFill>
        <p:spPr>
          <a:xfrm>
            <a:off x="3236976" y="4069080"/>
            <a:ext cx="274320" cy="274320"/>
          </a:xfrm>
          <a:prstGeom prst="rect">
            <a:avLst/>
          </a:prstGeom>
        </p:spPr>
      </p:pic>
      <p:sp>
        <p:nvSpPr>
          <p:cNvPr id="31" name="Text 24"/>
          <p:cNvSpPr/>
          <p:nvPr/>
        </p:nvSpPr>
        <p:spPr>
          <a:xfrm>
            <a:off x="3675888" y="370332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TSN Redundancy</a:t>
            </a:r>
            <a:endParaRPr lang="en-US" sz="1200" dirty="0"/>
          </a:p>
        </p:txBody>
      </p:sp>
      <p:sp>
        <p:nvSpPr>
          <p:cNvPr id="32" name="Text 25"/>
          <p:cNvSpPr/>
          <p:nvPr/>
        </p:nvSpPr>
        <p:spPr>
          <a:xfrm>
            <a:off x="3675888" y="403250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Easier FRER deployment when all ECUs share the backbone.</a:t>
            </a:r>
            <a:endParaRPr lang="en-US" sz="1100" dirty="0"/>
          </a:p>
        </p:txBody>
      </p:sp>
      <p:sp>
        <p:nvSpPr>
          <p:cNvPr id="33" name="Shape 26"/>
          <p:cNvSpPr/>
          <p:nvPr/>
        </p:nvSpPr>
        <p:spPr>
          <a:xfrm>
            <a:off x="6089904" y="3593592"/>
            <a:ext cx="2816352" cy="1298448"/>
          </a:xfrm>
          <a:prstGeom prst="rect">
            <a:avLst/>
          </a:prstGeom>
          <a:solidFill>
            <a:srgbClr val="F8FAFF"/>
          </a:solidFill>
          <a:ln w="6350">
            <a:solidFill>
              <a:srgbClr val="E0E7FF"/>
            </a:solidFill>
            <a:prstDash val="solid"/>
          </a:ln>
        </p:spPr>
      </p:sp>
      <p:sp>
        <p:nvSpPr>
          <p:cNvPr id="34" name="Shape 27"/>
          <p:cNvSpPr/>
          <p:nvPr/>
        </p:nvSpPr>
        <p:spPr>
          <a:xfrm>
            <a:off x="6089904" y="3593592"/>
            <a:ext cx="457200" cy="1298448"/>
          </a:xfrm>
          <a:prstGeom prst="rect">
            <a:avLst/>
          </a:prstGeom>
          <a:solidFill>
            <a:srgbClr val="1E2761"/>
          </a:solidFill>
          <a:ln w="12700">
            <a:solidFill>
              <a:srgbClr val="1E2761"/>
            </a:solidFill>
            <a:prstDash val="solid"/>
          </a:ln>
        </p:spPr>
      </p:sp>
      <p:pic>
        <p:nvPicPr>
          <p:cNvPr id="35" name="Image 5" descr="preencoded.png">    </p:cNvPr>
          <p:cNvPicPr>
            <a:picLocks noChangeAspect="1"/>
          </p:cNvPicPr>
          <p:nvPr/>
        </p:nvPicPr>
        <p:blipFill>
          <a:blip r:embed="rId6"/>
          <a:stretch>
            <a:fillRect/>
          </a:stretch>
        </p:blipFill>
        <p:spPr>
          <a:xfrm>
            <a:off x="6181344" y="4069080"/>
            <a:ext cx="274320" cy="274320"/>
          </a:xfrm>
          <a:prstGeom prst="rect">
            <a:avLst/>
          </a:prstGeom>
        </p:spPr>
      </p:pic>
      <p:sp>
        <p:nvSpPr>
          <p:cNvPr id="36" name="Text 28"/>
          <p:cNvSpPr/>
          <p:nvPr/>
        </p:nvSpPr>
        <p:spPr>
          <a:xfrm>
            <a:off x="6620256" y="3703320"/>
            <a:ext cx="2212848"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Deep Ethernet Skills</a:t>
            </a:r>
            <a:endParaRPr lang="en-US" sz="1200" dirty="0"/>
          </a:p>
        </p:txBody>
      </p:sp>
      <p:sp>
        <p:nvSpPr>
          <p:cNvPr id="37" name="Text 29"/>
          <p:cNvSpPr/>
          <p:nvPr/>
        </p:nvSpPr>
        <p:spPr>
          <a:xfrm>
            <a:off x="6620256" y="4032504"/>
            <a:ext cx="2212848" cy="7772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VLANs, TSN, gPTP, MACsec — the full 802.1Q stack becomes mandatory.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5</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OPEN Alliance SIG</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Profiling IEEE Ethernet for automotive-grade implementation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OPEN Alliance SIG — Role and Purpose</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Not a replacement for IEEE — a profiling and industrialization layer on top of IEEE Ethernet standards</a:t>
            </a:r>
            <a:endParaRPr lang="en-US" sz="1250" dirty="0"/>
          </a:p>
        </p:txBody>
      </p:sp>
      <p:sp>
        <p:nvSpPr>
          <p:cNvPr id="5" name="Shape 3"/>
          <p:cNvSpPr/>
          <p:nvPr/>
        </p:nvSpPr>
        <p:spPr>
          <a:xfrm>
            <a:off x="201168" y="1188720"/>
            <a:ext cx="4005072" cy="658368"/>
          </a:xfrm>
          <a:prstGeom prst="rect">
            <a:avLst/>
          </a:prstGeom>
          <a:solidFill>
            <a:srgbClr val="1E2761"/>
          </a:solidFill>
          <a:ln w="12700">
            <a:solidFill>
              <a:srgbClr val="1E2761"/>
            </a:solidFill>
            <a:prstDash val="solid"/>
          </a:ln>
          <a:effectLst>
            <a:outerShdw sx="100000" sy="100000" kx="0" ky="0" algn="bl" rotWithShape="0" blurRad="63500" dist="25400" dir="8100000">
              <a:srgbClr val="000000">
                <a:alpha val="12000"/>
              </a:srgbClr>
            </a:outerShdw>
          </a:effectLst>
        </p:spPr>
      </p:sp>
      <p:sp>
        <p:nvSpPr>
          <p:cNvPr id="6" name="Text 4"/>
          <p:cNvSpPr/>
          <p:nvPr/>
        </p:nvSpPr>
        <p:spPr>
          <a:xfrm>
            <a:off x="292608" y="1188720"/>
            <a:ext cx="3822192"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IEEE 802.3 + IEEE 802.1</a:t>
            </a:r>
            <a:endParaRPr lang="en-US" sz="1400" dirty="0"/>
          </a:p>
        </p:txBody>
      </p:sp>
      <p:sp>
        <p:nvSpPr>
          <p:cNvPr id="7" name="Text 5"/>
          <p:cNvSpPr/>
          <p:nvPr/>
        </p:nvSpPr>
        <p:spPr>
          <a:xfrm>
            <a:off x="292608" y="1554480"/>
            <a:ext cx="3822192" cy="274320"/>
          </a:xfrm>
          <a:prstGeom prst="rect">
            <a:avLst/>
          </a:prstGeom>
          <a:noFill/>
          <a:ln/>
        </p:spPr>
        <p:txBody>
          <a:bodyPr wrap="square" rtlCol="0" anchor="ctr"/>
          <a:lstStyle/>
          <a:p>
            <a:pPr indent="0" marL="0">
              <a:buNone/>
            </a:pPr>
            <a:r>
              <a:rPr lang="en-US" sz="1050" dirty="0">
                <a:solidFill>
                  <a:srgbClr val="CDDDF7"/>
                </a:solidFill>
                <a:latin typeface="Calibri" pitchFamily="34" charset="0"/>
                <a:ea typeface="Calibri" pitchFamily="34" charset="-122"/>
                <a:cs typeface="Calibri" pitchFamily="34" charset="-120"/>
              </a:rPr>
              <a:t>Base Ethernet and TSN Standards</a:t>
            </a:r>
            <a:endParaRPr lang="en-US" sz="1050" dirty="0"/>
          </a:p>
        </p:txBody>
      </p:sp>
      <p:pic>
        <p:nvPicPr>
          <p:cNvPr id="8" name="Image 0" descr="preencoded.png">    </p:cNvPr>
          <p:cNvPicPr>
            <a:picLocks noChangeAspect="1"/>
          </p:cNvPicPr>
          <p:nvPr/>
        </p:nvPicPr>
        <p:blipFill>
          <a:blip r:embed="rId1"/>
          <a:stretch>
            <a:fillRect/>
          </a:stretch>
        </p:blipFill>
        <p:spPr>
          <a:xfrm>
            <a:off x="1737360" y="1865376"/>
            <a:ext cx="274320" cy="274320"/>
          </a:xfrm>
          <a:prstGeom prst="rect">
            <a:avLst/>
          </a:prstGeom>
        </p:spPr>
      </p:pic>
      <p:sp>
        <p:nvSpPr>
          <p:cNvPr id="9" name="Shape 6"/>
          <p:cNvSpPr/>
          <p:nvPr/>
        </p:nvSpPr>
        <p:spPr>
          <a:xfrm>
            <a:off x="201168" y="2240280"/>
            <a:ext cx="4005072" cy="658368"/>
          </a:xfrm>
          <a:prstGeom prst="rect">
            <a:avLst/>
          </a:prstGeom>
          <a:solidFill>
            <a:srgbClr val="0D9488"/>
          </a:solidFill>
          <a:ln w="12700">
            <a:solidFill>
              <a:srgbClr val="0D9488"/>
            </a:solidFill>
            <a:prstDash val="solid"/>
          </a:ln>
          <a:effectLst>
            <a:outerShdw sx="100000" sy="100000" kx="0" ky="0" algn="bl" rotWithShape="0" blurRad="63500" dist="25400" dir="8100000">
              <a:srgbClr val="000000">
                <a:alpha val="12000"/>
              </a:srgbClr>
            </a:outerShdw>
          </a:effectLst>
        </p:spPr>
      </p:sp>
      <p:sp>
        <p:nvSpPr>
          <p:cNvPr id="10" name="Text 7"/>
          <p:cNvSpPr/>
          <p:nvPr/>
        </p:nvSpPr>
        <p:spPr>
          <a:xfrm>
            <a:off x="292608" y="2240280"/>
            <a:ext cx="3822192"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Alliance SIG</a:t>
            </a:r>
            <a:endParaRPr lang="en-US" sz="1400" dirty="0"/>
          </a:p>
        </p:txBody>
      </p:sp>
      <p:sp>
        <p:nvSpPr>
          <p:cNvPr id="11" name="Text 8"/>
          <p:cNvSpPr/>
          <p:nvPr/>
        </p:nvSpPr>
        <p:spPr>
          <a:xfrm>
            <a:off x="292608" y="2606040"/>
            <a:ext cx="3822192" cy="274320"/>
          </a:xfrm>
          <a:prstGeom prst="rect">
            <a:avLst/>
          </a:prstGeom>
          <a:noFill/>
          <a:ln/>
        </p:spPr>
        <p:txBody>
          <a:bodyPr wrap="square" rtlCol="0" anchor="ctr"/>
          <a:lstStyle/>
          <a:p>
            <a:pPr indent="0" marL="0">
              <a:buNone/>
            </a:pPr>
            <a:r>
              <a:rPr lang="en-US" sz="1050" dirty="0">
                <a:solidFill>
                  <a:srgbClr val="CDDDF7"/>
                </a:solidFill>
                <a:latin typeface="Calibri" pitchFamily="34" charset="0"/>
                <a:ea typeface="Calibri" pitchFamily="34" charset="-122"/>
                <a:cs typeface="Calibri" pitchFamily="34" charset="-120"/>
              </a:rPr>
              <a:t>Implementation · Conformance · Interoperability · Sleep/Wake profiles</a:t>
            </a:r>
            <a:endParaRPr lang="en-US" sz="1050" dirty="0"/>
          </a:p>
        </p:txBody>
      </p:sp>
      <p:pic>
        <p:nvPicPr>
          <p:cNvPr id="12" name="Image 1" descr="preencoded.png">    </p:cNvPr>
          <p:cNvPicPr>
            <a:picLocks noChangeAspect="1"/>
          </p:cNvPicPr>
          <p:nvPr/>
        </p:nvPicPr>
        <p:blipFill>
          <a:blip r:embed="rId2"/>
          <a:stretch>
            <a:fillRect/>
          </a:stretch>
        </p:blipFill>
        <p:spPr>
          <a:xfrm>
            <a:off x="1737360" y="2916936"/>
            <a:ext cx="274320" cy="274320"/>
          </a:xfrm>
          <a:prstGeom prst="rect">
            <a:avLst/>
          </a:prstGeom>
        </p:spPr>
      </p:pic>
      <p:sp>
        <p:nvSpPr>
          <p:cNvPr id="13" name="Shape 9"/>
          <p:cNvSpPr/>
          <p:nvPr/>
        </p:nvSpPr>
        <p:spPr>
          <a:xfrm>
            <a:off x="201168" y="3291840"/>
            <a:ext cx="4005072" cy="658368"/>
          </a:xfrm>
          <a:prstGeom prst="rect">
            <a:avLst/>
          </a:prstGeom>
          <a:solidFill>
            <a:srgbClr val="7C3AED"/>
          </a:solidFill>
          <a:ln w="12700">
            <a:solidFill>
              <a:srgbClr val="7C3AED"/>
            </a:solidFill>
            <a:prstDash val="solid"/>
          </a:ln>
          <a:effectLst>
            <a:outerShdw sx="100000" sy="100000" kx="0" ky="0" algn="bl" rotWithShape="0" blurRad="63500" dist="25400" dir="8100000">
              <a:srgbClr val="000000">
                <a:alpha val="12000"/>
              </a:srgbClr>
            </a:outerShdw>
          </a:effectLst>
        </p:spPr>
      </p:sp>
      <p:sp>
        <p:nvSpPr>
          <p:cNvPr id="14" name="Text 10"/>
          <p:cNvSpPr/>
          <p:nvPr/>
        </p:nvSpPr>
        <p:spPr>
          <a:xfrm>
            <a:off x="292608" y="3291840"/>
            <a:ext cx="3822192"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Automotive-Ready Product</a:t>
            </a:r>
            <a:endParaRPr lang="en-US" sz="1400" dirty="0"/>
          </a:p>
        </p:txBody>
      </p:sp>
      <p:sp>
        <p:nvSpPr>
          <p:cNvPr id="15" name="Text 11"/>
          <p:cNvSpPr/>
          <p:nvPr/>
        </p:nvSpPr>
        <p:spPr>
          <a:xfrm>
            <a:off x="292608" y="3657600"/>
            <a:ext cx="3822192" cy="274320"/>
          </a:xfrm>
          <a:prstGeom prst="rect">
            <a:avLst/>
          </a:prstGeom>
          <a:noFill/>
          <a:ln/>
        </p:spPr>
        <p:txBody>
          <a:bodyPr wrap="square" rtlCol="0" anchor="ctr"/>
          <a:lstStyle/>
          <a:p>
            <a:pPr indent="0" marL="0">
              <a:buNone/>
            </a:pPr>
            <a:r>
              <a:rPr lang="en-US" sz="1050" dirty="0">
                <a:solidFill>
                  <a:srgbClr val="CDDDF7"/>
                </a:solidFill>
                <a:latin typeface="Calibri" pitchFamily="34" charset="0"/>
                <a:ea typeface="Calibri" pitchFamily="34" charset="-122"/>
                <a:cs typeface="Calibri" pitchFamily="34" charset="-120"/>
              </a:rPr>
              <a:t>OEM-deployable, certified, interoperable Ethernet nodes</a:t>
            </a:r>
            <a:endParaRPr lang="en-US" sz="1050" dirty="0"/>
          </a:p>
        </p:txBody>
      </p:sp>
      <p:sp>
        <p:nvSpPr>
          <p:cNvPr id="16" name="Shape 12"/>
          <p:cNvSpPr/>
          <p:nvPr/>
        </p:nvSpPr>
        <p:spPr>
          <a:xfrm>
            <a:off x="4462272" y="1188720"/>
            <a:ext cx="4370832" cy="585216"/>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17" name="Text 13"/>
          <p:cNvSpPr/>
          <p:nvPr/>
        </p:nvSpPr>
        <p:spPr>
          <a:xfrm>
            <a:off x="4590288" y="1271016"/>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Multi-speed specs</a:t>
            </a:r>
            <a:endParaRPr lang="en-US" sz="1250" dirty="0"/>
          </a:p>
        </p:txBody>
      </p:sp>
      <p:sp>
        <p:nvSpPr>
          <p:cNvPr id="18" name="Text 14"/>
          <p:cNvSpPr/>
          <p:nvPr/>
        </p:nvSpPr>
        <p:spPr>
          <a:xfrm>
            <a:off x="4590288" y="1572768"/>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Covers 10BASE-T1S, 100BASE-T1, 1000BASE-T1 — all automotive speed grades</a:t>
            </a:r>
            <a:endParaRPr lang="en-US" sz="1100" dirty="0"/>
          </a:p>
        </p:txBody>
      </p:sp>
      <p:sp>
        <p:nvSpPr>
          <p:cNvPr id="19" name="Shape 15"/>
          <p:cNvSpPr/>
          <p:nvPr/>
        </p:nvSpPr>
        <p:spPr>
          <a:xfrm>
            <a:off x="4462272" y="1847088"/>
            <a:ext cx="4370832" cy="585216"/>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0" name="Text 16"/>
          <p:cNvSpPr/>
          <p:nvPr/>
        </p:nvSpPr>
        <p:spPr>
          <a:xfrm>
            <a:off x="4590288" y="1929384"/>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Implementation specs</a:t>
            </a:r>
            <a:endParaRPr lang="en-US" sz="1250" dirty="0"/>
          </a:p>
        </p:txBody>
      </p:sp>
      <p:sp>
        <p:nvSpPr>
          <p:cNvPr id="21" name="Text 17"/>
          <p:cNvSpPr/>
          <p:nvPr/>
        </p:nvSpPr>
        <p:spPr>
          <a:xfrm>
            <a:off x="4590288" y="2231136"/>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Turn abstract IEEE requirements into concrete automotive design guidance</a:t>
            </a:r>
            <a:endParaRPr lang="en-US" sz="1100" dirty="0"/>
          </a:p>
        </p:txBody>
      </p:sp>
      <p:sp>
        <p:nvSpPr>
          <p:cNvPr id="22" name="Shape 18"/>
          <p:cNvSpPr/>
          <p:nvPr/>
        </p:nvSpPr>
        <p:spPr>
          <a:xfrm>
            <a:off x="4462272" y="2505456"/>
            <a:ext cx="4370832" cy="585216"/>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3" name="Text 19"/>
          <p:cNvSpPr/>
          <p:nvPr/>
        </p:nvSpPr>
        <p:spPr>
          <a:xfrm>
            <a:off x="4590288" y="2587752"/>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Conformance testing</a:t>
            </a:r>
            <a:endParaRPr lang="en-US" sz="1250" dirty="0"/>
          </a:p>
        </p:txBody>
      </p:sp>
      <p:sp>
        <p:nvSpPr>
          <p:cNvPr id="24" name="Text 20"/>
          <p:cNvSpPr/>
          <p:nvPr/>
        </p:nvSpPr>
        <p:spPr>
          <a:xfrm>
            <a:off x="4590288" y="2889504"/>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TC14 compliance specs: labs can certify 'this PHY meets the automotive profile'</a:t>
            </a:r>
            <a:endParaRPr lang="en-US" sz="1100" dirty="0"/>
          </a:p>
        </p:txBody>
      </p:sp>
      <p:sp>
        <p:nvSpPr>
          <p:cNvPr id="25" name="Shape 21"/>
          <p:cNvSpPr/>
          <p:nvPr/>
        </p:nvSpPr>
        <p:spPr>
          <a:xfrm>
            <a:off x="4462272" y="3163824"/>
            <a:ext cx="4370832" cy="585216"/>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6" name="Text 22"/>
          <p:cNvSpPr/>
          <p:nvPr/>
        </p:nvSpPr>
        <p:spPr>
          <a:xfrm>
            <a:off x="4590288" y="3246120"/>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Interoperability</a:t>
            </a:r>
            <a:endParaRPr lang="en-US" sz="1250" dirty="0"/>
          </a:p>
        </p:txBody>
      </p:sp>
      <p:sp>
        <p:nvSpPr>
          <p:cNvPr id="27" name="Text 23"/>
          <p:cNvSpPr/>
          <p:nvPr/>
        </p:nvSpPr>
        <p:spPr>
          <a:xfrm>
            <a:off x="4590288" y="3547872"/>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Interop events test multi-vendor coexistence on the same physical bus</a:t>
            </a:r>
            <a:endParaRPr lang="en-US" sz="1100" dirty="0"/>
          </a:p>
        </p:txBody>
      </p:sp>
      <p:sp>
        <p:nvSpPr>
          <p:cNvPr id="28" name="Shape 24"/>
          <p:cNvSpPr/>
          <p:nvPr/>
        </p:nvSpPr>
        <p:spPr>
          <a:xfrm>
            <a:off x="4462272" y="3822192"/>
            <a:ext cx="4370832" cy="585216"/>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9" name="Text 25"/>
          <p:cNvSpPr/>
          <p:nvPr/>
        </p:nvSpPr>
        <p:spPr>
          <a:xfrm>
            <a:off x="4590288" y="3904488"/>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Sleep/wake specs</a:t>
            </a:r>
            <a:endParaRPr lang="en-US" sz="1250" dirty="0"/>
          </a:p>
        </p:txBody>
      </p:sp>
      <p:sp>
        <p:nvSpPr>
          <p:cNvPr id="30" name="Text 26"/>
          <p:cNvSpPr/>
          <p:nvPr/>
        </p:nvSpPr>
        <p:spPr>
          <a:xfrm>
            <a:off x="4590288" y="4206240"/>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TC10: how automotive PHYs enter and exit low-power states</a:t>
            </a:r>
            <a:endParaRPr lang="en-US" sz="1100" dirty="0"/>
          </a:p>
        </p:txBody>
      </p:sp>
      <p:sp>
        <p:nvSpPr>
          <p:cNvPr id="31" name="Shape 27"/>
          <p:cNvSpPr/>
          <p:nvPr/>
        </p:nvSpPr>
        <p:spPr>
          <a:xfrm>
            <a:off x="4462272" y="4480560"/>
            <a:ext cx="4370832" cy="585216"/>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2" name="Text 28"/>
          <p:cNvSpPr/>
          <p:nvPr/>
        </p:nvSpPr>
        <p:spPr>
          <a:xfrm>
            <a:off x="4590288" y="4562856"/>
            <a:ext cx="4114800"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Joint working groups</a:t>
            </a:r>
            <a:endParaRPr lang="en-US" sz="1250" dirty="0"/>
          </a:p>
        </p:txBody>
      </p:sp>
      <p:sp>
        <p:nvSpPr>
          <p:cNvPr id="33" name="Text 29"/>
          <p:cNvSpPr/>
          <p:nvPr/>
        </p:nvSpPr>
        <p:spPr>
          <a:xfrm>
            <a:off x="4590288" y="4864608"/>
            <a:ext cx="4114800" cy="109728"/>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TC10/TC14 joint WG: 10BASE-T1S sleep/wake on a multidrop bus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6</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TC10 — Sleep and Wake-Up</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Automotive PHY power management · Partial networking · Fast deterministic wake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TC10 — Sleep / Wake-Up Specification</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Unlike an office switch, an automotive Ethernet node must sleep, wake on demand, and support partial networking</a:t>
            </a:r>
            <a:endParaRPr lang="en-US" sz="1250" dirty="0"/>
          </a:p>
        </p:txBody>
      </p:sp>
      <p:sp>
        <p:nvSpPr>
          <p:cNvPr id="5" name="Shape 3"/>
          <p:cNvSpPr/>
          <p:nvPr/>
        </p:nvSpPr>
        <p:spPr>
          <a:xfrm>
            <a:off x="365760" y="1325880"/>
            <a:ext cx="1828800" cy="868680"/>
          </a:xfrm>
          <a:prstGeom prst="rect">
            <a:avLst/>
          </a:prstGeom>
          <a:solidFill>
            <a:srgbClr val="0D9488"/>
          </a:solidFill>
          <a:ln w="12700">
            <a:solidFill>
              <a:srgbClr val="0D9488"/>
            </a:solidFill>
            <a:prstDash val="solid"/>
          </a:ln>
          <a:effectLst>
            <a:outerShdw sx="100000" sy="100000" kx="0" ky="0" algn="bl" rotWithShape="0" blurRad="63500" dist="25400" dir="8100000">
              <a:srgbClr val="000000">
                <a:alpha val="15000"/>
              </a:srgbClr>
            </a:outerShdw>
          </a:effectLst>
        </p:spPr>
      </p:sp>
      <p:sp>
        <p:nvSpPr>
          <p:cNvPr id="6" name="Text 4"/>
          <p:cNvSpPr/>
          <p:nvPr/>
        </p:nvSpPr>
        <p:spPr>
          <a:xfrm>
            <a:off x="365760" y="132588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ACTIVE</a:t>
            </a:r>
            <a:endParaRPr lang="en-US" sz="1400" dirty="0"/>
          </a:p>
        </p:txBody>
      </p:sp>
      <p:sp>
        <p:nvSpPr>
          <p:cNvPr id="7" name="Text 5"/>
          <p:cNvSpPr/>
          <p:nvPr/>
        </p:nvSpPr>
        <p:spPr>
          <a:xfrm>
            <a:off x="365760" y="1783080"/>
            <a:ext cx="1828800" cy="38404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Full operational</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Ethernet link</a:t>
            </a:r>
            <a:endParaRPr lang="en-US" sz="1000" dirty="0"/>
          </a:p>
        </p:txBody>
      </p:sp>
      <p:sp>
        <p:nvSpPr>
          <p:cNvPr id="8" name="Shape 6"/>
          <p:cNvSpPr/>
          <p:nvPr/>
        </p:nvSpPr>
        <p:spPr>
          <a:xfrm>
            <a:off x="365760" y="2697480"/>
            <a:ext cx="1828800" cy="868680"/>
          </a:xfrm>
          <a:prstGeom prst="rect">
            <a:avLst/>
          </a:prstGeom>
          <a:solidFill>
            <a:srgbClr val="7C3AED"/>
          </a:solidFill>
          <a:ln w="12700">
            <a:solidFill>
              <a:srgbClr val="7C3AED"/>
            </a:solidFill>
            <a:prstDash val="solid"/>
          </a:ln>
          <a:effectLst>
            <a:outerShdw sx="100000" sy="100000" kx="0" ky="0" algn="bl" rotWithShape="0" blurRad="63500" dist="25400" dir="8100000">
              <a:srgbClr val="000000">
                <a:alpha val="15000"/>
              </a:srgbClr>
            </a:outerShdw>
          </a:effectLst>
        </p:spPr>
      </p:sp>
      <p:sp>
        <p:nvSpPr>
          <p:cNvPr id="9" name="Text 7"/>
          <p:cNvSpPr/>
          <p:nvPr/>
        </p:nvSpPr>
        <p:spPr>
          <a:xfrm>
            <a:off x="365760" y="269748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STANDBY</a:t>
            </a:r>
            <a:endParaRPr lang="en-US" sz="1400" dirty="0"/>
          </a:p>
        </p:txBody>
      </p:sp>
      <p:sp>
        <p:nvSpPr>
          <p:cNvPr id="10" name="Text 8"/>
          <p:cNvSpPr/>
          <p:nvPr/>
        </p:nvSpPr>
        <p:spPr>
          <a:xfrm>
            <a:off x="365760" y="3154680"/>
            <a:ext cx="1828800" cy="38404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Reduced power</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wake-capable</a:t>
            </a:r>
            <a:endParaRPr lang="en-US" sz="1000" dirty="0"/>
          </a:p>
        </p:txBody>
      </p:sp>
      <p:sp>
        <p:nvSpPr>
          <p:cNvPr id="11" name="Shape 9"/>
          <p:cNvSpPr/>
          <p:nvPr/>
        </p:nvSpPr>
        <p:spPr>
          <a:xfrm>
            <a:off x="3291840" y="1325880"/>
            <a:ext cx="1828800" cy="868680"/>
          </a:xfrm>
          <a:prstGeom prst="rect">
            <a:avLst/>
          </a:prstGeom>
          <a:solidFill>
            <a:srgbClr val="6B7280"/>
          </a:solidFill>
          <a:ln w="12700">
            <a:solidFill>
              <a:srgbClr val="6B7280"/>
            </a:solidFill>
            <a:prstDash val="solid"/>
          </a:ln>
          <a:effectLst>
            <a:outerShdw sx="100000" sy="100000" kx="0" ky="0" algn="bl" rotWithShape="0" blurRad="63500" dist="25400" dir="8100000">
              <a:srgbClr val="000000">
                <a:alpha val="15000"/>
              </a:srgbClr>
            </a:outerShdw>
          </a:effectLst>
        </p:spPr>
      </p:sp>
      <p:sp>
        <p:nvSpPr>
          <p:cNvPr id="12" name="Text 10"/>
          <p:cNvSpPr/>
          <p:nvPr/>
        </p:nvSpPr>
        <p:spPr>
          <a:xfrm>
            <a:off x="3291840" y="132588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SLEEP</a:t>
            </a:r>
            <a:endParaRPr lang="en-US" sz="1400" dirty="0"/>
          </a:p>
        </p:txBody>
      </p:sp>
      <p:sp>
        <p:nvSpPr>
          <p:cNvPr id="13" name="Text 11"/>
          <p:cNvSpPr/>
          <p:nvPr/>
        </p:nvSpPr>
        <p:spPr>
          <a:xfrm>
            <a:off x="3291840" y="1783080"/>
            <a:ext cx="1828800" cy="38404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PHY powered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down</a:t>
            </a:r>
            <a:endParaRPr lang="en-US" sz="1000" dirty="0"/>
          </a:p>
        </p:txBody>
      </p:sp>
      <p:sp>
        <p:nvSpPr>
          <p:cNvPr id="14" name="Shape 12"/>
          <p:cNvSpPr/>
          <p:nvPr/>
        </p:nvSpPr>
        <p:spPr>
          <a:xfrm>
            <a:off x="3291840" y="2697480"/>
            <a:ext cx="1828800" cy="868680"/>
          </a:xfrm>
          <a:prstGeom prst="rect">
            <a:avLst/>
          </a:prstGeom>
          <a:solidFill>
            <a:srgbClr val="F59E0B"/>
          </a:solidFill>
          <a:ln w="12700">
            <a:solidFill>
              <a:srgbClr val="F59E0B"/>
            </a:solidFill>
            <a:prstDash val="solid"/>
          </a:ln>
          <a:effectLst>
            <a:outerShdw sx="100000" sy="100000" kx="0" ky="0" algn="bl" rotWithShape="0" blurRad="63500" dist="25400" dir="8100000">
              <a:srgbClr val="000000">
                <a:alpha val="15000"/>
              </a:srgbClr>
            </a:outerShdw>
          </a:effectLst>
        </p:spPr>
      </p:sp>
      <p:sp>
        <p:nvSpPr>
          <p:cNvPr id="15" name="Text 13"/>
          <p:cNvSpPr/>
          <p:nvPr/>
        </p:nvSpPr>
        <p:spPr>
          <a:xfrm>
            <a:off x="3291840" y="2697480"/>
            <a:ext cx="18288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WAKE</a:t>
            </a:r>
            <a:endParaRPr lang="en-US" sz="1400" dirty="0"/>
          </a:p>
        </p:txBody>
      </p:sp>
      <p:sp>
        <p:nvSpPr>
          <p:cNvPr id="16" name="Text 14"/>
          <p:cNvSpPr/>
          <p:nvPr/>
        </p:nvSpPr>
        <p:spPr>
          <a:xfrm>
            <a:off x="3291840" y="3154680"/>
            <a:ext cx="1828800" cy="38404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Transition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state</a:t>
            </a:r>
            <a:endParaRPr lang="en-US" sz="1000" dirty="0"/>
          </a:p>
        </p:txBody>
      </p:sp>
      <p:sp>
        <p:nvSpPr>
          <p:cNvPr id="17" name="Shape 15"/>
          <p:cNvSpPr/>
          <p:nvPr/>
        </p:nvSpPr>
        <p:spPr>
          <a:xfrm>
            <a:off x="2194560" y="1764792"/>
            <a:ext cx="1097280" cy="0"/>
          </a:xfrm>
          <a:prstGeom prst="line">
            <a:avLst/>
          </a:prstGeom>
          <a:noFill/>
          <a:ln w="19050">
            <a:solidFill>
              <a:srgbClr val="6B7280"/>
            </a:solidFill>
            <a:prstDash val="solid"/>
          </a:ln>
        </p:spPr>
      </p:sp>
      <p:sp>
        <p:nvSpPr>
          <p:cNvPr id="18" name="Shape 16"/>
          <p:cNvSpPr/>
          <p:nvPr/>
        </p:nvSpPr>
        <p:spPr>
          <a:xfrm>
            <a:off x="2194560" y="3136392"/>
            <a:ext cx="1097280" cy="0"/>
          </a:xfrm>
          <a:prstGeom prst="line">
            <a:avLst/>
          </a:prstGeom>
          <a:noFill/>
          <a:ln w="19050">
            <a:solidFill>
              <a:srgbClr val="6B7280"/>
            </a:solidFill>
            <a:prstDash val="solid"/>
          </a:ln>
        </p:spPr>
      </p:sp>
      <p:sp>
        <p:nvSpPr>
          <p:cNvPr id="19" name="Shape 17"/>
          <p:cNvSpPr/>
          <p:nvPr/>
        </p:nvSpPr>
        <p:spPr>
          <a:xfrm>
            <a:off x="1280160" y="2194560"/>
            <a:ext cx="0" cy="502920"/>
          </a:xfrm>
          <a:prstGeom prst="line">
            <a:avLst/>
          </a:prstGeom>
          <a:noFill/>
          <a:ln w="19050">
            <a:solidFill>
              <a:srgbClr val="6B7280"/>
            </a:solidFill>
            <a:prstDash val="solid"/>
          </a:ln>
        </p:spPr>
      </p:sp>
      <p:sp>
        <p:nvSpPr>
          <p:cNvPr id="20" name="Shape 18"/>
          <p:cNvSpPr/>
          <p:nvPr/>
        </p:nvSpPr>
        <p:spPr>
          <a:xfrm>
            <a:off x="4206240" y="2194560"/>
            <a:ext cx="0" cy="502920"/>
          </a:xfrm>
          <a:prstGeom prst="line">
            <a:avLst/>
          </a:prstGeom>
          <a:noFill/>
          <a:ln w="19050">
            <a:solidFill>
              <a:srgbClr val="6B7280"/>
            </a:solidFill>
            <a:prstDash val="solid"/>
          </a:ln>
        </p:spPr>
      </p:sp>
      <p:sp>
        <p:nvSpPr>
          <p:cNvPr id="21" name="Text 19"/>
          <p:cNvSpPr/>
          <p:nvPr/>
        </p:nvSpPr>
        <p:spPr>
          <a:xfrm>
            <a:off x="2194560" y="1609344"/>
            <a:ext cx="1097280" cy="182880"/>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sleep cmd</a:t>
            </a:r>
            <a:endParaRPr lang="en-US" sz="900" dirty="0"/>
          </a:p>
        </p:txBody>
      </p:sp>
      <p:sp>
        <p:nvSpPr>
          <p:cNvPr id="22" name="Text 20"/>
          <p:cNvSpPr/>
          <p:nvPr/>
        </p:nvSpPr>
        <p:spPr>
          <a:xfrm>
            <a:off x="2194560" y="2980944"/>
            <a:ext cx="1097280" cy="182880"/>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wake cmd</a:t>
            </a:r>
            <a:endParaRPr lang="en-US" sz="900" dirty="0"/>
          </a:p>
        </p:txBody>
      </p:sp>
      <p:sp>
        <p:nvSpPr>
          <p:cNvPr id="23" name="Shape 21"/>
          <p:cNvSpPr/>
          <p:nvPr/>
        </p:nvSpPr>
        <p:spPr>
          <a:xfrm>
            <a:off x="5559552" y="1325880"/>
            <a:ext cx="3273552" cy="685800"/>
          </a:xfrm>
          <a:prstGeom prst="rect">
            <a:avLst/>
          </a:prstGeom>
          <a:solidFill>
            <a:srgbClr val="EEF2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4" name="Text 22"/>
          <p:cNvSpPr/>
          <p:nvPr/>
        </p:nvSpPr>
        <p:spPr>
          <a:xfrm>
            <a:off x="5687568" y="1408176"/>
            <a:ext cx="301752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xMII family compatible</a:t>
            </a:r>
            <a:endParaRPr lang="en-US" sz="1250" dirty="0"/>
          </a:p>
        </p:txBody>
      </p:sp>
      <p:sp>
        <p:nvSpPr>
          <p:cNvPr id="25" name="Text 23"/>
          <p:cNvSpPr/>
          <p:nvPr/>
        </p:nvSpPr>
        <p:spPr>
          <a:xfrm>
            <a:off x="5687568" y="1709928"/>
            <a:ext cx="3017520"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Works across MII, RMII, RGMII, SGMII — no proprietary side-channels needed</a:t>
            </a:r>
            <a:endParaRPr lang="en-US" sz="1100" dirty="0"/>
          </a:p>
        </p:txBody>
      </p:sp>
      <p:sp>
        <p:nvSpPr>
          <p:cNvPr id="26" name="Shape 24"/>
          <p:cNvSpPr/>
          <p:nvPr/>
        </p:nvSpPr>
        <p:spPr>
          <a:xfrm>
            <a:off x="5559552" y="2084832"/>
            <a:ext cx="3273552" cy="685800"/>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27" name="Text 25"/>
          <p:cNvSpPr/>
          <p:nvPr/>
        </p:nvSpPr>
        <p:spPr>
          <a:xfrm>
            <a:off x="5687568" y="2167128"/>
            <a:ext cx="301752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Multi-speed support</a:t>
            </a:r>
            <a:endParaRPr lang="en-US" sz="1250" dirty="0"/>
          </a:p>
        </p:txBody>
      </p:sp>
      <p:sp>
        <p:nvSpPr>
          <p:cNvPr id="28" name="Text 26"/>
          <p:cNvSpPr/>
          <p:nvPr/>
        </p:nvSpPr>
        <p:spPr>
          <a:xfrm>
            <a:off x="5687568" y="2468880"/>
            <a:ext cx="3017520"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Covers 10BASE-T1S, 100BASE-T1, 1000BASE-T1 across all automotive speeds</a:t>
            </a:r>
            <a:endParaRPr lang="en-US" sz="1100" dirty="0"/>
          </a:p>
        </p:txBody>
      </p:sp>
      <p:sp>
        <p:nvSpPr>
          <p:cNvPr id="29" name="Shape 27"/>
          <p:cNvSpPr/>
          <p:nvPr/>
        </p:nvSpPr>
        <p:spPr>
          <a:xfrm>
            <a:off x="5559552" y="2843784"/>
            <a:ext cx="3273552" cy="685800"/>
          </a:xfrm>
          <a:prstGeom prst="rect">
            <a:avLst/>
          </a:prstGeom>
          <a:solidFill>
            <a:srgbClr val="EEF2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0" name="Text 28"/>
          <p:cNvSpPr/>
          <p:nvPr/>
        </p:nvSpPr>
        <p:spPr>
          <a:xfrm>
            <a:off x="5687568" y="2926080"/>
            <a:ext cx="301752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Partial networking</a:t>
            </a:r>
            <a:endParaRPr lang="en-US" sz="1250" dirty="0"/>
          </a:p>
        </p:txBody>
      </p:sp>
      <p:sp>
        <p:nvSpPr>
          <p:cNvPr id="31" name="Text 29"/>
          <p:cNvSpPr/>
          <p:nvPr/>
        </p:nvSpPr>
        <p:spPr>
          <a:xfrm>
            <a:off x="5687568" y="3227832"/>
            <a:ext cx="3017520"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Individual links sleep while others remain active — not all-on or all-off</a:t>
            </a:r>
            <a:endParaRPr lang="en-US" sz="1100" dirty="0"/>
          </a:p>
        </p:txBody>
      </p:sp>
      <p:sp>
        <p:nvSpPr>
          <p:cNvPr id="32" name="Shape 30"/>
          <p:cNvSpPr/>
          <p:nvPr/>
        </p:nvSpPr>
        <p:spPr>
          <a:xfrm>
            <a:off x="5559552" y="3602736"/>
            <a:ext cx="3273552" cy="685800"/>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3" name="Text 31"/>
          <p:cNvSpPr/>
          <p:nvPr/>
        </p:nvSpPr>
        <p:spPr>
          <a:xfrm>
            <a:off x="5687568" y="3685032"/>
            <a:ext cx="301752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Fast deterministic wake</a:t>
            </a:r>
            <a:endParaRPr lang="en-US" sz="1250" dirty="0"/>
          </a:p>
        </p:txBody>
      </p:sp>
      <p:sp>
        <p:nvSpPr>
          <p:cNvPr id="34" name="Text 32"/>
          <p:cNvSpPr/>
          <p:nvPr/>
        </p:nvSpPr>
        <p:spPr>
          <a:xfrm>
            <a:off x="5687568" y="3986784"/>
            <a:ext cx="3017520"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Network must be operational within the vehicle wake-sequence time budget</a:t>
            </a:r>
            <a:endParaRPr lang="en-US" sz="1100" dirty="0"/>
          </a:p>
        </p:txBody>
      </p:sp>
      <p:sp>
        <p:nvSpPr>
          <p:cNvPr id="35" name="Shape 33"/>
          <p:cNvSpPr/>
          <p:nvPr/>
        </p:nvSpPr>
        <p:spPr>
          <a:xfrm>
            <a:off x="5559552" y="4361688"/>
            <a:ext cx="3273552" cy="685800"/>
          </a:xfrm>
          <a:prstGeom prst="rect">
            <a:avLst/>
          </a:prstGeom>
          <a:solidFill>
            <a:srgbClr val="EEF2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6" name="Text 34"/>
          <p:cNvSpPr/>
          <p:nvPr/>
        </p:nvSpPr>
        <p:spPr>
          <a:xfrm>
            <a:off x="5687568" y="4443984"/>
            <a:ext cx="301752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Active standardisation</a:t>
            </a:r>
            <a:endParaRPr lang="en-US" sz="1250" dirty="0"/>
          </a:p>
        </p:txBody>
      </p:sp>
      <p:sp>
        <p:nvSpPr>
          <p:cNvPr id="37" name="Text 35"/>
          <p:cNvSpPr/>
          <p:nvPr/>
        </p:nvSpPr>
        <p:spPr>
          <a:xfrm>
            <a:off x="5687568" y="4745736"/>
            <a:ext cx="3017520"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Updated TC10 electrical interface spec published 2025 — still evolving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274320" y="182880"/>
            <a:ext cx="1828800" cy="3200400"/>
          </a:xfrm>
          <a:prstGeom prst="rect">
            <a:avLst/>
          </a:prstGeom>
          <a:noFill/>
          <a:ln/>
        </p:spPr>
        <p:txBody>
          <a:bodyPr wrap="square" rtlCol="0" anchor="t"/>
          <a:lstStyle/>
          <a:p>
            <a:pPr algn="l" indent="0" marL="0">
              <a:buNone/>
            </a:pPr>
            <a:r>
              <a:rPr lang="en-US" sz="13000" b="1" dirty="0">
                <a:solidFill>
                  <a:srgbClr val="162B6E"/>
                </a:solidFill>
                <a:latin typeface="Calibri" pitchFamily="34" charset="0"/>
                <a:ea typeface="Calibri" pitchFamily="34" charset="-122"/>
                <a:cs typeface="Calibri" pitchFamily="34" charset="-120"/>
              </a:rPr>
              <a:t>7</a:t>
            </a:r>
            <a:endParaRPr lang="en-US" sz="13000" dirty="0"/>
          </a:p>
        </p:txBody>
      </p:sp>
      <p:sp>
        <p:nvSpPr>
          <p:cNvPr id="3" name="Text 1"/>
          <p:cNvSpPr/>
          <p:nvPr/>
        </p:nvSpPr>
        <p:spPr>
          <a:xfrm>
            <a:off x="502920" y="1920240"/>
            <a:ext cx="8229600" cy="100584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TC14 — 10BASE-T1S in Automotive</a:t>
            </a:r>
            <a:endParaRPr lang="en-US" sz="3800" dirty="0"/>
          </a:p>
        </p:txBody>
      </p:sp>
      <p:sp>
        <p:nvSpPr>
          <p:cNvPr id="4" name="Text 2"/>
          <p:cNvSpPr/>
          <p:nvPr/>
        </p:nvSpPr>
        <p:spPr>
          <a:xfrm>
            <a:off x="502920" y="2926080"/>
            <a:ext cx="8229600" cy="502920"/>
          </a:xfrm>
          <a:prstGeom prst="rect">
            <a:avLst/>
          </a:prstGeom>
          <a:noFill/>
          <a:ln/>
        </p:spPr>
        <p:txBody>
          <a:bodyPr wrap="square" rtlCol="0" anchor="ctr"/>
          <a:lstStyle/>
          <a:p>
            <a:pPr algn="l" indent="0" marL="0">
              <a:buNone/>
            </a:pPr>
            <a:r>
              <a:rPr lang="en-US" sz="1500" dirty="0">
                <a:solidFill>
                  <a:srgbClr val="CADCFC"/>
                </a:solidFill>
                <a:latin typeface="Calibri" pitchFamily="34" charset="0"/>
                <a:ea typeface="Calibri" pitchFamily="34" charset="-122"/>
                <a:cs typeface="Calibri" pitchFamily="34" charset="-120"/>
              </a:rPr>
              <a:t>Multidrop · PLCA · Conformance testing · Interoperability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TC14 — 10BASE-T1S Automotive Enablement</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10BASE-T1S is not just another PHY — it is a multidrop bus replacing CAN in low-bandwidth in-vehicle networks</a:t>
            </a:r>
            <a:endParaRPr lang="en-US" sz="1250" dirty="0"/>
          </a:p>
        </p:txBody>
      </p:sp>
      <p:sp>
        <p:nvSpPr>
          <p:cNvPr id="5" name="Shape 3"/>
          <p:cNvSpPr/>
          <p:nvPr/>
        </p:nvSpPr>
        <p:spPr>
          <a:xfrm>
            <a:off x="201168" y="1115568"/>
            <a:ext cx="5074920" cy="548640"/>
          </a:xfrm>
          <a:prstGeom prst="rect">
            <a:avLst/>
          </a:prstGeom>
          <a:solidFill>
            <a:srgbClr val="EEF2FF"/>
          </a:solidFill>
          <a:ln w="6350">
            <a:solidFill>
              <a:srgbClr val="E0E7FF"/>
            </a:solidFill>
            <a:prstDash val="solid"/>
          </a:ln>
        </p:spPr>
      </p:sp>
      <p:sp>
        <p:nvSpPr>
          <p:cNvPr id="6" name="Shape 4"/>
          <p:cNvSpPr/>
          <p:nvPr/>
        </p:nvSpPr>
        <p:spPr>
          <a:xfrm>
            <a:off x="201168" y="1115568"/>
            <a:ext cx="1207008" cy="548640"/>
          </a:xfrm>
          <a:prstGeom prst="rect">
            <a:avLst/>
          </a:prstGeom>
          <a:solidFill>
            <a:srgbClr val="1E2761"/>
          </a:solidFill>
          <a:ln w="12700">
            <a:solidFill>
              <a:srgbClr val="1E2761"/>
            </a:solidFill>
            <a:prstDash val="solid"/>
          </a:ln>
        </p:spPr>
      </p:sp>
      <p:sp>
        <p:nvSpPr>
          <p:cNvPr id="7" name="Text 5"/>
          <p:cNvSpPr/>
          <p:nvPr/>
        </p:nvSpPr>
        <p:spPr>
          <a:xfrm>
            <a:off x="201168" y="1115568"/>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Topology</a:t>
            </a:r>
            <a:endParaRPr lang="en-US" sz="1150" dirty="0"/>
          </a:p>
        </p:txBody>
      </p:sp>
      <p:sp>
        <p:nvSpPr>
          <p:cNvPr id="8" name="Text 6"/>
          <p:cNvSpPr/>
          <p:nvPr/>
        </p:nvSpPr>
        <p:spPr>
          <a:xfrm>
            <a:off x="1463040" y="1170432"/>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Multidrop — up to 8 nodes share one bus segment without a switch</a:t>
            </a:r>
            <a:endParaRPr lang="en-US" sz="1100" dirty="0"/>
          </a:p>
        </p:txBody>
      </p:sp>
      <p:sp>
        <p:nvSpPr>
          <p:cNvPr id="9" name="Shape 7"/>
          <p:cNvSpPr/>
          <p:nvPr/>
        </p:nvSpPr>
        <p:spPr>
          <a:xfrm>
            <a:off x="201168" y="1728216"/>
            <a:ext cx="5074920" cy="548640"/>
          </a:xfrm>
          <a:prstGeom prst="rect">
            <a:avLst/>
          </a:prstGeom>
          <a:solidFill>
            <a:srgbClr val="F8FAFF"/>
          </a:solidFill>
          <a:ln w="6350">
            <a:solidFill>
              <a:srgbClr val="E0E7FF"/>
            </a:solidFill>
            <a:prstDash val="solid"/>
          </a:ln>
        </p:spPr>
      </p:sp>
      <p:sp>
        <p:nvSpPr>
          <p:cNvPr id="10" name="Shape 8"/>
          <p:cNvSpPr/>
          <p:nvPr/>
        </p:nvSpPr>
        <p:spPr>
          <a:xfrm>
            <a:off x="201168" y="1728216"/>
            <a:ext cx="1207008" cy="548640"/>
          </a:xfrm>
          <a:prstGeom prst="rect">
            <a:avLst/>
          </a:prstGeom>
          <a:solidFill>
            <a:srgbClr val="1E2761"/>
          </a:solidFill>
          <a:ln w="12700">
            <a:solidFill>
              <a:srgbClr val="1E2761"/>
            </a:solidFill>
            <a:prstDash val="solid"/>
          </a:ln>
        </p:spPr>
      </p:sp>
      <p:sp>
        <p:nvSpPr>
          <p:cNvPr id="11" name="Text 9"/>
          <p:cNvSpPr/>
          <p:nvPr/>
        </p:nvSpPr>
        <p:spPr>
          <a:xfrm>
            <a:off x="201168" y="1728216"/>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Speed</a:t>
            </a:r>
            <a:endParaRPr lang="en-US" sz="1150" dirty="0"/>
          </a:p>
        </p:txBody>
      </p:sp>
      <p:sp>
        <p:nvSpPr>
          <p:cNvPr id="12" name="Text 10"/>
          <p:cNvSpPr/>
          <p:nvPr/>
        </p:nvSpPr>
        <p:spPr>
          <a:xfrm>
            <a:off x="1463040" y="1783080"/>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10 Mbit/s — sufficient for body, sensor, and low-bandwidth control</a:t>
            </a:r>
            <a:endParaRPr lang="en-US" sz="1100" dirty="0"/>
          </a:p>
        </p:txBody>
      </p:sp>
      <p:sp>
        <p:nvSpPr>
          <p:cNvPr id="13" name="Shape 11"/>
          <p:cNvSpPr/>
          <p:nvPr/>
        </p:nvSpPr>
        <p:spPr>
          <a:xfrm>
            <a:off x="201168" y="2340864"/>
            <a:ext cx="5074920" cy="548640"/>
          </a:xfrm>
          <a:prstGeom prst="rect">
            <a:avLst/>
          </a:prstGeom>
          <a:solidFill>
            <a:srgbClr val="EEF2FF"/>
          </a:solidFill>
          <a:ln w="6350">
            <a:solidFill>
              <a:srgbClr val="E0E7FF"/>
            </a:solidFill>
            <a:prstDash val="solid"/>
          </a:ln>
        </p:spPr>
      </p:sp>
      <p:sp>
        <p:nvSpPr>
          <p:cNvPr id="14" name="Shape 12"/>
          <p:cNvSpPr/>
          <p:nvPr/>
        </p:nvSpPr>
        <p:spPr>
          <a:xfrm>
            <a:off x="201168" y="2340864"/>
            <a:ext cx="1207008" cy="548640"/>
          </a:xfrm>
          <a:prstGeom prst="rect">
            <a:avLst/>
          </a:prstGeom>
          <a:solidFill>
            <a:srgbClr val="1E2761"/>
          </a:solidFill>
          <a:ln w="12700">
            <a:solidFill>
              <a:srgbClr val="1E2761"/>
            </a:solidFill>
            <a:prstDash val="solid"/>
          </a:ln>
        </p:spPr>
      </p:sp>
      <p:sp>
        <p:nvSpPr>
          <p:cNvPr id="15" name="Text 13"/>
          <p:cNvSpPr/>
          <p:nvPr/>
        </p:nvSpPr>
        <p:spPr>
          <a:xfrm>
            <a:off x="201168" y="2340864"/>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Media access</a:t>
            </a:r>
            <a:endParaRPr lang="en-US" sz="1150" dirty="0"/>
          </a:p>
        </p:txBody>
      </p:sp>
      <p:sp>
        <p:nvSpPr>
          <p:cNvPr id="16" name="Text 14"/>
          <p:cNvSpPr/>
          <p:nvPr/>
        </p:nvSpPr>
        <p:spPr>
          <a:xfrm>
            <a:off x="1463040" y="2395728"/>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PLCA (Physical Layer Collision Avoidance) — deterministic round-robin</a:t>
            </a:r>
            <a:endParaRPr lang="en-US" sz="1100" dirty="0"/>
          </a:p>
        </p:txBody>
      </p:sp>
      <p:sp>
        <p:nvSpPr>
          <p:cNvPr id="17" name="Shape 15"/>
          <p:cNvSpPr/>
          <p:nvPr/>
        </p:nvSpPr>
        <p:spPr>
          <a:xfrm>
            <a:off x="201168" y="2953512"/>
            <a:ext cx="5074920" cy="548640"/>
          </a:xfrm>
          <a:prstGeom prst="rect">
            <a:avLst/>
          </a:prstGeom>
          <a:solidFill>
            <a:srgbClr val="F8FAFF"/>
          </a:solidFill>
          <a:ln w="6350">
            <a:solidFill>
              <a:srgbClr val="E0E7FF"/>
            </a:solidFill>
            <a:prstDash val="solid"/>
          </a:ln>
        </p:spPr>
      </p:sp>
      <p:sp>
        <p:nvSpPr>
          <p:cNvPr id="18" name="Shape 16"/>
          <p:cNvSpPr/>
          <p:nvPr/>
        </p:nvSpPr>
        <p:spPr>
          <a:xfrm>
            <a:off x="201168" y="2953512"/>
            <a:ext cx="1207008" cy="548640"/>
          </a:xfrm>
          <a:prstGeom prst="rect">
            <a:avLst/>
          </a:prstGeom>
          <a:solidFill>
            <a:srgbClr val="1E2761"/>
          </a:solidFill>
          <a:ln w="12700">
            <a:solidFill>
              <a:srgbClr val="1E2761"/>
            </a:solidFill>
            <a:prstDash val="solid"/>
          </a:ln>
        </p:spPr>
      </p:sp>
      <p:sp>
        <p:nvSpPr>
          <p:cNvPr id="19" name="Text 17"/>
          <p:cNvSpPr/>
          <p:nvPr/>
        </p:nvSpPr>
        <p:spPr>
          <a:xfrm>
            <a:off x="201168" y="2953512"/>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Cable</a:t>
            </a:r>
            <a:endParaRPr lang="en-US" sz="1150" dirty="0"/>
          </a:p>
        </p:txBody>
      </p:sp>
      <p:sp>
        <p:nvSpPr>
          <p:cNvPr id="20" name="Text 18"/>
          <p:cNvSpPr/>
          <p:nvPr/>
        </p:nvSpPr>
        <p:spPr>
          <a:xfrm>
            <a:off x="1463040" y="3008376"/>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Unshielded single twisted pair — halves wiring cost vs point-to-point</a:t>
            </a:r>
            <a:endParaRPr lang="en-US" sz="1100" dirty="0"/>
          </a:p>
        </p:txBody>
      </p:sp>
      <p:sp>
        <p:nvSpPr>
          <p:cNvPr id="21" name="Shape 19"/>
          <p:cNvSpPr/>
          <p:nvPr/>
        </p:nvSpPr>
        <p:spPr>
          <a:xfrm>
            <a:off x="201168" y="3566160"/>
            <a:ext cx="5074920" cy="548640"/>
          </a:xfrm>
          <a:prstGeom prst="rect">
            <a:avLst/>
          </a:prstGeom>
          <a:solidFill>
            <a:srgbClr val="EEF2FF"/>
          </a:solidFill>
          <a:ln w="6350">
            <a:solidFill>
              <a:srgbClr val="E0E7FF"/>
            </a:solidFill>
            <a:prstDash val="solid"/>
          </a:ln>
        </p:spPr>
      </p:sp>
      <p:sp>
        <p:nvSpPr>
          <p:cNvPr id="22" name="Shape 20"/>
          <p:cNvSpPr/>
          <p:nvPr/>
        </p:nvSpPr>
        <p:spPr>
          <a:xfrm>
            <a:off x="201168" y="3566160"/>
            <a:ext cx="1207008" cy="548640"/>
          </a:xfrm>
          <a:prstGeom prst="rect">
            <a:avLst/>
          </a:prstGeom>
          <a:solidFill>
            <a:srgbClr val="1E2761"/>
          </a:solidFill>
          <a:ln w="12700">
            <a:solidFill>
              <a:srgbClr val="1E2761"/>
            </a:solidFill>
            <a:prstDash val="solid"/>
          </a:ln>
        </p:spPr>
      </p:sp>
      <p:sp>
        <p:nvSpPr>
          <p:cNvPr id="23" name="Text 21"/>
          <p:cNvSpPr/>
          <p:nvPr/>
        </p:nvSpPr>
        <p:spPr>
          <a:xfrm>
            <a:off x="201168" y="3566160"/>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Power</a:t>
            </a:r>
            <a:endParaRPr lang="en-US" sz="1150" dirty="0"/>
          </a:p>
        </p:txBody>
      </p:sp>
      <p:sp>
        <p:nvSpPr>
          <p:cNvPr id="24" name="Text 22"/>
          <p:cNvSpPr/>
          <p:nvPr/>
        </p:nvSpPr>
        <p:spPr>
          <a:xfrm>
            <a:off x="1463040" y="3621024"/>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Optional PoDL (Power over Data Line) — sensor powering on the same pair</a:t>
            </a:r>
            <a:endParaRPr lang="en-US" sz="1100" dirty="0"/>
          </a:p>
        </p:txBody>
      </p:sp>
      <p:sp>
        <p:nvSpPr>
          <p:cNvPr id="25" name="Shape 23"/>
          <p:cNvSpPr/>
          <p:nvPr/>
        </p:nvSpPr>
        <p:spPr>
          <a:xfrm>
            <a:off x="201168" y="4178808"/>
            <a:ext cx="5074920" cy="548640"/>
          </a:xfrm>
          <a:prstGeom prst="rect">
            <a:avLst/>
          </a:prstGeom>
          <a:solidFill>
            <a:srgbClr val="F8FAFF"/>
          </a:solidFill>
          <a:ln w="6350">
            <a:solidFill>
              <a:srgbClr val="E0E7FF"/>
            </a:solidFill>
            <a:prstDash val="solid"/>
          </a:ln>
        </p:spPr>
      </p:sp>
      <p:sp>
        <p:nvSpPr>
          <p:cNvPr id="26" name="Shape 24"/>
          <p:cNvSpPr/>
          <p:nvPr/>
        </p:nvSpPr>
        <p:spPr>
          <a:xfrm>
            <a:off x="201168" y="4178808"/>
            <a:ext cx="1207008" cy="548640"/>
          </a:xfrm>
          <a:prstGeom prst="rect">
            <a:avLst/>
          </a:prstGeom>
          <a:solidFill>
            <a:srgbClr val="1E2761"/>
          </a:solidFill>
          <a:ln w="12700">
            <a:solidFill>
              <a:srgbClr val="1E2761"/>
            </a:solidFill>
            <a:prstDash val="solid"/>
          </a:ln>
        </p:spPr>
      </p:sp>
      <p:sp>
        <p:nvSpPr>
          <p:cNvPr id="27" name="Text 25"/>
          <p:cNvSpPr/>
          <p:nvPr/>
        </p:nvSpPr>
        <p:spPr>
          <a:xfrm>
            <a:off x="201168" y="4178808"/>
            <a:ext cx="1207008" cy="5486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Profile</a:t>
            </a:r>
            <a:endParaRPr lang="en-US" sz="1150" dirty="0"/>
          </a:p>
        </p:txBody>
      </p:sp>
      <p:sp>
        <p:nvSpPr>
          <p:cNvPr id="28" name="Text 26"/>
          <p:cNvSpPr/>
          <p:nvPr/>
        </p:nvSpPr>
        <p:spPr>
          <a:xfrm>
            <a:off x="1463040" y="4233672"/>
            <a:ext cx="3639312"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OPEN Alliance TC14: automotive-grade EMC, temperature, compliance testing</a:t>
            </a:r>
            <a:endParaRPr lang="en-US" sz="1100" dirty="0"/>
          </a:p>
        </p:txBody>
      </p:sp>
      <p:sp>
        <p:nvSpPr>
          <p:cNvPr id="29" name="Shape 27"/>
          <p:cNvSpPr/>
          <p:nvPr/>
        </p:nvSpPr>
        <p:spPr>
          <a:xfrm>
            <a:off x="5486400" y="1115568"/>
            <a:ext cx="3346704" cy="685800"/>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0" name="Text 28"/>
          <p:cNvSpPr/>
          <p:nvPr/>
        </p:nvSpPr>
        <p:spPr>
          <a:xfrm>
            <a:off x="5614416" y="1197864"/>
            <a:ext cx="3090672"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System impl spec</a:t>
            </a:r>
            <a:endParaRPr lang="en-US" sz="1250" dirty="0"/>
          </a:p>
        </p:txBody>
      </p:sp>
      <p:sp>
        <p:nvSpPr>
          <p:cNvPr id="31" name="Text 29"/>
          <p:cNvSpPr/>
          <p:nvPr/>
        </p:nvSpPr>
        <p:spPr>
          <a:xfrm>
            <a:off x="5614416" y="1499616"/>
            <a:ext cx="3090672"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Translates abstract IEEE 802.3cg requirements into concrete automotive design rules</a:t>
            </a:r>
            <a:endParaRPr lang="en-US" sz="1100" dirty="0"/>
          </a:p>
        </p:txBody>
      </p:sp>
      <p:sp>
        <p:nvSpPr>
          <p:cNvPr id="32" name="Shape 30"/>
          <p:cNvSpPr/>
          <p:nvPr/>
        </p:nvSpPr>
        <p:spPr>
          <a:xfrm>
            <a:off x="5486400" y="1874520"/>
            <a:ext cx="3346704" cy="685800"/>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3" name="Text 31"/>
          <p:cNvSpPr/>
          <p:nvPr/>
        </p:nvSpPr>
        <p:spPr>
          <a:xfrm>
            <a:off x="5614416" y="1956816"/>
            <a:ext cx="3090672"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Conformance testing</a:t>
            </a:r>
            <a:endParaRPr lang="en-US" sz="1250" dirty="0"/>
          </a:p>
        </p:txBody>
      </p:sp>
      <p:sp>
        <p:nvSpPr>
          <p:cNvPr id="34" name="Text 32"/>
          <p:cNvSpPr/>
          <p:nvPr/>
        </p:nvSpPr>
        <p:spPr>
          <a:xfrm>
            <a:off x="5614416" y="2258568"/>
            <a:ext cx="3090672"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Compliance specs verify PHY characteristics against the automotive profile</a:t>
            </a:r>
            <a:endParaRPr lang="en-US" sz="1100" dirty="0"/>
          </a:p>
        </p:txBody>
      </p:sp>
      <p:sp>
        <p:nvSpPr>
          <p:cNvPr id="35" name="Shape 33"/>
          <p:cNvSpPr/>
          <p:nvPr/>
        </p:nvSpPr>
        <p:spPr>
          <a:xfrm>
            <a:off x="5486400" y="2633472"/>
            <a:ext cx="3346704" cy="685800"/>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6" name="Text 34"/>
          <p:cNvSpPr/>
          <p:nvPr/>
        </p:nvSpPr>
        <p:spPr>
          <a:xfrm>
            <a:off x="5614416" y="2715768"/>
            <a:ext cx="3090672"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Interop events</a:t>
            </a:r>
            <a:endParaRPr lang="en-US" sz="1250" dirty="0"/>
          </a:p>
        </p:txBody>
      </p:sp>
      <p:sp>
        <p:nvSpPr>
          <p:cNvPr id="37" name="Text 35"/>
          <p:cNvSpPr/>
          <p:nvPr/>
        </p:nvSpPr>
        <p:spPr>
          <a:xfrm>
            <a:off x="5614416" y="3017520"/>
            <a:ext cx="3090672"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Regular events test multi-vendor coexistence on the same 10BASE-T1S bus segment</a:t>
            </a:r>
            <a:endParaRPr lang="en-US" sz="1100" dirty="0"/>
          </a:p>
        </p:txBody>
      </p:sp>
      <p:sp>
        <p:nvSpPr>
          <p:cNvPr id="38" name="Shape 36"/>
          <p:cNvSpPr/>
          <p:nvPr/>
        </p:nvSpPr>
        <p:spPr>
          <a:xfrm>
            <a:off x="5486400" y="3392424"/>
            <a:ext cx="3346704" cy="685800"/>
          </a:xfrm>
          <a:prstGeom prst="rect">
            <a:avLst/>
          </a:prstGeom>
          <a:solidFill>
            <a:srgbClr val="F8FAFF"/>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39" name="Text 37"/>
          <p:cNvSpPr/>
          <p:nvPr/>
        </p:nvSpPr>
        <p:spPr>
          <a:xfrm>
            <a:off x="5614416" y="3474720"/>
            <a:ext cx="3090672"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TC10 joint work</a:t>
            </a:r>
            <a:endParaRPr lang="en-US" sz="1250" dirty="0"/>
          </a:p>
        </p:txBody>
      </p:sp>
      <p:sp>
        <p:nvSpPr>
          <p:cNvPr id="40" name="Text 38"/>
          <p:cNvSpPr/>
          <p:nvPr/>
        </p:nvSpPr>
        <p:spPr>
          <a:xfrm>
            <a:off x="5614416" y="3776472"/>
            <a:ext cx="3090672"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TC14/TC10 Joint WG produced the 10BASE-T1S Sleep/Wake specification</a:t>
            </a:r>
            <a:endParaRPr lang="en-US" sz="1100" dirty="0"/>
          </a:p>
        </p:txBody>
      </p:sp>
      <p:sp>
        <p:nvSpPr>
          <p:cNvPr id="41" name="Shape 39"/>
          <p:cNvSpPr/>
          <p:nvPr/>
        </p:nvSpPr>
        <p:spPr>
          <a:xfrm>
            <a:off x="5486400" y="4151376"/>
            <a:ext cx="3346704" cy="685800"/>
          </a:xfrm>
          <a:prstGeom prst="rect">
            <a:avLst/>
          </a:prstGeom>
          <a:solidFill>
            <a:srgbClr val="F0FDFA"/>
          </a:solidFill>
          <a:ln w="6350">
            <a:solidFill>
              <a:srgbClr val="D1D5DB"/>
            </a:solidFill>
            <a:prstDash val="solid"/>
          </a:ln>
          <a:effectLst>
            <a:outerShdw sx="100000" sy="100000" kx="0" ky="0" algn="bl" rotWithShape="0" blurRad="50800" dist="12700" dir="8100000">
              <a:srgbClr val="000000">
                <a:alpha val="8000"/>
              </a:srgbClr>
            </a:outerShdw>
          </a:effectLst>
        </p:spPr>
      </p:sp>
      <p:sp>
        <p:nvSpPr>
          <p:cNvPr id="42" name="Text 40"/>
          <p:cNvSpPr/>
          <p:nvPr/>
        </p:nvSpPr>
        <p:spPr>
          <a:xfrm>
            <a:off x="5614416" y="4233672"/>
            <a:ext cx="3090672" cy="292608"/>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Ecosystem answer</a:t>
            </a:r>
            <a:endParaRPr lang="en-US" sz="1250" dirty="0"/>
          </a:p>
        </p:txBody>
      </p:sp>
      <p:sp>
        <p:nvSpPr>
          <p:cNvPr id="43" name="Text 41"/>
          <p:cNvSpPr/>
          <p:nvPr/>
        </p:nvSpPr>
        <p:spPr>
          <a:xfrm>
            <a:off x="5614416" y="4535424"/>
            <a:ext cx="3090672" cy="210312"/>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TC14 lets industry answer: 'Does this 10BASE-T1S PHY work in an automotive vehicle?'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TC10 and TC14 — A Coordinated Ecosystem</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Real automotive Ethernet standardisation is not isolated documents — it is a coordinated ecosystem</a:t>
            </a:r>
            <a:endParaRPr lang="en-US" sz="1250" dirty="0"/>
          </a:p>
        </p:txBody>
      </p:sp>
      <p:sp>
        <p:nvSpPr>
          <p:cNvPr id="5" name="Shape 3"/>
          <p:cNvSpPr/>
          <p:nvPr/>
        </p:nvSpPr>
        <p:spPr>
          <a:xfrm>
            <a:off x="320040" y="1234440"/>
            <a:ext cx="3977640" cy="3246120"/>
          </a:xfrm>
          <a:prstGeom prst="oval">
            <a:avLst/>
          </a:prstGeom>
          <a:solidFill>
            <a:srgbClr val="DBEAFE">
              <a:alpha val="70000"/>
            </a:srgbClr>
          </a:solidFill>
          <a:ln w="19050">
            <a:solidFill>
              <a:srgbClr val="1E2761"/>
            </a:solidFill>
            <a:prstDash val="solid"/>
          </a:ln>
        </p:spPr>
      </p:sp>
      <p:sp>
        <p:nvSpPr>
          <p:cNvPr id="6" name="Shape 4"/>
          <p:cNvSpPr/>
          <p:nvPr/>
        </p:nvSpPr>
        <p:spPr>
          <a:xfrm>
            <a:off x="2743200" y="1234440"/>
            <a:ext cx="3977640" cy="3246120"/>
          </a:xfrm>
          <a:prstGeom prst="oval">
            <a:avLst/>
          </a:prstGeom>
          <a:solidFill>
            <a:srgbClr val="D1FAE5">
              <a:alpha val="70000"/>
            </a:srgbClr>
          </a:solidFill>
          <a:ln w="19050">
            <a:solidFill>
              <a:srgbClr val="0D9488"/>
            </a:solidFill>
            <a:prstDash val="solid"/>
          </a:ln>
        </p:spPr>
      </p:sp>
      <p:sp>
        <p:nvSpPr>
          <p:cNvPr id="7" name="Text 5"/>
          <p:cNvSpPr/>
          <p:nvPr/>
        </p:nvSpPr>
        <p:spPr>
          <a:xfrm>
            <a:off x="365760" y="1325880"/>
            <a:ext cx="2194560" cy="594360"/>
          </a:xfrm>
          <a:prstGeom prst="rect">
            <a:avLst/>
          </a:prstGeom>
          <a:noFill/>
          <a:ln/>
        </p:spPr>
        <p:txBody>
          <a:bodyPr wrap="square"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TC10</a:t>
            </a:r>
            <a:endParaRPr lang="en-US" sz="1500" dirty="0"/>
          </a:p>
          <a:p>
            <a:pPr algn="ctr" indent="0" marL="0">
              <a:buNone/>
            </a:pPr>
            <a:r>
              <a:rPr lang="en-US" sz="1500" b="1" dirty="0">
                <a:solidFill>
                  <a:srgbClr val="1E2761"/>
                </a:solidFill>
                <a:latin typeface="Calibri" pitchFamily="34" charset="0"/>
                <a:ea typeface="Calibri" pitchFamily="34" charset="-122"/>
                <a:cs typeface="Calibri" pitchFamily="34" charset="-120"/>
              </a:rPr>
              <a:t>Sleep/Wake</a:t>
            </a:r>
            <a:endParaRPr lang="en-US" sz="1500" dirty="0"/>
          </a:p>
        </p:txBody>
      </p:sp>
      <p:sp>
        <p:nvSpPr>
          <p:cNvPr id="8" name="Text 6"/>
          <p:cNvSpPr/>
          <p:nvPr/>
        </p:nvSpPr>
        <p:spPr>
          <a:xfrm>
            <a:off x="4480560" y="1325880"/>
            <a:ext cx="2148840" cy="594360"/>
          </a:xfrm>
          <a:prstGeom prst="rect">
            <a:avLst/>
          </a:prstGeom>
          <a:noFill/>
          <a:ln/>
        </p:spPr>
        <p:txBody>
          <a:bodyPr wrap="square" rtlCol="0" anchor="ctr"/>
          <a:lstStyle/>
          <a:p>
            <a:pPr algn="ctr" indent="0" marL="0">
              <a:buNone/>
            </a:pPr>
            <a:r>
              <a:rPr lang="en-US" sz="1500" b="1" dirty="0">
                <a:solidFill>
                  <a:srgbClr val="0D9488"/>
                </a:solidFill>
                <a:latin typeface="Calibri" pitchFamily="34" charset="0"/>
                <a:ea typeface="Calibri" pitchFamily="34" charset="-122"/>
                <a:cs typeface="Calibri" pitchFamily="34" charset="-120"/>
              </a:rPr>
              <a:t>TC14</a:t>
            </a:r>
            <a:endParaRPr lang="en-US" sz="1500" dirty="0"/>
          </a:p>
          <a:p>
            <a:pPr algn="ctr" indent="0" marL="0">
              <a:buNone/>
            </a:pPr>
            <a:r>
              <a:rPr lang="en-US" sz="1500" b="1" dirty="0">
                <a:solidFill>
                  <a:srgbClr val="0D9488"/>
                </a:solidFill>
                <a:latin typeface="Calibri" pitchFamily="34" charset="0"/>
                <a:ea typeface="Calibri" pitchFamily="34" charset="-122"/>
                <a:cs typeface="Calibri" pitchFamily="34" charset="-120"/>
              </a:rPr>
              <a:t>10BASE-T1S</a:t>
            </a:r>
            <a:endParaRPr lang="en-US" sz="1500" dirty="0"/>
          </a:p>
        </p:txBody>
      </p:sp>
      <p:sp>
        <p:nvSpPr>
          <p:cNvPr id="9" name="Text 7"/>
          <p:cNvSpPr/>
          <p:nvPr/>
        </p:nvSpPr>
        <p:spPr>
          <a:xfrm>
            <a:off x="2651760" y="2377440"/>
            <a:ext cx="1737360" cy="594360"/>
          </a:xfrm>
          <a:prstGeom prst="rect">
            <a:avLst/>
          </a:prstGeom>
          <a:noFill/>
          <a:ln/>
        </p:spPr>
        <p:txBody>
          <a:bodyPr wrap="square" rtlCol="0" anchor="ctr"/>
          <a:lstStyle/>
          <a:p>
            <a:pPr algn="ctr" indent="0" marL="0">
              <a:buNone/>
            </a:pPr>
            <a:r>
              <a:rPr lang="en-US" sz="1300" b="1" dirty="0">
                <a:solidFill>
                  <a:srgbClr val="7C3AED"/>
                </a:solidFill>
                <a:latin typeface="Calibri" pitchFamily="34" charset="0"/>
                <a:ea typeface="Calibri" pitchFamily="34" charset="-122"/>
                <a:cs typeface="Calibri" pitchFamily="34" charset="-120"/>
              </a:rPr>
              <a:t>JOINT</a:t>
            </a:r>
            <a:endParaRPr lang="en-US" sz="1300" dirty="0"/>
          </a:p>
          <a:p>
            <a:pPr algn="ctr" indent="0" marL="0">
              <a:buNone/>
            </a:pPr>
            <a:r>
              <a:rPr lang="en-US" sz="1300" b="1" dirty="0">
                <a:solidFill>
                  <a:srgbClr val="7C3AED"/>
                </a:solidFill>
                <a:latin typeface="Calibri" pitchFamily="34" charset="0"/>
                <a:ea typeface="Calibri" pitchFamily="34" charset="-122"/>
                <a:cs typeface="Calibri" pitchFamily="34" charset="-120"/>
              </a:rPr>
              <a:t>WG</a:t>
            </a:r>
            <a:endParaRPr lang="en-US" sz="1300" dirty="0"/>
          </a:p>
        </p:txBody>
      </p:sp>
      <p:sp>
        <p:nvSpPr>
          <p:cNvPr id="10" name="Text 8"/>
          <p:cNvSpPr/>
          <p:nvPr/>
        </p:nvSpPr>
        <p:spPr>
          <a:xfrm>
            <a:off x="365760" y="2011680"/>
            <a:ext cx="2103120" cy="329184"/>
          </a:xfrm>
          <a:prstGeom prst="rect">
            <a:avLst/>
          </a:prstGeom>
          <a:noFill/>
          <a:ln/>
        </p:spPr>
        <p:txBody>
          <a:bodyPr wrap="square" rtlCol="0" anchor="ctr"/>
          <a:lstStyle/>
          <a:p>
            <a:pPr algn="l" indent="0" marL="0">
              <a:buNone/>
            </a:pPr>
            <a:r>
              <a:rPr lang="en-US" sz="1050" dirty="0">
                <a:solidFill>
                  <a:srgbClr val="1E2761"/>
                </a:solidFill>
                <a:latin typeface="Calibri" pitchFamily="34" charset="0"/>
                <a:ea typeface="Calibri" pitchFamily="34" charset="-122"/>
                <a:cs typeface="Calibri" pitchFamily="34" charset="-120"/>
              </a:rPr>
              <a:t>· xMII sleep/wake signalling</a:t>
            </a:r>
            <a:endParaRPr lang="en-US" sz="1050" dirty="0"/>
          </a:p>
        </p:txBody>
      </p:sp>
      <p:sp>
        <p:nvSpPr>
          <p:cNvPr id="11" name="Text 9"/>
          <p:cNvSpPr/>
          <p:nvPr/>
        </p:nvSpPr>
        <p:spPr>
          <a:xfrm>
            <a:off x="365760" y="2377440"/>
            <a:ext cx="2103120" cy="329184"/>
          </a:xfrm>
          <a:prstGeom prst="rect">
            <a:avLst/>
          </a:prstGeom>
          <a:noFill/>
          <a:ln/>
        </p:spPr>
        <p:txBody>
          <a:bodyPr wrap="square" rtlCol="0" anchor="ctr"/>
          <a:lstStyle/>
          <a:p>
            <a:pPr algn="l" indent="0" marL="0">
              <a:buNone/>
            </a:pPr>
            <a:r>
              <a:rPr lang="en-US" sz="1050" dirty="0">
                <a:solidFill>
                  <a:srgbClr val="1E2761"/>
                </a:solidFill>
                <a:latin typeface="Calibri" pitchFamily="34" charset="0"/>
                <a:ea typeface="Calibri" pitchFamily="34" charset="-122"/>
                <a:cs typeface="Calibri" pitchFamily="34" charset="-120"/>
              </a:rPr>
              <a:t>· 100BASE-T1 sleep spec</a:t>
            </a:r>
            <a:endParaRPr lang="en-US" sz="1050" dirty="0"/>
          </a:p>
        </p:txBody>
      </p:sp>
      <p:sp>
        <p:nvSpPr>
          <p:cNvPr id="12" name="Text 10"/>
          <p:cNvSpPr/>
          <p:nvPr/>
        </p:nvSpPr>
        <p:spPr>
          <a:xfrm>
            <a:off x="365760" y="2743200"/>
            <a:ext cx="2103120" cy="329184"/>
          </a:xfrm>
          <a:prstGeom prst="rect">
            <a:avLst/>
          </a:prstGeom>
          <a:noFill/>
          <a:ln/>
        </p:spPr>
        <p:txBody>
          <a:bodyPr wrap="square" rtlCol="0" anchor="ctr"/>
          <a:lstStyle/>
          <a:p>
            <a:pPr algn="l" indent="0" marL="0">
              <a:buNone/>
            </a:pPr>
            <a:r>
              <a:rPr lang="en-US" sz="1050" dirty="0">
                <a:solidFill>
                  <a:srgbClr val="1E2761"/>
                </a:solidFill>
                <a:latin typeface="Calibri" pitchFamily="34" charset="0"/>
                <a:ea typeface="Calibri" pitchFamily="34" charset="-122"/>
                <a:cs typeface="Calibri" pitchFamily="34" charset="-120"/>
              </a:rPr>
              <a:t>· 1000BASE-T1 sleep spec</a:t>
            </a:r>
            <a:endParaRPr lang="en-US" sz="1050" dirty="0"/>
          </a:p>
        </p:txBody>
      </p:sp>
      <p:sp>
        <p:nvSpPr>
          <p:cNvPr id="13" name="Text 11"/>
          <p:cNvSpPr/>
          <p:nvPr/>
        </p:nvSpPr>
        <p:spPr>
          <a:xfrm>
            <a:off x="4572000" y="2011680"/>
            <a:ext cx="2103120" cy="329184"/>
          </a:xfrm>
          <a:prstGeom prst="rect">
            <a:avLst/>
          </a:prstGeom>
          <a:noFill/>
          <a:ln/>
        </p:spPr>
        <p:txBody>
          <a:bodyPr wrap="square" rtlCol="0" anchor="ctr"/>
          <a:lstStyle/>
          <a:p>
            <a:pPr algn="l" indent="0" marL="0">
              <a:buNone/>
            </a:pPr>
            <a:r>
              <a:rPr lang="en-US" sz="1050" dirty="0">
                <a:solidFill>
                  <a:srgbClr val="0D9488"/>
                </a:solidFill>
                <a:latin typeface="Calibri" pitchFamily="34" charset="0"/>
                <a:ea typeface="Calibri" pitchFamily="34" charset="-122"/>
                <a:cs typeface="Calibri" pitchFamily="34" charset="-120"/>
              </a:rPr>
              <a:t>· 10BASE-T1S system impl</a:t>
            </a:r>
            <a:endParaRPr lang="en-US" sz="1050" dirty="0"/>
          </a:p>
        </p:txBody>
      </p:sp>
      <p:sp>
        <p:nvSpPr>
          <p:cNvPr id="14" name="Text 12"/>
          <p:cNvSpPr/>
          <p:nvPr/>
        </p:nvSpPr>
        <p:spPr>
          <a:xfrm>
            <a:off x="4572000" y="2377440"/>
            <a:ext cx="2103120" cy="329184"/>
          </a:xfrm>
          <a:prstGeom prst="rect">
            <a:avLst/>
          </a:prstGeom>
          <a:noFill/>
          <a:ln/>
        </p:spPr>
        <p:txBody>
          <a:bodyPr wrap="square" rtlCol="0" anchor="ctr"/>
          <a:lstStyle/>
          <a:p>
            <a:pPr algn="l" indent="0" marL="0">
              <a:buNone/>
            </a:pPr>
            <a:r>
              <a:rPr lang="en-US" sz="1050" dirty="0">
                <a:solidFill>
                  <a:srgbClr val="0D9488"/>
                </a:solidFill>
                <a:latin typeface="Calibri" pitchFamily="34" charset="0"/>
                <a:ea typeface="Calibri" pitchFamily="34" charset="-122"/>
                <a:cs typeface="Calibri" pitchFamily="34" charset="-120"/>
              </a:rPr>
              <a:t>· Conformance test suite</a:t>
            </a:r>
            <a:endParaRPr lang="en-US" sz="1050" dirty="0"/>
          </a:p>
        </p:txBody>
      </p:sp>
      <p:sp>
        <p:nvSpPr>
          <p:cNvPr id="15" name="Text 13"/>
          <p:cNvSpPr/>
          <p:nvPr/>
        </p:nvSpPr>
        <p:spPr>
          <a:xfrm>
            <a:off x="4572000" y="2743200"/>
            <a:ext cx="2103120" cy="329184"/>
          </a:xfrm>
          <a:prstGeom prst="rect">
            <a:avLst/>
          </a:prstGeom>
          <a:noFill/>
          <a:ln/>
        </p:spPr>
        <p:txBody>
          <a:bodyPr wrap="square" rtlCol="0" anchor="ctr"/>
          <a:lstStyle/>
          <a:p>
            <a:pPr algn="l" indent="0" marL="0">
              <a:buNone/>
            </a:pPr>
            <a:r>
              <a:rPr lang="en-US" sz="1050" dirty="0">
                <a:solidFill>
                  <a:srgbClr val="0D9488"/>
                </a:solidFill>
                <a:latin typeface="Calibri" pitchFamily="34" charset="0"/>
                <a:ea typeface="Calibri" pitchFamily="34" charset="-122"/>
                <a:cs typeface="Calibri" pitchFamily="34" charset="-120"/>
              </a:rPr>
              <a:t>· EMC &amp; temp profiles</a:t>
            </a:r>
            <a:endParaRPr lang="en-US" sz="1050" dirty="0"/>
          </a:p>
        </p:txBody>
      </p:sp>
      <p:sp>
        <p:nvSpPr>
          <p:cNvPr id="16" name="Text 14"/>
          <p:cNvSpPr/>
          <p:nvPr/>
        </p:nvSpPr>
        <p:spPr>
          <a:xfrm>
            <a:off x="2788920" y="3063240"/>
            <a:ext cx="2103120" cy="329184"/>
          </a:xfrm>
          <a:prstGeom prst="rect">
            <a:avLst/>
          </a:prstGeom>
          <a:noFill/>
          <a:ln/>
        </p:spPr>
        <p:txBody>
          <a:bodyPr wrap="square" rtlCol="0" anchor="ctr"/>
          <a:lstStyle/>
          <a:p>
            <a:pPr algn="ctr" indent="0" marL="0">
              <a:buNone/>
            </a:pPr>
            <a:r>
              <a:rPr lang="en-US" sz="1050" dirty="0">
                <a:solidFill>
                  <a:srgbClr val="7C3AED"/>
                </a:solidFill>
                <a:latin typeface="Calibri" pitchFamily="34" charset="0"/>
                <a:ea typeface="Calibri" pitchFamily="34" charset="-122"/>
                <a:cs typeface="Calibri" pitchFamily="34" charset="-120"/>
              </a:rPr>
              <a:t>· 10BASE-T1S Sleep/Wake</a:t>
            </a:r>
            <a:endParaRPr lang="en-US" sz="1050" dirty="0"/>
          </a:p>
        </p:txBody>
      </p:sp>
      <p:sp>
        <p:nvSpPr>
          <p:cNvPr id="17" name="Text 15"/>
          <p:cNvSpPr/>
          <p:nvPr/>
        </p:nvSpPr>
        <p:spPr>
          <a:xfrm>
            <a:off x="2788920" y="3429000"/>
            <a:ext cx="2103120" cy="329184"/>
          </a:xfrm>
          <a:prstGeom prst="rect">
            <a:avLst/>
          </a:prstGeom>
          <a:noFill/>
          <a:ln/>
        </p:spPr>
        <p:txBody>
          <a:bodyPr wrap="square" rtlCol="0" anchor="ctr"/>
          <a:lstStyle/>
          <a:p>
            <a:pPr algn="ctr" indent="0" marL="0">
              <a:buNone/>
            </a:pPr>
            <a:r>
              <a:rPr lang="en-US" sz="1050" dirty="0">
                <a:solidFill>
                  <a:srgbClr val="7C3AED"/>
                </a:solidFill>
                <a:latin typeface="Calibri" pitchFamily="34" charset="0"/>
                <a:ea typeface="Calibri" pitchFamily="34" charset="-122"/>
                <a:cs typeface="Calibri" pitchFamily="34" charset="-120"/>
              </a:rPr>
              <a:t>· Multidrop partial net.</a:t>
            </a:r>
            <a:endParaRPr lang="en-US" sz="1050" dirty="0"/>
          </a:p>
        </p:txBody>
      </p:sp>
      <p:sp>
        <p:nvSpPr>
          <p:cNvPr id="18" name="Shape 16"/>
          <p:cNvSpPr/>
          <p:nvPr/>
        </p:nvSpPr>
        <p:spPr>
          <a:xfrm>
            <a:off x="6949440" y="1234440"/>
            <a:ext cx="1883664" cy="3246120"/>
          </a:xfrm>
          <a:prstGeom prst="rect">
            <a:avLst/>
          </a:prstGeom>
          <a:solidFill>
            <a:srgbClr val="1E2761"/>
          </a:solidFill>
          <a:ln w="12700">
            <a:solidFill>
              <a:srgbClr val="1E2761"/>
            </a:solidFill>
            <a:prstDash val="solid"/>
          </a:ln>
        </p:spPr>
      </p:sp>
      <p:sp>
        <p:nvSpPr>
          <p:cNvPr id="19" name="Text 17"/>
          <p:cNvSpPr/>
          <p:nvPr/>
        </p:nvSpPr>
        <p:spPr>
          <a:xfrm>
            <a:off x="7040880" y="1325880"/>
            <a:ext cx="1700784"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insight</a:t>
            </a:r>
            <a:endParaRPr lang="en-US" sz="1200" dirty="0"/>
          </a:p>
        </p:txBody>
      </p:sp>
      <p:sp>
        <p:nvSpPr>
          <p:cNvPr id="20" name="Text 18"/>
          <p:cNvSpPr/>
          <p:nvPr/>
        </p:nvSpPr>
        <p:spPr>
          <a:xfrm>
            <a:off x="7040880" y="1664208"/>
            <a:ext cx="1700784" cy="2651760"/>
          </a:xfrm>
          <a:prstGeom prst="rect">
            <a:avLst/>
          </a:prstGeom>
          <a:noFill/>
          <a:ln/>
        </p:spPr>
        <p:txBody>
          <a:bodyPr wrap="square" rtlCol="0" anchor="ctr"/>
          <a:lstStyle/>
          <a:p>
            <a:pPr indent="0" marL="0">
              <a:lnSpc>
                <a:spcPct val="135000"/>
              </a:lnSpc>
              <a:buNone/>
            </a:pPr>
            <a:r>
              <a:rPr lang="en-US" sz="1050" dirty="0">
                <a:solidFill>
                  <a:srgbClr val="CADCFC"/>
                </a:solidFill>
                <a:latin typeface="Calibri" pitchFamily="34" charset="0"/>
                <a:ea typeface="Calibri" pitchFamily="34" charset="-122"/>
                <a:cs typeface="Calibri" pitchFamily="34" charset="-120"/>
              </a:rPr>
              <a:t>IEEE gives you the broad networking language.</a:t>
            </a:r>
            <a:endParaRPr lang="en-US" sz="1050" dirty="0"/>
          </a:p>
          <a:p>
            <a:pPr indent="0" marL="0">
              <a:lnSpc>
                <a:spcPct val="135000"/>
              </a:lnSpc>
              <a:buNone/>
            </a:pPr>
            <a:endParaRPr lang="en-US" sz="1050" dirty="0"/>
          </a:p>
          <a:p>
            <a:pPr indent="0" marL="0">
              <a:lnSpc>
                <a:spcPct val="135000"/>
              </a:lnSpc>
              <a:buNone/>
            </a:pPr>
            <a:r>
              <a:rPr lang="en-US" sz="1050" dirty="0">
                <a:solidFill>
                  <a:srgbClr val="CADCFC"/>
                </a:solidFill>
                <a:latin typeface="Calibri" pitchFamily="34" charset="0"/>
                <a:ea typeface="Calibri" pitchFamily="34" charset="-122"/>
                <a:cs typeface="Calibri" pitchFamily="34" charset="-120"/>
              </a:rPr>
              <a:t>OPEN Alliance makes it vehicle-ready through implementation specs, conformance testing, and interoperability events.</a:t>
            </a:r>
            <a:endParaRPr lang="en-US" sz="1050" dirty="0"/>
          </a:p>
          <a:p>
            <a:pPr indent="0" marL="0">
              <a:lnSpc>
                <a:spcPct val="135000"/>
              </a:lnSpc>
              <a:buNone/>
            </a:pPr>
            <a:endParaRPr lang="en-US" sz="1050" dirty="0"/>
          </a:p>
          <a:p>
            <a:pPr indent="0" marL="0">
              <a:lnSpc>
                <a:spcPct val="135000"/>
              </a:lnSpc>
              <a:buNone/>
            </a:pPr>
            <a:r>
              <a:rPr lang="en-US" sz="1050" dirty="0">
                <a:solidFill>
                  <a:srgbClr val="CADCFC"/>
                </a:solidFill>
                <a:latin typeface="Calibri" pitchFamily="34" charset="0"/>
                <a:ea typeface="Calibri" pitchFamily="34" charset="-122"/>
                <a:cs typeface="Calibri" pitchFamily="34" charset="-120"/>
              </a:rPr>
              <a:t>TC10 and TC14 collaborate directly — the 10BASE-T1S sleep/wake spec is a joint working group deliverable.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E2761"/>
          </a:solidFill>
          <a:ln w="12700">
            <a:solidFill>
              <a:srgbClr val="1E2761"/>
            </a:solidFill>
            <a:prstDash val="solid"/>
          </a:ln>
        </p:spPr>
      </p:sp>
      <p:sp>
        <p:nvSpPr>
          <p:cNvPr id="3" name="Text 1"/>
          <p:cNvSpPr/>
          <p:nvPr/>
        </p:nvSpPr>
        <p:spPr>
          <a:xfrm>
            <a:off x="256032" y="182880"/>
            <a:ext cx="8412480" cy="658368"/>
          </a:xfrm>
          <a:prstGeom prst="rect">
            <a:avLst/>
          </a:prstGeom>
          <a:noFill/>
          <a:ln/>
        </p:spPr>
        <p:txBody>
          <a:bodyPr wrap="square" rtlCol="0" anchor="ctr"/>
          <a:lstStyle/>
          <a:p>
            <a:pPr algn="l" indent="0" marL="0">
              <a:buNone/>
            </a:pPr>
            <a:r>
              <a:rPr lang="en-US" sz="3000" b="1" dirty="0">
                <a:solidFill>
                  <a:srgbClr val="1E2761"/>
                </a:solidFill>
                <a:latin typeface="Calibri" pitchFamily="34" charset="0"/>
                <a:ea typeface="Calibri" pitchFamily="34" charset="-122"/>
                <a:cs typeface="Calibri" pitchFamily="34" charset="-120"/>
              </a:rPr>
              <a:t>The Complete Picture</a:t>
            </a:r>
            <a:endParaRPr lang="en-US" sz="3000" dirty="0"/>
          </a:p>
        </p:txBody>
      </p:sp>
      <p:sp>
        <p:nvSpPr>
          <p:cNvPr id="4" name="Text 2"/>
          <p:cNvSpPr/>
          <p:nvPr/>
        </p:nvSpPr>
        <p:spPr>
          <a:xfrm>
            <a:off x="256032" y="804672"/>
            <a:ext cx="8412480" cy="274320"/>
          </a:xfrm>
          <a:prstGeom prst="rect">
            <a:avLst/>
          </a:prstGeom>
          <a:noFill/>
          <a:ln/>
        </p:spPr>
        <p:txBody>
          <a:bodyPr wrap="square" rtlCol="0" anchor="ctr"/>
          <a:lstStyle/>
          <a:p>
            <a:pPr algn="l" indent="0" marL="0">
              <a:buNone/>
            </a:pPr>
            <a:r>
              <a:rPr lang="en-US" sz="1250" dirty="0">
                <a:solidFill>
                  <a:srgbClr val="6B7280"/>
                </a:solidFill>
                <a:latin typeface="Calibri" pitchFamily="34" charset="0"/>
                <a:ea typeface="Calibri" pitchFamily="34" charset="-122"/>
                <a:cs typeface="Calibri" pitchFamily="34" charset="-120"/>
              </a:rPr>
              <a:t>How all six topics integrate into a coherent automotive Ethernet understanding</a:t>
            </a:r>
            <a:endParaRPr lang="en-US" sz="1250" dirty="0"/>
          </a:p>
        </p:txBody>
      </p:sp>
      <p:sp>
        <p:nvSpPr>
          <p:cNvPr id="5" name="Shape 3"/>
          <p:cNvSpPr/>
          <p:nvPr/>
        </p:nvSpPr>
        <p:spPr>
          <a:xfrm>
            <a:off x="201168" y="111556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201168" y="1115568"/>
            <a:ext cx="2852928" cy="420624"/>
          </a:xfrm>
          <a:prstGeom prst="rect">
            <a:avLst/>
          </a:prstGeom>
          <a:solidFill>
            <a:srgbClr val="1E2761"/>
          </a:solidFill>
          <a:ln w="12700">
            <a:solidFill>
              <a:srgbClr val="1E2761"/>
            </a:solidFill>
            <a:prstDash val="solid"/>
          </a:ln>
        </p:spPr>
      </p:sp>
      <p:pic>
        <p:nvPicPr>
          <p:cNvPr id="7" name="Image 0" descr="preencoded.png">    </p:cNvPr>
          <p:cNvPicPr>
            <a:picLocks noChangeAspect="1"/>
          </p:cNvPicPr>
          <p:nvPr/>
        </p:nvPicPr>
        <p:blipFill>
          <a:blip r:embed="rId1"/>
          <a:stretch>
            <a:fillRect/>
          </a:stretch>
        </p:blipFill>
        <p:spPr>
          <a:xfrm>
            <a:off x="292608" y="1179576"/>
            <a:ext cx="274320" cy="274320"/>
          </a:xfrm>
          <a:prstGeom prst="rect">
            <a:avLst/>
          </a:prstGeom>
        </p:spPr>
      </p:pic>
      <p:sp>
        <p:nvSpPr>
          <p:cNvPr id="8" name="Text 5"/>
          <p:cNvSpPr/>
          <p:nvPr/>
        </p:nvSpPr>
        <p:spPr>
          <a:xfrm>
            <a:off x="621792" y="117043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OSI Model</a:t>
            </a:r>
            <a:endParaRPr lang="en-US" sz="1300" dirty="0"/>
          </a:p>
        </p:txBody>
      </p:sp>
      <p:sp>
        <p:nvSpPr>
          <p:cNvPr id="9" name="Text 6"/>
          <p:cNvSpPr/>
          <p:nvPr/>
        </p:nvSpPr>
        <p:spPr>
          <a:xfrm>
            <a:off x="310896" y="160934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Separates signalling, framing, routing, transport, and application — prevents layer confusion during engineering and debug sessions.</a:t>
            </a:r>
            <a:endParaRPr lang="en-US" sz="1100" dirty="0"/>
          </a:p>
        </p:txBody>
      </p:sp>
      <p:sp>
        <p:nvSpPr>
          <p:cNvPr id="10" name="Shape 7"/>
          <p:cNvSpPr/>
          <p:nvPr/>
        </p:nvSpPr>
        <p:spPr>
          <a:xfrm>
            <a:off x="3182112" y="111556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11" name="Shape 8"/>
          <p:cNvSpPr/>
          <p:nvPr/>
        </p:nvSpPr>
        <p:spPr>
          <a:xfrm>
            <a:off x="3182112" y="1115568"/>
            <a:ext cx="2852928" cy="420624"/>
          </a:xfrm>
          <a:prstGeom prst="rect">
            <a:avLst/>
          </a:prstGeom>
          <a:solidFill>
            <a:srgbClr val="1E2761"/>
          </a:solidFill>
          <a:ln w="12700">
            <a:solidFill>
              <a:srgbClr val="1E2761"/>
            </a:solidFill>
            <a:prstDash val="solid"/>
          </a:ln>
        </p:spPr>
      </p:sp>
      <p:pic>
        <p:nvPicPr>
          <p:cNvPr id="12" name="Image 1" descr="preencoded.png">    </p:cNvPr>
          <p:cNvPicPr>
            <a:picLocks noChangeAspect="1"/>
          </p:cNvPicPr>
          <p:nvPr/>
        </p:nvPicPr>
        <p:blipFill>
          <a:blip r:embed="rId2"/>
          <a:stretch>
            <a:fillRect/>
          </a:stretch>
        </p:blipFill>
        <p:spPr>
          <a:xfrm>
            <a:off x="3273552" y="1179576"/>
            <a:ext cx="274320" cy="274320"/>
          </a:xfrm>
          <a:prstGeom prst="rect">
            <a:avLst/>
          </a:prstGeom>
        </p:spPr>
      </p:pic>
      <p:sp>
        <p:nvSpPr>
          <p:cNvPr id="13" name="Text 9"/>
          <p:cNvSpPr/>
          <p:nvPr/>
        </p:nvSpPr>
        <p:spPr>
          <a:xfrm>
            <a:off x="3602736" y="117043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IEEE 802 Family</a:t>
            </a:r>
            <a:endParaRPr lang="en-US" sz="1300" dirty="0"/>
          </a:p>
        </p:txBody>
      </p:sp>
      <p:sp>
        <p:nvSpPr>
          <p:cNvPr id="14" name="Text 10"/>
          <p:cNvSpPr/>
          <p:nvPr/>
        </p:nvSpPr>
        <p:spPr>
          <a:xfrm>
            <a:off x="3291840" y="160934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802.3 owns L1+L2 (PHY and MAC). 802.1 owns bridging, VLANs, TSN, and security. Knowing which side prevents misdiagnosis.</a:t>
            </a:r>
            <a:endParaRPr lang="en-US" sz="1100" dirty="0"/>
          </a:p>
        </p:txBody>
      </p:sp>
      <p:sp>
        <p:nvSpPr>
          <p:cNvPr id="15" name="Shape 11"/>
          <p:cNvSpPr/>
          <p:nvPr/>
        </p:nvSpPr>
        <p:spPr>
          <a:xfrm>
            <a:off x="6163056" y="111556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16" name="Shape 12"/>
          <p:cNvSpPr/>
          <p:nvPr/>
        </p:nvSpPr>
        <p:spPr>
          <a:xfrm>
            <a:off x="6163056" y="1115568"/>
            <a:ext cx="2852928" cy="420624"/>
          </a:xfrm>
          <a:prstGeom prst="rect">
            <a:avLst/>
          </a:prstGeom>
          <a:solidFill>
            <a:srgbClr val="1E2761"/>
          </a:solidFill>
          <a:ln w="12700">
            <a:solidFill>
              <a:srgbClr val="1E2761"/>
            </a:solidFill>
            <a:prstDash val="solid"/>
          </a:ln>
        </p:spPr>
      </p:sp>
      <p:pic>
        <p:nvPicPr>
          <p:cNvPr id="17" name="Image 2" descr="preencoded.png">    </p:cNvPr>
          <p:cNvPicPr>
            <a:picLocks noChangeAspect="1"/>
          </p:cNvPicPr>
          <p:nvPr/>
        </p:nvPicPr>
        <p:blipFill>
          <a:blip r:embed="rId3"/>
          <a:stretch>
            <a:fillRect/>
          </a:stretch>
        </p:blipFill>
        <p:spPr>
          <a:xfrm>
            <a:off x="6254496" y="1179576"/>
            <a:ext cx="274320" cy="274320"/>
          </a:xfrm>
          <a:prstGeom prst="rect">
            <a:avLst/>
          </a:prstGeom>
        </p:spPr>
      </p:pic>
      <p:sp>
        <p:nvSpPr>
          <p:cNvPr id="18" name="Text 13"/>
          <p:cNvSpPr/>
          <p:nvPr/>
        </p:nvSpPr>
        <p:spPr>
          <a:xfrm>
            <a:off x="6583680" y="117043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Domain → Zonal</a:t>
            </a:r>
            <a:endParaRPr lang="en-US" sz="1300" dirty="0"/>
          </a:p>
        </p:txBody>
      </p:sp>
      <p:sp>
        <p:nvSpPr>
          <p:cNvPr id="19" name="Text 14"/>
          <p:cNvSpPr/>
          <p:nvPr/>
        </p:nvSpPr>
        <p:spPr>
          <a:xfrm>
            <a:off x="6272784" y="160934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Architecture driven by bandwidth, OTA, harness cost, and software reuse. Ethernet and TSN shift from optional to mandatory.</a:t>
            </a:r>
            <a:endParaRPr lang="en-US" sz="1100" dirty="0"/>
          </a:p>
        </p:txBody>
      </p:sp>
      <p:sp>
        <p:nvSpPr>
          <p:cNvPr id="20" name="Shape 15"/>
          <p:cNvSpPr/>
          <p:nvPr/>
        </p:nvSpPr>
        <p:spPr>
          <a:xfrm>
            <a:off x="201168" y="303580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21" name="Shape 16"/>
          <p:cNvSpPr/>
          <p:nvPr/>
        </p:nvSpPr>
        <p:spPr>
          <a:xfrm>
            <a:off x="201168" y="3035808"/>
            <a:ext cx="2852928" cy="420624"/>
          </a:xfrm>
          <a:prstGeom prst="rect">
            <a:avLst/>
          </a:prstGeom>
          <a:solidFill>
            <a:srgbClr val="1E2761"/>
          </a:solidFill>
          <a:ln w="12700">
            <a:solidFill>
              <a:srgbClr val="1E2761"/>
            </a:solidFill>
            <a:prstDash val="solid"/>
          </a:ln>
        </p:spPr>
      </p:sp>
      <p:pic>
        <p:nvPicPr>
          <p:cNvPr id="22" name="Image 3" descr="preencoded.png">    </p:cNvPr>
          <p:cNvPicPr>
            <a:picLocks noChangeAspect="1"/>
          </p:cNvPicPr>
          <p:nvPr/>
        </p:nvPicPr>
        <p:blipFill>
          <a:blip r:embed="rId4"/>
          <a:stretch>
            <a:fillRect/>
          </a:stretch>
        </p:blipFill>
        <p:spPr>
          <a:xfrm>
            <a:off x="292608" y="3099816"/>
            <a:ext cx="274320" cy="274320"/>
          </a:xfrm>
          <a:prstGeom prst="rect">
            <a:avLst/>
          </a:prstGeom>
        </p:spPr>
      </p:pic>
      <p:sp>
        <p:nvSpPr>
          <p:cNvPr id="23" name="Text 17"/>
          <p:cNvSpPr/>
          <p:nvPr/>
        </p:nvSpPr>
        <p:spPr>
          <a:xfrm>
            <a:off x="621792" y="309067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 Alliance SIG</a:t>
            </a:r>
            <a:endParaRPr lang="en-US" sz="1300" dirty="0"/>
          </a:p>
        </p:txBody>
      </p:sp>
      <p:sp>
        <p:nvSpPr>
          <p:cNvPr id="24" name="Text 18"/>
          <p:cNvSpPr/>
          <p:nvPr/>
        </p:nvSpPr>
        <p:spPr>
          <a:xfrm>
            <a:off x="310896" y="352958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Profiles IEEE Ethernet into automotive-grade specs. Implementation guides, conformance testing, and interoperability events.</a:t>
            </a:r>
            <a:endParaRPr lang="en-US" sz="1100" dirty="0"/>
          </a:p>
        </p:txBody>
      </p:sp>
      <p:sp>
        <p:nvSpPr>
          <p:cNvPr id="25" name="Shape 19"/>
          <p:cNvSpPr/>
          <p:nvPr/>
        </p:nvSpPr>
        <p:spPr>
          <a:xfrm>
            <a:off x="3182112" y="303580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26" name="Shape 20"/>
          <p:cNvSpPr/>
          <p:nvPr/>
        </p:nvSpPr>
        <p:spPr>
          <a:xfrm>
            <a:off x="3182112" y="3035808"/>
            <a:ext cx="2852928" cy="420624"/>
          </a:xfrm>
          <a:prstGeom prst="rect">
            <a:avLst/>
          </a:prstGeom>
          <a:solidFill>
            <a:srgbClr val="1E2761"/>
          </a:solidFill>
          <a:ln w="12700">
            <a:solidFill>
              <a:srgbClr val="1E2761"/>
            </a:solidFill>
            <a:prstDash val="solid"/>
          </a:ln>
        </p:spPr>
      </p:sp>
      <p:pic>
        <p:nvPicPr>
          <p:cNvPr id="27" name="Image 4" descr="preencoded.png">    </p:cNvPr>
          <p:cNvPicPr>
            <a:picLocks noChangeAspect="1"/>
          </p:cNvPicPr>
          <p:nvPr/>
        </p:nvPicPr>
        <p:blipFill>
          <a:blip r:embed="rId5"/>
          <a:stretch>
            <a:fillRect/>
          </a:stretch>
        </p:blipFill>
        <p:spPr>
          <a:xfrm>
            <a:off x="3273552" y="3099816"/>
            <a:ext cx="274320" cy="274320"/>
          </a:xfrm>
          <a:prstGeom prst="rect">
            <a:avLst/>
          </a:prstGeom>
        </p:spPr>
      </p:pic>
      <p:sp>
        <p:nvSpPr>
          <p:cNvPr id="28" name="Text 21"/>
          <p:cNvSpPr/>
          <p:nvPr/>
        </p:nvSpPr>
        <p:spPr>
          <a:xfrm>
            <a:off x="3602736" y="309067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TC10 Sleep/Wake</a:t>
            </a:r>
            <a:endParaRPr lang="en-US" sz="1300" dirty="0"/>
          </a:p>
        </p:txBody>
      </p:sp>
      <p:sp>
        <p:nvSpPr>
          <p:cNvPr id="29" name="Text 22"/>
          <p:cNvSpPr/>
          <p:nvPr/>
        </p:nvSpPr>
        <p:spPr>
          <a:xfrm>
            <a:off x="3291840" y="352958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Automotive PHYs must sleep, partially network, and wake deterministically. TC10 specifies this across all speeds.</a:t>
            </a:r>
            <a:endParaRPr lang="en-US" sz="1100" dirty="0"/>
          </a:p>
        </p:txBody>
      </p:sp>
      <p:sp>
        <p:nvSpPr>
          <p:cNvPr id="30" name="Shape 23"/>
          <p:cNvSpPr/>
          <p:nvPr/>
        </p:nvSpPr>
        <p:spPr>
          <a:xfrm>
            <a:off x="6163056" y="3035808"/>
            <a:ext cx="2852928" cy="1783080"/>
          </a:xfrm>
          <a:prstGeom prst="rect">
            <a:avLst/>
          </a:prstGeom>
          <a:solidFill>
            <a:srgbClr val="F8FAFF"/>
          </a:solidFill>
          <a:ln w="6350">
            <a:solidFill>
              <a:srgbClr val="E0E7FF"/>
            </a:solidFill>
            <a:prstDash val="solid"/>
          </a:ln>
          <a:effectLst>
            <a:outerShdw sx="100000" sy="100000" kx="0" ky="0" algn="bl" rotWithShape="0" blurRad="63500" dist="25400" dir="8100000">
              <a:srgbClr val="000000">
                <a:alpha val="8000"/>
              </a:srgbClr>
            </a:outerShdw>
          </a:effectLst>
        </p:spPr>
      </p:sp>
      <p:sp>
        <p:nvSpPr>
          <p:cNvPr id="31" name="Shape 24"/>
          <p:cNvSpPr/>
          <p:nvPr/>
        </p:nvSpPr>
        <p:spPr>
          <a:xfrm>
            <a:off x="6163056" y="3035808"/>
            <a:ext cx="2852928" cy="420624"/>
          </a:xfrm>
          <a:prstGeom prst="rect">
            <a:avLst/>
          </a:prstGeom>
          <a:solidFill>
            <a:srgbClr val="1E2761"/>
          </a:solidFill>
          <a:ln w="12700">
            <a:solidFill>
              <a:srgbClr val="1E2761"/>
            </a:solidFill>
            <a:prstDash val="solid"/>
          </a:ln>
        </p:spPr>
      </p:sp>
      <p:pic>
        <p:nvPicPr>
          <p:cNvPr id="32" name="Image 5" descr="preencoded.png">    </p:cNvPr>
          <p:cNvPicPr>
            <a:picLocks noChangeAspect="1"/>
          </p:cNvPicPr>
          <p:nvPr/>
        </p:nvPicPr>
        <p:blipFill>
          <a:blip r:embed="rId6"/>
          <a:stretch>
            <a:fillRect/>
          </a:stretch>
        </p:blipFill>
        <p:spPr>
          <a:xfrm>
            <a:off x="6254496" y="3099816"/>
            <a:ext cx="274320" cy="274320"/>
          </a:xfrm>
          <a:prstGeom prst="rect">
            <a:avLst/>
          </a:prstGeom>
        </p:spPr>
      </p:pic>
      <p:sp>
        <p:nvSpPr>
          <p:cNvPr id="33" name="Text 25"/>
          <p:cNvSpPr/>
          <p:nvPr/>
        </p:nvSpPr>
        <p:spPr>
          <a:xfrm>
            <a:off x="6583680" y="3090672"/>
            <a:ext cx="2359152"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TC14 10BASE-T1S</a:t>
            </a:r>
            <a:endParaRPr lang="en-US" sz="1300" dirty="0"/>
          </a:p>
        </p:txBody>
      </p:sp>
      <p:sp>
        <p:nvSpPr>
          <p:cNvPr id="34" name="Text 26"/>
          <p:cNvSpPr/>
          <p:nvPr/>
        </p:nvSpPr>
        <p:spPr>
          <a:xfrm>
            <a:off x="6272784" y="3529584"/>
            <a:ext cx="2633472" cy="1207008"/>
          </a:xfrm>
          <a:prstGeom prst="rect">
            <a:avLst/>
          </a:prstGeom>
          <a:noFill/>
          <a:ln/>
        </p:spPr>
        <p:txBody>
          <a:bodyPr wrap="square" rtlCol="0" anchor="ctr"/>
          <a:lstStyle/>
          <a:p>
            <a:pPr indent="0" marL="0">
              <a:lnSpc>
                <a:spcPct val="130000"/>
              </a:lnSpc>
              <a:buNone/>
            </a:pPr>
            <a:r>
              <a:rPr lang="en-US" sz="1100" dirty="0">
                <a:solidFill>
                  <a:srgbClr val="374151"/>
                </a:solidFill>
                <a:latin typeface="Calibri" pitchFamily="34" charset="0"/>
                <a:ea typeface="Calibri" pitchFamily="34" charset="-122"/>
                <a:cs typeface="Calibri" pitchFamily="34" charset="-120"/>
              </a:rPr>
              <a:t>Multidrop, PLCA, automotive profile. TC14 ensures the industry can manufacture and validate compatible devices.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D1B52"/>
          </a:solidFill>
          <a:ln w="12700">
            <a:solidFill>
              <a:srgbClr val="0D1B52"/>
            </a:solidFill>
            <a:prstDash val="solid"/>
          </a:ln>
        </p:spPr>
      </p:sp>
      <p:sp>
        <p:nvSpPr>
          <p:cNvPr id="3" name="Shape 1"/>
          <p:cNvSpPr/>
          <p:nvPr/>
        </p:nvSpPr>
        <p:spPr>
          <a:xfrm>
            <a:off x="7132320" y="0"/>
            <a:ext cx="2011680" cy="5143500"/>
          </a:xfrm>
          <a:prstGeom prst="rect">
            <a:avLst/>
          </a:prstGeom>
          <a:solidFill>
            <a:srgbClr val="0F2258"/>
          </a:solidFill>
          <a:ln w="12700">
            <a:solidFill>
              <a:srgbClr val="0F2258"/>
            </a:solidFill>
            <a:prstDash val="solid"/>
          </a:ln>
        </p:spPr>
      </p:sp>
      <p:sp>
        <p:nvSpPr>
          <p:cNvPr id="4" name="Text 2"/>
          <p:cNvSpPr/>
          <p:nvPr/>
        </p:nvSpPr>
        <p:spPr>
          <a:xfrm>
            <a:off x="640080" y="822960"/>
            <a:ext cx="6400800" cy="173736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Questions &amp;</a:t>
            </a:r>
            <a:endParaRPr lang="en-US" sz="5400" dirty="0"/>
          </a:p>
          <a:p>
            <a:pPr indent="0" marL="0">
              <a:buNone/>
            </a:pPr>
            <a:r>
              <a:rPr lang="en-US" sz="5400" b="1" dirty="0">
                <a:solidFill>
                  <a:srgbClr val="FFFFFF"/>
                </a:solidFill>
                <a:latin typeface="Calibri" pitchFamily="34" charset="0"/>
                <a:ea typeface="Calibri" pitchFamily="34" charset="-122"/>
                <a:cs typeface="Calibri" pitchFamily="34" charset="-120"/>
              </a:rPr>
              <a:t>Discussion</a:t>
            </a:r>
            <a:endParaRPr lang="en-US" sz="5400" dirty="0"/>
          </a:p>
        </p:txBody>
      </p:sp>
      <p:sp>
        <p:nvSpPr>
          <p:cNvPr id="5" name="Shape 3"/>
          <p:cNvSpPr/>
          <p:nvPr/>
        </p:nvSpPr>
        <p:spPr>
          <a:xfrm>
            <a:off x="640080" y="2542032"/>
            <a:ext cx="2926080" cy="36576"/>
          </a:xfrm>
          <a:prstGeom prst="rect">
            <a:avLst/>
          </a:prstGeom>
          <a:solidFill>
            <a:srgbClr val="60A5FA"/>
          </a:solidFill>
          <a:ln w="12700">
            <a:solidFill>
              <a:srgbClr val="60A5FA"/>
            </a:solidFill>
            <a:prstDash val="solid"/>
          </a:ln>
        </p:spPr>
      </p:sp>
      <p:sp>
        <p:nvSpPr>
          <p:cNvPr id="6" name="Text 4"/>
          <p:cNvSpPr/>
          <p:nvPr/>
        </p:nvSpPr>
        <p:spPr>
          <a:xfrm>
            <a:off x="640080" y="2670048"/>
            <a:ext cx="6217920" cy="2304288"/>
          </a:xfrm>
          <a:prstGeom prst="rect">
            <a:avLst/>
          </a:prstGeom>
          <a:noFill/>
          <a:ln/>
        </p:spPr>
        <p:txBody>
          <a:bodyPr wrap="square" rtlCol="0" anchor="ctr"/>
          <a:lstStyle/>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OSI Model  —  Conceptual layering for Ethernet reasoning</a:t>
            </a:r>
            <a:endParaRPr lang="en-US" sz="1250" dirty="0"/>
          </a:p>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IEEE 802.3 + 802.1  —  PHY/MAC vs bridging/TSN</a:t>
            </a:r>
            <a:endParaRPr lang="en-US" sz="1250" dirty="0"/>
          </a:p>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Domain Architecture  —  Function-first, Ethernet backbone, IP reuse</a:t>
            </a:r>
            <a:endParaRPr lang="en-US" sz="1250" dirty="0"/>
          </a:p>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Zonal Architecture  —  Geography-first, shared backbone, TSN mandatory</a:t>
            </a:r>
            <a:endParaRPr lang="en-US" sz="1250" dirty="0"/>
          </a:p>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OPEN Alliance  —  IEEE profiling for automotive grade</a:t>
            </a:r>
            <a:endParaRPr lang="en-US" sz="1250" dirty="0"/>
          </a:p>
          <a:p>
            <a:pPr marL="342900" indent="-342900">
              <a:lnSpc>
                <a:spcPct val="145000"/>
              </a:lnSpc>
              <a:buSzPct val="100000"/>
              <a:buChar char="•"/>
            </a:pPr>
            <a:r>
              <a:rPr lang="en-US" sz="1250" dirty="0">
                <a:solidFill>
                  <a:srgbClr val="CADCFC"/>
                </a:solidFill>
                <a:latin typeface="Calibri" pitchFamily="34" charset="0"/>
                <a:ea typeface="Calibri" pitchFamily="34" charset="-122"/>
                <a:cs typeface="Calibri" pitchFamily="34" charset="-120"/>
              </a:rPr>
              <a:t>TC10 + TC14  —  Sleep/wake and 10BASE-T1S conformance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Ethernet Foundations</dc:title>
  <dc:subject>PptxGenJS Presentation</dc:subject>
  <dc:creator>PptxGenJS</dc:creator>
  <cp:lastModifiedBy>PptxGenJS</cp:lastModifiedBy>
  <cp:revision>1</cp:revision>
  <dcterms:created xsi:type="dcterms:W3CDTF">2026-04-18T16:30:24Z</dcterms:created>
  <dcterms:modified xsi:type="dcterms:W3CDTF">2026-04-18T16:30:24Z</dcterms:modified>
</cp:coreProperties>
</file>