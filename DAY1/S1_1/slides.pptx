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4610"/>
  </p:normalViewPr>
  <p:slideViewPr>
    <p:cSldViewPr snapToGrid="0" snapToObjects="1">
      <p:cViewPr varScale="1">
        <p:scale>
          <a:sx n="78" d="100"/>
          <a:sy n="78" d="100"/>
        </p:scale>
        <p:origin x="9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8377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evolution of vehicle E/E architecture is driven by two primary forces: reducing physical complexity (wiring harness weight and cost) and enabling software-defined vehicles. Modern premium vehicles have 70-100+ ECUs interconnected by kilometres of wiring. The move from discrete ECUs to domain architecture grouped ECUs by function (powertrain, chassis, ADAS, body, infotainment). Zonal architecture groups by physical location instead, with zone controllers acting as local aggregation points that connect to central high-performance computers via high-bandwidth Ethernet backbone.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domain architecture, ECUs are grouped by functional domain. Each domain has a powerful domain controller that aggregates and processes data from its sub-ECUs. The central gateway routes inter-domain traffic. Limitations: (1) wiring still follows function, not proximity — a body ECU in the rear and one in the front both connect back to the body domain controller, requiring long cable runs. (2) Adding cross-domain features (e.g. ADAS using body sensors) requires inter-domain communication through the gateway, adding latency. (3) The gateway becomes a bottleneck as bandwidth demands grow.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zonal architecture, ECUs are grouped by physical proximity — all sensors and actuators in the front-left of the vehicle connect to the front-left zone controller, regardless of their functional domain. Zone controllers aggregate local I/O and communicate with the central high-performance computer over a high-bandwidth Ethernet backbone (typically 1 Gbps or 10 Gbps). Benefits: (1) dramatically shorter cable runs — sensors connect to the nearest zone controller, reducing harness weight by 20-30%. (2) Cross-domain features are handled in the central compute, eliminating gateway bottlenecks. (3) Software updates can be deployed centrally. Examples: VW MEB/SSP platform, BMW Neue Klasse, Mercedes-Benz MB.OS.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comparison row. Emphasise that zonal is not universally better — it requires a mature software platform (hypervisor, AUTOSAR Adaptive, SOA middleware) and high-bandwidth Ethernet backbone. Domain architecture is simpler for incremental evolution. The transition is driven by SDV requirements and wiring cost pressure. Many OEMs are in a hybrid phase with partial zonal implementation.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OSI model provides the conceptual framework. In automotive Ethernet, the key mapping is: Layer 1 = automotive PHY standards (100BASE-T1, 1000BASE-T1 — single twisted pair), Layer 2 = standard Ethernet MAC per IEEE 802.3 plus VLANs (802.1Q) and time-sensitive networking (802.1AS, 802.1Qbv), Layer 3 = standard IPv4/v6, Layer 4 = TCP/UDP, and the upper layers use automotive-specific protocols: SOME/IP for service-oriented communication, DoIP for diagnostics, SOME/IP-SD for service discovery. Note that IEEE 802 only covers Layers 1 and 2 — the MAC sublayer and the PHY.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automotive protocol stack from bottom to top. Key points: (1) At L1, automotive Ethernet uses single unshielded twisted pair (UTP) instead of the 4-pair cables used in IT Ethernet — this is critical for weight and cost. 100BASE-T1 (IEEE 802.3bw) and 1000BASE-T1 (IEEE 802.3bp) are the primary automotive PHY standards. (2) At L2, time-sensitive networking (TSN) extensions like 802.1AS (generalised PTP for time synchronisation) and 802.1Qbv (time-aware shaper for scheduled traffic) are essential for mixing ADAS real-time traffic with infotainment best-effort traffic on the same Ethernet backbone. (3) SOME/IP is the dominant automotive middleware — it enables service-oriented architecture where ECUs discover and subscribe to services dynamically.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IEEE 802 is the umbrella for all LAN/MAN standards. For automotive, the critical working groups are: 802.3 (Ethernet) — especially the automotive PHY amendments: 802.3bw (100BASE-T1), 802.3bp (1000BASE-T1), 802.3ch (multi-gigabit), and 802.3cg (10 Mbps for low-cost sensor networks). 802.1 (bridging) — especially 802.1Q (VLANs for traffic segregation), 802.1AS (generalised precision time protocol for synchronisation across the vehicle), and 802.1Qbv (time-aware shaper for deterministic scheduling). The key difference from IT Ethernet: automotive uses single twisted pair (not 4-pair Cat5/6), operates in harsh EMC environments, and requires very low latency for safety-critical ADAS traffic.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key concepts to emphasise: (1) The 802.1Q VLAN tag adds 4 bytes after the source MAC address. The Tag Control Information (TCI) contains the 3-bit Priority Code Point (PCP) for QoS and the 12-bit VLAN ID. In automotive, VLANs segregate traffic domains — ADAS traffic on one VLAN, infotainment on another, diagnostics on a third. (2) TSN extensions are what make Ethernet viable for automotive real-time: 802.1AS provides sub-microsecond time synchronisation across all switches and endpoints, and 802.1Qbv uses this shared time base to schedule gate open/close windows, guaranteeing worst-case latency for critical traffic.</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Alliance SIG (Special Interest Group) was founded in 2011 to promote automotive Ethernet adoption. The name stands for 'One-Pair Ether-Net'. Its role is NOT to create new standards (that's IEEE's job) but to define the interoperability, compliance testing, and application-level specifications that IEEE does not cover. For example, IEEE 802.3bw defines the 100BASE-T1 PHY electrically, but OPEN Alliance TC1 defines the compliance test procedure that PHY vendors must pass. Similarly, IEEE does not define sleep/wake behaviour for Ethernet (it's always-on by default) — TC10 fills this gap for automotive where energy management is critical. TC14 addresses the need for multi-gigabit over two pairs, beyond what 802.3ch single-pair covers.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TC10 is one of the most practically important OPEN Alliance specifications. In CAN networks, energy management is simple — the CAN transceiver has built-in selective wake (ISO 11898-2:2016) where a specific frame pattern on the bus wakes the node. Ethernet has no equivalent — IEEE 802.3az (EEE) reduces power during idle periods but doesn't truly sleep the PHY. TC10 defines: (1) a coordinated sleep handshake between MAC and PHY, (2) the PHY's ability to detect a specific wake pulse pattern on the twisted pair even while asleep, (3) the PHY's ability to forward wake events between the local host and the remote link partner. This is essential for partial networking — only the ECUs needed for a particular function wake up, while the rest remain in sleep, keeping vehicle standby current within the 12V battery budget.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TC14 is a newer and still-evolving OPEN Alliance activity. The fundamental trade-off is: single-pair STP (802.3ch) gives you multi-gigabit in a compact cable but is limited to ~15 m and requires shielding, which adds cost and weight. Two-pair UTP (TC14 scope) doubles the copper but eliminates the shield and extends reach to ~40 m, which is needed for trunk cables running the length of a vehicle (e.g., from a front zone controller to a rear zone controller in a zonal architecture — that's easily 4-5 metres in a compact car, 8+ metres in an SUV). The two specifications will coexist: 802.3ch for short, high-density connections (HPC to switch ASIC), TC14 for longer inter-zone trunks.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the three pillars work together: IEEE creates the formal standards (PHY electrical specifications, MAC protocol, TSN mechanisms). OPEN Alliance SIG takes those standards and creates the automotive ecosystem around them: compliance test specs so vendors can verify interoperability, application-level specs like TC10 sleep/wake that IEEE doesn't define, connector and cabling specs, and plugfest events where vendors verify that their PHYs actually work together. OEMs and Tier-1s then take the complete package and deploy it into vehicles, configuring AUTOSAR stacks, designing VLANs and QoS policies, and validating the system end-to-end.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F9F27"/>
          </a:solidFill>
          <a:ln/>
        </p:spPr>
        <p:txBody>
          <a:bodyPr/>
          <a:lstStyle/>
          <a:p>
            <a:endParaRPr lang="en-SG"/>
          </a:p>
        </p:txBody>
      </p:sp>
      <p:sp>
        <p:nvSpPr>
          <p:cNvPr id="3" name="Text 1"/>
          <p:cNvSpPr/>
          <p:nvPr/>
        </p:nvSpPr>
        <p:spPr>
          <a:xfrm>
            <a:off x="731520" y="1097280"/>
            <a:ext cx="7315200" cy="914400"/>
          </a:xfrm>
          <a:prstGeom prst="rect">
            <a:avLst/>
          </a:prstGeom>
          <a:noFill/>
          <a:ln/>
        </p:spPr>
        <p:txBody>
          <a:bodyPr wrap="square" lIns="0" tIns="0" rIns="0" bIns="0"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Automotive Ethernet</a:t>
            </a:r>
            <a:endParaRPr lang="en-US" sz="4200" dirty="0"/>
          </a:p>
        </p:txBody>
      </p:sp>
      <p:sp>
        <p:nvSpPr>
          <p:cNvPr id="4" name="Text 2"/>
          <p:cNvSpPr/>
          <p:nvPr/>
        </p:nvSpPr>
        <p:spPr>
          <a:xfrm>
            <a:off x="731520" y="1920240"/>
            <a:ext cx="7315200" cy="548640"/>
          </a:xfrm>
          <a:prstGeom prst="rect">
            <a:avLst/>
          </a:prstGeom>
          <a:noFill/>
          <a:ln/>
        </p:spPr>
        <p:txBody>
          <a:bodyPr wrap="square" lIns="0" tIns="0" rIns="0" bIns="0" rtlCol="0" anchor="ctr"/>
          <a:lstStyle/>
          <a:p>
            <a:pPr marL="0" indent="0">
              <a:buNone/>
            </a:pPr>
            <a:r>
              <a:rPr lang="en-US" sz="2200" dirty="0">
                <a:solidFill>
                  <a:srgbClr val="EF9F27"/>
                </a:solidFill>
                <a:latin typeface="Calibri" pitchFamily="34" charset="0"/>
                <a:ea typeface="Calibri" pitchFamily="34" charset="-122"/>
                <a:cs typeface="Calibri" pitchFamily="34" charset="-120"/>
              </a:rPr>
              <a:t>Architecture, Standards &amp; OPEN Alliance SIG</a:t>
            </a:r>
            <a:endParaRPr lang="en-US" sz="2200" dirty="0"/>
          </a:p>
        </p:txBody>
      </p:sp>
      <p:sp>
        <p:nvSpPr>
          <p:cNvPr id="5" name="Shape 3"/>
          <p:cNvSpPr/>
          <p:nvPr/>
        </p:nvSpPr>
        <p:spPr>
          <a:xfrm>
            <a:off x="731520" y="2743200"/>
            <a:ext cx="2286000" cy="27432"/>
          </a:xfrm>
          <a:prstGeom prst="rect">
            <a:avLst/>
          </a:prstGeom>
          <a:solidFill>
            <a:srgbClr val="065A82"/>
          </a:solidFill>
          <a:ln/>
        </p:spPr>
        <p:txBody>
          <a:bodyPr/>
          <a:lstStyle/>
          <a:p>
            <a:endParaRPr lang="en-SG"/>
          </a:p>
        </p:txBody>
      </p:sp>
      <p:sp>
        <p:nvSpPr>
          <p:cNvPr id="6" name="Text 4"/>
          <p:cNvSpPr/>
          <p:nvPr/>
        </p:nvSpPr>
        <p:spPr>
          <a:xfrm>
            <a:off x="731520" y="3017520"/>
            <a:ext cx="4572000" cy="36576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Training Session — 2 Hours</a:t>
            </a:r>
            <a:endParaRPr lang="en-US" sz="1400" dirty="0"/>
          </a:p>
        </p:txBody>
      </p:sp>
      <p:sp>
        <p:nvSpPr>
          <p:cNvPr id="7" name="Text 5"/>
          <p:cNvSpPr/>
          <p:nvPr/>
        </p:nvSpPr>
        <p:spPr>
          <a:xfrm>
            <a:off x="731520" y="4389120"/>
            <a:ext cx="4572000" cy="274320"/>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CONFIDENTIAL — Internal Use Only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54864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Session agenda</a:t>
            </a:r>
            <a:endParaRPr lang="en-US" sz="2800" dirty="0"/>
          </a:p>
        </p:txBody>
      </p:sp>
      <p:sp>
        <p:nvSpPr>
          <p:cNvPr id="3" name="Shape 1"/>
          <p:cNvSpPr/>
          <p:nvPr/>
        </p:nvSpPr>
        <p:spPr>
          <a:xfrm>
            <a:off x="731520" y="1188720"/>
            <a:ext cx="7680960" cy="658368"/>
          </a:xfrm>
          <a:prstGeom prst="rect">
            <a:avLst/>
          </a:prstGeom>
          <a:solidFill>
            <a:srgbClr val="F0F4F8"/>
          </a:solidFill>
          <a:ln/>
        </p:spPr>
        <p:txBody>
          <a:bodyPr/>
          <a:lstStyle/>
          <a:p>
            <a:endParaRPr lang="en-SG"/>
          </a:p>
        </p:txBody>
      </p:sp>
      <p:sp>
        <p:nvSpPr>
          <p:cNvPr id="4" name="Shape 2"/>
          <p:cNvSpPr/>
          <p:nvPr/>
        </p:nvSpPr>
        <p:spPr>
          <a:xfrm>
            <a:off x="731520" y="1188720"/>
            <a:ext cx="54864" cy="658368"/>
          </a:xfrm>
          <a:prstGeom prst="rect">
            <a:avLst/>
          </a:prstGeom>
          <a:solidFill>
            <a:srgbClr val="065A82"/>
          </a:solidFill>
          <a:ln/>
        </p:spPr>
        <p:txBody>
          <a:bodyPr/>
          <a:lstStyle/>
          <a:p>
            <a:endParaRPr lang="en-SG"/>
          </a:p>
        </p:txBody>
      </p:sp>
      <p:sp>
        <p:nvSpPr>
          <p:cNvPr id="5" name="Text 3"/>
          <p:cNvSpPr/>
          <p:nvPr/>
        </p:nvSpPr>
        <p:spPr>
          <a:xfrm>
            <a:off x="1005840" y="1261872"/>
            <a:ext cx="1463040" cy="25603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0:00 – 0:30</a:t>
            </a:r>
            <a:endParaRPr lang="en-US" sz="1200" dirty="0"/>
          </a:p>
        </p:txBody>
      </p:sp>
      <p:sp>
        <p:nvSpPr>
          <p:cNvPr id="6" name="Text 4"/>
          <p:cNvSpPr/>
          <p:nvPr/>
        </p:nvSpPr>
        <p:spPr>
          <a:xfrm>
            <a:off x="2560320" y="1243584"/>
            <a:ext cx="5029200" cy="27432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Zonal vs domain vehicle architecture</a:t>
            </a:r>
            <a:endParaRPr lang="en-US" sz="1500" dirty="0"/>
          </a:p>
        </p:txBody>
      </p:sp>
      <p:sp>
        <p:nvSpPr>
          <p:cNvPr id="7" name="Text 5"/>
          <p:cNvSpPr/>
          <p:nvPr/>
        </p:nvSpPr>
        <p:spPr>
          <a:xfrm>
            <a:off x="2560320" y="1536192"/>
            <a:ext cx="5029200" cy="237744"/>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E/E architecture evolution, trade-offs, OEM adoption</a:t>
            </a:r>
            <a:endParaRPr lang="en-US" sz="1100" dirty="0"/>
          </a:p>
        </p:txBody>
      </p:sp>
      <p:sp>
        <p:nvSpPr>
          <p:cNvPr id="8" name="Shape 6"/>
          <p:cNvSpPr/>
          <p:nvPr/>
        </p:nvSpPr>
        <p:spPr>
          <a:xfrm>
            <a:off x="731520" y="1938528"/>
            <a:ext cx="7680960" cy="658368"/>
          </a:xfrm>
          <a:prstGeom prst="rect">
            <a:avLst/>
          </a:prstGeom>
          <a:solidFill>
            <a:srgbClr val="FFFFFF"/>
          </a:solidFill>
          <a:ln/>
        </p:spPr>
        <p:txBody>
          <a:bodyPr/>
          <a:lstStyle/>
          <a:p>
            <a:endParaRPr lang="en-SG"/>
          </a:p>
        </p:txBody>
      </p:sp>
      <p:sp>
        <p:nvSpPr>
          <p:cNvPr id="9" name="Shape 7"/>
          <p:cNvSpPr/>
          <p:nvPr/>
        </p:nvSpPr>
        <p:spPr>
          <a:xfrm>
            <a:off x="731520" y="1938528"/>
            <a:ext cx="54864" cy="658368"/>
          </a:xfrm>
          <a:prstGeom prst="rect">
            <a:avLst/>
          </a:prstGeom>
          <a:solidFill>
            <a:srgbClr val="065A82"/>
          </a:solidFill>
          <a:ln/>
        </p:spPr>
        <p:txBody>
          <a:bodyPr/>
          <a:lstStyle/>
          <a:p>
            <a:endParaRPr lang="en-SG"/>
          </a:p>
        </p:txBody>
      </p:sp>
      <p:sp>
        <p:nvSpPr>
          <p:cNvPr id="10" name="Text 8"/>
          <p:cNvSpPr/>
          <p:nvPr/>
        </p:nvSpPr>
        <p:spPr>
          <a:xfrm>
            <a:off x="1005840" y="2011680"/>
            <a:ext cx="1463040" cy="25603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0:30 – 0:55</a:t>
            </a:r>
            <a:endParaRPr lang="en-US" sz="1200" dirty="0"/>
          </a:p>
        </p:txBody>
      </p:sp>
      <p:sp>
        <p:nvSpPr>
          <p:cNvPr id="11" name="Text 9"/>
          <p:cNvSpPr/>
          <p:nvPr/>
        </p:nvSpPr>
        <p:spPr>
          <a:xfrm>
            <a:off x="2560320" y="1993392"/>
            <a:ext cx="5029200" cy="27432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OSI 7-layer model</a:t>
            </a:r>
            <a:endParaRPr lang="en-US" sz="1500" dirty="0"/>
          </a:p>
        </p:txBody>
      </p:sp>
      <p:sp>
        <p:nvSpPr>
          <p:cNvPr id="12" name="Text 10"/>
          <p:cNvSpPr/>
          <p:nvPr/>
        </p:nvSpPr>
        <p:spPr>
          <a:xfrm>
            <a:off x="2560320" y="2286000"/>
            <a:ext cx="5029200" cy="237744"/>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Layer responsibilities, automotive protocol mapping</a:t>
            </a:r>
            <a:endParaRPr lang="en-US" sz="1100" dirty="0"/>
          </a:p>
        </p:txBody>
      </p:sp>
      <p:sp>
        <p:nvSpPr>
          <p:cNvPr id="13" name="Shape 11"/>
          <p:cNvSpPr/>
          <p:nvPr/>
        </p:nvSpPr>
        <p:spPr>
          <a:xfrm>
            <a:off x="731520" y="2688336"/>
            <a:ext cx="7680960" cy="658368"/>
          </a:xfrm>
          <a:prstGeom prst="rect">
            <a:avLst/>
          </a:prstGeom>
          <a:solidFill>
            <a:srgbClr val="F0F4F8"/>
          </a:solidFill>
          <a:ln/>
        </p:spPr>
        <p:txBody>
          <a:bodyPr/>
          <a:lstStyle/>
          <a:p>
            <a:endParaRPr lang="en-SG"/>
          </a:p>
        </p:txBody>
      </p:sp>
      <p:sp>
        <p:nvSpPr>
          <p:cNvPr id="14" name="Shape 12"/>
          <p:cNvSpPr/>
          <p:nvPr/>
        </p:nvSpPr>
        <p:spPr>
          <a:xfrm>
            <a:off x="731520" y="2688336"/>
            <a:ext cx="54864" cy="658368"/>
          </a:xfrm>
          <a:prstGeom prst="rect">
            <a:avLst/>
          </a:prstGeom>
          <a:solidFill>
            <a:srgbClr val="065A82"/>
          </a:solidFill>
          <a:ln/>
        </p:spPr>
        <p:txBody>
          <a:bodyPr/>
          <a:lstStyle/>
          <a:p>
            <a:endParaRPr lang="en-SG"/>
          </a:p>
        </p:txBody>
      </p:sp>
      <p:sp>
        <p:nvSpPr>
          <p:cNvPr id="15" name="Text 13"/>
          <p:cNvSpPr/>
          <p:nvPr/>
        </p:nvSpPr>
        <p:spPr>
          <a:xfrm>
            <a:off x="1005840" y="2761488"/>
            <a:ext cx="1463040" cy="25603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0:55 – 1:20</a:t>
            </a:r>
            <a:endParaRPr lang="en-US" sz="1200" dirty="0"/>
          </a:p>
        </p:txBody>
      </p:sp>
      <p:sp>
        <p:nvSpPr>
          <p:cNvPr id="16" name="Text 14"/>
          <p:cNvSpPr/>
          <p:nvPr/>
        </p:nvSpPr>
        <p:spPr>
          <a:xfrm>
            <a:off x="2560320" y="2743200"/>
            <a:ext cx="5029200" cy="27432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IEEE 802 family structure</a:t>
            </a:r>
            <a:endParaRPr lang="en-US" sz="1500" dirty="0"/>
          </a:p>
        </p:txBody>
      </p:sp>
      <p:sp>
        <p:nvSpPr>
          <p:cNvPr id="17" name="Text 15"/>
          <p:cNvSpPr/>
          <p:nvPr/>
        </p:nvSpPr>
        <p:spPr>
          <a:xfrm>
            <a:off x="2560320" y="3035808"/>
            <a:ext cx="5029200" cy="237744"/>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802.3 Ethernet, 802.1 bridging, automotive PHY standards</a:t>
            </a:r>
            <a:endParaRPr lang="en-US" sz="1100" dirty="0"/>
          </a:p>
        </p:txBody>
      </p:sp>
      <p:sp>
        <p:nvSpPr>
          <p:cNvPr id="18" name="Shape 16"/>
          <p:cNvSpPr/>
          <p:nvPr/>
        </p:nvSpPr>
        <p:spPr>
          <a:xfrm>
            <a:off x="731520" y="3438144"/>
            <a:ext cx="7680960" cy="658368"/>
          </a:xfrm>
          <a:prstGeom prst="rect">
            <a:avLst/>
          </a:prstGeom>
          <a:solidFill>
            <a:srgbClr val="FFFFFF"/>
          </a:solidFill>
          <a:ln/>
        </p:spPr>
        <p:txBody>
          <a:bodyPr/>
          <a:lstStyle/>
          <a:p>
            <a:endParaRPr lang="en-SG"/>
          </a:p>
        </p:txBody>
      </p:sp>
      <p:sp>
        <p:nvSpPr>
          <p:cNvPr id="19" name="Shape 17"/>
          <p:cNvSpPr/>
          <p:nvPr/>
        </p:nvSpPr>
        <p:spPr>
          <a:xfrm>
            <a:off x="731520" y="3438144"/>
            <a:ext cx="54864" cy="658368"/>
          </a:xfrm>
          <a:prstGeom prst="rect">
            <a:avLst/>
          </a:prstGeom>
          <a:solidFill>
            <a:srgbClr val="065A82"/>
          </a:solidFill>
          <a:ln/>
        </p:spPr>
        <p:txBody>
          <a:bodyPr/>
          <a:lstStyle/>
          <a:p>
            <a:endParaRPr lang="en-SG"/>
          </a:p>
        </p:txBody>
      </p:sp>
      <p:sp>
        <p:nvSpPr>
          <p:cNvPr id="20" name="Text 18"/>
          <p:cNvSpPr/>
          <p:nvPr/>
        </p:nvSpPr>
        <p:spPr>
          <a:xfrm>
            <a:off x="1005840" y="3511296"/>
            <a:ext cx="1463040" cy="25603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1:20 – 1:50</a:t>
            </a:r>
            <a:endParaRPr lang="en-US" sz="1200" dirty="0"/>
          </a:p>
        </p:txBody>
      </p:sp>
      <p:sp>
        <p:nvSpPr>
          <p:cNvPr id="21" name="Text 19"/>
          <p:cNvSpPr/>
          <p:nvPr/>
        </p:nvSpPr>
        <p:spPr>
          <a:xfrm>
            <a:off x="2560320" y="3493008"/>
            <a:ext cx="5029200" cy="27432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OPEN Alliance SIG</a:t>
            </a:r>
            <a:endParaRPr lang="en-US" sz="1500" dirty="0"/>
          </a:p>
        </p:txBody>
      </p:sp>
      <p:sp>
        <p:nvSpPr>
          <p:cNvPr id="22" name="Text 20"/>
          <p:cNvSpPr/>
          <p:nvPr/>
        </p:nvSpPr>
        <p:spPr>
          <a:xfrm>
            <a:off x="2560320" y="3785616"/>
            <a:ext cx="5029200" cy="237744"/>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TC10 sleep/wake, TC14 two-pair Ethernet, ecosystem role</a:t>
            </a:r>
            <a:endParaRPr lang="en-US" sz="1100" dirty="0"/>
          </a:p>
        </p:txBody>
      </p:sp>
      <p:sp>
        <p:nvSpPr>
          <p:cNvPr id="23" name="Shape 21"/>
          <p:cNvSpPr/>
          <p:nvPr/>
        </p:nvSpPr>
        <p:spPr>
          <a:xfrm>
            <a:off x="731520" y="4187952"/>
            <a:ext cx="7680960" cy="658368"/>
          </a:xfrm>
          <a:prstGeom prst="rect">
            <a:avLst/>
          </a:prstGeom>
          <a:solidFill>
            <a:srgbClr val="F0F4F8"/>
          </a:solidFill>
          <a:ln/>
        </p:spPr>
        <p:txBody>
          <a:bodyPr/>
          <a:lstStyle/>
          <a:p>
            <a:endParaRPr lang="en-SG"/>
          </a:p>
        </p:txBody>
      </p:sp>
      <p:sp>
        <p:nvSpPr>
          <p:cNvPr id="24" name="Shape 22"/>
          <p:cNvSpPr/>
          <p:nvPr/>
        </p:nvSpPr>
        <p:spPr>
          <a:xfrm>
            <a:off x="731520" y="4187952"/>
            <a:ext cx="54864" cy="658368"/>
          </a:xfrm>
          <a:prstGeom prst="rect">
            <a:avLst/>
          </a:prstGeom>
          <a:solidFill>
            <a:srgbClr val="065A82"/>
          </a:solidFill>
          <a:ln/>
        </p:spPr>
        <p:txBody>
          <a:bodyPr/>
          <a:lstStyle/>
          <a:p>
            <a:endParaRPr lang="en-SG"/>
          </a:p>
        </p:txBody>
      </p:sp>
      <p:sp>
        <p:nvSpPr>
          <p:cNvPr id="25" name="Text 23"/>
          <p:cNvSpPr/>
          <p:nvPr/>
        </p:nvSpPr>
        <p:spPr>
          <a:xfrm>
            <a:off x="1005840" y="4261104"/>
            <a:ext cx="1463040" cy="25603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1:50 – 2:00</a:t>
            </a:r>
            <a:endParaRPr lang="en-US" sz="1200" dirty="0"/>
          </a:p>
        </p:txBody>
      </p:sp>
      <p:sp>
        <p:nvSpPr>
          <p:cNvPr id="26" name="Text 24"/>
          <p:cNvSpPr/>
          <p:nvPr/>
        </p:nvSpPr>
        <p:spPr>
          <a:xfrm>
            <a:off x="2560320" y="4242816"/>
            <a:ext cx="5029200" cy="274320"/>
          </a:xfrm>
          <a:prstGeom prst="rect">
            <a:avLst/>
          </a:prstGeom>
          <a:noFill/>
          <a:ln/>
        </p:spPr>
        <p:txBody>
          <a:bodyPr wrap="square" lIns="0" tIns="0" rIns="0" bIns="0"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Summary &amp; Q/A</a:t>
            </a:r>
            <a:endParaRPr lang="en-US" sz="1500" dirty="0"/>
          </a:p>
        </p:txBody>
      </p:sp>
      <p:sp>
        <p:nvSpPr>
          <p:cNvPr id="27" name="Text 25"/>
          <p:cNvSpPr/>
          <p:nvPr/>
        </p:nvSpPr>
        <p:spPr>
          <a:xfrm>
            <a:off x="2560320" y="4535424"/>
            <a:ext cx="5029200" cy="237744"/>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Key takeaways, further reading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D4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F9F27"/>
          </a:solidFill>
          <a:ln/>
        </p:spPr>
        <p:txBody>
          <a:bodyPr/>
          <a:lstStyle/>
          <a:p>
            <a:endParaRPr lang="en-SG"/>
          </a:p>
        </p:txBody>
      </p:sp>
      <p:sp>
        <p:nvSpPr>
          <p:cNvPr id="3" name="Text 1"/>
          <p:cNvSpPr/>
          <p:nvPr/>
        </p:nvSpPr>
        <p:spPr>
          <a:xfrm>
            <a:off x="731520" y="1371600"/>
            <a:ext cx="1097280" cy="731520"/>
          </a:xfrm>
          <a:prstGeom prst="rect">
            <a:avLst/>
          </a:prstGeom>
          <a:noFill/>
          <a:ln/>
        </p:spPr>
        <p:txBody>
          <a:bodyPr wrap="square" lIns="0" tIns="0" rIns="0" bIns="0" rtlCol="0" anchor="ctr"/>
          <a:lstStyle/>
          <a:p>
            <a:pPr marL="0" indent="0">
              <a:buNone/>
            </a:pPr>
            <a:r>
              <a:rPr lang="en-US" sz="4800" b="1" dirty="0">
                <a:solidFill>
                  <a:srgbClr val="EF9F27"/>
                </a:solidFill>
                <a:latin typeface="Calibri" pitchFamily="34" charset="0"/>
                <a:ea typeface="Calibri" pitchFamily="34" charset="-122"/>
                <a:cs typeface="Calibri" pitchFamily="34" charset="-120"/>
              </a:rPr>
              <a:t>01</a:t>
            </a:r>
            <a:endParaRPr lang="en-US" sz="4800" dirty="0"/>
          </a:p>
        </p:txBody>
      </p:sp>
      <p:sp>
        <p:nvSpPr>
          <p:cNvPr id="4" name="Text 2"/>
          <p:cNvSpPr/>
          <p:nvPr/>
        </p:nvSpPr>
        <p:spPr>
          <a:xfrm>
            <a:off x="731520" y="2194560"/>
            <a:ext cx="6400800" cy="10972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Zonal vs domain</a:t>
            </a:r>
            <a:endParaRPr lang="en-US" sz="3200" dirty="0"/>
          </a:p>
          <a:p>
            <a:pPr marL="0" indent="0">
              <a:buNone/>
            </a:pPr>
            <a:r>
              <a:rPr lang="en-US" sz="3200" b="1" dirty="0">
                <a:solidFill>
                  <a:srgbClr val="FFFFFF"/>
                </a:solidFill>
                <a:latin typeface="Calibri" pitchFamily="34" charset="0"/>
                <a:ea typeface="Calibri" pitchFamily="34" charset="-122"/>
                <a:cs typeface="Calibri" pitchFamily="34" charset="-120"/>
              </a:rPr>
              <a:t>vehicle architecture</a:t>
            </a:r>
            <a:endParaRPr lang="en-US" sz="3200" dirty="0"/>
          </a:p>
        </p:txBody>
      </p:sp>
      <p:sp>
        <p:nvSpPr>
          <p:cNvPr id="5" name="Text 3"/>
          <p:cNvSpPr/>
          <p:nvPr/>
        </p:nvSpPr>
        <p:spPr>
          <a:xfrm>
            <a:off x="731520" y="3474720"/>
            <a:ext cx="5486400" cy="36576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E/E architecture evolution  •  30 minutes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54864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E/E architecture evolution</a:t>
            </a:r>
            <a:endParaRPr lang="en-US" sz="2800" dirty="0"/>
          </a:p>
        </p:txBody>
      </p:sp>
      <p:sp>
        <p:nvSpPr>
          <p:cNvPr id="3" name="Shape 1"/>
          <p:cNvSpPr/>
          <p:nvPr/>
        </p:nvSpPr>
        <p:spPr>
          <a:xfrm>
            <a:off x="731520" y="1371600"/>
            <a:ext cx="1828800" cy="36576"/>
          </a:xfrm>
          <a:prstGeom prst="rect">
            <a:avLst/>
          </a:prstGeom>
          <a:solidFill>
            <a:srgbClr val="94A3B8"/>
          </a:solidFill>
          <a:ln/>
        </p:spPr>
        <p:txBody>
          <a:bodyPr/>
          <a:lstStyle/>
          <a:p>
            <a:endParaRPr lang="en-SG"/>
          </a:p>
        </p:txBody>
      </p:sp>
      <p:sp>
        <p:nvSpPr>
          <p:cNvPr id="4" name="Shape 2"/>
          <p:cNvSpPr/>
          <p:nvPr/>
        </p:nvSpPr>
        <p:spPr>
          <a:xfrm>
            <a:off x="1508760" y="1261872"/>
            <a:ext cx="256032" cy="256032"/>
          </a:xfrm>
          <a:prstGeom prst="ellipse">
            <a:avLst/>
          </a:prstGeom>
          <a:solidFill>
            <a:srgbClr val="94A3B8"/>
          </a:solidFill>
          <a:ln/>
        </p:spPr>
        <p:txBody>
          <a:bodyPr/>
          <a:lstStyle/>
          <a:p>
            <a:endParaRPr lang="en-SG"/>
          </a:p>
        </p:txBody>
      </p:sp>
      <p:sp>
        <p:nvSpPr>
          <p:cNvPr id="5" name="Text 3"/>
          <p:cNvSpPr/>
          <p:nvPr/>
        </p:nvSpPr>
        <p:spPr>
          <a:xfrm>
            <a:off x="731520" y="1645920"/>
            <a:ext cx="1828800" cy="274320"/>
          </a:xfrm>
          <a:prstGeom prst="rect">
            <a:avLst/>
          </a:prstGeom>
          <a:noFill/>
          <a:ln/>
        </p:spPr>
        <p:txBody>
          <a:bodyPr wrap="square" lIns="0" tIns="0" rIns="0" bIns="0" rtlCol="0" anchor="ctr"/>
          <a:lstStyle/>
          <a:p>
            <a:pPr marL="0" indent="0" algn="ctr">
              <a:buNone/>
            </a:pPr>
            <a:r>
              <a:rPr lang="en-US" sz="1200" b="1" dirty="0">
                <a:solidFill>
                  <a:srgbClr val="94A3B8"/>
                </a:solidFill>
                <a:latin typeface="Calibri" pitchFamily="34" charset="0"/>
                <a:ea typeface="Calibri" pitchFamily="34" charset="-122"/>
                <a:cs typeface="Calibri" pitchFamily="34" charset="-120"/>
              </a:rPr>
              <a:t>2000s</a:t>
            </a:r>
            <a:endParaRPr lang="en-US" sz="1200" dirty="0"/>
          </a:p>
        </p:txBody>
      </p:sp>
      <p:sp>
        <p:nvSpPr>
          <p:cNvPr id="6" name="Text 4"/>
          <p:cNvSpPr/>
          <p:nvPr/>
        </p:nvSpPr>
        <p:spPr>
          <a:xfrm>
            <a:off x="731520" y="1920240"/>
            <a:ext cx="1828800" cy="27432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Discrete ECUs</a:t>
            </a:r>
            <a:endParaRPr lang="en-US" sz="1400" dirty="0"/>
          </a:p>
        </p:txBody>
      </p:sp>
      <p:sp>
        <p:nvSpPr>
          <p:cNvPr id="7" name="Text 5"/>
          <p:cNvSpPr/>
          <p:nvPr/>
        </p:nvSpPr>
        <p:spPr>
          <a:xfrm>
            <a:off x="731520" y="2286000"/>
            <a:ext cx="1828800" cy="914400"/>
          </a:xfrm>
          <a:prstGeom prst="rect">
            <a:avLst/>
          </a:prstGeom>
          <a:noFill/>
          <a:ln/>
        </p:spPr>
        <p:txBody>
          <a:bodyPr wrap="square" lIns="0" tIns="0" rIns="0" bIns="0" rtlCol="0" anchor="ctr"/>
          <a:lstStyle/>
          <a:p>
            <a:pPr marL="0" indent="0" algn="ctr">
              <a:lnSpc>
                <a:spcPct val="130000"/>
              </a:lnSpc>
              <a:buNone/>
            </a:pPr>
            <a:r>
              <a:rPr lang="en-US" sz="1100" dirty="0">
                <a:solidFill>
                  <a:srgbClr val="475569"/>
                </a:solidFill>
                <a:latin typeface="Calibri" pitchFamily="34" charset="0"/>
                <a:ea typeface="Calibri" pitchFamily="34" charset="-122"/>
                <a:cs typeface="Calibri" pitchFamily="34" charset="-120"/>
              </a:rPr>
              <a:t>Point-to-point wiring</a:t>
            </a:r>
            <a:endParaRPr lang="en-US" sz="1100" dirty="0"/>
          </a:p>
          <a:p>
            <a:pPr marL="0" indent="0" algn="ctr">
              <a:lnSpc>
                <a:spcPct val="130000"/>
              </a:lnSpc>
              <a:buNone/>
            </a:pPr>
            <a:r>
              <a:rPr lang="en-US" sz="1100" dirty="0">
                <a:solidFill>
                  <a:srgbClr val="475569"/>
                </a:solidFill>
                <a:latin typeface="Calibri" pitchFamily="34" charset="0"/>
                <a:ea typeface="Calibri" pitchFamily="34" charset="-122"/>
                <a:cs typeface="Calibri" pitchFamily="34" charset="-120"/>
              </a:rPr>
              <a:t>70–100+ ECUs</a:t>
            </a:r>
            <a:endParaRPr lang="en-US" sz="1100" dirty="0"/>
          </a:p>
          <a:p>
            <a:pPr marL="0" indent="0" algn="ctr">
              <a:lnSpc>
                <a:spcPct val="130000"/>
              </a:lnSpc>
              <a:buNone/>
            </a:pPr>
            <a:r>
              <a:rPr lang="en-US" sz="1100" dirty="0">
                <a:solidFill>
                  <a:srgbClr val="475569"/>
                </a:solidFill>
                <a:latin typeface="Calibri" pitchFamily="34" charset="0"/>
                <a:ea typeface="Calibri" pitchFamily="34" charset="-122"/>
                <a:cs typeface="Calibri" pitchFamily="34" charset="-120"/>
              </a:rPr>
              <a:t>CAN/LIN buses</a:t>
            </a:r>
            <a:endParaRPr lang="en-US" sz="1100" dirty="0"/>
          </a:p>
        </p:txBody>
      </p:sp>
      <p:sp>
        <p:nvSpPr>
          <p:cNvPr id="8" name="Shape 6"/>
          <p:cNvSpPr/>
          <p:nvPr/>
        </p:nvSpPr>
        <p:spPr>
          <a:xfrm>
            <a:off x="2788920" y="1371600"/>
            <a:ext cx="1828800" cy="36576"/>
          </a:xfrm>
          <a:prstGeom prst="rect">
            <a:avLst/>
          </a:prstGeom>
          <a:solidFill>
            <a:srgbClr val="065A82"/>
          </a:solidFill>
          <a:ln/>
        </p:spPr>
        <p:txBody>
          <a:bodyPr/>
          <a:lstStyle/>
          <a:p>
            <a:endParaRPr lang="en-SG"/>
          </a:p>
        </p:txBody>
      </p:sp>
      <p:sp>
        <p:nvSpPr>
          <p:cNvPr id="9" name="Shape 7"/>
          <p:cNvSpPr/>
          <p:nvPr/>
        </p:nvSpPr>
        <p:spPr>
          <a:xfrm>
            <a:off x="3566160" y="1261872"/>
            <a:ext cx="256032" cy="256032"/>
          </a:xfrm>
          <a:prstGeom prst="ellipse">
            <a:avLst/>
          </a:prstGeom>
          <a:solidFill>
            <a:srgbClr val="065A82"/>
          </a:solidFill>
          <a:ln/>
        </p:spPr>
        <p:txBody>
          <a:bodyPr/>
          <a:lstStyle/>
          <a:p>
            <a:endParaRPr lang="en-SG"/>
          </a:p>
        </p:txBody>
      </p:sp>
      <p:sp>
        <p:nvSpPr>
          <p:cNvPr id="10" name="Text 8"/>
          <p:cNvSpPr/>
          <p:nvPr/>
        </p:nvSpPr>
        <p:spPr>
          <a:xfrm>
            <a:off x="2788920" y="1645920"/>
            <a:ext cx="1828800" cy="274320"/>
          </a:xfrm>
          <a:prstGeom prst="rect">
            <a:avLst/>
          </a:prstGeom>
          <a:noFill/>
          <a:ln/>
        </p:spPr>
        <p:txBody>
          <a:bodyPr wrap="square" lIns="0" tIns="0" rIns="0" bIns="0" rtlCol="0" anchor="ctr"/>
          <a:lstStyle/>
          <a:p>
            <a:pPr marL="0" indent="0" algn="ctr">
              <a:buNone/>
            </a:pPr>
            <a:r>
              <a:rPr lang="en-US" sz="1200" b="1" dirty="0">
                <a:solidFill>
                  <a:srgbClr val="065A82"/>
                </a:solidFill>
                <a:latin typeface="Calibri" pitchFamily="34" charset="0"/>
                <a:ea typeface="Calibri" pitchFamily="34" charset="-122"/>
                <a:cs typeface="Calibri" pitchFamily="34" charset="-120"/>
              </a:rPr>
              <a:t>2010s</a:t>
            </a:r>
            <a:endParaRPr lang="en-US" sz="1200" dirty="0"/>
          </a:p>
        </p:txBody>
      </p:sp>
      <p:sp>
        <p:nvSpPr>
          <p:cNvPr id="11" name="Text 9"/>
          <p:cNvSpPr/>
          <p:nvPr/>
        </p:nvSpPr>
        <p:spPr>
          <a:xfrm>
            <a:off x="2788920" y="1920240"/>
            <a:ext cx="1828800" cy="27432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Domain arch.</a:t>
            </a:r>
            <a:endParaRPr lang="en-US" sz="1400" dirty="0"/>
          </a:p>
        </p:txBody>
      </p:sp>
      <p:sp>
        <p:nvSpPr>
          <p:cNvPr id="12" name="Text 10"/>
          <p:cNvSpPr/>
          <p:nvPr/>
        </p:nvSpPr>
        <p:spPr>
          <a:xfrm>
            <a:off x="2788920" y="2286000"/>
            <a:ext cx="1828800" cy="914400"/>
          </a:xfrm>
          <a:prstGeom prst="rect">
            <a:avLst/>
          </a:prstGeom>
          <a:noFill/>
          <a:ln/>
        </p:spPr>
        <p:txBody>
          <a:bodyPr wrap="square" lIns="0" tIns="0" rIns="0" bIns="0" rtlCol="0" anchor="ctr"/>
          <a:lstStyle/>
          <a:p>
            <a:pPr marL="0" indent="0" algn="ctr">
              <a:lnSpc>
                <a:spcPct val="130000"/>
              </a:lnSpc>
              <a:buNone/>
            </a:pPr>
            <a:r>
              <a:rPr lang="en-US" sz="1100" dirty="0">
                <a:solidFill>
                  <a:srgbClr val="475569"/>
                </a:solidFill>
                <a:latin typeface="Calibri" pitchFamily="34" charset="0"/>
                <a:ea typeface="Calibri" pitchFamily="34" charset="-122"/>
                <a:cs typeface="Calibri" pitchFamily="34" charset="-120"/>
              </a:rPr>
              <a:t>Domain controllers</a:t>
            </a:r>
            <a:endParaRPr lang="en-US" sz="1100" dirty="0"/>
          </a:p>
          <a:p>
            <a:pPr marL="0" indent="0" algn="ctr">
              <a:lnSpc>
                <a:spcPct val="130000"/>
              </a:lnSpc>
              <a:buNone/>
            </a:pPr>
            <a:r>
              <a:rPr lang="en-US" sz="1100" dirty="0">
                <a:solidFill>
                  <a:srgbClr val="475569"/>
                </a:solidFill>
                <a:latin typeface="Calibri" pitchFamily="34" charset="0"/>
                <a:ea typeface="Calibri" pitchFamily="34" charset="-122"/>
                <a:cs typeface="Calibri" pitchFamily="34" charset="-120"/>
              </a:rPr>
              <a:t>Functional grouping</a:t>
            </a:r>
            <a:endParaRPr lang="en-US" sz="1100" dirty="0"/>
          </a:p>
          <a:p>
            <a:pPr marL="0" indent="0" algn="ctr">
              <a:lnSpc>
                <a:spcPct val="130000"/>
              </a:lnSpc>
              <a:buNone/>
            </a:pPr>
            <a:r>
              <a:rPr lang="en-US" sz="1100" dirty="0">
                <a:solidFill>
                  <a:srgbClr val="475569"/>
                </a:solidFill>
                <a:latin typeface="Calibri" pitchFamily="34" charset="0"/>
                <a:ea typeface="Calibri" pitchFamily="34" charset="-122"/>
                <a:cs typeface="Calibri" pitchFamily="34" charset="-120"/>
              </a:rPr>
              <a:t>Gateway ECU</a:t>
            </a:r>
            <a:endParaRPr lang="en-US" sz="1100" dirty="0"/>
          </a:p>
        </p:txBody>
      </p:sp>
      <p:sp>
        <p:nvSpPr>
          <p:cNvPr id="13" name="Shape 11"/>
          <p:cNvSpPr/>
          <p:nvPr/>
        </p:nvSpPr>
        <p:spPr>
          <a:xfrm>
            <a:off x="4846320" y="1371600"/>
            <a:ext cx="1828800" cy="36576"/>
          </a:xfrm>
          <a:prstGeom prst="rect">
            <a:avLst/>
          </a:prstGeom>
          <a:solidFill>
            <a:srgbClr val="0F6E56"/>
          </a:solidFill>
          <a:ln/>
        </p:spPr>
        <p:txBody>
          <a:bodyPr/>
          <a:lstStyle/>
          <a:p>
            <a:endParaRPr lang="en-SG"/>
          </a:p>
        </p:txBody>
      </p:sp>
      <p:sp>
        <p:nvSpPr>
          <p:cNvPr id="14" name="Shape 12"/>
          <p:cNvSpPr/>
          <p:nvPr/>
        </p:nvSpPr>
        <p:spPr>
          <a:xfrm>
            <a:off x="5623560" y="1261872"/>
            <a:ext cx="256032" cy="256032"/>
          </a:xfrm>
          <a:prstGeom prst="ellipse">
            <a:avLst/>
          </a:prstGeom>
          <a:solidFill>
            <a:srgbClr val="0F6E56"/>
          </a:solidFill>
          <a:ln/>
        </p:spPr>
        <p:txBody>
          <a:bodyPr/>
          <a:lstStyle/>
          <a:p>
            <a:endParaRPr lang="en-SG"/>
          </a:p>
        </p:txBody>
      </p:sp>
      <p:sp>
        <p:nvSpPr>
          <p:cNvPr id="15" name="Text 13"/>
          <p:cNvSpPr/>
          <p:nvPr/>
        </p:nvSpPr>
        <p:spPr>
          <a:xfrm>
            <a:off x="4846320" y="1645920"/>
            <a:ext cx="1828800" cy="274320"/>
          </a:xfrm>
          <a:prstGeom prst="rect">
            <a:avLst/>
          </a:prstGeom>
          <a:noFill/>
          <a:ln/>
        </p:spPr>
        <p:txBody>
          <a:bodyPr wrap="square" lIns="0" tIns="0" rIns="0" bIns="0" rtlCol="0" anchor="ctr"/>
          <a:lstStyle/>
          <a:p>
            <a:pPr marL="0" indent="0" algn="ctr">
              <a:buNone/>
            </a:pPr>
            <a:r>
              <a:rPr lang="en-US" sz="1200" b="1" dirty="0">
                <a:solidFill>
                  <a:srgbClr val="0F6E56"/>
                </a:solidFill>
                <a:latin typeface="Calibri" pitchFamily="34" charset="0"/>
                <a:ea typeface="Calibri" pitchFamily="34" charset="-122"/>
                <a:cs typeface="Calibri" pitchFamily="34" charset="-120"/>
              </a:rPr>
              <a:t>2020s</a:t>
            </a:r>
            <a:endParaRPr lang="en-US" sz="1200" dirty="0"/>
          </a:p>
        </p:txBody>
      </p:sp>
      <p:sp>
        <p:nvSpPr>
          <p:cNvPr id="16" name="Text 14"/>
          <p:cNvSpPr/>
          <p:nvPr/>
        </p:nvSpPr>
        <p:spPr>
          <a:xfrm>
            <a:off x="4846320" y="1920240"/>
            <a:ext cx="1828800" cy="27432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Zonal arch.</a:t>
            </a:r>
            <a:endParaRPr lang="en-US" sz="1400" dirty="0"/>
          </a:p>
        </p:txBody>
      </p:sp>
      <p:sp>
        <p:nvSpPr>
          <p:cNvPr id="17" name="Text 15"/>
          <p:cNvSpPr/>
          <p:nvPr/>
        </p:nvSpPr>
        <p:spPr>
          <a:xfrm>
            <a:off x="4846320" y="2286000"/>
            <a:ext cx="1828800" cy="914400"/>
          </a:xfrm>
          <a:prstGeom prst="rect">
            <a:avLst/>
          </a:prstGeom>
          <a:noFill/>
          <a:ln/>
        </p:spPr>
        <p:txBody>
          <a:bodyPr wrap="square" lIns="0" tIns="0" rIns="0" bIns="0" rtlCol="0" anchor="ctr"/>
          <a:lstStyle/>
          <a:p>
            <a:pPr marL="0" indent="0" algn="ctr">
              <a:lnSpc>
                <a:spcPct val="130000"/>
              </a:lnSpc>
              <a:buNone/>
            </a:pPr>
            <a:r>
              <a:rPr lang="en-US" sz="1100" dirty="0">
                <a:solidFill>
                  <a:srgbClr val="475569"/>
                </a:solidFill>
                <a:latin typeface="Calibri" pitchFamily="34" charset="0"/>
                <a:ea typeface="Calibri" pitchFamily="34" charset="-122"/>
                <a:cs typeface="Calibri" pitchFamily="34" charset="-120"/>
              </a:rPr>
              <a:t>Zone controllers</a:t>
            </a:r>
            <a:endParaRPr lang="en-US" sz="1100" dirty="0"/>
          </a:p>
          <a:p>
            <a:pPr marL="0" indent="0" algn="ctr">
              <a:lnSpc>
                <a:spcPct val="130000"/>
              </a:lnSpc>
              <a:buNone/>
            </a:pPr>
            <a:r>
              <a:rPr lang="en-US" sz="1100" dirty="0">
                <a:solidFill>
                  <a:srgbClr val="475569"/>
                </a:solidFill>
                <a:latin typeface="Calibri" pitchFamily="34" charset="0"/>
                <a:ea typeface="Calibri" pitchFamily="34" charset="-122"/>
                <a:cs typeface="Calibri" pitchFamily="34" charset="-120"/>
              </a:rPr>
              <a:t>Location-based</a:t>
            </a:r>
            <a:endParaRPr lang="en-US" sz="1100" dirty="0"/>
          </a:p>
          <a:p>
            <a:pPr marL="0" indent="0" algn="ctr">
              <a:lnSpc>
                <a:spcPct val="130000"/>
              </a:lnSpc>
              <a:buNone/>
            </a:pPr>
            <a:r>
              <a:rPr lang="en-US" sz="1100" dirty="0">
                <a:solidFill>
                  <a:srgbClr val="475569"/>
                </a:solidFill>
                <a:latin typeface="Calibri" pitchFamily="34" charset="0"/>
                <a:ea typeface="Calibri" pitchFamily="34" charset="-122"/>
                <a:cs typeface="Calibri" pitchFamily="34" charset="-120"/>
              </a:rPr>
              <a:t>Central compute</a:t>
            </a:r>
            <a:endParaRPr lang="en-US" sz="1100" dirty="0"/>
          </a:p>
        </p:txBody>
      </p:sp>
      <p:sp>
        <p:nvSpPr>
          <p:cNvPr id="18" name="Shape 16"/>
          <p:cNvSpPr/>
          <p:nvPr/>
        </p:nvSpPr>
        <p:spPr>
          <a:xfrm>
            <a:off x="6903720" y="1371600"/>
            <a:ext cx="1828800" cy="36576"/>
          </a:xfrm>
          <a:prstGeom prst="rect">
            <a:avLst/>
          </a:prstGeom>
          <a:solidFill>
            <a:srgbClr val="EF9F27"/>
          </a:solidFill>
          <a:ln/>
        </p:spPr>
        <p:txBody>
          <a:bodyPr/>
          <a:lstStyle/>
          <a:p>
            <a:endParaRPr lang="en-SG"/>
          </a:p>
        </p:txBody>
      </p:sp>
      <p:sp>
        <p:nvSpPr>
          <p:cNvPr id="19" name="Shape 17"/>
          <p:cNvSpPr/>
          <p:nvPr/>
        </p:nvSpPr>
        <p:spPr>
          <a:xfrm>
            <a:off x="7680960" y="1261872"/>
            <a:ext cx="256032" cy="256032"/>
          </a:xfrm>
          <a:prstGeom prst="ellipse">
            <a:avLst/>
          </a:prstGeom>
          <a:solidFill>
            <a:srgbClr val="EF9F27"/>
          </a:solidFill>
          <a:ln/>
        </p:spPr>
        <p:txBody>
          <a:bodyPr/>
          <a:lstStyle/>
          <a:p>
            <a:endParaRPr lang="en-SG"/>
          </a:p>
        </p:txBody>
      </p:sp>
      <p:sp>
        <p:nvSpPr>
          <p:cNvPr id="20" name="Text 18"/>
          <p:cNvSpPr/>
          <p:nvPr/>
        </p:nvSpPr>
        <p:spPr>
          <a:xfrm>
            <a:off x="6903720" y="1645920"/>
            <a:ext cx="1828800" cy="274320"/>
          </a:xfrm>
          <a:prstGeom prst="rect">
            <a:avLst/>
          </a:prstGeom>
          <a:noFill/>
          <a:ln/>
        </p:spPr>
        <p:txBody>
          <a:bodyPr wrap="square" lIns="0" tIns="0" rIns="0" bIns="0" rtlCol="0" anchor="ctr"/>
          <a:lstStyle/>
          <a:p>
            <a:pPr marL="0" indent="0" algn="ctr">
              <a:buNone/>
            </a:pPr>
            <a:r>
              <a:rPr lang="en-US" sz="1200" b="1" dirty="0">
                <a:solidFill>
                  <a:srgbClr val="EF9F27"/>
                </a:solidFill>
                <a:latin typeface="Calibri" pitchFamily="34" charset="0"/>
                <a:ea typeface="Calibri" pitchFamily="34" charset="-122"/>
                <a:cs typeface="Calibri" pitchFamily="34" charset="-120"/>
              </a:rPr>
              <a:t>Future</a:t>
            </a:r>
            <a:endParaRPr lang="en-US" sz="1200" dirty="0"/>
          </a:p>
        </p:txBody>
      </p:sp>
      <p:sp>
        <p:nvSpPr>
          <p:cNvPr id="21" name="Text 19"/>
          <p:cNvSpPr/>
          <p:nvPr/>
        </p:nvSpPr>
        <p:spPr>
          <a:xfrm>
            <a:off x="6903720" y="1920240"/>
            <a:ext cx="1828800" cy="27432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Vehicle computer</a:t>
            </a:r>
            <a:endParaRPr lang="en-US" sz="1400" dirty="0"/>
          </a:p>
        </p:txBody>
      </p:sp>
      <p:sp>
        <p:nvSpPr>
          <p:cNvPr id="22" name="Text 20"/>
          <p:cNvSpPr/>
          <p:nvPr/>
        </p:nvSpPr>
        <p:spPr>
          <a:xfrm>
            <a:off x="6903720" y="2286000"/>
            <a:ext cx="1828800" cy="914400"/>
          </a:xfrm>
          <a:prstGeom prst="rect">
            <a:avLst/>
          </a:prstGeom>
          <a:noFill/>
          <a:ln/>
        </p:spPr>
        <p:txBody>
          <a:bodyPr wrap="square" lIns="0" tIns="0" rIns="0" bIns="0" rtlCol="0" anchor="ctr"/>
          <a:lstStyle/>
          <a:p>
            <a:pPr marL="0" indent="0" algn="ctr">
              <a:lnSpc>
                <a:spcPct val="130000"/>
              </a:lnSpc>
              <a:buNone/>
            </a:pPr>
            <a:r>
              <a:rPr lang="en-US" sz="1100" dirty="0">
                <a:solidFill>
                  <a:srgbClr val="475569"/>
                </a:solidFill>
                <a:latin typeface="Calibri" pitchFamily="34" charset="0"/>
                <a:ea typeface="Calibri" pitchFamily="34" charset="-122"/>
                <a:cs typeface="Calibri" pitchFamily="34" charset="-120"/>
              </a:rPr>
              <a:t>Single HPC</a:t>
            </a:r>
            <a:endParaRPr lang="en-US" sz="1100" dirty="0"/>
          </a:p>
          <a:p>
            <a:pPr marL="0" indent="0" algn="ctr">
              <a:lnSpc>
                <a:spcPct val="130000"/>
              </a:lnSpc>
              <a:buNone/>
            </a:pPr>
            <a:r>
              <a:rPr lang="en-US" sz="1100" dirty="0">
                <a:solidFill>
                  <a:srgbClr val="475569"/>
                </a:solidFill>
                <a:latin typeface="Calibri" pitchFamily="34" charset="0"/>
                <a:ea typeface="Calibri" pitchFamily="34" charset="-122"/>
                <a:cs typeface="Calibri" pitchFamily="34" charset="-120"/>
              </a:rPr>
              <a:t>Software-defined</a:t>
            </a:r>
            <a:endParaRPr lang="en-US" sz="1100" dirty="0"/>
          </a:p>
          <a:p>
            <a:pPr marL="0" indent="0" algn="ctr">
              <a:lnSpc>
                <a:spcPct val="130000"/>
              </a:lnSpc>
              <a:buNone/>
            </a:pPr>
            <a:r>
              <a:rPr lang="en-US" sz="1100" dirty="0">
                <a:solidFill>
                  <a:srgbClr val="475569"/>
                </a:solidFill>
                <a:latin typeface="Calibri" pitchFamily="34" charset="0"/>
                <a:ea typeface="Calibri" pitchFamily="34" charset="-122"/>
                <a:cs typeface="Calibri" pitchFamily="34" charset="-120"/>
              </a:rPr>
              <a:t>Cloud-native</a:t>
            </a:r>
            <a:endParaRPr lang="en-US" sz="1100" dirty="0"/>
          </a:p>
        </p:txBody>
      </p:sp>
      <p:sp>
        <p:nvSpPr>
          <p:cNvPr id="23" name="Text 21"/>
          <p:cNvSpPr/>
          <p:nvPr/>
        </p:nvSpPr>
        <p:spPr>
          <a:xfrm>
            <a:off x="731520" y="3840480"/>
            <a:ext cx="7680960" cy="457200"/>
          </a:xfrm>
          <a:prstGeom prst="rect">
            <a:avLst/>
          </a:prstGeom>
          <a:noFill/>
          <a:ln/>
        </p:spPr>
        <p:txBody>
          <a:bodyPr wrap="square" lIns="0" tIns="0" rIns="0" bIns="0" rtlCol="0" anchor="ctr"/>
          <a:lstStyle/>
          <a:p>
            <a:pPr marL="0" indent="0">
              <a:buNone/>
            </a:pPr>
            <a:r>
              <a:rPr lang="en-US" sz="1200" i="1" dirty="0">
                <a:solidFill>
                  <a:srgbClr val="94A3B8"/>
                </a:solidFill>
                <a:latin typeface="Calibri" pitchFamily="34" charset="0"/>
                <a:ea typeface="Calibri" pitchFamily="34" charset="-122"/>
                <a:cs typeface="Calibri" pitchFamily="34" charset="-120"/>
              </a:rPr>
              <a:t>Key driver: reducing wiring harness weight (30–50 kg) and enabling software-defined vehicle (SDV) platforms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Domain architecture</a:t>
            </a:r>
            <a:endParaRPr lang="en-US" sz="2800" dirty="0"/>
          </a:p>
        </p:txBody>
      </p:sp>
      <p:sp>
        <p:nvSpPr>
          <p:cNvPr id="3" name="Text 1"/>
          <p:cNvSpPr/>
          <p:nvPr/>
        </p:nvSpPr>
        <p:spPr>
          <a:xfrm>
            <a:off x="731520" y="777240"/>
            <a:ext cx="7315200" cy="2743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ECUs grouped by function — each domain has a dedicated controller</a:t>
            </a:r>
            <a:endParaRPr lang="en-US" sz="1200" dirty="0"/>
          </a:p>
        </p:txBody>
      </p:sp>
      <p:sp>
        <p:nvSpPr>
          <p:cNvPr id="4" name="Shape 2"/>
          <p:cNvSpPr/>
          <p:nvPr/>
        </p:nvSpPr>
        <p:spPr>
          <a:xfrm>
            <a:off x="3291840" y="1371600"/>
            <a:ext cx="2560320" cy="640080"/>
          </a:xfrm>
          <a:prstGeom prst="rect">
            <a:avLst/>
          </a:prstGeom>
          <a:solidFill>
            <a:srgbClr val="1B2D4A"/>
          </a:solidFill>
          <a:ln/>
          <a:effectLst>
            <a:outerShdw blurRad="50800" dist="25400" dir="8100000" algn="bl" rotWithShape="0">
              <a:srgbClr val="000000">
                <a:alpha val="12000"/>
              </a:srgbClr>
            </a:outerShdw>
          </a:effectLst>
        </p:spPr>
        <p:txBody>
          <a:bodyPr/>
          <a:lstStyle/>
          <a:p>
            <a:endParaRPr lang="en-US" dirty="0"/>
          </a:p>
        </p:txBody>
      </p:sp>
      <p:sp>
        <p:nvSpPr>
          <p:cNvPr id="5" name="Text 3"/>
          <p:cNvSpPr/>
          <p:nvPr/>
        </p:nvSpPr>
        <p:spPr>
          <a:xfrm>
            <a:off x="3291840" y="1371600"/>
            <a:ext cx="256032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Central gateway ECU</a:t>
            </a:r>
            <a:endParaRPr lang="en-US" sz="1300" dirty="0"/>
          </a:p>
        </p:txBody>
      </p:sp>
      <p:sp>
        <p:nvSpPr>
          <p:cNvPr id="6" name="Shape 4"/>
          <p:cNvSpPr/>
          <p:nvPr/>
        </p:nvSpPr>
        <p:spPr>
          <a:xfrm>
            <a:off x="365760" y="2560320"/>
            <a:ext cx="1463040" cy="731520"/>
          </a:xfrm>
          <a:prstGeom prst="rect">
            <a:avLst/>
          </a:prstGeom>
          <a:solidFill>
            <a:srgbClr val="D85A30"/>
          </a:solidFill>
          <a:ln/>
          <a:effectLst>
            <a:outerShdw blurRad="50800" dist="25400" dir="8100000" algn="bl" rotWithShape="0">
              <a:srgbClr val="000000">
                <a:alpha val="12000"/>
              </a:srgbClr>
            </a:outerShdw>
          </a:effectLst>
        </p:spPr>
        <p:txBody>
          <a:bodyPr/>
          <a:lstStyle/>
          <a:p>
            <a:endParaRPr lang="en-SG"/>
          </a:p>
        </p:txBody>
      </p:sp>
      <p:sp>
        <p:nvSpPr>
          <p:cNvPr id="7" name="Text 5"/>
          <p:cNvSpPr/>
          <p:nvPr/>
        </p:nvSpPr>
        <p:spPr>
          <a:xfrm>
            <a:off x="365760" y="2560320"/>
            <a:ext cx="1463040" cy="7315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Powertrain</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Domain Ctrl</a:t>
            </a:r>
            <a:endParaRPr lang="en-US" sz="1000" dirty="0"/>
          </a:p>
        </p:txBody>
      </p:sp>
      <p:sp>
        <p:nvSpPr>
          <p:cNvPr id="8" name="Shape 6"/>
          <p:cNvSpPr/>
          <p:nvPr/>
        </p:nvSpPr>
        <p:spPr>
          <a:xfrm>
            <a:off x="1097280" y="2011680"/>
            <a:ext cx="0" cy="548640"/>
          </a:xfrm>
          <a:prstGeom prst="line">
            <a:avLst/>
          </a:prstGeom>
          <a:noFill/>
          <a:ln w="19050">
            <a:solidFill>
              <a:srgbClr val="94A3B8"/>
            </a:solidFill>
            <a:prstDash val="solid"/>
          </a:ln>
        </p:spPr>
        <p:txBody>
          <a:bodyPr/>
          <a:lstStyle/>
          <a:p>
            <a:endParaRPr lang="en-SG"/>
          </a:p>
        </p:txBody>
      </p:sp>
      <p:sp>
        <p:nvSpPr>
          <p:cNvPr id="9" name="Shape 7"/>
          <p:cNvSpPr/>
          <p:nvPr/>
        </p:nvSpPr>
        <p:spPr>
          <a:xfrm>
            <a:off x="2103120" y="2560320"/>
            <a:ext cx="1463040" cy="731520"/>
          </a:xfrm>
          <a:prstGeom prst="rect">
            <a:avLst/>
          </a:prstGeom>
          <a:solidFill>
            <a:srgbClr val="065A82"/>
          </a:solidFill>
          <a:ln/>
          <a:effectLst>
            <a:outerShdw blurRad="50800" dist="25400" dir="8100000" algn="bl" rotWithShape="0">
              <a:srgbClr val="000000">
                <a:alpha val="12000"/>
              </a:srgbClr>
            </a:outerShdw>
          </a:effectLst>
        </p:spPr>
        <p:txBody>
          <a:bodyPr/>
          <a:lstStyle/>
          <a:p>
            <a:endParaRPr lang="en-SG"/>
          </a:p>
        </p:txBody>
      </p:sp>
      <p:sp>
        <p:nvSpPr>
          <p:cNvPr id="10" name="Text 8"/>
          <p:cNvSpPr/>
          <p:nvPr/>
        </p:nvSpPr>
        <p:spPr>
          <a:xfrm>
            <a:off x="2103120" y="2560320"/>
            <a:ext cx="1463040" cy="7315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Chassis</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Domain Ctrl</a:t>
            </a:r>
            <a:endParaRPr lang="en-US" sz="1000" dirty="0"/>
          </a:p>
        </p:txBody>
      </p:sp>
      <p:sp>
        <p:nvSpPr>
          <p:cNvPr id="11" name="Shape 9"/>
          <p:cNvSpPr/>
          <p:nvPr/>
        </p:nvSpPr>
        <p:spPr>
          <a:xfrm>
            <a:off x="2834640" y="2011680"/>
            <a:ext cx="0" cy="548640"/>
          </a:xfrm>
          <a:prstGeom prst="line">
            <a:avLst/>
          </a:prstGeom>
          <a:noFill/>
          <a:ln w="19050">
            <a:solidFill>
              <a:srgbClr val="94A3B8"/>
            </a:solidFill>
            <a:prstDash val="solid"/>
          </a:ln>
        </p:spPr>
        <p:txBody>
          <a:bodyPr/>
          <a:lstStyle/>
          <a:p>
            <a:endParaRPr lang="en-SG"/>
          </a:p>
        </p:txBody>
      </p:sp>
      <p:sp>
        <p:nvSpPr>
          <p:cNvPr id="12" name="Shape 10"/>
          <p:cNvSpPr/>
          <p:nvPr/>
        </p:nvSpPr>
        <p:spPr>
          <a:xfrm>
            <a:off x="3840480" y="2560320"/>
            <a:ext cx="1463040" cy="731520"/>
          </a:xfrm>
          <a:prstGeom prst="rect">
            <a:avLst/>
          </a:prstGeom>
          <a:solidFill>
            <a:srgbClr val="0F6E56"/>
          </a:solidFill>
          <a:ln/>
          <a:effectLst>
            <a:outerShdw blurRad="50800" dist="25400" dir="8100000" algn="bl" rotWithShape="0">
              <a:srgbClr val="000000">
                <a:alpha val="12000"/>
              </a:srgbClr>
            </a:outerShdw>
          </a:effectLst>
        </p:spPr>
        <p:txBody>
          <a:bodyPr/>
          <a:lstStyle/>
          <a:p>
            <a:endParaRPr lang="en-SG"/>
          </a:p>
        </p:txBody>
      </p:sp>
      <p:sp>
        <p:nvSpPr>
          <p:cNvPr id="13" name="Text 11"/>
          <p:cNvSpPr/>
          <p:nvPr/>
        </p:nvSpPr>
        <p:spPr>
          <a:xfrm>
            <a:off x="3840480" y="2560320"/>
            <a:ext cx="1463040" cy="7315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ADAS</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Domain Ctrl</a:t>
            </a:r>
            <a:endParaRPr lang="en-US" sz="1000" dirty="0"/>
          </a:p>
        </p:txBody>
      </p:sp>
      <p:sp>
        <p:nvSpPr>
          <p:cNvPr id="14" name="Shape 12"/>
          <p:cNvSpPr/>
          <p:nvPr/>
        </p:nvSpPr>
        <p:spPr>
          <a:xfrm>
            <a:off x="4572000" y="2011680"/>
            <a:ext cx="0" cy="548640"/>
          </a:xfrm>
          <a:prstGeom prst="line">
            <a:avLst/>
          </a:prstGeom>
          <a:noFill/>
          <a:ln w="19050">
            <a:solidFill>
              <a:srgbClr val="94A3B8"/>
            </a:solidFill>
            <a:prstDash val="solid"/>
          </a:ln>
        </p:spPr>
        <p:txBody>
          <a:bodyPr/>
          <a:lstStyle/>
          <a:p>
            <a:endParaRPr lang="en-SG"/>
          </a:p>
        </p:txBody>
      </p:sp>
      <p:sp>
        <p:nvSpPr>
          <p:cNvPr id="15" name="Shape 13"/>
          <p:cNvSpPr/>
          <p:nvPr/>
        </p:nvSpPr>
        <p:spPr>
          <a:xfrm>
            <a:off x="5577840" y="2560320"/>
            <a:ext cx="1463040" cy="731520"/>
          </a:xfrm>
          <a:prstGeom prst="rect">
            <a:avLst/>
          </a:prstGeom>
          <a:solidFill>
            <a:srgbClr val="534AB7"/>
          </a:solidFill>
          <a:ln/>
          <a:effectLst>
            <a:outerShdw blurRad="50800" dist="25400" dir="8100000" algn="bl" rotWithShape="0">
              <a:srgbClr val="000000">
                <a:alpha val="12000"/>
              </a:srgbClr>
            </a:outerShdw>
          </a:effectLst>
        </p:spPr>
        <p:txBody>
          <a:bodyPr/>
          <a:lstStyle/>
          <a:p>
            <a:endParaRPr lang="en-SG"/>
          </a:p>
        </p:txBody>
      </p:sp>
      <p:sp>
        <p:nvSpPr>
          <p:cNvPr id="16" name="Text 14"/>
          <p:cNvSpPr/>
          <p:nvPr/>
        </p:nvSpPr>
        <p:spPr>
          <a:xfrm>
            <a:off x="5577840" y="2560320"/>
            <a:ext cx="1463040" cy="7315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Body</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Domain Ctrl</a:t>
            </a:r>
            <a:endParaRPr lang="en-US" sz="1000" dirty="0"/>
          </a:p>
        </p:txBody>
      </p:sp>
      <p:sp>
        <p:nvSpPr>
          <p:cNvPr id="17" name="Shape 15"/>
          <p:cNvSpPr/>
          <p:nvPr/>
        </p:nvSpPr>
        <p:spPr>
          <a:xfrm>
            <a:off x="6309360" y="2011680"/>
            <a:ext cx="0" cy="548640"/>
          </a:xfrm>
          <a:prstGeom prst="line">
            <a:avLst/>
          </a:prstGeom>
          <a:noFill/>
          <a:ln w="19050">
            <a:solidFill>
              <a:srgbClr val="94A3B8"/>
            </a:solidFill>
            <a:prstDash val="solid"/>
          </a:ln>
        </p:spPr>
        <p:txBody>
          <a:bodyPr/>
          <a:lstStyle/>
          <a:p>
            <a:endParaRPr lang="en-SG"/>
          </a:p>
        </p:txBody>
      </p:sp>
      <p:sp>
        <p:nvSpPr>
          <p:cNvPr id="18" name="Shape 16"/>
          <p:cNvSpPr/>
          <p:nvPr/>
        </p:nvSpPr>
        <p:spPr>
          <a:xfrm>
            <a:off x="7315200" y="2560320"/>
            <a:ext cx="1463040" cy="731520"/>
          </a:xfrm>
          <a:prstGeom prst="rect">
            <a:avLst/>
          </a:prstGeom>
          <a:solidFill>
            <a:srgbClr val="EF9F27"/>
          </a:solidFill>
          <a:ln/>
          <a:effectLst>
            <a:outerShdw blurRad="50800" dist="25400" dir="8100000" algn="bl" rotWithShape="0">
              <a:srgbClr val="000000">
                <a:alpha val="12000"/>
              </a:srgbClr>
            </a:outerShdw>
          </a:effectLst>
        </p:spPr>
        <p:txBody>
          <a:bodyPr/>
          <a:lstStyle/>
          <a:p>
            <a:endParaRPr lang="en-SG"/>
          </a:p>
        </p:txBody>
      </p:sp>
      <p:sp>
        <p:nvSpPr>
          <p:cNvPr id="19" name="Text 17"/>
          <p:cNvSpPr/>
          <p:nvPr/>
        </p:nvSpPr>
        <p:spPr>
          <a:xfrm>
            <a:off x="7315200" y="2560320"/>
            <a:ext cx="1463040" cy="7315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Infotainment</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Domain Ctrl</a:t>
            </a:r>
            <a:endParaRPr lang="en-US" sz="1000" dirty="0"/>
          </a:p>
        </p:txBody>
      </p:sp>
      <p:sp>
        <p:nvSpPr>
          <p:cNvPr id="20" name="Shape 18"/>
          <p:cNvSpPr/>
          <p:nvPr/>
        </p:nvSpPr>
        <p:spPr>
          <a:xfrm>
            <a:off x="8046720" y="2011680"/>
            <a:ext cx="0" cy="548640"/>
          </a:xfrm>
          <a:prstGeom prst="line">
            <a:avLst/>
          </a:prstGeom>
          <a:noFill/>
          <a:ln w="19050">
            <a:solidFill>
              <a:srgbClr val="94A3B8"/>
            </a:solidFill>
            <a:prstDash val="solid"/>
          </a:ln>
        </p:spPr>
        <p:txBody>
          <a:bodyPr/>
          <a:lstStyle/>
          <a:p>
            <a:endParaRPr lang="en-SG"/>
          </a:p>
        </p:txBody>
      </p:sp>
      <p:sp>
        <p:nvSpPr>
          <p:cNvPr id="21" name="Shape 19"/>
          <p:cNvSpPr/>
          <p:nvPr/>
        </p:nvSpPr>
        <p:spPr>
          <a:xfrm>
            <a:off x="274320" y="3749040"/>
            <a:ext cx="475488" cy="475488"/>
          </a:xfrm>
          <a:prstGeom prst="rect">
            <a:avLst/>
          </a:prstGeom>
          <a:solidFill>
            <a:srgbClr val="F0F4F8"/>
          </a:solidFill>
          <a:ln w="6350">
            <a:solidFill>
              <a:srgbClr val="E2E8F0"/>
            </a:solidFill>
            <a:prstDash val="solid"/>
          </a:ln>
        </p:spPr>
        <p:txBody>
          <a:bodyPr/>
          <a:lstStyle/>
          <a:p>
            <a:endParaRPr lang="en-SG"/>
          </a:p>
        </p:txBody>
      </p:sp>
      <p:sp>
        <p:nvSpPr>
          <p:cNvPr id="22" name="Text 20"/>
          <p:cNvSpPr/>
          <p:nvPr/>
        </p:nvSpPr>
        <p:spPr>
          <a:xfrm>
            <a:off x="274320" y="3749040"/>
            <a:ext cx="475488" cy="475488"/>
          </a:xfrm>
          <a:prstGeom prst="rect">
            <a:avLst/>
          </a:prstGeom>
          <a:noFill/>
          <a:ln/>
        </p:spPr>
        <p:txBody>
          <a:bodyPr wrap="square" lIns="0" tIns="0" rIns="0" bIns="0" rtlCol="0" anchor="ctr"/>
          <a:lstStyle/>
          <a:p>
            <a:pPr marL="0" indent="0" algn="ctr">
              <a:buNone/>
            </a:pPr>
            <a:r>
              <a:rPr lang="en-US" sz="650" dirty="0">
                <a:solidFill>
                  <a:srgbClr val="475569"/>
                </a:solidFill>
                <a:latin typeface="Calibri" pitchFamily="34" charset="0"/>
                <a:ea typeface="Calibri" pitchFamily="34" charset="-122"/>
                <a:cs typeface="Calibri" pitchFamily="34" charset="-120"/>
              </a:rPr>
              <a:t>Engine</a:t>
            </a:r>
            <a:endParaRPr lang="en-US" sz="650" dirty="0"/>
          </a:p>
          <a:p>
            <a:pPr marL="0" indent="0" algn="ctr">
              <a:buNone/>
            </a:pPr>
            <a:r>
              <a:rPr lang="en-US" sz="650" dirty="0">
                <a:solidFill>
                  <a:srgbClr val="475569"/>
                </a:solidFill>
                <a:latin typeface="Calibri" pitchFamily="34" charset="0"/>
                <a:ea typeface="Calibri" pitchFamily="34" charset="-122"/>
                <a:cs typeface="Calibri" pitchFamily="34" charset="-120"/>
              </a:rPr>
              <a:t>Mgmt</a:t>
            </a:r>
            <a:endParaRPr lang="en-US" sz="650" dirty="0"/>
          </a:p>
        </p:txBody>
      </p:sp>
      <p:sp>
        <p:nvSpPr>
          <p:cNvPr id="23" name="Shape 21"/>
          <p:cNvSpPr/>
          <p:nvPr/>
        </p:nvSpPr>
        <p:spPr>
          <a:xfrm>
            <a:off x="512064" y="3291840"/>
            <a:ext cx="0" cy="457200"/>
          </a:xfrm>
          <a:prstGeom prst="line">
            <a:avLst/>
          </a:prstGeom>
          <a:noFill/>
          <a:ln w="28575">
            <a:solidFill>
              <a:schemeClr val="tx1"/>
            </a:solidFill>
            <a:prstDash val="solid"/>
          </a:ln>
        </p:spPr>
        <p:txBody>
          <a:bodyPr/>
          <a:lstStyle/>
          <a:p>
            <a:endParaRPr lang="en-US" dirty="0"/>
          </a:p>
        </p:txBody>
      </p:sp>
      <p:sp>
        <p:nvSpPr>
          <p:cNvPr id="24" name="Shape 22"/>
          <p:cNvSpPr/>
          <p:nvPr/>
        </p:nvSpPr>
        <p:spPr>
          <a:xfrm>
            <a:off x="822960" y="3749040"/>
            <a:ext cx="475488" cy="475488"/>
          </a:xfrm>
          <a:prstGeom prst="rect">
            <a:avLst/>
          </a:prstGeom>
          <a:solidFill>
            <a:srgbClr val="F0F4F8"/>
          </a:solidFill>
          <a:ln w="6350">
            <a:solidFill>
              <a:srgbClr val="E2E8F0"/>
            </a:solidFill>
            <a:prstDash val="solid"/>
          </a:ln>
        </p:spPr>
        <p:txBody>
          <a:bodyPr/>
          <a:lstStyle/>
          <a:p>
            <a:endParaRPr lang="en-SG"/>
          </a:p>
        </p:txBody>
      </p:sp>
      <p:sp>
        <p:nvSpPr>
          <p:cNvPr id="25" name="Text 23"/>
          <p:cNvSpPr/>
          <p:nvPr/>
        </p:nvSpPr>
        <p:spPr>
          <a:xfrm>
            <a:off x="822960" y="3749040"/>
            <a:ext cx="475488" cy="475488"/>
          </a:xfrm>
          <a:prstGeom prst="rect">
            <a:avLst/>
          </a:prstGeom>
          <a:noFill/>
          <a:ln/>
        </p:spPr>
        <p:txBody>
          <a:bodyPr wrap="square" lIns="0" tIns="0" rIns="0" bIns="0" rtlCol="0" anchor="ctr"/>
          <a:lstStyle/>
          <a:p>
            <a:pPr marL="0" indent="0" algn="ctr">
              <a:buNone/>
            </a:pPr>
            <a:r>
              <a:rPr lang="en-US" sz="650" dirty="0">
                <a:solidFill>
                  <a:srgbClr val="475569"/>
                </a:solidFill>
                <a:latin typeface="Calibri" pitchFamily="34" charset="0"/>
                <a:ea typeface="Calibri" pitchFamily="34" charset="-122"/>
                <a:cs typeface="Calibri" pitchFamily="34" charset="-120"/>
              </a:rPr>
              <a:t>Trans</a:t>
            </a:r>
            <a:endParaRPr lang="en-US" sz="650" dirty="0"/>
          </a:p>
          <a:p>
            <a:pPr marL="0" indent="0" algn="ctr">
              <a:buNone/>
            </a:pPr>
            <a:r>
              <a:rPr lang="en-US" sz="650" dirty="0">
                <a:solidFill>
                  <a:srgbClr val="475569"/>
                </a:solidFill>
                <a:latin typeface="Calibri" pitchFamily="34" charset="0"/>
                <a:ea typeface="Calibri" pitchFamily="34" charset="-122"/>
                <a:cs typeface="Calibri" pitchFamily="34" charset="-120"/>
              </a:rPr>
              <a:t>Ctrl</a:t>
            </a:r>
            <a:endParaRPr lang="en-US" sz="650" dirty="0"/>
          </a:p>
        </p:txBody>
      </p:sp>
      <p:sp>
        <p:nvSpPr>
          <p:cNvPr id="26" name="Shape 24"/>
          <p:cNvSpPr/>
          <p:nvPr/>
        </p:nvSpPr>
        <p:spPr>
          <a:xfrm>
            <a:off x="1060704" y="3291840"/>
            <a:ext cx="0" cy="457200"/>
          </a:xfrm>
          <a:prstGeom prst="line">
            <a:avLst/>
          </a:prstGeom>
          <a:noFill/>
          <a:ln w="9525">
            <a:solidFill>
              <a:srgbClr val="E2E8F0"/>
            </a:solidFill>
            <a:prstDash val="dash"/>
          </a:ln>
        </p:spPr>
        <p:txBody>
          <a:bodyPr/>
          <a:lstStyle/>
          <a:p>
            <a:endParaRPr lang="en-SG"/>
          </a:p>
        </p:txBody>
      </p:sp>
      <p:sp>
        <p:nvSpPr>
          <p:cNvPr id="27" name="Shape 25"/>
          <p:cNvSpPr/>
          <p:nvPr/>
        </p:nvSpPr>
        <p:spPr>
          <a:xfrm>
            <a:off x="1371600" y="3749040"/>
            <a:ext cx="475488" cy="475488"/>
          </a:xfrm>
          <a:prstGeom prst="rect">
            <a:avLst/>
          </a:prstGeom>
          <a:solidFill>
            <a:srgbClr val="F0F4F8"/>
          </a:solidFill>
          <a:ln w="6350">
            <a:solidFill>
              <a:srgbClr val="E2E8F0"/>
            </a:solidFill>
            <a:prstDash val="solid"/>
          </a:ln>
        </p:spPr>
        <p:txBody>
          <a:bodyPr/>
          <a:lstStyle/>
          <a:p>
            <a:endParaRPr lang="en-SG"/>
          </a:p>
        </p:txBody>
      </p:sp>
      <p:sp>
        <p:nvSpPr>
          <p:cNvPr id="28" name="Text 26"/>
          <p:cNvSpPr/>
          <p:nvPr/>
        </p:nvSpPr>
        <p:spPr>
          <a:xfrm>
            <a:off x="1371600" y="3749040"/>
            <a:ext cx="475488" cy="475488"/>
          </a:xfrm>
          <a:prstGeom prst="rect">
            <a:avLst/>
          </a:prstGeom>
          <a:noFill/>
          <a:ln/>
        </p:spPr>
        <p:txBody>
          <a:bodyPr wrap="square" lIns="0" tIns="0" rIns="0" bIns="0" rtlCol="0" anchor="ctr"/>
          <a:lstStyle/>
          <a:p>
            <a:pPr marL="0" indent="0" algn="ctr">
              <a:buNone/>
            </a:pPr>
            <a:r>
              <a:rPr lang="en-US" sz="650" dirty="0">
                <a:solidFill>
                  <a:srgbClr val="475569"/>
                </a:solidFill>
                <a:latin typeface="Calibri" pitchFamily="34" charset="0"/>
                <a:ea typeface="Calibri" pitchFamily="34" charset="-122"/>
                <a:cs typeface="Calibri" pitchFamily="34" charset="-120"/>
              </a:rPr>
              <a:t>EMS</a:t>
            </a:r>
            <a:endParaRPr lang="en-US" sz="650" dirty="0"/>
          </a:p>
        </p:txBody>
      </p:sp>
      <p:sp>
        <p:nvSpPr>
          <p:cNvPr id="29" name="Shape 27"/>
          <p:cNvSpPr/>
          <p:nvPr/>
        </p:nvSpPr>
        <p:spPr>
          <a:xfrm>
            <a:off x="1609344" y="3291840"/>
            <a:ext cx="0" cy="457200"/>
          </a:xfrm>
          <a:prstGeom prst="line">
            <a:avLst/>
          </a:prstGeom>
          <a:noFill/>
          <a:ln w="9525">
            <a:solidFill>
              <a:srgbClr val="E2E8F0"/>
            </a:solidFill>
            <a:prstDash val="dash"/>
          </a:ln>
        </p:spPr>
        <p:txBody>
          <a:bodyPr/>
          <a:lstStyle/>
          <a:p>
            <a:endParaRPr lang="en-SG"/>
          </a:p>
        </p:txBody>
      </p:sp>
      <p:sp>
        <p:nvSpPr>
          <p:cNvPr id="30" name="Shape 28"/>
          <p:cNvSpPr/>
          <p:nvPr/>
        </p:nvSpPr>
        <p:spPr>
          <a:xfrm>
            <a:off x="2011680" y="3749040"/>
            <a:ext cx="475488" cy="475488"/>
          </a:xfrm>
          <a:prstGeom prst="rect">
            <a:avLst/>
          </a:prstGeom>
          <a:solidFill>
            <a:srgbClr val="F0F4F8"/>
          </a:solidFill>
          <a:ln w="6350">
            <a:solidFill>
              <a:srgbClr val="E2E8F0"/>
            </a:solidFill>
            <a:prstDash val="solid"/>
          </a:ln>
        </p:spPr>
        <p:txBody>
          <a:bodyPr/>
          <a:lstStyle/>
          <a:p>
            <a:endParaRPr lang="en-SG"/>
          </a:p>
        </p:txBody>
      </p:sp>
      <p:sp>
        <p:nvSpPr>
          <p:cNvPr id="31" name="Text 29"/>
          <p:cNvSpPr/>
          <p:nvPr/>
        </p:nvSpPr>
        <p:spPr>
          <a:xfrm>
            <a:off x="2011680" y="3749040"/>
            <a:ext cx="475488" cy="475488"/>
          </a:xfrm>
          <a:prstGeom prst="rect">
            <a:avLst/>
          </a:prstGeom>
          <a:noFill/>
          <a:ln/>
        </p:spPr>
        <p:txBody>
          <a:bodyPr wrap="square" lIns="0" tIns="0" rIns="0" bIns="0" rtlCol="0" anchor="ctr"/>
          <a:lstStyle/>
          <a:p>
            <a:pPr marL="0" indent="0" algn="ctr">
              <a:buNone/>
            </a:pPr>
            <a:r>
              <a:rPr lang="en-US" sz="650" dirty="0">
                <a:solidFill>
                  <a:srgbClr val="475569"/>
                </a:solidFill>
                <a:latin typeface="Calibri" pitchFamily="34" charset="0"/>
                <a:ea typeface="Calibri" pitchFamily="34" charset="-122"/>
                <a:cs typeface="Calibri" pitchFamily="34" charset="-120"/>
              </a:rPr>
              <a:t>ABS</a:t>
            </a:r>
            <a:endParaRPr lang="en-US" sz="650" dirty="0"/>
          </a:p>
        </p:txBody>
      </p:sp>
      <p:sp>
        <p:nvSpPr>
          <p:cNvPr id="32" name="Shape 30"/>
          <p:cNvSpPr/>
          <p:nvPr/>
        </p:nvSpPr>
        <p:spPr>
          <a:xfrm>
            <a:off x="2249424" y="3291840"/>
            <a:ext cx="0" cy="457200"/>
          </a:xfrm>
          <a:prstGeom prst="line">
            <a:avLst/>
          </a:prstGeom>
          <a:noFill/>
          <a:ln w="9525">
            <a:solidFill>
              <a:srgbClr val="E2E8F0"/>
            </a:solidFill>
            <a:prstDash val="dash"/>
          </a:ln>
        </p:spPr>
        <p:txBody>
          <a:bodyPr/>
          <a:lstStyle/>
          <a:p>
            <a:endParaRPr lang="en-SG"/>
          </a:p>
        </p:txBody>
      </p:sp>
      <p:sp>
        <p:nvSpPr>
          <p:cNvPr id="33" name="Shape 31"/>
          <p:cNvSpPr/>
          <p:nvPr/>
        </p:nvSpPr>
        <p:spPr>
          <a:xfrm>
            <a:off x="2560320" y="3749040"/>
            <a:ext cx="475488" cy="475488"/>
          </a:xfrm>
          <a:prstGeom prst="rect">
            <a:avLst/>
          </a:prstGeom>
          <a:solidFill>
            <a:srgbClr val="F0F4F8"/>
          </a:solidFill>
          <a:ln w="6350">
            <a:solidFill>
              <a:srgbClr val="E2E8F0"/>
            </a:solidFill>
            <a:prstDash val="solid"/>
          </a:ln>
        </p:spPr>
        <p:txBody>
          <a:bodyPr/>
          <a:lstStyle/>
          <a:p>
            <a:endParaRPr lang="en-SG"/>
          </a:p>
        </p:txBody>
      </p:sp>
      <p:sp>
        <p:nvSpPr>
          <p:cNvPr id="34" name="Text 32"/>
          <p:cNvSpPr/>
          <p:nvPr/>
        </p:nvSpPr>
        <p:spPr>
          <a:xfrm>
            <a:off x="2560320" y="3749040"/>
            <a:ext cx="475488" cy="475488"/>
          </a:xfrm>
          <a:prstGeom prst="rect">
            <a:avLst/>
          </a:prstGeom>
          <a:noFill/>
          <a:ln/>
        </p:spPr>
        <p:txBody>
          <a:bodyPr wrap="square" lIns="0" tIns="0" rIns="0" bIns="0" rtlCol="0" anchor="ctr"/>
          <a:lstStyle/>
          <a:p>
            <a:pPr marL="0" indent="0" algn="ctr">
              <a:buNone/>
            </a:pPr>
            <a:r>
              <a:rPr lang="en-US" sz="650" dirty="0">
                <a:solidFill>
                  <a:srgbClr val="475569"/>
                </a:solidFill>
                <a:latin typeface="Calibri" pitchFamily="34" charset="0"/>
                <a:ea typeface="Calibri" pitchFamily="34" charset="-122"/>
                <a:cs typeface="Calibri" pitchFamily="34" charset="-120"/>
              </a:rPr>
              <a:t>ESC</a:t>
            </a:r>
            <a:endParaRPr lang="en-US" sz="650" dirty="0"/>
          </a:p>
        </p:txBody>
      </p:sp>
      <p:sp>
        <p:nvSpPr>
          <p:cNvPr id="35" name="Shape 33"/>
          <p:cNvSpPr/>
          <p:nvPr/>
        </p:nvSpPr>
        <p:spPr>
          <a:xfrm>
            <a:off x="2798064" y="3291840"/>
            <a:ext cx="0" cy="457200"/>
          </a:xfrm>
          <a:prstGeom prst="line">
            <a:avLst/>
          </a:prstGeom>
          <a:noFill/>
          <a:ln w="9525">
            <a:solidFill>
              <a:srgbClr val="E2E8F0"/>
            </a:solidFill>
            <a:prstDash val="dash"/>
          </a:ln>
        </p:spPr>
        <p:txBody>
          <a:bodyPr/>
          <a:lstStyle/>
          <a:p>
            <a:endParaRPr lang="en-SG"/>
          </a:p>
        </p:txBody>
      </p:sp>
      <p:sp>
        <p:nvSpPr>
          <p:cNvPr id="36" name="Shape 34"/>
          <p:cNvSpPr/>
          <p:nvPr/>
        </p:nvSpPr>
        <p:spPr>
          <a:xfrm>
            <a:off x="3108960" y="3749040"/>
            <a:ext cx="475488" cy="475488"/>
          </a:xfrm>
          <a:prstGeom prst="rect">
            <a:avLst/>
          </a:prstGeom>
          <a:solidFill>
            <a:srgbClr val="F0F4F8"/>
          </a:solidFill>
          <a:ln w="6350">
            <a:solidFill>
              <a:srgbClr val="E2E8F0"/>
            </a:solidFill>
            <a:prstDash val="solid"/>
          </a:ln>
        </p:spPr>
        <p:txBody>
          <a:bodyPr/>
          <a:lstStyle/>
          <a:p>
            <a:endParaRPr lang="en-SG"/>
          </a:p>
        </p:txBody>
      </p:sp>
      <p:sp>
        <p:nvSpPr>
          <p:cNvPr id="37" name="Text 35"/>
          <p:cNvSpPr/>
          <p:nvPr/>
        </p:nvSpPr>
        <p:spPr>
          <a:xfrm>
            <a:off x="3108960" y="3749040"/>
            <a:ext cx="475488" cy="475488"/>
          </a:xfrm>
          <a:prstGeom prst="rect">
            <a:avLst/>
          </a:prstGeom>
          <a:noFill/>
          <a:ln/>
        </p:spPr>
        <p:txBody>
          <a:bodyPr wrap="square" lIns="0" tIns="0" rIns="0" bIns="0" rtlCol="0" anchor="ctr"/>
          <a:lstStyle/>
          <a:p>
            <a:pPr marL="0" indent="0" algn="ctr">
              <a:buNone/>
            </a:pPr>
            <a:r>
              <a:rPr lang="en-US" sz="650" dirty="0">
                <a:solidFill>
                  <a:srgbClr val="475569"/>
                </a:solidFill>
                <a:latin typeface="Calibri" pitchFamily="34" charset="0"/>
                <a:ea typeface="Calibri" pitchFamily="34" charset="-122"/>
                <a:cs typeface="Calibri" pitchFamily="34" charset="-120"/>
              </a:rPr>
              <a:t>Susp</a:t>
            </a:r>
            <a:endParaRPr lang="en-US" sz="650" dirty="0"/>
          </a:p>
          <a:p>
            <a:pPr marL="0" indent="0" algn="ctr">
              <a:buNone/>
            </a:pPr>
            <a:r>
              <a:rPr lang="en-US" sz="650" dirty="0">
                <a:solidFill>
                  <a:srgbClr val="475569"/>
                </a:solidFill>
                <a:latin typeface="Calibri" pitchFamily="34" charset="0"/>
                <a:ea typeface="Calibri" pitchFamily="34" charset="-122"/>
                <a:cs typeface="Calibri" pitchFamily="34" charset="-120"/>
              </a:rPr>
              <a:t>Ctrl</a:t>
            </a:r>
            <a:endParaRPr lang="en-US" sz="650" dirty="0"/>
          </a:p>
        </p:txBody>
      </p:sp>
      <p:sp>
        <p:nvSpPr>
          <p:cNvPr id="38" name="Shape 36"/>
          <p:cNvSpPr/>
          <p:nvPr/>
        </p:nvSpPr>
        <p:spPr>
          <a:xfrm>
            <a:off x="3346704" y="3291840"/>
            <a:ext cx="0" cy="457200"/>
          </a:xfrm>
          <a:prstGeom prst="line">
            <a:avLst/>
          </a:prstGeom>
          <a:noFill/>
          <a:ln w="9525">
            <a:solidFill>
              <a:srgbClr val="E2E8F0"/>
            </a:solidFill>
            <a:prstDash val="dash"/>
          </a:ln>
        </p:spPr>
        <p:txBody>
          <a:bodyPr/>
          <a:lstStyle/>
          <a:p>
            <a:endParaRPr lang="en-SG"/>
          </a:p>
        </p:txBody>
      </p:sp>
      <p:sp>
        <p:nvSpPr>
          <p:cNvPr id="39" name="Shape 37"/>
          <p:cNvSpPr/>
          <p:nvPr/>
        </p:nvSpPr>
        <p:spPr>
          <a:xfrm>
            <a:off x="3749040" y="3749040"/>
            <a:ext cx="475488" cy="475488"/>
          </a:xfrm>
          <a:prstGeom prst="rect">
            <a:avLst/>
          </a:prstGeom>
          <a:solidFill>
            <a:srgbClr val="F0F4F8"/>
          </a:solidFill>
          <a:ln w="6350">
            <a:solidFill>
              <a:srgbClr val="E2E8F0"/>
            </a:solidFill>
            <a:prstDash val="solid"/>
          </a:ln>
        </p:spPr>
        <p:txBody>
          <a:bodyPr/>
          <a:lstStyle/>
          <a:p>
            <a:endParaRPr lang="en-SG"/>
          </a:p>
        </p:txBody>
      </p:sp>
      <p:sp>
        <p:nvSpPr>
          <p:cNvPr id="40" name="Text 38"/>
          <p:cNvSpPr/>
          <p:nvPr/>
        </p:nvSpPr>
        <p:spPr>
          <a:xfrm>
            <a:off x="3749040" y="3749040"/>
            <a:ext cx="475488" cy="475488"/>
          </a:xfrm>
          <a:prstGeom prst="rect">
            <a:avLst/>
          </a:prstGeom>
          <a:noFill/>
          <a:ln/>
        </p:spPr>
        <p:txBody>
          <a:bodyPr wrap="square" lIns="0" tIns="0" rIns="0" bIns="0" rtlCol="0" anchor="ctr"/>
          <a:lstStyle/>
          <a:p>
            <a:pPr marL="0" indent="0" algn="ctr">
              <a:buNone/>
            </a:pPr>
            <a:r>
              <a:rPr lang="en-US" sz="650" dirty="0">
                <a:solidFill>
                  <a:srgbClr val="475569"/>
                </a:solidFill>
                <a:latin typeface="Calibri" pitchFamily="34" charset="0"/>
                <a:ea typeface="Calibri" pitchFamily="34" charset="-122"/>
                <a:cs typeface="Calibri" pitchFamily="34" charset="-120"/>
              </a:rPr>
              <a:t>Radar</a:t>
            </a:r>
            <a:endParaRPr lang="en-US" sz="650" dirty="0"/>
          </a:p>
        </p:txBody>
      </p:sp>
      <p:sp>
        <p:nvSpPr>
          <p:cNvPr id="41" name="Shape 39"/>
          <p:cNvSpPr/>
          <p:nvPr/>
        </p:nvSpPr>
        <p:spPr>
          <a:xfrm>
            <a:off x="3986784" y="3291840"/>
            <a:ext cx="0" cy="457200"/>
          </a:xfrm>
          <a:prstGeom prst="line">
            <a:avLst/>
          </a:prstGeom>
          <a:noFill/>
          <a:ln w="9525">
            <a:solidFill>
              <a:srgbClr val="E2E8F0"/>
            </a:solidFill>
            <a:prstDash val="dash"/>
          </a:ln>
        </p:spPr>
        <p:txBody>
          <a:bodyPr/>
          <a:lstStyle/>
          <a:p>
            <a:endParaRPr lang="en-SG"/>
          </a:p>
        </p:txBody>
      </p:sp>
      <p:sp>
        <p:nvSpPr>
          <p:cNvPr id="42" name="Shape 40"/>
          <p:cNvSpPr/>
          <p:nvPr/>
        </p:nvSpPr>
        <p:spPr>
          <a:xfrm>
            <a:off x="4297680" y="3749040"/>
            <a:ext cx="475488" cy="475488"/>
          </a:xfrm>
          <a:prstGeom prst="rect">
            <a:avLst/>
          </a:prstGeom>
          <a:solidFill>
            <a:srgbClr val="F0F4F8"/>
          </a:solidFill>
          <a:ln w="6350">
            <a:solidFill>
              <a:srgbClr val="E2E8F0"/>
            </a:solidFill>
            <a:prstDash val="solid"/>
          </a:ln>
        </p:spPr>
        <p:txBody>
          <a:bodyPr/>
          <a:lstStyle/>
          <a:p>
            <a:endParaRPr lang="en-SG"/>
          </a:p>
        </p:txBody>
      </p:sp>
      <p:sp>
        <p:nvSpPr>
          <p:cNvPr id="43" name="Text 41"/>
          <p:cNvSpPr/>
          <p:nvPr/>
        </p:nvSpPr>
        <p:spPr>
          <a:xfrm>
            <a:off x="4297680" y="3749040"/>
            <a:ext cx="475488" cy="475488"/>
          </a:xfrm>
          <a:prstGeom prst="rect">
            <a:avLst/>
          </a:prstGeom>
          <a:noFill/>
          <a:ln/>
        </p:spPr>
        <p:txBody>
          <a:bodyPr wrap="square" lIns="0" tIns="0" rIns="0" bIns="0" rtlCol="0" anchor="ctr"/>
          <a:lstStyle/>
          <a:p>
            <a:pPr marL="0" indent="0" algn="ctr">
              <a:buNone/>
            </a:pPr>
            <a:r>
              <a:rPr lang="en-US" sz="650" dirty="0">
                <a:solidFill>
                  <a:srgbClr val="475569"/>
                </a:solidFill>
                <a:latin typeface="Calibri" pitchFamily="34" charset="0"/>
                <a:ea typeface="Calibri" pitchFamily="34" charset="-122"/>
                <a:cs typeface="Calibri" pitchFamily="34" charset="-120"/>
              </a:rPr>
              <a:t>Camera</a:t>
            </a:r>
            <a:endParaRPr lang="en-US" sz="650" dirty="0"/>
          </a:p>
        </p:txBody>
      </p:sp>
      <p:sp>
        <p:nvSpPr>
          <p:cNvPr id="44" name="Shape 42"/>
          <p:cNvSpPr/>
          <p:nvPr/>
        </p:nvSpPr>
        <p:spPr>
          <a:xfrm>
            <a:off x="4535424" y="3291840"/>
            <a:ext cx="0" cy="457200"/>
          </a:xfrm>
          <a:prstGeom prst="line">
            <a:avLst/>
          </a:prstGeom>
          <a:noFill/>
          <a:ln w="9525">
            <a:solidFill>
              <a:srgbClr val="E2E8F0"/>
            </a:solidFill>
            <a:prstDash val="dash"/>
          </a:ln>
        </p:spPr>
        <p:txBody>
          <a:bodyPr/>
          <a:lstStyle/>
          <a:p>
            <a:endParaRPr lang="en-SG"/>
          </a:p>
        </p:txBody>
      </p:sp>
      <p:sp>
        <p:nvSpPr>
          <p:cNvPr id="45" name="Shape 43"/>
          <p:cNvSpPr/>
          <p:nvPr/>
        </p:nvSpPr>
        <p:spPr>
          <a:xfrm>
            <a:off x="4846320" y="3749040"/>
            <a:ext cx="475488" cy="475488"/>
          </a:xfrm>
          <a:prstGeom prst="rect">
            <a:avLst/>
          </a:prstGeom>
          <a:solidFill>
            <a:srgbClr val="F0F4F8"/>
          </a:solidFill>
          <a:ln w="6350">
            <a:solidFill>
              <a:srgbClr val="E2E8F0"/>
            </a:solidFill>
            <a:prstDash val="solid"/>
          </a:ln>
        </p:spPr>
        <p:txBody>
          <a:bodyPr/>
          <a:lstStyle/>
          <a:p>
            <a:endParaRPr lang="en-SG"/>
          </a:p>
        </p:txBody>
      </p:sp>
      <p:sp>
        <p:nvSpPr>
          <p:cNvPr id="46" name="Text 44"/>
          <p:cNvSpPr/>
          <p:nvPr/>
        </p:nvSpPr>
        <p:spPr>
          <a:xfrm>
            <a:off x="4846320" y="3749040"/>
            <a:ext cx="475488" cy="475488"/>
          </a:xfrm>
          <a:prstGeom prst="rect">
            <a:avLst/>
          </a:prstGeom>
          <a:noFill/>
          <a:ln/>
        </p:spPr>
        <p:txBody>
          <a:bodyPr wrap="square" lIns="0" tIns="0" rIns="0" bIns="0" rtlCol="0" anchor="ctr"/>
          <a:lstStyle/>
          <a:p>
            <a:pPr marL="0" indent="0" algn="ctr">
              <a:buNone/>
            </a:pPr>
            <a:r>
              <a:rPr lang="en-US" sz="650" dirty="0">
                <a:solidFill>
                  <a:srgbClr val="475569"/>
                </a:solidFill>
                <a:latin typeface="Calibri" pitchFamily="34" charset="0"/>
                <a:ea typeface="Calibri" pitchFamily="34" charset="-122"/>
                <a:cs typeface="Calibri" pitchFamily="34" charset="-120"/>
              </a:rPr>
              <a:t>Lidar</a:t>
            </a:r>
            <a:endParaRPr lang="en-US" sz="650" dirty="0"/>
          </a:p>
        </p:txBody>
      </p:sp>
      <p:sp>
        <p:nvSpPr>
          <p:cNvPr id="47" name="Shape 45"/>
          <p:cNvSpPr/>
          <p:nvPr/>
        </p:nvSpPr>
        <p:spPr>
          <a:xfrm>
            <a:off x="5084064" y="3291840"/>
            <a:ext cx="0" cy="457200"/>
          </a:xfrm>
          <a:prstGeom prst="line">
            <a:avLst/>
          </a:prstGeom>
          <a:noFill/>
          <a:ln w="9525">
            <a:solidFill>
              <a:srgbClr val="E2E8F0"/>
            </a:solidFill>
            <a:prstDash val="dash"/>
          </a:ln>
        </p:spPr>
        <p:txBody>
          <a:bodyPr/>
          <a:lstStyle/>
          <a:p>
            <a:endParaRPr lang="en-SG"/>
          </a:p>
        </p:txBody>
      </p:sp>
      <p:sp>
        <p:nvSpPr>
          <p:cNvPr id="48" name="Shape 46"/>
          <p:cNvSpPr/>
          <p:nvPr/>
        </p:nvSpPr>
        <p:spPr>
          <a:xfrm>
            <a:off x="5486400" y="3749040"/>
            <a:ext cx="475488" cy="475488"/>
          </a:xfrm>
          <a:prstGeom prst="rect">
            <a:avLst/>
          </a:prstGeom>
          <a:solidFill>
            <a:srgbClr val="F0F4F8"/>
          </a:solidFill>
          <a:ln w="6350">
            <a:solidFill>
              <a:srgbClr val="E2E8F0"/>
            </a:solidFill>
            <a:prstDash val="solid"/>
          </a:ln>
        </p:spPr>
        <p:txBody>
          <a:bodyPr/>
          <a:lstStyle/>
          <a:p>
            <a:endParaRPr lang="en-SG"/>
          </a:p>
        </p:txBody>
      </p:sp>
      <p:sp>
        <p:nvSpPr>
          <p:cNvPr id="49" name="Text 47"/>
          <p:cNvSpPr/>
          <p:nvPr/>
        </p:nvSpPr>
        <p:spPr>
          <a:xfrm>
            <a:off x="5486400" y="3749040"/>
            <a:ext cx="475488" cy="475488"/>
          </a:xfrm>
          <a:prstGeom prst="rect">
            <a:avLst/>
          </a:prstGeom>
          <a:noFill/>
          <a:ln/>
        </p:spPr>
        <p:txBody>
          <a:bodyPr wrap="square" lIns="0" tIns="0" rIns="0" bIns="0" rtlCol="0" anchor="ctr"/>
          <a:lstStyle/>
          <a:p>
            <a:pPr marL="0" indent="0" algn="ctr">
              <a:buNone/>
            </a:pPr>
            <a:r>
              <a:rPr lang="en-US" sz="650" dirty="0">
                <a:solidFill>
                  <a:srgbClr val="475569"/>
                </a:solidFill>
                <a:latin typeface="Calibri" pitchFamily="34" charset="0"/>
                <a:ea typeface="Calibri" pitchFamily="34" charset="-122"/>
                <a:cs typeface="Calibri" pitchFamily="34" charset="-120"/>
              </a:rPr>
              <a:t>BCM</a:t>
            </a:r>
            <a:endParaRPr lang="en-US" sz="650" dirty="0"/>
          </a:p>
        </p:txBody>
      </p:sp>
      <p:sp>
        <p:nvSpPr>
          <p:cNvPr id="50" name="Shape 48"/>
          <p:cNvSpPr/>
          <p:nvPr/>
        </p:nvSpPr>
        <p:spPr>
          <a:xfrm>
            <a:off x="5724144" y="3291840"/>
            <a:ext cx="0" cy="457200"/>
          </a:xfrm>
          <a:prstGeom prst="line">
            <a:avLst/>
          </a:prstGeom>
          <a:noFill/>
          <a:ln w="9525">
            <a:solidFill>
              <a:srgbClr val="E2E8F0"/>
            </a:solidFill>
            <a:prstDash val="dash"/>
          </a:ln>
        </p:spPr>
        <p:txBody>
          <a:bodyPr/>
          <a:lstStyle/>
          <a:p>
            <a:endParaRPr lang="en-SG"/>
          </a:p>
        </p:txBody>
      </p:sp>
      <p:sp>
        <p:nvSpPr>
          <p:cNvPr id="51" name="Shape 49"/>
          <p:cNvSpPr/>
          <p:nvPr/>
        </p:nvSpPr>
        <p:spPr>
          <a:xfrm>
            <a:off x="6035040" y="3749040"/>
            <a:ext cx="475488" cy="475488"/>
          </a:xfrm>
          <a:prstGeom prst="rect">
            <a:avLst/>
          </a:prstGeom>
          <a:solidFill>
            <a:srgbClr val="F0F4F8"/>
          </a:solidFill>
          <a:ln w="6350">
            <a:solidFill>
              <a:srgbClr val="E2E8F0"/>
            </a:solidFill>
            <a:prstDash val="solid"/>
          </a:ln>
        </p:spPr>
        <p:txBody>
          <a:bodyPr/>
          <a:lstStyle/>
          <a:p>
            <a:endParaRPr lang="en-SG"/>
          </a:p>
        </p:txBody>
      </p:sp>
      <p:sp>
        <p:nvSpPr>
          <p:cNvPr id="52" name="Text 50"/>
          <p:cNvSpPr/>
          <p:nvPr/>
        </p:nvSpPr>
        <p:spPr>
          <a:xfrm>
            <a:off x="6035040" y="3749040"/>
            <a:ext cx="475488" cy="475488"/>
          </a:xfrm>
          <a:prstGeom prst="rect">
            <a:avLst/>
          </a:prstGeom>
          <a:noFill/>
          <a:ln/>
        </p:spPr>
        <p:txBody>
          <a:bodyPr wrap="square" lIns="0" tIns="0" rIns="0" bIns="0" rtlCol="0" anchor="ctr"/>
          <a:lstStyle/>
          <a:p>
            <a:pPr marL="0" indent="0" algn="ctr">
              <a:buNone/>
            </a:pPr>
            <a:r>
              <a:rPr lang="en-US" sz="650" dirty="0">
                <a:solidFill>
                  <a:srgbClr val="475569"/>
                </a:solidFill>
                <a:latin typeface="Calibri" pitchFamily="34" charset="0"/>
                <a:ea typeface="Calibri" pitchFamily="34" charset="-122"/>
                <a:cs typeface="Calibri" pitchFamily="34" charset="-120"/>
              </a:rPr>
              <a:t>Door</a:t>
            </a:r>
            <a:endParaRPr lang="en-US" sz="650" dirty="0"/>
          </a:p>
          <a:p>
            <a:pPr marL="0" indent="0" algn="ctr">
              <a:buNone/>
            </a:pPr>
            <a:r>
              <a:rPr lang="en-US" sz="650" dirty="0">
                <a:solidFill>
                  <a:srgbClr val="475569"/>
                </a:solidFill>
                <a:latin typeface="Calibri" pitchFamily="34" charset="0"/>
                <a:ea typeface="Calibri" pitchFamily="34" charset="-122"/>
                <a:cs typeface="Calibri" pitchFamily="34" charset="-120"/>
              </a:rPr>
              <a:t>Ctrl</a:t>
            </a:r>
            <a:endParaRPr lang="en-US" sz="650" dirty="0"/>
          </a:p>
        </p:txBody>
      </p:sp>
      <p:sp>
        <p:nvSpPr>
          <p:cNvPr id="53" name="Shape 51"/>
          <p:cNvSpPr/>
          <p:nvPr/>
        </p:nvSpPr>
        <p:spPr>
          <a:xfrm>
            <a:off x="6272784" y="3291840"/>
            <a:ext cx="0" cy="457200"/>
          </a:xfrm>
          <a:prstGeom prst="line">
            <a:avLst/>
          </a:prstGeom>
          <a:noFill/>
          <a:ln w="9525">
            <a:solidFill>
              <a:srgbClr val="E2E8F0"/>
            </a:solidFill>
            <a:prstDash val="dash"/>
          </a:ln>
        </p:spPr>
        <p:txBody>
          <a:bodyPr/>
          <a:lstStyle/>
          <a:p>
            <a:endParaRPr lang="en-SG"/>
          </a:p>
        </p:txBody>
      </p:sp>
      <p:sp>
        <p:nvSpPr>
          <p:cNvPr id="54" name="Shape 52"/>
          <p:cNvSpPr/>
          <p:nvPr/>
        </p:nvSpPr>
        <p:spPr>
          <a:xfrm>
            <a:off x="6583680" y="3749040"/>
            <a:ext cx="475488" cy="475488"/>
          </a:xfrm>
          <a:prstGeom prst="rect">
            <a:avLst/>
          </a:prstGeom>
          <a:solidFill>
            <a:srgbClr val="F0F4F8"/>
          </a:solidFill>
          <a:ln w="6350">
            <a:solidFill>
              <a:srgbClr val="E2E8F0"/>
            </a:solidFill>
            <a:prstDash val="solid"/>
          </a:ln>
        </p:spPr>
        <p:txBody>
          <a:bodyPr/>
          <a:lstStyle/>
          <a:p>
            <a:endParaRPr lang="en-SG"/>
          </a:p>
        </p:txBody>
      </p:sp>
      <p:sp>
        <p:nvSpPr>
          <p:cNvPr id="55" name="Text 53"/>
          <p:cNvSpPr/>
          <p:nvPr/>
        </p:nvSpPr>
        <p:spPr>
          <a:xfrm>
            <a:off x="6583680" y="3749040"/>
            <a:ext cx="475488" cy="475488"/>
          </a:xfrm>
          <a:prstGeom prst="rect">
            <a:avLst/>
          </a:prstGeom>
          <a:noFill/>
          <a:ln/>
        </p:spPr>
        <p:txBody>
          <a:bodyPr wrap="square" lIns="0" tIns="0" rIns="0" bIns="0" rtlCol="0" anchor="ctr"/>
          <a:lstStyle/>
          <a:p>
            <a:pPr marL="0" indent="0" algn="ctr">
              <a:buNone/>
            </a:pPr>
            <a:r>
              <a:rPr lang="en-US" sz="650" dirty="0">
                <a:solidFill>
                  <a:srgbClr val="475569"/>
                </a:solidFill>
                <a:latin typeface="Calibri" pitchFamily="34" charset="0"/>
                <a:ea typeface="Calibri" pitchFamily="34" charset="-122"/>
                <a:cs typeface="Calibri" pitchFamily="34" charset="-120"/>
              </a:rPr>
              <a:t>Lights</a:t>
            </a:r>
            <a:endParaRPr lang="en-US" sz="650" dirty="0"/>
          </a:p>
        </p:txBody>
      </p:sp>
      <p:sp>
        <p:nvSpPr>
          <p:cNvPr id="56" name="Shape 54"/>
          <p:cNvSpPr/>
          <p:nvPr/>
        </p:nvSpPr>
        <p:spPr>
          <a:xfrm>
            <a:off x="6821424" y="3291840"/>
            <a:ext cx="0" cy="457200"/>
          </a:xfrm>
          <a:prstGeom prst="line">
            <a:avLst/>
          </a:prstGeom>
          <a:noFill/>
          <a:ln w="9525">
            <a:solidFill>
              <a:srgbClr val="E2E8F0"/>
            </a:solidFill>
            <a:prstDash val="dash"/>
          </a:ln>
        </p:spPr>
        <p:txBody>
          <a:bodyPr/>
          <a:lstStyle/>
          <a:p>
            <a:endParaRPr lang="en-SG"/>
          </a:p>
        </p:txBody>
      </p:sp>
      <p:sp>
        <p:nvSpPr>
          <p:cNvPr id="57" name="Shape 55"/>
          <p:cNvSpPr/>
          <p:nvPr/>
        </p:nvSpPr>
        <p:spPr>
          <a:xfrm>
            <a:off x="7223760" y="3749040"/>
            <a:ext cx="475488" cy="475488"/>
          </a:xfrm>
          <a:prstGeom prst="rect">
            <a:avLst/>
          </a:prstGeom>
          <a:solidFill>
            <a:srgbClr val="F0F4F8"/>
          </a:solidFill>
          <a:ln w="6350">
            <a:solidFill>
              <a:srgbClr val="E2E8F0"/>
            </a:solidFill>
            <a:prstDash val="solid"/>
          </a:ln>
        </p:spPr>
        <p:txBody>
          <a:bodyPr/>
          <a:lstStyle/>
          <a:p>
            <a:endParaRPr lang="en-SG"/>
          </a:p>
        </p:txBody>
      </p:sp>
      <p:sp>
        <p:nvSpPr>
          <p:cNvPr id="58" name="Text 56"/>
          <p:cNvSpPr/>
          <p:nvPr/>
        </p:nvSpPr>
        <p:spPr>
          <a:xfrm>
            <a:off x="7223760" y="3749040"/>
            <a:ext cx="475488" cy="475488"/>
          </a:xfrm>
          <a:prstGeom prst="rect">
            <a:avLst/>
          </a:prstGeom>
          <a:noFill/>
          <a:ln/>
        </p:spPr>
        <p:txBody>
          <a:bodyPr wrap="square" lIns="0" tIns="0" rIns="0" bIns="0" rtlCol="0" anchor="ctr"/>
          <a:lstStyle/>
          <a:p>
            <a:pPr marL="0" indent="0" algn="ctr">
              <a:buNone/>
            </a:pPr>
            <a:r>
              <a:rPr lang="en-US" sz="650" dirty="0">
                <a:solidFill>
                  <a:srgbClr val="475569"/>
                </a:solidFill>
                <a:latin typeface="Calibri" pitchFamily="34" charset="0"/>
                <a:ea typeface="Calibri" pitchFamily="34" charset="-122"/>
                <a:cs typeface="Calibri" pitchFamily="34" charset="-120"/>
              </a:rPr>
              <a:t>HU</a:t>
            </a:r>
            <a:endParaRPr lang="en-US" sz="650" dirty="0"/>
          </a:p>
        </p:txBody>
      </p:sp>
      <p:sp>
        <p:nvSpPr>
          <p:cNvPr id="59" name="Shape 57"/>
          <p:cNvSpPr/>
          <p:nvPr/>
        </p:nvSpPr>
        <p:spPr>
          <a:xfrm>
            <a:off x="7461504" y="3291840"/>
            <a:ext cx="0" cy="457200"/>
          </a:xfrm>
          <a:prstGeom prst="line">
            <a:avLst/>
          </a:prstGeom>
          <a:noFill/>
          <a:ln w="9525">
            <a:solidFill>
              <a:srgbClr val="E2E8F0"/>
            </a:solidFill>
            <a:prstDash val="dash"/>
          </a:ln>
        </p:spPr>
        <p:txBody>
          <a:bodyPr/>
          <a:lstStyle/>
          <a:p>
            <a:endParaRPr lang="en-SG"/>
          </a:p>
        </p:txBody>
      </p:sp>
      <p:sp>
        <p:nvSpPr>
          <p:cNvPr id="60" name="Shape 58"/>
          <p:cNvSpPr/>
          <p:nvPr/>
        </p:nvSpPr>
        <p:spPr>
          <a:xfrm>
            <a:off x="7772400" y="3749040"/>
            <a:ext cx="475488" cy="475488"/>
          </a:xfrm>
          <a:prstGeom prst="rect">
            <a:avLst/>
          </a:prstGeom>
          <a:solidFill>
            <a:srgbClr val="F0F4F8"/>
          </a:solidFill>
          <a:ln w="6350">
            <a:solidFill>
              <a:srgbClr val="E2E8F0"/>
            </a:solidFill>
            <a:prstDash val="solid"/>
          </a:ln>
        </p:spPr>
        <p:txBody>
          <a:bodyPr/>
          <a:lstStyle/>
          <a:p>
            <a:endParaRPr lang="en-SG"/>
          </a:p>
        </p:txBody>
      </p:sp>
      <p:sp>
        <p:nvSpPr>
          <p:cNvPr id="61" name="Text 59"/>
          <p:cNvSpPr/>
          <p:nvPr/>
        </p:nvSpPr>
        <p:spPr>
          <a:xfrm>
            <a:off x="7772400" y="3749040"/>
            <a:ext cx="475488" cy="475488"/>
          </a:xfrm>
          <a:prstGeom prst="rect">
            <a:avLst/>
          </a:prstGeom>
          <a:noFill/>
          <a:ln/>
        </p:spPr>
        <p:txBody>
          <a:bodyPr wrap="square" lIns="0" tIns="0" rIns="0" bIns="0" rtlCol="0" anchor="ctr"/>
          <a:lstStyle/>
          <a:p>
            <a:pPr marL="0" indent="0" algn="ctr">
              <a:buNone/>
            </a:pPr>
            <a:r>
              <a:rPr lang="en-US" sz="650" dirty="0">
                <a:solidFill>
                  <a:srgbClr val="475569"/>
                </a:solidFill>
                <a:latin typeface="Calibri" pitchFamily="34" charset="0"/>
                <a:ea typeface="Calibri" pitchFamily="34" charset="-122"/>
                <a:cs typeface="Calibri" pitchFamily="34" charset="-120"/>
              </a:rPr>
              <a:t>Cluster</a:t>
            </a:r>
            <a:endParaRPr lang="en-US" sz="650" dirty="0"/>
          </a:p>
        </p:txBody>
      </p:sp>
      <p:sp>
        <p:nvSpPr>
          <p:cNvPr id="62" name="Shape 60"/>
          <p:cNvSpPr/>
          <p:nvPr/>
        </p:nvSpPr>
        <p:spPr>
          <a:xfrm>
            <a:off x="8010144" y="3291840"/>
            <a:ext cx="0" cy="457200"/>
          </a:xfrm>
          <a:prstGeom prst="line">
            <a:avLst/>
          </a:prstGeom>
          <a:noFill/>
          <a:ln w="9525">
            <a:solidFill>
              <a:srgbClr val="E2E8F0"/>
            </a:solidFill>
            <a:prstDash val="dash"/>
          </a:ln>
        </p:spPr>
        <p:txBody>
          <a:bodyPr/>
          <a:lstStyle/>
          <a:p>
            <a:endParaRPr lang="en-SG"/>
          </a:p>
        </p:txBody>
      </p:sp>
      <p:sp>
        <p:nvSpPr>
          <p:cNvPr id="63" name="Shape 61"/>
          <p:cNvSpPr/>
          <p:nvPr/>
        </p:nvSpPr>
        <p:spPr>
          <a:xfrm>
            <a:off x="8321040" y="3749040"/>
            <a:ext cx="475488" cy="475488"/>
          </a:xfrm>
          <a:prstGeom prst="rect">
            <a:avLst/>
          </a:prstGeom>
          <a:solidFill>
            <a:srgbClr val="F0F4F8"/>
          </a:solidFill>
          <a:ln w="6350">
            <a:solidFill>
              <a:srgbClr val="E2E8F0"/>
            </a:solidFill>
            <a:prstDash val="solid"/>
          </a:ln>
        </p:spPr>
        <p:txBody>
          <a:bodyPr/>
          <a:lstStyle/>
          <a:p>
            <a:endParaRPr lang="en-SG"/>
          </a:p>
        </p:txBody>
      </p:sp>
      <p:sp>
        <p:nvSpPr>
          <p:cNvPr id="64" name="Text 62"/>
          <p:cNvSpPr/>
          <p:nvPr/>
        </p:nvSpPr>
        <p:spPr>
          <a:xfrm>
            <a:off x="8321040" y="3749040"/>
            <a:ext cx="475488" cy="475488"/>
          </a:xfrm>
          <a:prstGeom prst="rect">
            <a:avLst/>
          </a:prstGeom>
          <a:noFill/>
          <a:ln/>
        </p:spPr>
        <p:txBody>
          <a:bodyPr wrap="square" lIns="0" tIns="0" rIns="0" bIns="0" rtlCol="0" anchor="ctr"/>
          <a:lstStyle/>
          <a:p>
            <a:pPr marL="0" indent="0" algn="ctr">
              <a:buNone/>
            </a:pPr>
            <a:r>
              <a:rPr lang="en-US" sz="650" dirty="0">
                <a:solidFill>
                  <a:srgbClr val="475569"/>
                </a:solidFill>
                <a:latin typeface="Calibri" pitchFamily="34" charset="0"/>
                <a:ea typeface="Calibri" pitchFamily="34" charset="-122"/>
                <a:cs typeface="Calibri" pitchFamily="34" charset="-120"/>
              </a:rPr>
              <a:t>TCU</a:t>
            </a:r>
            <a:endParaRPr lang="en-US" sz="650" dirty="0"/>
          </a:p>
        </p:txBody>
      </p:sp>
      <p:sp>
        <p:nvSpPr>
          <p:cNvPr id="65" name="Shape 63"/>
          <p:cNvSpPr/>
          <p:nvPr/>
        </p:nvSpPr>
        <p:spPr>
          <a:xfrm>
            <a:off x="8558784" y="3291840"/>
            <a:ext cx="0" cy="457200"/>
          </a:xfrm>
          <a:prstGeom prst="line">
            <a:avLst/>
          </a:prstGeom>
          <a:noFill/>
          <a:ln w="9525">
            <a:solidFill>
              <a:srgbClr val="E2E8F0"/>
            </a:solidFill>
            <a:prstDash val="dash"/>
          </a:ln>
        </p:spPr>
        <p:txBody>
          <a:bodyPr/>
          <a:lstStyle/>
          <a:p>
            <a:endParaRPr lang="en-SG"/>
          </a:p>
        </p:txBody>
      </p:sp>
      <p:sp>
        <p:nvSpPr>
          <p:cNvPr id="66" name="Text 64"/>
          <p:cNvSpPr/>
          <p:nvPr/>
        </p:nvSpPr>
        <p:spPr>
          <a:xfrm>
            <a:off x="731520" y="4480560"/>
            <a:ext cx="7315200" cy="274320"/>
          </a:xfrm>
          <a:prstGeom prst="rect">
            <a:avLst/>
          </a:prstGeom>
          <a:noFill/>
          <a:ln/>
        </p:spPr>
        <p:txBody>
          <a:bodyPr wrap="square" lIns="0" tIns="0" rIns="0" bIns="0" rtlCol="0" anchor="ctr"/>
          <a:lstStyle/>
          <a:p>
            <a:pPr marL="0" indent="0">
              <a:buNone/>
            </a:pPr>
            <a:r>
              <a:rPr lang="en-US" sz="1100" i="1" dirty="0">
                <a:solidFill>
                  <a:srgbClr val="94A3B8"/>
                </a:solidFill>
                <a:latin typeface="Calibri" pitchFamily="34" charset="0"/>
                <a:ea typeface="Calibri" pitchFamily="34" charset="-122"/>
                <a:cs typeface="Calibri" pitchFamily="34" charset="-120"/>
              </a:rPr>
              <a:t>CAN / LIN / FlexRay sub-networks within each domain</a:t>
            </a:r>
            <a:endParaRPr lang="en-US" sz="1100" dirty="0"/>
          </a:p>
        </p:txBody>
      </p:sp>
      <p:cxnSp>
        <p:nvCxnSpPr>
          <p:cNvPr id="68" name="Straight Connector 67">
            <a:extLst>
              <a:ext uri="{FF2B5EF4-FFF2-40B4-BE49-F238E27FC236}">
                <a16:creationId xmlns:a16="http://schemas.microsoft.com/office/drawing/2014/main" id="{B8FDB6F5-67C7-10D4-26BC-CCAEE3B003DE}"/>
              </a:ext>
            </a:extLst>
          </p:cNvPr>
          <p:cNvCxnSpPr>
            <a:stCxn id="4" idx="1"/>
          </p:cNvCxnSpPr>
          <p:nvPr/>
        </p:nvCxnSpPr>
        <p:spPr>
          <a:xfrm flipH="1">
            <a:off x="2834640" y="1691640"/>
            <a:ext cx="457200" cy="169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3D50175C-7BF1-FC71-2994-26B85FB5EF9B}"/>
              </a:ext>
            </a:extLst>
          </p:cNvPr>
          <p:cNvCxnSpPr>
            <a:cxnSpLocks/>
          </p:cNvCxnSpPr>
          <p:nvPr/>
        </p:nvCxnSpPr>
        <p:spPr>
          <a:xfrm>
            <a:off x="2834640" y="1691640"/>
            <a:ext cx="0" cy="3200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A506B465-1476-1A45-2790-E4F80F462652}"/>
              </a:ext>
            </a:extLst>
          </p:cNvPr>
          <p:cNvCxnSpPr>
            <a:cxnSpLocks/>
          </p:cNvCxnSpPr>
          <p:nvPr/>
        </p:nvCxnSpPr>
        <p:spPr>
          <a:xfrm flipH="1">
            <a:off x="1097280" y="1530773"/>
            <a:ext cx="215798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208CAA5-0FB0-D164-C98F-A4AFD19262C6}"/>
              </a:ext>
            </a:extLst>
          </p:cNvPr>
          <p:cNvCxnSpPr>
            <a:cxnSpLocks/>
            <a:endCxn id="8" idx="0"/>
          </p:cNvCxnSpPr>
          <p:nvPr/>
        </p:nvCxnSpPr>
        <p:spPr>
          <a:xfrm>
            <a:off x="1097280" y="1537547"/>
            <a:ext cx="0" cy="4741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064D1A03-332E-0751-09F3-A9E8853EC150}"/>
              </a:ext>
            </a:extLst>
          </p:cNvPr>
          <p:cNvCxnSpPr>
            <a:cxnSpLocks/>
          </p:cNvCxnSpPr>
          <p:nvPr/>
        </p:nvCxnSpPr>
        <p:spPr>
          <a:xfrm flipH="1">
            <a:off x="5828115" y="1520613"/>
            <a:ext cx="221860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5C7761FF-858D-C8B2-55A5-0D0D721B553B}"/>
              </a:ext>
            </a:extLst>
          </p:cNvPr>
          <p:cNvCxnSpPr>
            <a:cxnSpLocks/>
          </p:cNvCxnSpPr>
          <p:nvPr/>
        </p:nvCxnSpPr>
        <p:spPr>
          <a:xfrm>
            <a:off x="8046720" y="1530773"/>
            <a:ext cx="0" cy="5037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7E47BA25-01A0-5551-D03B-745072D76E06}"/>
              </a:ext>
            </a:extLst>
          </p:cNvPr>
          <p:cNvCxnSpPr/>
          <p:nvPr/>
        </p:nvCxnSpPr>
        <p:spPr>
          <a:xfrm flipH="1">
            <a:off x="5852159" y="1690793"/>
            <a:ext cx="457200" cy="1693"/>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87042FCB-86A1-7CF7-B6FD-4EE2667F44D9}"/>
              </a:ext>
            </a:extLst>
          </p:cNvPr>
          <p:cNvCxnSpPr>
            <a:cxnSpLocks/>
          </p:cNvCxnSpPr>
          <p:nvPr/>
        </p:nvCxnSpPr>
        <p:spPr>
          <a:xfrm>
            <a:off x="6309359" y="1690793"/>
            <a:ext cx="0" cy="32004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Shape 21">
            <a:extLst>
              <a:ext uri="{FF2B5EF4-FFF2-40B4-BE49-F238E27FC236}">
                <a16:creationId xmlns:a16="http://schemas.microsoft.com/office/drawing/2014/main" id="{B7D452E1-2AD1-C36D-4353-8FEC43D45B88}"/>
              </a:ext>
            </a:extLst>
          </p:cNvPr>
          <p:cNvSpPr/>
          <p:nvPr/>
        </p:nvSpPr>
        <p:spPr>
          <a:xfrm>
            <a:off x="1102525" y="3291840"/>
            <a:ext cx="0" cy="457200"/>
          </a:xfrm>
          <a:prstGeom prst="line">
            <a:avLst/>
          </a:prstGeom>
          <a:noFill/>
          <a:ln w="28575">
            <a:solidFill>
              <a:schemeClr val="tx1"/>
            </a:solidFill>
            <a:prstDash val="solid"/>
          </a:ln>
        </p:spPr>
        <p:txBody>
          <a:bodyPr/>
          <a:lstStyle/>
          <a:p>
            <a:endParaRPr lang="en-US" dirty="0"/>
          </a:p>
        </p:txBody>
      </p:sp>
      <p:sp>
        <p:nvSpPr>
          <p:cNvPr id="85" name="Shape 21">
            <a:extLst>
              <a:ext uri="{FF2B5EF4-FFF2-40B4-BE49-F238E27FC236}">
                <a16:creationId xmlns:a16="http://schemas.microsoft.com/office/drawing/2014/main" id="{1992FC5F-E637-D6B7-65A5-D2BC6FEDE405}"/>
              </a:ext>
            </a:extLst>
          </p:cNvPr>
          <p:cNvSpPr/>
          <p:nvPr/>
        </p:nvSpPr>
        <p:spPr>
          <a:xfrm>
            <a:off x="1609344" y="3291840"/>
            <a:ext cx="0" cy="457200"/>
          </a:xfrm>
          <a:prstGeom prst="line">
            <a:avLst/>
          </a:prstGeom>
          <a:noFill/>
          <a:ln w="28575">
            <a:solidFill>
              <a:schemeClr val="tx1"/>
            </a:solidFill>
            <a:prstDash val="solid"/>
          </a:ln>
        </p:spPr>
        <p:txBody>
          <a:bodyPr/>
          <a:lstStyle/>
          <a:p>
            <a:endParaRPr lang="en-US" dirty="0"/>
          </a:p>
        </p:txBody>
      </p:sp>
      <p:sp>
        <p:nvSpPr>
          <p:cNvPr id="86" name="Shape 21">
            <a:extLst>
              <a:ext uri="{FF2B5EF4-FFF2-40B4-BE49-F238E27FC236}">
                <a16:creationId xmlns:a16="http://schemas.microsoft.com/office/drawing/2014/main" id="{6A42432B-ACDB-2598-FECB-58B1864EF716}"/>
              </a:ext>
            </a:extLst>
          </p:cNvPr>
          <p:cNvSpPr/>
          <p:nvPr/>
        </p:nvSpPr>
        <p:spPr>
          <a:xfrm>
            <a:off x="2249424" y="3296447"/>
            <a:ext cx="0" cy="457200"/>
          </a:xfrm>
          <a:prstGeom prst="line">
            <a:avLst/>
          </a:prstGeom>
          <a:noFill/>
          <a:ln w="28575">
            <a:solidFill>
              <a:schemeClr val="tx1"/>
            </a:solidFill>
            <a:prstDash val="solid"/>
          </a:ln>
        </p:spPr>
        <p:txBody>
          <a:bodyPr/>
          <a:lstStyle/>
          <a:p>
            <a:endParaRPr lang="en-US" dirty="0"/>
          </a:p>
        </p:txBody>
      </p:sp>
      <p:sp>
        <p:nvSpPr>
          <p:cNvPr id="87" name="Shape 21">
            <a:extLst>
              <a:ext uri="{FF2B5EF4-FFF2-40B4-BE49-F238E27FC236}">
                <a16:creationId xmlns:a16="http://schemas.microsoft.com/office/drawing/2014/main" id="{B6C6F0AA-5527-7831-8999-D32B42C33EC9}"/>
              </a:ext>
            </a:extLst>
          </p:cNvPr>
          <p:cNvSpPr/>
          <p:nvPr/>
        </p:nvSpPr>
        <p:spPr>
          <a:xfrm>
            <a:off x="2782044" y="3291840"/>
            <a:ext cx="0" cy="457200"/>
          </a:xfrm>
          <a:prstGeom prst="line">
            <a:avLst/>
          </a:prstGeom>
          <a:noFill/>
          <a:ln w="28575">
            <a:solidFill>
              <a:schemeClr val="tx1"/>
            </a:solidFill>
            <a:prstDash val="solid"/>
          </a:ln>
        </p:spPr>
        <p:txBody>
          <a:bodyPr/>
          <a:lstStyle/>
          <a:p>
            <a:endParaRPr lang="en-US" dirty="0"/>
          </a:p>
        </p:txBody>
      </p:sp>
      <p:sp>
        <p:nvSpPr>
          <p:cNvPr id="88" name="Shape 21">
            <a:extLst>
              <a:ext uri="{FF2B5EF4-FFF2-40B4-BE49-F238E27FC236}">
                <a16:creationId xmlns:a16="http://schemas.microsoft.com/office/drawing/2014/main" id="{2240D89A-1A43-360C-6117-4DA9C05CC2D4}"/>
              </a:ext>
            </a:extLst>
          </p:cNvPr>
          <p:cNvSpPr/>
          <p:nvPr/>
        </p:nvSpPr>
        <p:spPr>
          <a:xfrm>
            <a:off x="3351949" y="3307080"/>
            <a:ext cx="0" cy="457200"/>
          </a:xfrm>
          <a:prstGeom prst="line">
            <a:avLst/>
          </a:prstGeom>
          <a:noFill/>
          <a:ln w="28575">
            <a:solidFill>
              <a:schemeClr val="tx1"/>
            </a:solidFill>
            <a:prstDash val="solid"/>
          </a:ln>
        </p:spPr>
        <p:txBody>
          <a:bodyPr/>
          <a:lstStyle/>
          <a:p>
            <a:endParaRPr lang="en-US" dirty="0"/>
          </a:p>
        </p:txBody>
      </p:sp>
      <p:sp>
        <p:nvSpPr>
          <p:cNvPr id="89" name="Shape 21">
            <a:extLst>
              <a:ext uri="{FF2B5EF4-FFF2-40B4-BE49-F238E27FC236}">
                <a16:creationId xmlns:a16="http://schemas.microsoft.com/office/drawing/2014/main" id="{C3E54DE5-6DCD-D328-498E-342B995E9727}"/>
              </a:ext>
            </a:extLst>
          </p:cNvPr>
          <p:cNvSpPr/>
          <p:nvPr/>
        </p:nvSpPr>
        <p:spPr>
          <a:xfrm>
            <a:off x="4002662" y="3307080"/>
            <a:ext cx="0" cy="457200"/>
          </a:xfrm>
          <a:prstGeom prst="line">
            <a:avLst/>
          </a:prstGeom>
          <a:noFill/>
          <a:ln w="28575">
            <a:solidFill>
              <a:schemeClr val="tx1"/>
            </a:solidFill>
            <a:prstDash val="solid"/>
          </a:ln>
        </p:spPr>
        <p:txBody>
          <a:bodyPr/>
          <a:lstStyle/>
          <a:p>
            <a:endParaRPr lang="en-US" dirty="0"/>
          </a:p>
        </p:txBody>
      </p:sp>
      <p:sp>
        <p:nvSpPr>
          <p:cNvPr id="90" name="Shape 21">
            <a:extLst>
              <a:ext uri="{FF2B5EF4-FFF2-40B4-BE49-F238E27FC236}">
                <a16:creationId xmlns:a16="http://schemas.microsoft.com/office/drawing/2014/main" id="{1019E026-FAB7-A79B-3785-BBE7A7EC9EBC}"/>
              </a:ext>
            </a:extLst>
          </p:cNvPr>
          <p:cNvSpPr/>
          <p:nvPr/>
        </p:nvSpPr>
        <p:spPr>
          <a:xfrm>
            <a:off x="4535424" y="3279790"/>
            <a:ext cx="0" cy="457200"/>
          </a:xfrm>
          <a:prstGeom prst="line">
            <a:avLst/>
          </a:prstGeom>
          <a:noFill/>
          <a:ln w="28575">
            <a:solidFill>
              <a:schemeClr val="tx1"/>
            </a:solidFill>
            <a:prstDash val="solid"/>
          </a:ln>
        </p:spPr>
        <p:txBody>
          <a:bodyPr/>
          <a:lstStyle/>
          <a:p>
            <a:endParaRPr lang="en-US" dirty="0"/>
          </a:p>
        </p:txBody>
      </p:sp>
      <p:sp>
        <p:nvSpPr>
          <p:cNvPr id="91" name="Shape 21">
            <a:extLst>
              <a:ext uri="{FF2B5EF4-FFF2-40B4-BE49-F238E27FC236}">
                <a16:creationId xmlns:a16="http://schemas.microsoft.com/office/drawing/2014/main" id="{08441009-A507-6CEC-3555-F614705FF608}"/>
              </a:ext>
            </a:extLst>
          </p:cNvPr>
          <p:cNvSpPr/>
          <p:nvPr/>
        </p:nvSpPr>
        <p:spPr>
          <a:xfrm>
            <a:off x="5084064" y="3273765"/>
            <a:ext cx="0" cy="457200"/>
          </a:xfrm>
          <a:prstGeom prst="line">
            <a:avLst/>
          </a:prstGeom>
          <a:noFill/>
          <a:ln w="28575">
            <a:solidFill>
              <a:schemeClr val="tx1"/>
            </a:solidFill>
            <a:prstDash val="solid"/>
          </a:ln>
        </p:spPr>
        <p:txBody>
          <a:bodyPr/>
          <a:lstStyle/>
          <a:p>
            <a:endParaRPr lang="en-US" dirty="0"/>
          </a:p>
        </p:txBody>
      </p:sp>
      <p:sp>
        <p:nvSpPr>
          <p:cNvPr id="92" name="Shape 21">
            <a:extLst>
              <a:ext uri="{FF2B5EF4-FFF2-40B4-BE49-F238E27FC236}">
                <a16:creationId xmlns:a16="http://schemas.microsoft.com/office/drawing/2014/main" id="{574C6138-5305-D97C-BD85-E460815D54D3}"/>
              </a:ext>
            </a:extLst>
          </p:cNvPr>
          <p:cNvSpPr/>
          <p:nvPr/>
        </p:nvSpPr>
        <p:spPr>
          <a:xfrm>
            <a:off x="5718757" y="3291840"/>
            <a:ext cx="0" cy="457200"/>
          </a:xfrm>
          <a:prstGeom prst="line">
            <a:avLst/>
          </a:prstGeom>
          <a:noFill/>
          <a:ln w="28575">
            <a:solidFill>
              <a:schemeClr val="tx1"/>
            </a:solidFill>
            <a:prstDash val="solid"/>
          </a:ln>
        </p:spPr>
        <p:txBody>
          <a:bodyPr/>
          <a:lstStyle/>
          <a:p>
            <a:endParaRPr lang="en-US" dirty="0"/>
          </a:p>
        </p:txBody>
      </p:sp>
      <p:sp>
        <p:nvSpPr>
          <p:cNvPr id="93" name="Shape 21">
            <a:extLst>
              <a:ext uri="{FF2B5EF4-FFF2-40B4-BE49-F238E27FC236}">
                <a16:creationId xmlns:a16="http://schemas.microsoft.com/office/drawing/2014/main" id="{BA3C94D1-9DA7-D388-96AB-380033CB0CE8}"/>
              </a:ext>
            </a:extLst>
          </p:cNvPr>
          <p:cNvSpPr/>
          <p:nvPr/>
        </p:nvSpPr>
        <p:spPr>
          <a:xfrm>
            <a:off x="6272784" y="3273765"/>
            <a:ext cx="0" cy="457200"/>
          </a:xfrm>
          <a:prstGeom prst="line">
            <a:avLst/>
          </a:prstGeom>
          <a:noFill/>
          <a:ln w="28575">
            <a:solidFill>
              <a:schemeClr val="tx1"/>
            </a:solidFill>
            <a:prstDash val="solid"/>
          </a:ln>
        </p:spPr>
        <p:txBody>
          <a:bodyPr/>
          <a:lstStyle/>
          <a:p>
            <a:endParaRPr lang="en-US" dirty="0"/>
          </a:p>
        </p:txBody>
      </p:sp>
      <p:sp>
        <p:nvSpPr>
          <p:cNvPr id="94" name="Shape 21">
            <a:extLst>
              <a:ext uri="{FF2B5EF4-FFF2-40B4-BE49-F238E27FC236}">
                <a16:creationId xmlns:a16="http://schemas.microsoft.com/office/drawing/2014/main" id="{34B8776A-4B23-1931-FAEB-B81F230BDABD}"/>
              </a:ext>
            </a:extLst>
          </p:cNvPr>
          <p:cNvSpPr/>
          <p:nvPr/>
        </p:nvSpPr>
        <p:spPr>
          <a:xfrm>
            <a:off x="6826669" y="3307080"/>
            <a:ext cx="0" cy="457200"/>
          </a:xfrm>
          <a:prstGeom prst="line">
            <a:avLst/>
          </a:prstGeom>
          <a:noFill/>
          <a:ln w="28575">
            <a:solidFill>
              <a:schemeClr val="tx1"/>
            </a:solidFill>
            <a:prstDash val="solid"/>
          </a:ln>
        </p:spPr>
        <p:txBody>
          <a:bodyPr/>
          <a:lstStyle/>
          <a:p>
            <a:endParaRPr lang="en-US" dirty="0"/>
          </a:p>
        </p:txBody>
      </p:sp>
      <p:sp>
        <p:nvSpPr>
          <p:cNvPr id="95" name="Shape 21">
            <a:extLst>
              <a:ext uri="{FF2B5EF4-FFF2-40B4-BE49-F238E27FC236}">
                <a16:creationId xmlns:a16="http://schemas.microsoft.com/office/drawing/2014/main" id="{39768C94-BA3F-0555-BE8F-58D154A4E088}"/>
              </a:ext>
            </a:extLst>
          </p:cNvPr>
          <p:cNvSpPr/>
          <p:nvPr/>
        </p:nvSpPr>
        <p:spPr>
          <a:xfrm>
            <a:off x="7477382" y="3273765"/>
            <a:ext cx="0" cy="457200"/>
          </a:xfrm>
          <a:prstGeom prst="line">
            <a:avLst/>
          </a:prstGeom>
          <a:noFill/>
          <a:ln w="28575">
            <a:solidFill>
              <a:schemeClr val="tx1"/>
            </a:solidFill>
            <a:prstDash val="solid"/>
          </a:ln>
        </p:spPr>
        <p:txBody>
          <a:bodyPr/>
          <a:lstStyle/>
          <a:p>
            <a:endParaRPr lang="en-US" dirty="0"/>
          </a:p>
        </p:txBody>
      </p:sp>
      <p:sp>
        <p:nvSpPr>
          <p:cNvPr id="96" name="Shape 21">
            <a:extLst>
              <a:ext uri="{FF2B5EF4-FFF2-40B4-BE49-F238E27FC236}">
                <a16:creationId xmlns:a16="http://schemas.microsoft.com/office/drawing/2014/main" id="{E11894B7-8AA7-1057-4FA2-23425F48D20F}"/>
              </a:ext>
            </a:extLst>
          </p:cNvPr>
          <p:cNvSpPr/>
          <p:nvPr/>
        </p:nvSpPr>
        <p:spPr>
          <a:xfrm>
            <a:off x="8046720" y="3291840"/>
            <a:ext cx="0" cy="457200"/>
          </a:xfrm>
          <a:prstGeom prst="line">
            <a:avLst/>
          </a:prstGeom>
          <a:noFill/>
          <a:ln w="28575">
            <a:solidFill>
              <a:schemeClr val="tx1"/>
            </a:solidFill>
            <a:prstDash val="solid"/>
          </a:ln>
        </p:spPr>
        <p:txBody>
          <a:bodyPr/>
          <a:lstStyle/>
          <a:p>
            <a:endParaRPr lang="en-US" dirty="0"/>
          </a:p>
        </p:txBody>
      </p:sp>
      <p:sp>
        <p:nvSpPr>
          <p:cNvPr id="97" name="Shape 21">
            <a:extLst>
              <a:ext uri="{FF2B5EF4-FFF2-40B4-BE49-F238E27FC236}">
                <a16:creationId xmlns:a16="http://schemas.microsoft.com/office/drawing/2014/main" id="{7DACB83D-FFDA-9630-8A52-3774C776BA7F}"/>
              </a:ext>
            </a:extLst>
          </p:cNvPr>
          <p:cNvSpPr/>
          <p:nvPr/>
        </p:nvSpPr>
        <p:spPr>
          <a:xfrm>
            <a:off x="8564029" y="3307080"/>
            <a:ext cx="0" cy="457200"/>
          </a:xfrm>
          <a:prstGeom prst="line">
            <a:avLst/>
          </a:prstGeom>
          <a:noFill/>
          <a:ln w="28575">
            <a:solidFill>
              <a:schemeClr val="tx1"/>
            </a:solidFill>
            <a:prstDash val="solid"/>
          </a:ln>
        </p:spPr>
        <p:txBody>
          <a:bodyPr/>
          <a:lstStyle/>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Zonal architecture</a:t>
            </a:r>
            <a:endParaRPr lang="en-US" sz="2800" dirty="0"/>
          </a:p>
        </p:txBody>
      </p:sp>
      <p:sp>
        <p:nvSpPr>
          <p:cNvPr id="3" name="Text 1"/>
          <p:cNvSpPr/>
          <p:nvPr/>
        </p:nvSpPr>
        <p:spPr>
          <a:xfrm>
            <a:off x="731520" y="777240"/>
            <a:ext cx="7315200" cy="2743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ECUs grouped by physical location — zone controllers connect to central compute</a:t>
            </a:r>
            <a:endParaRPr lang="en-US" sz="1200" dirty="0"/>
          </a:p>
        </p:txBody>
      </p:sp>
      <p:sp>
        <p:nvSpPr>
          <p:cNvPr id="4" name="Shape 2"/>
          <p:cNvSpPr/>
          <p:nvPr/>
        </p:nvSpPr>
        <p:spPr>
          <a:xfrm>
            <a:off x="2926080" y="2194560"/>
            <a:ext cx="3291840" cy="914400"/>
          </a:xfrm>
          <a:prstGeom prst="rect">
            <a:avLst/>
          </a:prstGeom>
          <a:solidFill>
            <a:srgbClr val="0F1B2D"/>
          </a:solidFill>
          <a:ln/>
          <a:effectLst>
            <a:outerShdw blurRad="50800" dist="25400" dir="8100000" algn="bl" rotWithShape="0">
              <a:srgbClr val="000000">
                <a:alpha val="12000"/>
              </a:srgbClr>
            </a:outerShdw>
          </a:effectLst>
        </p:spPr>
        <p:txBody>
          <a:bodyPr/>
          <a:lstStyle/>
          <a:p>
            <a:endParaRPr lang="en-US" dirty="0"/>
          </a:p>
        </p:txBody>
      </p:sp>
      <p:sp>
        <p:nvSpPr>
          <p:cNvPr id="5" name="Text 3"/>
          <p:cNvSpPr/>
          <p:nvPr/>
        </p:nvSpPr>
        <p:spPr>
          <a:xfrm>
            <a:off x="2926080" y="2240280"/>
            <a:ext cx="329184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Central HPC / Vehicle Computer</a:t>
            </a:r>
            <a:endParaRPr lang="en-US" sz="1400" dirty="0"/>
          </a:p>
        </p:txBody>
      </p:sp>
      <p:sp>
        <p:nvSpPr>
          <p:cNvPr id="6" name="Text 4"/>
          <p:cNvSpPr/>
          <p:nvPr/>
        </p:nvSpPr>
        <p:spPr>
          <a:xfrm>
            <a:off x="2926080" y="2651760"/>
            <a:ext cx="3291840" cy="365760"/>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ADAS  •  Infotainment  •  Body  •  Vehicle dynamics</a:t>
            </a:r>
            <a:endParaRPr lang="en-US" sz="900" dirty="0"/>
          </a:p>
        </p:txBody>
      </p:sp>
      <p:sp>
        <p:nvSpPr>
          <p:cNvPr id="7" name="Shape 5"/>
          <p:cNvSpPr/>
          <p:nvPr/>
        </p:nvSpPr>
        <p:spPr>
          <a:xfrm>
            <a:off x="548640" y="1371600"/>
            <a:ext cx="1463040" cy="731520"/>
          </a:xfrm>
          <a:prstGeom prst="rect">
            <a:avLst/>
          </a:prstGeom>
          <a:solidFill>
            <a:srgbClr val="0F6E56"/>
          </a:solidFill>
          <a:ln/>
          <a:effectLst>
            <a:outerShdw blurRad="50800" dist="25400" dir="8100000" algn="bl" rotWithShape="0">
              <a:srgbClr val="000000">
                <a:alpha val="12000"/>
              </a:srgbClr>
            </a:outerShdw>
          </a:effectLst>
        </p:spPr>
        <p:txBody>
          <a:bodyPr/>
          <a:lstStyle/>
          <a:p>
            <a:endParaRPr lang="en-SG"/>
          </a:p>
        </p:txBody>
      </p:sp>
      <p:sp>
        <p:nvSpPr>
          <p:cNvPr id="8" name="Text 6"/>
          <p:cNvSpPr/>
          <p:nvPr/>
        </p:nvSpPr>
        <p:spPr>
          <a:xfrm>
            <a:off x="548640" y="1371600"/>
            <a:ext cx="146304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Front-left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Zone Ctrl</a:t>
            </a:r>
            <a:endParaRPr lang="en-US" sz="1100" dirty="0"/>
          </a:p>
        </p:txBody>
      </p:sp>
      <p:sp>
        <p:nvSpPr>
          <p:cNvPr id="9" name="Shape 7"/>
          <p:cNvSpPr/>
          <p:nvPr/>
        </p:nvSpPr>
        <p:spPr>
          <a:xfrm>
            <a:off x="6949440" y="1371600"/>
            <a:ext cx="1463040" cy="731520"/>
          </a:xfrm>
          <a:prstGeom prst="rect">
            <a:avLst/>
          </a:prstGeom>
          <a:solidFill>
            <a:srgbClr val="0F6E56"/>
          </a:solidFill>
          <a:ln/>
          <a:effectLst>
            <a:outerShdw blurRad="50800" dist="25400" dir="8100000" algn="bl" rotWithShape="0">
              <a:srgbClr val="000000">
                <a:alpha val="12000"/>
              </a:srgbClr>
            </a:outerShdw>
          </a:effectLst>
        </p:spPr>
        <p:txBody>
          <a:bodyPr/>
          <a:lstStyle/>
          <a:p>
            <a:endParaRPr lang="en-SG"/>
          </a:p>
        </p:txBody>
      </p:sp>
      <p:sp>
        <p:nvSpPr>
          <p:cNvPr id="10" name="Text 8"/>
          <p:cNvSpPr/>
          <p:nvPr/>
        </p:nvSpPr>
        <p:spPr>
          <a:xfrm>
            <a:off x="6949440" y="1371600"/>
            <a:ext cx="146304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Front-right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Zone Ctrl</a:t>
            </a:r>
            <a:endParaRPr lang="en-US" sz="1100" dirty="0"/>
          </a:p>
        </p:txBody>
      </p:sp>
      <p:sp>
        <p:nvSpPr>
          <p:cNvPr id="11" name="Shape 9"/>
          <p:cNvSpPr/>
          <p:nvPr/>
        </p:nvSpPr>
        <p:spPr>
          <a:xfrm>
            <a:off x="548640" y="3291840"/>
            <a:ext cx="1463040" cy="731520"/>
          </a:xfrm>
          <a:prstGeom prst="rect">
            <a:avLst/>
          </a:prstGeom>
          <a:solidFill>
            <a:srgbClr val="065A82"/>
          </a:solidFill>
          <a:ln/>
          <a:effectLst>
            <a:outerShdw blurRad="50800" dist="25400" dir="8100000" algn="bl" rotWithShape="0">
              <a:srgbClr val="000000">
                <a:alpha val="12000"/>
              </a:srgbClr>
            </a:outerShdw>
          </a:effectLst>
        </p:spPr>
        <p:txBody>
          <a:bodyPr/>
          <a:lstStyle/>
          <a:p>
            <a:endParaRPr lang="en-SG"/>
          </a:p>
        </p:txBody>
      </p:sp>
      <p:sp>
        <p:nvSpPr>
          <p:cNvPr id="12" name="Text 10"/>
          <p:cNvSpPr/>
          <p:nvPr/>
        </p:nvSpPr>
        <p:spPr>
          <a:xfrm>
            <a:off x="548640" y="3291840"/>
            <a:ext cx="146304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Rear-left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Zone Ctrl</a:t>
            </a:r>
            <a:endParaRPr lang="en-US" sz="1100" dirty="0"/>
          </a:p>
        </p:txBody>
      </p:sp>
      <p:sp>
        <p:nvSpPr>
          <p:cNvPr id="13" name="Shape 11"/>
          <p:cNvSpPr/>
          <p:nvPr/>
        </p:nvSpPr>
        <p:spPr>
          <a:xfrm>
            <a:off x="6949440" y="3291840"/>
            <a:ext cx="1463040" cy="731520"/>
          </a:xfrm>
          <a:prstGeom prst="rect">
            <a:avLst/>
          </a:prstGeom>
          <a:solidFill>
            <a:srgbClr val="065A82"/>
          </a:solidFill>
          <a:ln/>
          <a:effectLst>
            <a:outerShdw blurRad="50800" dist="25400" dir="8100000" algn="bl" rotWithShape="0">
              <a:srgbClr val="000000">
                <a:alpha val="12000"/>
              </a:srgbClr>
            </a:outerShdw>
          </a:effectLst>
        </p:spPr>
        <p:txBody>
          <a:bodyPr/>
          <a:lstStyle/>
          <a:p>
            <a:endParaRPr lang="en-SG"/>
          </a:p>
        </p:txBody>
      </p:sp>
      <p:sp>
        <p:nvSpPr>
          <p:cNvPr id="14" name="Text 12"/>
          <p:cNvSpPr/>
          <p:nvPr/>
        </p:nvSpPr>
        <p:spPr>
          <a:xfrm>
            <a:off x="6949440" y="3291840"/>
            <a:ext cx="146304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Rear-right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Zone Ctrl</a:t>
            </a:r>
            <a:endParaRPr lang="en-US" sz="1100" dirty="0"/>
          </a:p>
        </p:txBody>
      </p:sp>
      <p:sp>
        <p:nvSpPr>
          <p:cNvPr id="15" name="Shape 13"/>
          <p:cNvSpPr/>
          <p:nvPr/>
        </p:nvSpPr>
        <p:spPr>
          <a:xfrm>
            <a:off x="2011680" y="1737360"/>
            <a:ext cx="914400" cy="548640"/>
          </a:xfrm>
          <a:prstGeom prst="line">
            <a:avLst/>
          </a:prstGeom>
          <a:noFill/>
          <a:ln w="31750">
            <a:solidFill>
              <a:srgbClr val="EF9F27"/>
            </a:solidFill>
            <a:prstDash val="solid"/>
          </a:ln>
        </p:spPr>
        <p:txBody>
          <a:bodyPr/>
          <a:lstStyle/>
          <a:p>
            <a:endParaRPr lang="en-SG"/>
          </a:p>
        </p:txBody>
      </p:sp>
      <p:sp>
        <p:nvSpPr>
          <p:cNvPr id="16" name="Shape 14"/>
          <p:cNvSpPr/>
          <p:nvPr/>
        </p:nvSpPr>
        <p:spPr>
          <a:xfrm flipH="1">
            <a:off x="6217920" y="1737360"/>
            <a:ext cx="731520" cy="548640"/>
          </a:xfrm>
          <a:prstGeom prst="line">
            <a:avLst/>
          </a:prstGeom>
          <a:noFill/>
          <a:ln w="31750">
            <a:solidFill>
              <a:srgbClr val="EF9F27"/>
            </a:solidFill>
            <a:prstDash val="solid"/>
          </a:ln>
        </p:spPr>
        <p:txBody>
          <a:bodyPr/>
          <a:lstStyle/>
          <a:p>
            <a:endParaRPr lang="en-SG"/>
          </a:p>
        </p:txBody>
      </p:sp>
      <p:sp>
        <p:nvSpPr>
          <p:cNvPr id="17" name="Shape 15"/>
          <p:cNvSpPr/>
          <p:nvPr/>
        </p:nvSpPr>
        <p:spPr>
          <a:xfrm flipV="1">
            <a:off x="2011680" y="3063240"/>
            <a:ext cx="914400" cy="411480"/>
          </a:xfrm>
          <a:prstGeom prst="line">
            <a:avLst/>
          </a:prstGeom>
          <a:noFill/>
          <a:ln w="31750">
            <a:solidFill>
              <a:srgbClr val="EF9F27"/>
            </a:solidFill>
            <a:prstDash val="solid"/>
          </a:ln>
        </p:spPr>
        <p:txBody>
          <a:bodyPr/>
          <a:lstStyle/>
          <a:p>
            <a:endParaRPr lang="en-SG"/>
          </a:p>
        </p:txBody>
      </p:sp>
      <p:sp>
        <p:nvSpPr>
          <p:cNvPr id="18" name="Shape 16"/>
          <p:cNvSpPr/>
          <p:nvPr/>
        </p:nvSpPr>
        <p:spPr>
          <a:xfrm flipH="1" flipV="1">
            <a:off x="6217920" y="3063240"/>
            <a:ext cx="731520" cy="411480"/>
          </a:xfrm>
          <a:prstGeom prst="line">
            <a:avLst/>
          </a:prstGeom>
          <a:noFill/>
          <a:ln w="31750">
            <a:solidFill>
              <a:srgbClr val="EF9F27"/>
            </a:solidFill>
            <a:prstDash val="solid"/>
          </a:ln>
        </p:spPr>
        <p:txBody>
          <a:bodyPr/>
          <a:lstStyle/>
          <a:p>
            <a:endParaRPr lang="en-SG"/>
          </a:p>
        </p:txBody>
      </p:sp>
      <p:sp>
        <p:nvSpPr>
          <p:cNvPr id="19" name="Text 17"/>
          <p:cNvSpPr/>
          <p:nvPr/>
        </p:nvSpPr>
        <p:spPr>
          <a:xfrm>
            <a:off x="3200400" y="1645920"/>
            <a:ext cx="2743200" cy="274320"/>
          </a:xfrm>
          <a:prstGeom prst="rect">
            <a:avLst/>
          </a:prstGeom>
          <a:noFill/>
          <a:ln/>
        </p:spPr>
        <p:txBody>
          <a:bodyPr wrap="square" lIns="0" tIns="0" rIns="0" bIns="0" rtlCol="0" anchor="ctr"/>
          <a:lstStyle/>
          <a:p>
            <a:pPr marL="0" indent="0" algn="ctr">
              <a:buNone/>
            </a:pPr>
            <a:r>
              <a:rPr lang="en-US" sz="900" dirty="0">
                <a:solidFill>
                  <a:srgbClr val="EF9F27"/>
                </a:solidFill>
                <a:latin typeface="Calibri" pitchFamily="34" charset="0"/>
                <a:ea typeface="Calibri" pitchFamily="34" charset="-122"/>
                <a:cs typeface="Calibri" pitchFamily="34" charset="-120"/>
              </a:rPr>
              <a:t>Ethernet backbone (1G / 10G)</a:t>
            </a:r>
            <a:endParaRPr lang="en-US" sz="900" dirty="0"/>
          </a:p>
        </p:txBody>
      </p:sp>
      <p:sp>
        <p:nvSpPr>
          <p:cNvPr id="20" name="Shape 18"/>
          <p:cNvSpPr/>
          <p:nvPr/>
        </p:nvSpPr>
        <p:spPr>
          <a:xfrm>
            <a:off x="274320" y="1051560"/>
            <a:ext cx="548640" cy="411480"/>
          </a:xfrm>
          <a:prstGeom prst="rect">
            <a:avLst/>
          </a:prstGeom>
          <a:solidFill>
            <a:srgbClr val="F0F4F8"/>
          </a:solidFill>
          <a:ln w="6350">
            <a:solidFill>
              <a:srgbClr val="E2E8F0"/>
            </a:solidFill>
            <a:prstDash val="solid"/>
          </a:ln>
        </p:spPr>
        <p:txBody>
          <a:bodyPr/>
          <a:lstStyle/>
          <a:p>
            <a:endParaRPr lang="en-SG"/>
          </a:p>
        </p:txBody>
      </p:sp>
      <p:sp>
        <p:nvSpPr>
          <p:cNvPr id="21" name="Text 19"/>
          <p:cNvSpPr/>
          <p:nvPr/>
        </p:nvSpPr>
        <p:spPr>
          <a:xfrm>
            <a:off x="274320" y="1051560"/>
            <a:ext cx="548640" cy="411480"/>
          </a:xfrm>
          <a:prstGeom prst="rect">
            <a:avLst/>
          </a:prstGeom>
          <a:noFill/>
          <a:ln/>
        </p:spPr>
        <p:txBody>
          <a:bodyPr wrap="square" lIns="0" tIns="0" rIns="0" bIns="0" rtlCol="0" anchor="ctr"/>
          <a:lstStyle/>
          <a:p>
            <a:pPr marL="0" indent="0" algn="ctr">
              <a:buNone/>
            </a:pPr>
            <a:r>
              <a:rPr lang="en-US" sz="700" dirty="0">
                <a:solidFill>
                  <a:srgbClr val="475569"/>
                </a:solidFill>
                <a:latin typeface="Calibri" pitchFamily="34" charset="0"/>
                <a:ea typeface="Calibri" pitchFamily="34" charset="-122"/>
                <a:cs typeface="Calibri" pitchFamily="34" charset="-120"/>
              </a:rPr>
              <a:t>Headlamp</a:t>
            </a:r>
            <a:endParaRPr lang="en-US" sz="700" dirty="0"/>
          </a:p>
        </p:txBody>
      </p:sp>
      <p:sp>
        <p:nvSpPr>
          <p:cNvPr id="22" name="Shape 20"/>
          <p:cNvSpPr/>
          <p:nvPr/>
        </p:nvSpPr>
        <p:spPr>
          <a:xfrm>
            <a:off x="914400" y="1051560"/>
            <a:ext cx="548640" cy="411480"/>
          </a:xfrm>
          <a:prstGeom prst="rect">
            <a:avLst/>
          </a:prstGeom>
          <a:solidFill>
            <a:srgbClr val="F0F4F8"/>
          </a:solidFill>
          <a:ln w="6350">
            <a:solidFill>
              <a:srgbClr val="E2E8F0"/>
            </a:solidFill>
            <a:prstDash val="solid"/>
          </a:ln>
        </p:spPr>
        <p:txBody>
          <a:bodyPr/>
          <a:lstStyle/>
          <a:p>
            <a:endParaRPr lang="en-SG"/>
          </a:p>
        </p:txBody>
      </p:sp>
      <p:sp>
        <p:nvSpPr>
          <p:cNvPr id="23" name="Text 21"/>
          <p:cNvSpPr/>
          <p:nvPr/>
        </p:nvSpPr>
        <p:spPr>
          <a:xfrm>
            <a:off x="914400" y="1051560"/>
            <a:ext cx="548640" cy="411480"/>
          </a:xfrm>
          <a:prstGeom prst="rect">
            <a:avLst/>
          </a:prstGeom>
          <a:noFill/>
          <a:ln/>
        </p:spPr>
        <p:txBody>
          <a:bodyPr wrap="square" lIns="0" tIns="0" rIns="0" bIns="0" rtlCol="0" anchor="ctr"/>
          <a:lstStyle/>
          <a:p>
            <a:pPr marL="0" indent="0" algn="ctr">
              <a:buNone/>
            </a:pPr>
            <a:r>
              <a:rPr lang="en-US" sz="700" dirty="0">
                <a:solidFill>
                  <a:srgbClr val="475569"/>
                </a:solidFill>
                <a:latin typeface="Calibri" pitchFamily="34" charset="0"/>
                <a:ea typeface="Calibri" pitchFamily="34" charset="-122"/>
                <a:cs typeface="Calibri" pitchFamily="34" charset="-120"/>
              </a:rPr>
              <a:t>Radar</a:t>
            </a:r>
            <a:endParaRPr lang="en-US" sz="700" dirty="0"/>
          </a:p>
        </p:txBody>
      </p:sp>
      <p:sp>
        <p:nvSpPr>
          <p:cNvPr id="24" name="Shape 22"/>
          <p:cNvSpPr/>
          <p:nvPr/>
        </p:nvSpPr>
        <p:spPr>
          <a:xfrm>
            <a:off x="1554480" y="1051560"/>
            <a:ext cx="548640" cy="411480"/>
          </a:xfrm>
          <a:prstGeom prst="rect">
            <a:avLst/>
          </a:prstGeom>
          <a:solidFill>
            <a:srgbClr val="F0F4F8"/>
          </a:solidFill>
          <a:ln w="6350">
            <a:solidFill>
              <a:srgbClr val="E2E8F0"/>
            </a:solidFill>
            <a:prstDash val="solid"/>
          </a:ln>
        </p:spPr>
        <p:txBody>
          <a:bodyPr/>
          <a:lstStyle/>
          <a:p>
            <a:endParaRPr lang="en-SG"/>
          </a:p>
        </p:txBody>
      </p:sp>
      <p:sp>
        <p:nvSpPr>
          <p:cNvPr id="25" name="Text 23"/>
          <p:cNvSpPr/>
          <p:nvPr/>
        </p:nvSpPr>
        <p:spPr>
          <a:xfrm>
            <a:off x="1554480" y="1051560"/>
            <a:ext cx="548640" cy="411480"/>
          </a:xfrm>
          <a:prstGeom prst="rect">
            <a:avLst/>
          </a:prstGeom>
          <a:noFill/>
          <a:ln/>
        </p:spPr>
        <p:txBody>
          <a:bodyPr wrap="square" lIns="0" tIns="0" rIns="0" bIns="0" rtlCol="0" anchor="ctr"/>
          <a:lstStyle/>
          <a:p>
            <a:pPr marL="0" indent="0" algn="ctr">
              <a:buNone/>
            </a:pPr>
            <a:r>
              <a:rPr lang="en-US" sz="700" dirty="0">
                <a:solidFill>
                  <a:srgbClr val="475569"/>
                </a:solidFill>
                <a:latin typeface="Calibri" pitchFamily="34" charset="0"/>
                <a:ea typeface="Calibri" pitchFamily="34" charset="-122"/>
                <a:cs typeface="Calibri" pitchFamily="34" charset="-120"/>
              </a:rPr>
              <a:t>Wiper</a:t>
            </a:r>
            <a:endParaRPr lang="en-US" sz="700" dirty="0"/>
          </a:p>
        </p:txBody>
      </p:sp>
      <p:sp>
        <p:nvSpPr>
          <p:cNvPr id="26" name="Shape 24"/>
          <p:cNvSpPr/>
          <p:nvPr/>
        </p:nvSpPr>
        <p:spPr>
          <a:xfrm>
            <a:off x="6675120" y="1051560"/>
            <a:ext cx="548640" cy="411480"/>
          </a:xfrm>
          <a:prstGeom prst="rect">
            <a:avLst/>
          </a:prstGeom>
          <a:solidFill>
            <a:srgbClr val="F0F4F8"/>
          </a:solidFill>
          <a:ln w="6350">
            <a:solidFill>
              <a:srgbClr val="E2E8F0"/>
            </a:solidFill>
            <a:prstDash val="solid"/>
          </a:ln>
        </p:spPr>
        <p:txBody>
          <a:bodyPr/>
          <a:lstStyle/>
          <a:p>
            <a:endParaRPr lang="en-SG"/>
          </a:p>
        </p:txBody>
      </p:sp>
      <p:sp>
        <p:nvSpPr>
          <p:cNvPr id="27" name="Text 25"/>
          <p:cNvSpPr/>
          <p:nvPr/>
        </p:nvSpPr>
        <p:spPr>
          <a:xfrm>
            <a:off x="6675120" y="1051560"/>
            <a:ext cx="548640" cy="411480"/>
          </a:xfrm>
          <a:prstGeom prst="rect">
            <a:avLst/>
          </a:prstGeom>
          <a:noFill/>
          <a:ln/>
        </p:spPr>
        <p:txBody>
          <a:bodyPr wrap="square" lIns="0" tIns="0" rIns="0" bIns="0" rtlCol="0" anchor="ctr"/>
          <a:lstStyle/>
          <a:p>
            <a:pPr marL="0" indent="0" algn="ctr">
              <a:buNone/>
            </a:pPr>
            <a:r>
              <a:rPr lang="en-US" sz="700" dirty="0">
                <a:solidFill>
                  <a:srgbClr val="475569"/>
                </a:solidFill>
                <a:latin typeface="Calibri" pitchFamily="34" charset="0"/>
                <a:ea typeface="Calibri" pitchFamily="34" charset="-122"/>
                <a:cs typeface="Calibri" pitchFamily="34" charset="-120"/>
              </a:rPr>
              <a:t>Headlamp</a:t>
            </a:r>
            <a:endParaRPr lang="en-US" sz="700" dirty="0"/>
          </a:p>
        </p:txBody>
      </p:sp>
      <p:sp>
        <p:nvSpPr>
          <p:cNvPr id="28" name="Shape 26"/>
          <p:cNvSpPr/>
          <p:nvPr/>
        </p:nvSpPr>
        <p:spPr>
          <a:xfrm>
            <a:off x="7315200" y="1051560"/>
            <a:ext cx="548640" cy="411480"/>
          </a:xfrm>
          <a:prstGeom prst="rect">
            <a:avLst/>
          </a:prstGeom>
          <a:solidFill>
            <a:srgbClr val="F0F4F8"/>
          </a:solidFill>
          <a:ln w="6350">
            <a:solidFill>
              <a:srgbClr val="E2E8F0"/>
            </a:solidFill>
            <a:prstDash val="solid"/>
          </a:ln>
        </p:spPr>
        <p:txBody>
          <a:bodyPr/>
          <a:lstStyle/>
          <a:p>
            <a:endParaRPr lang="en-SG"/>
          </a:p>
        </p:txBody>
      </p:sp>
      <p:sp>
        <p:nvSpPr>
          <p:cNvPr id="29" name="Text 27"/>
          <p:cNvSpPr/>
          <p:nvPr/>
        </p:nvSpPr>
        <p:spPr>
          <a:xfrm>
            <a:off x="7315200" y="1051560"/>
            <a:ext cx="548640" cy="411480"/>
          </a:xfrm>
          <a:prstGeom prst="rect">
            <a:avLst/>
          </a:prstGeom>
          <a:noFill/>
          <a:ln/>
        </p:spPr>
        <p:txBody>
          <a:bodyPr wrap="square" lIns="0" tIns="0" rIns="0" bIns="0" rtlCol="0" anchor="ctr"/>
          <a:lstStyle/>
          <a:p>
            <a:pPr marL="0" indent="0" algn="ctr">
              <a:buNone/>
            </a:pPr>
            <a:r>
              <a:rPr lang="en-US" sz="700" dirty="0">
                <a:solidFill>
                  <a:srgbClr val="475569"/>
                </a:solidFill>
                <a:latin typeface="Calibri" pitchFamily="34" charset="0"/>
                <a:ea typeface="Calibri" pitchFamily="34" charset="-122"/>
                <a:cs typeface="Calibri" pitchFamily="34" charset="-120"/>
              </a:rPr>
              <a:t>Camera</a:t>
            </a:r>
            <a:endParaRPr lang="en-US" sz="700" dirty="0"/>
          </a:p>
        </p:txBody>
      </p:sp>
      <p:sp>
        <p:nvSpPr>
          <p:cNvPr id="30" name="Shape 28"/>
          <p:cNvSpPr/>
          <p:nvPr/>
        </p:nvSpPr>
        <p:spPr>
          <a:xfrm>
            <a:off x="7955280" y="1051560"/>
            <a:ext cx="548640" cy="411480"/>
          </a:xfrm>
          <a:prstGeom prst="rect">
            <a:avLst/>
          </a:prstGeom>
          <a:solidFill>
            <a:srgbClr val="F0F4F8"/>
          </a:solidFill>
          <a:ln w="6350">
            <a:solidFill>
              <a:srgbClr val="E2E8F0"/>
            </a:solidFill>
            <a:prstDash val="solid"/>
          </a:ln>
        </p:spPr>
        <p:txBody>
          <a:bodyPr/>
          <a:lstStyle/>
          <a:p>
            <a:endParaRPr lang="en-SG"/>
          </a:p>
        </p:txBody>
      </p:sp>
      <p:sp>
        <p:nvSpPr>
          <p:cNvPr id="31" name="Text 29"/>
          <p:cNvSpPr/>
          <p:nvPr/>
        </p:nvSpPr>
        <p:spPr>
          <a:xfrm>
            <a:off x="7955280" y="1051560"/>
            <a:ext cx="548640" cy="411480"/>
          </a:xfrm>
          <a:prstGeom prst="rect">
            <a:avLst/>
          </a:prstGeom>
          <a:noFill/>
          <a:ln/>
        </p:spPr>
        <p:txBody>
          <a:bodyPr wrap="square" lIns="0" tIns="0" rIns="0" bIns="0" rtlCol="0" anchor="ctr"/>
          <a:lstStyle/>
          <a:p>
            <a:pPr marL="0" indent="0" algn="ctr">
              <a:buNone/>
            </a:pPr>
            <a:r>
              <a:rPr lang="en-US" sz="700" dirty="0">
                <a:solidFill>
                  <a:srgbClr val="475569"/>
                </a:solidFill>
                <a:latin typeface="Calibri" pitchFamily="34" charset="0"/>
                <a:ea typeface="Calibri" pitchFamily="34" charset="-122"/>
                <a:cs typeface="Calibri" pitchFamily="34" charset="-120"/>
              </a:rPr>
              <a:t>Sensor</a:t>
            </a:r>
            <a:endParaRPr lang="en-US" sz="700" dirty="0"/>
          </a:p>
        </p:txBody>
      </p:sp>
      <p:sp>
        <p:nvSpPr>
          <p:cNvPr id="32" name="Shape 30"/>
          <p:cNvSpPr/>
          <p:nvPr/>
        </p:nvSpPr>
        <p:spPr>
          <a:xfrm>
            <a:off x="274320" y="4114800"/>
            <a:ext cx="548640" cy="411480"/>
          </a:xfrm>
          <a:prstGeom prst="rect">
            <a:avLst/>
          </a:prstGeom>
          <a:solidFill>
            <a:srgbClr val="F0F4F8"/>
          </a:solidFill>
          <a:ln w="6350">
            <a:solidFill>
              <a:srgbClr val="E2E8F0"/>
            </a:solidFill>
            <a:prstDash val="solid"/>
          </a:ln>
        </p:spPr>
        <p:txBody>
          <a:bodyPr/>
          <a:lstStyle/>
          <a:p>
            <a:endParaRPr lang="en-SG"/>
          </a:p>
        </p:txBody>
      </p:sp>
      <p:sp>
        <p:nvSpPr>
          <p:cNvPr id="33" name="Text 31"/>
          <p:cNvSpPr/>
          <p:nvPr/>
        </p:nvSpPr>
        <p:spPr>
          <a:xfrm>
            <a:off x="274320" y="4114800"/>
            <a:ext cx="548640" cy="411480"/>
          </a:xfrm>
          <a:prstGeom prst="rect">
            <a:avLst/>
          </a:prstGeom>
          <a:noFill/>
          <a:ln/>
        </p:spPr>
        <p:txBody>
          <a:bodyPr wrap="square" lIns="0" tIns="0" rIns="0" bIns="0" rtlCol="0" anchor="ctr"/>
          <a:lstStyle/>
          <a:p>
            <a:pPr marL="0" indent="0" algn="ctr">
              <a:buNone/>
            </a:pPr>
            <a:r>
              <a:rPr lang="en-US" sz="700" dirty="0">
                <a:solidFill>
                  <a:srgbClr val="475569"/>
                </a:solidFill>
                <a:latin typeface="Calibri" pitchFamily="34" charset="0"/>
                <a:ea typeface="Calibri" pitchFamily="34" charset="-122"/>
                <a:cs typeface="Calibri" pitchFamily="34" charset="-120"/>
              </a:rPr>
              <a:t>Taillight</a:t>
            </a:r>
            <a:endParaRPr lang="en-US" sz="700" dirty="0"/>
          </a:p>
        </p:txBody>
      </p:sp>
      <p:sp>
        <p:nvSpPr>
          <p:cNvPr id="34" name="Shape 32"/>
          <p:cNvSpPr/>
          <p:nvPr/>
        </p:nvSpPr>
        <p:spPr>
          <a:xfrm>
            <a:off x="914400" y="4114800"/>
            <a:ext cx="548640" cy="411480"/>
          </a:xfrm>
          <a:prstGeom prst="rect">
            <a:avLst/>
          </a:prstGeom>
          <a:solidFill>
            <a:srgbClr val="F0F4F8"/>
          </a:solidFill>
          <a:ln w="6350">
            <a:solidFill>
              <a:srgbClr val="E2E8F0"/>
            </a:solidFill>
            <a:prstDash val="solid"/>
          </a:ln>
        </p:spPr>
        <p:txBody>
          <a:bodyPr/>
          <a:lstStyle/>
          <a:p>
            <a:endParaRPr lang="en-SG"/>
          </a:p>
        </p:txBody>
      </p:sp>
      <p:sp>
        <p:nvSpPr>
          <p:cNvPr id="35" name="Text 33"/>
          <p:cNvSpPr/>
          <p:nvPr/>
        </p:nvSpPr>
        <p:spPr>
          <a:xfrm>
            <a:off x="914400" y="4114800"/>
            <a:ext cx="548640" cy="411480"/>
          </a:xfrm>
          <a:prstGeom prst="rect">
            <a:avLst/>
          </a:prstGeom>
          <a:noFill/>
          <a:ln/>
        </p:spPr>
        <p:txBody>
          <a:bodyPr wrap="square" lIns="0" tIns="0" rIns="0" bIns="0" rtlCol="0" anchor="ctr"/>
          <a:lstStyle/>
          <a:p>
            <a:pPr marL="0" indent="0" algn="ctr">
              <a:buNone/>
            </a:pPr>
            <a:r>
              <a:rPr lang="en-US" sz="700" dirty="0">
                <a:solidFill>
                  <a:srgbClr val="475569"/>
                </a:solidFill>
                <a:latin typeface="Calibri" pitchFamily="34" charset="0"/>
                <a:ea typeface="Calibri" pitchFamily="34" charset="-122"/>
                <a:cs typeface="Calibri" pitchFamily="34" charset="-120"/>
              </a:rPr>
              <a:t>Sensor</a:t>
            </a:r>
            <a:endParaRPr lang="en-US" sz="700" dirty="0"/>
          </a:p>
        </p:txBody>
      </p:sp>
      <p:sp>
        <p:nvSpPr>
          <p:cNvPr id="36" name="Shape 34"/>
          <p:cNvSpPr/>
          <p:nvPr/>
        </p:nvSpPr>
        <p:spPr>
          <a:xfrm>
            <a:off x="1554480" y="4114800"/>
            <a:ext cx="548640" cy="411480"/>
          </a:xfrm>
          <a:prstGeom prst="rect">
            <a:avLst/>
          </a:prstGeom>
          <a:solidFill>
            <a:srgbClr val="F0F4F8"/>
          </a:solidFill>
          <a:ln w="6350">
            <a:solidFill>
              <a:srgbClr val="E2E8F0"/>
            </a:solidFill>
            <a:prstDash val="solid"/>
          </a:ln>
        </p:spPr>
        <p:txBody>
          <a:bodyPr/>
          <a:lstStyle/>
          <a:p>
            <a:endParaRPr lang="en-SG"/>
          </a:p>
        </p:txBody>
      </p:sp>
      <p:sp>
        <p:nvSpPr>
          <p:cNvPr id="37" name="Text 35"/>
          <p:cNvSpPr/>
          <p:nvPr/>
        </p:nvSpPr>
        <p:spPr>
          <a:xfrm>
            <a:off x="1554480" y="4114800"/>
            <a:ext cx="548640" cy="411480"/>
          </a:xfrm>
          <a:prstGeom prst="rect">
            <a:avLst/>
          </a:prstGeom>
          <a:noFill/>
          <a:ln/>
        </p:spPr>
        <p:txBody>
          <a:bodyPr wrap="square" lIns="0" tIns="0" rIns="0" bIns="0" rtlCol="0" anchor="ctr"/>
          <a:lstStyle/>
          <a:p>
            <a:pPr marL="0" indent="0" algn="ctr">
              <a:buNone/>
            </a:pPr>
            <a:r>
              <a:rPr lang="en-US" sz="700" dirty="0">
                <a:solidFill>
                  <a:srgbClr val="475569"/>
                </a:solidFill>
                <a:latin typeface="Calibri" pitchFamily="34" charset="0"/>
                <a:ea typeface="Calibri" pitchFamily="34" charset="-122"/>
                <a:cs typeface="Calibri" pitchFamily="34" charset="-120"/>
              </a:rPr>
              <a:t>Motor</a:t>
            </a:r>
            <a:endParaRPr lang="en-US" sz="700" dirty="0"/>
          </a:p>
        </p:txBody>
      </p:sp>
      <p:sp>
        <p:nvSpPr>
          <p:cNvPr id="38" name="Shape 36"/>
          <p:cNvSpPr/>
          <p:nvPr/>
        </p:nvSpPr>
        <p:spPr>
          <a:xfrm>
            <a:off x="6675120" y="4114800"/>
            <a:ext cx="548640" cy="411480"/>
          </a:xfrm>
          <a:prstGeom prst="rect">
            <a:avLst/>
          </a:prstGeom>
          <a:solidFill>
            <a:srgbClr val="F0F4F8"/>
          </a:solidFill>
          <a:ln w="6350">
            <a:solidFill>
              <a:srgbClr val="E2E8F0"/>
            </a:solidFill>
            <a:prstDash val="solid"/>
          </a:ln>
        </p:spPr>
        <p:txBody>
          <a:bodyPr/>
          <a:lstStyle/>
          <a:p>
            <a:endParaRPr lang="en-SG"/>
          </a:p>
        </p:txBody>
      </p:sp>
      <p:sp>
        <p:nvSpPr>
          <p:cNvPr id="39" name="Text 37"/>
          <p:cNvSpPr/>
          <p:nvPr/>
        </p:nvSpPr>
        <p:spPr>
          <a:xfrm>
            <a:off x="6675120" y="4114800"/>
            <a:ext cx="548640" cy="411480"/>
          </a:xfrm>
          <a:prstGeom prst="rect">
            <a:avLst/>
          </a:prstGeom>
          <a:noFill/>
          <a:ln/>
        </p:spPr>
        <p:txBody>
          <a:bodyPr wrap="square" lIns="0" tIns="0" rIns="0" bIns="0" rtlCol="0" anchor="ctr"/>
          <a:lstStyle/>
          <a:p>
            <a:pPr marL="0" indent="0" algn="ctr">
              <a:buNone/>
            </a:pPr>
            <a:r>
              <a:rPr lang="en-US" sz="700" dirty="0">
                <a:solidFill>
                  <a:srgbClr val="475569"/>
                </a:solidFill>
                <a:latin typeface="Calibri" pitchFamily="34" charset="0"/>
                <a:ea typeface="Calibri" pitchFamily="34" charset="-122"/>
                <a:cs typeface="Calibri" pitchFamily="34" charset="-120"/>
              </a:rPr>
              <a:t>Taillight</a:t>
            </a:r>
            <a:endParaRPr lang="en-US" sz="700" dirty="0"/>
          </a:p>
        </p:txBody>
      </p:sp>
      <p:sp>
        <p:nvSpPr>
          <p:cNvPr id="40" name="Shape 38"/>
          <p:cNvSpPr/>
          <p:nvPr/>
        </p:nvSpPr>
        <p:spPr>
          <a:xfrm>
            <a:off x="7315200" y="4114800"/>
            <a:ext cx="548640" cy="411480"/>
          </a:xfrm>
          <a:prstGeom prst="rect">
            <a:avLst/>
          </a:prstGeom>
          <a:solidFill>
            <a:srgbClr val="F0F4F8"/>
          </a:solidFill>
          <a:ln w="6350">
            <a:solidFill>
              <a:srgbClr val="E2E8F0"/>
            </a:solidFill>
            <a:prstDash val="solid"/>
          </a:ln>
        </p:spPr>
        <p:txBody>
          <a:bodyPr/>
          <a:lstStyle/>
          <a:p>
            <a:endParaRPr lang="en-SG"/>
          </a:p>
        </p:txBody>
      </p:sp>
      <p:sp>
        <p:nvSpPr>
          <p:cNvPr id="41" name="Text 39"/>
          <p:cNvSpPr/>
          <p:nvPr/>
        </p:nvSpPr>
        <p:spPr>
          <a:xfrm>
            <a:off x="7315200" y="4114800"/>
            <a:ext cx="548640" cy="411480"/>
          </a:xfrm>
          <a:prstGeom prst="rect">
            <a:avLst/>
          </a:prstGeom>
          <a:noFill/>
          <a:ln/>
        </p:spPr>
        <p:txBody>
          <a:bodyPr wrap="square" lIns="0" tIns="0" rIns="0" bIns="0" rtlCol="0" anchor="ctr"/>
          <a:lstStyle/>
          <a:p>
            <a:pPr marL="0" indent="0" algn="ctr">
              <a:buNone/>
            </a:pPr>
            <a:r>
              <a:rPr lang="en-US" sz="700" dirty="0">
                <a:solidFill>
                  <a:srgbClr val="475569"/>
                </a:solidFill>
                <a:latin typeface="Calibri" pitchFamily="34" charset="0"/>
                <a:ea typeface="Calibri" pitchFamily="34" charset="-122"/>
                <a:cs typeface="Calibri" pitchFamily="34" charset="-120"/>
              </a:rPr>
              <a:t>Sensor</a:t>
            </a:r>
            <a:endParaRPr lang="en-US" sz="700" dirty="0"/>
          </a:p>
        </p:txBody>
      </p:sp>
      <p:sp>
        <p:nvSpPr>
          <p:cNvPr id="42" name="Shape 40"/>
          <p:cNvSpPr/>
          <p:nvPr/>
        </p:nvSpPr>
        <p:spPr>
          <a:xfrm>
            <a:off x="7955280" y="4114800"/>
            <a:ext cx="548640" cy="411480"/>
          </a:xfrm>
          <a:prstGeom prst="rect">
            <a:avLst/>
          </a:prstGeom>
          <a:solidFill>
            <a:srgbClr val="F0F4F8"/>
          </a:solidFill>
          <a:ln w="6350">
            <a:solidFill>
              <a:srgbClr val="E2E8F0"/>
            </a:solidFill>
            <a:prstDash val="solid"/>
          </a:ln>
        </p:spPr>
        <p:txBody>
          <a:bodyPr/>
          <a:lstStyle/>
          <a:p>
            <a:endParaRPr lang="en-SG"/>
          </a:p>
        </p:txBody>
      </p:sp>
      <p:sp>
        <p:nvSpPr>
          <p:cNvPr id="43" name="Text 41"/>
          <p:cNvSpPr/>
          <p:nvPr/>
        </p:nvSpPr>
        <p:spPr>
          <a:xfrm>
            <a:off x="7955280" y="4114800"/>
            <a:ext cx="548640" cy="411480"/>
          </a:xfrm>
          <a:prstGeom prst="rect">
            <a:avLst/>
          </a:prstGeom>
          <a:noFill/>
          <a:ln/>
        </p:spPr>
        <p:txBody>
          <a:bodyPr wrap="square" lIns="0" tIns="0" rIns="0" bIns="0" rtlCol="0" anchor="ctr"/>
          <a:lstStyle/>
          <a:p>
            <a:pPr marL="0" indent="0" algn="ctr">
              <a:buNone/>
            </a:pPr>
            <a:r>
              <a:rPr lang="en-US" sz="700" dirty="0">
                <a:solidFill>
                  <a:srgbClr val="475569"/>
                </a:solidFill>
                <a:latin typeface="Calibri" pitchFamily="34" charset="0"/>
                <a:ea typeface="Calibri" pitchFamily="34" charset="-122"/>
                <a:cs typeface="Calibri" pitchFamily="34" charset="-120"/>
              </a:rPr>
              <a:t>Trunk</a:t>
            </a:r>
            <a:endParaRPr lang="en-US" sz="700" dirty="0"/>
          </a:p>
        </p:txBody>
      </p:sp>
      <p:sp>
        <p:nvSpPr>
          <p:cNvPr id="44" name="Text 42"/>
          <p:cNvSpPr/>
          <p:nvPr/>
        </p:nvSpPr>
        <p:spPr>
          <a:xfrm>
            <a:off x="731520" y="4663440"/>
            <a:ext cx="7315200" cy="274320"/>
          </a:xfrm>
          <a:prstGeom prst="rect">
            <a:avLst/>
          </a:prstGeom>
          <a:noFill/>
          <a:ln/>
        </p:spPr>
        <p:txBody>
          <a:bodyPr wrap="square" lIns="0" tIns="0" rIns="0" bIns="0" rtlCol="0" anchor="ctr"/>
          <a:lstStyle/>
          <a:p>
            <a:pPr marL="0" indent="0">
              <a:buNone/>
            </a:pPr>
            <a:r>
              <a:rPr lang="en-US" sz="1100" i="1" dirty="0">
                <a:solidFill>
                  <a:srgbClr val="94A3B8"/>
                </a:solidFill>
                <a:latin typeface="Calibri" pitchFamily="34" charset="0"/>
                <a:ea typeface="Calibri" pitchFamily="34" charset="-122"/>
                <a:cs typeface="Calibri" pitchFamily="34" charset="-120"/>
              </a:rPr>
              <a:t>Short local wiring (CAN/LIN/Ethernet) to nearest zone controller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Domain vs zonal — comparison</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005840"/>
          <a:ext cx="768096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Criterion</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D4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Domain architecture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D4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Zonal architecture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D4A"/>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Grouping principle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By function</a:t>
                      </a:r>
                      <a:endParaRPr lang="en-US" sz="1000" dirty="0">
                        <a:latin typeface="Calibri" charset="0"/>
                        <a:ea typeface="Calibri" charset="0"/>
                        <a:cs typeface="Calibri" charset="0"/>
                      </a:endParaRPr>
                    </a:p>
                    <a:p>
                      <a:pPr marL="0" indent="0">
                        <a:buNone/>
                      </a:pPr>
                      <a:r>
                        <a:rPr lang="en-US" sz="1000" dirty="0">
                          <a:solidFill>
                            <a:srgbClr val="1E293B"/>
                          </a:solidFill>
                          <a:latin typeface="Calibri" pitchFamily="34" charset="0"/>
                          <a:ea typeface="Calibri" pitchFamily="34" charset="-122"/>
                          <a:cs typeface="Calibri" pitchFamily="34" charset="-120"/>
                        </a:rPr>
                        <a:t>(powertrain, chassis, ADAS...)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By location</a:t>
                      </a:r>
                      <a:endParaRPr lang="en-US" sz="1000" dirty="0">
                        <a:latin typeface="Calibri" charset="0"/>
                        <a:ea typeface="Calibri" charset="0"/>
                        <a:cs typeface="Calibri" charset="0"/>
                      </a:endParaRPr>
                    </a:p>
                    <a:p>
                      <a:pPr marL="0" indent="0">
                        <a:buNone/>
                      </a:pPr>
                      <a:r>
                        <a:rPr lang="en-US" sz="1000" dirty="0">
                          <a:solidFill>
                            <a:srgbClr val="1E293B"/>
                          </a:solidFill>
                          <a:latin typeface="Calibri" pitchFamily="34" charset="0"/>
                          <a:ea typeface="Calibri" pitchFamily="34" charset="-122"/>
                          <a:cs typeface="Calibri" pitchFamily="34" charset="-120"/>
                        </a:rPr>
                        <a:t>(front-left, rear-right...)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Wiring harness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Long runs across vehicle</a:t>
                      </a:r>
                      <a:endParaRPr lang="en-US" sz="1000" dirty="0">
                        <a:latin typeface="Calibri" charset="0"/>
                        <a:ea typeface="Calibri" charset="0"/>
                        <a:cs typeface="Calibri" charset="0"/>
                      </a:endParaRPr>
                    </a:p>
                    <a:p>
                      <a:pPr marL="0" indent="0">
                        <a:buNone/>
                      </a:pPr>
                      <a:r>
                        <a:rPr lang="en-US" sz="1000" dirty="0">
                          <a:solidFill>
                            <a:srgbClr val="1E293B"/>
                          </a:solidFill>
                          <a:latin typeface="Calibri" pitchFamily="34" charset="0"/>
                          <a:ea typeface="Calibri" pitchFamily="34" charset="-122"/>
                          <a:cs typeface="Calibri" pitchFamily="34" charset="-120"/>
                        </a:rPr>
                        <a:t>(30–50 kg)</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Short local runs</a:t>
                      </a:r>
                      <a:endParaRPr lang="en-US" sz="1000" dirty="0">
                        <a:latin typeface="Calibri" charset="0"/>
                        <a:ea typeface="Calibri" charset="0"/>
                        <a:cs typeface="Calibri" charset="0"/>
                      </a:endParaRPr>
                    </a:p>
                    <a:p>
                      <a:pPr marL="0" indent="0">
                        <a:buNone/>
                      </a:pPr>
                      <a:r>
                        <a:rPr lang="en-US" sz="1000" dirty="0">
                          <a:solidFill>
                            <a:srgbClr val="1E293B"/>
                          </a:solidFill>
                          <a:latin typeface="Calibri" pitchFamily="34" charset="0"/>
                          <a:ea typeface="Calibri" pitchFamily="34" charset="-122"/>
                          <a:cs typeface="Calibri" pitchFamily="34" charset="-120"/>
                        </a:rPr>
                        <a:t>(20–30% lighter)</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extLst>
                  <a:ext uri="{0D108BD9-81ED-4DB2-BD59-A6C34878D82A}">
                    <a16:rowId xmlns:a16="http://schemas.microsoft.com/office/drawing/2014/main" val="10002"/>
                  </a:ext>
                </a:extLst>
              </a:tr>
              <a:tr h="0">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Central compute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Gateway + domain controllers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HPC / vehicle computer</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Cross-domain features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Inter-domain via gateway</a:t>
                      </a:r>
                      <a:endParaRPr lang="en-US" sz="1000" dirty="0">
                        <a:latin typeface="Calibri" charset="0"/>
                        <a:ea typeface="Calibri" charset="0"/>
                        <a:cs typeface="Calibri" charset="0"/>
                      </a:endParaRPr>
                    </a:p>
                    <a:p>
                      <a:pPr marL="0" indent="0">
                        <a:buNone/>
                      </a:pPr>
                      <a:r>
                        <a:rPr lang="en-US" sz="1000" dirty="0">
                          <a:solidFill>
                            <a:srgbClr val="1E293B"/>
                          </a:solidFill>
                          <a:latin typeface="Calibri" pitchFamily="34" charset="0"/>
                          <a:ea typeface="Calibri" pitchFamily="34" charset="-122"/>
                          <a:cs typeface="Calibri" pitchFamily="34" charset="-120"/>
                        </a:rPr>
                        <a:t>(added latency)</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Central compute handles all</a:t>
                      </a:r>
                      <a:endParaRPr lang="en-US" sz="1000" dirty="0">
                        <a:latin typeface="Calibri" charset="0"/>
                        <a:ea typeface="Calibri" charset="0"/>
                        <a:cs typeface="Calibri" charset="0"/>
                      </a:endParaRPr>
                    </a:p>
                    <a:p>
                      <a:pPr marL="0" indent="0">
                        <a:buNone/>
                      </a:pPr>
                      <a:r>
                        <a:rPr lang="en-US" sz="1000" dirty="0">
                          <a:solidFill>
                            <a:srgbClr val="1E293B"/>
                          </a:solidFill>
                          <a:latin typeface="Calibri" pitchFamily="34" charset="0"/>
                          <a:ea typeface="Calibri" pitchFamily="34" charset="-122"/>
                          <a:cs typeface="Calibri" pitchFamily="34" charset="-120"/>
                        </a:rPr>
                        <a:t>(lower latency)</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extLst>
                  <a:ext uri="{0D108BD9-81ED-4DB2-BD59-A6C34878D82A}">
                    <a16:rowId xmlns:a16="http://schemas.microsoft.com/office/drawing/2014/main" val="10004"/>
                  </a:ext>
                </a:extLst>
              </a:tr>
              <a:tr h="0">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Software update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Per-domain OTA</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Centralised OTA</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Scalability</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New domain = new controller</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Scales via Ethernet bandwidth</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extLst>
                  <a:ext uri="{0D108BD9-81ED-4DB2-BD59-A6C34878D82A}">
                    <a16:rowId xmlns:a16="http://schemas.microsoft.com/office/drawing/2014/main" val="10006"/>
                  </a:ext>
                </a:extLst>
              </a:tr>
              <a:tr h="0">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OEM examples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Current-gen BMW, Toyota</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VW SSP, BMW Neue Klasse,</a:t>
                      </a:r>
                      <a:endParaRPr lang="en-US" sz="1000" dirty="0">
                        <a:latin typeface="Calibri" charset="0"/>
                        <a:ea typeface="Calibri" charset="0"/>
                        <a:cs typeface="Calibri" charset="0"/>
                      </a:endParaRPr>
                    </a:p>
                    <a:p>
                      <a:pPr marL="0" indent="0">
                        <a:buNone/>
                      </a:pPr>
                      <a:r>
                        <a:rPr lang="en-US" sz="1000" dirty="0">
                          <a:solidFill>
                            <a:srgbClr val="1E293B"/>
                          </a:solidFill>
                          <a:latin typeface="Calibri" pitchFamily="34" charset="0"/>
                          <a:ea typeface="Calibri" pitchFamily="34" charset="-122"/>
                          <a:cs typeface="Calibri" pitchFamily="34" charset="-120"/>
                        </a:rPr>
                        <a:t>Mercedes MB.OS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Key takeaway</a:t>
            </a:r>
            <a:endParaRPr lang="en-US" sz="2800" dirty="0"/>
          </a:p>
        </p:txBody>
      </p:sp>
      <p:sp>
        <p:nvSpPr>
          <p:cNvPr id="3" name="Shape 1"/>
          <p:cNvSpPr/>
          <p:nvPr/>
        </p:nvSpPr>
        <p:spPr>
          <a:xfrm>
            <a:off x="731520" y="1097280"/>
            <a:ext cx="7680960" cy="18288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SG"/>
          </a:p>
        </p:txBody>
      </p:sp>
      <p:sp>
        <p:nvSpPr>
          <p:cNvPr id="4" name="Shape 2"/>
          <p:cNvSpPr/>
          <p:nvPr/>
        </p:nvSpPr>
        <p:spPr>
          <a:xfrm>
            <a:off x="731520" y="1097280"/>
            <a:ext cx="73152" cy="1828800"/>
          </a:xfrm>
          <a:prstGeom prst="rect">
            <a:avLst/>
          </a:prstGeom>
          <a:solidFill>
            <a:srgbClr val="EF9F27"/>
          </a:solidFill>
          <a:ln/>
        </p:spPr>
        <p:txBody>
          <a:bodyPr/>
          <a:lstStyle/>
          <a:p>
            <a:endParaRPr lang="en-SG"/>
          </a:p>
        </p:txBody>
      </p:sp>
      <p:sp>
        <p:nvSpPr>
          <p:cNvPr id="5" name="Text 3"/>
          <p:cNvSpPr/>
          <p:nvPr/>
        </p:nvSpPr>
        <p:spPr>
          <a:xfrm>
            <a:off x="1097280" y="1280160"/>
            <a:ext cx="6949440" cy="365760"/>
          </a:xfrm>
          <a:prstGeom prst="rect">
            <a:avLst/>
          </a:prstGeom>
          <a:noFill/>
          <a:ln/>
        </p:spPr>
        <p:txBody>
          <a:bodyPr wrap="square" lIns="0" tIns="0" rIns="0" bIns="0" rtlCol="0" anchor="ctr"/>
          <a:lstStyle/>
          <a:p>
            <a:pPr marL="0" indent="0">
              <a:buNone/>
            </a:pPr>
            <a:r>
              <a:rPr lang="en-US" sz="1800" b="1" dirty="0">
                <a:solidFill>
                  <a:srgbClr val="1E293B"/>
                </a:solidFill>
                <a:latin typeface="Calibri" pitchFamily="34" charset="0"/>
                <a:ea typeface="Calibri" pitchFamily="34" charset="-122"/>
                <a:cs typeface="Calibri" pitchFamily="34" charset="-120"/>
              </a:rPr>
              <a:t>Zonal architecture is an Ethernet-first design.</a:t>
            </a:r>
            <a:endParaRPr lang="en-US" sz="1800" dirty="0"/>
          </a:p>
        </p:txBody>
      </p:sp>
      <p:sp>
        <p:nvSpPr>
          <p:cNvPr id="6" name="Text 4"/>
          <p:cNvSpPr/>
          <p:nvPr/>
        </p:nvSpPr>
        <p:spPr>
          <a:xfrm>
            <a:off x="1097280" y="1737360"/>
            <a:ext cx="6949440" cy="1005840"/>
          </a:xfrm>
          <a:prstGeom prst="rect">
            <a:avLst/>
          </a:prstGeom>
          <a:noFill/>
          <a:ln/>
        </p:spPr>
        <p:txBody>
          <a:bodyPr wrap="square" lIns="0" tIns="0" rIns="0" bIns="0" rtlCol="0" anchor="ctr"/>
          <a:lstStyle/>
          <a:p>
            <a:pPr marL="0" indent="0">
              <a:lnSpc>
                <a:spcPct val="140000"/>
              </a:lnSpc>
              <a:buNone/>
            </a:pPr>
            <a:r>
              <a:rPr lang="en-US" sz="1300" dirty="0">
                <a:solidFill>
                  <a:srgbClr val="475569"/>
                </a:solidFill>
                <a:latin typeface="Calibri" pitchFamily="34" charset="0"/>
                <a:ea typeface="Calibri" pitchFamily="34" charset="-122"/>
                <a:cs typeface="Calibri" pitchFamily="34" charset="-120"/>
              </a:rPr>
              <a:t>The backbone between zone controllers and the central HPC is Ethernet — 100BASE-T1, 1000BASE-T1, and increasingly Multi-Gig (2.5G/5G/10G). This makes automotive Ethernet standards (IEEE 802.3, OPEN Alliance specifications) the enabling technology for the architectural transition.</a:t>
            </a:r>
            <a:endParaRPr lang="en-US" sz="1300" dirty="0"/>
          </a:p>
        </p:txBody>
      </p:sp>
      <p:sp>
        <p:nvSpPr>
          <p:cNvPr id="7" name="Shape 5"/>
          <p:cNvSpPr/>
          <p:nvPr/>
        </p:nvSpPr>
        <p:spPr>
          <a:xfrm>
            <a:off x="731520" y="3291840"/>
            <a:ext cx="2377440" cy="11887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SG"/>
          </a:p>
        </p:txBody>
      </p:sp>
      <p:sp>
        <p:nvSpPr>
          <p:cNvPr id="8" name="Text 6"/>
          <p:cNvSpPr/>
          <p:nvPr/>
        </p:nvSpPr>
        <p:spPr>
          <a:xfrm>
            <a:off x="731520" y="3383280"/>
            <a:ext cx="2377440" cy="548640"/>
          </a:xfrm>
          <a:prstGeom prst="rect">
            <a:avLst/>
          </a:prstGeom>
          <a:noFill/>
          <a:ln/>
        </p:spPr>
        <p:txBody>
          <a:bodyPr wrap="square" lIns="0" tIns="0" rIns="0" bIns="0" rtlCol="0" anchor="ctr"/>
          <a:lstStyle/>
          <a:p>
            <a:pPr marL="0" indent="0" algn="ctr">
              <a:buNone/>
            </a:pPr>
            <a:r>
              <a:rPr lang="en-US" sz="2800" b="1" dirty="0">
                <a:solidFill>
                  <a:srgbClr val="065A82"/>
                </a:solidFill>
                <a:latin typeface="Calibri" pitchFamily="34" charset="0"/>
                <a:ea typeface="Calibri" pitchFamily="34" charset="-122"/>
                <a:cs typeface="Calibri" pitchFamily="34" charset="-120"/>
              </a:rPr>
              <a:t>100M+</a:t>
            </a:r>
            <a:endParaRPr lang="en-US" sz="2800" dirty="0"/>
          </a:p>
        </p:txBody>
      </p:sp>
      <p:sp>
        <p:nvSpPr>
          <p:cNvPr id="9" name="Text 7"/>
          <p:cNvSpPr/>
          <p:nvPr/>
        </p:nvSpPr>
        <p:spPr>
          <a:xfrm>
            <a:off x="731520" y="3931920"/>
            <a:ext cx="2377440" cy="45720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Automotive Ethernet</a:t>
            </a:r>
            <a:endParaRPr lang="en-US" sz="1000" dirty="0"/>
          </a:p>
          <a:p>
            <a:pPr marL="0" indent="0" algn="ctr">
              <a:buNone/>
            </a:pPr>
            <a:r>
              <a:rPr lang="en-US" sz="1000" dirty="0">
                <a:solidFill>
                  <a:srgbClr val="94A3B8"/>
                </a:solidFill>
                <a:latin typeface="Calibri" pitchFamily="34" charset="0"/>
                <a:ea typeface="Calibri" pitchFamily="34" charset="-122"/>
                <a:cs typeface="Calibri" pitchFamily="34" charset="-120"/>
              </a:rPr>
              <a:t>ports shipped/year</a:t>
            </a:r>
            <a:endParaRPr lang="en-US" sz="1000" dirty="0"/>
          </a:p>
        </p:txBody>
      </p:sp>
      <p:sp>
        <p:nvSpPr>
          <p:cNvPr id="10" name="Shape 8"/>
          <p:cNvSpPr/>
          <p:nvPr/>
        </p:nvSpPr>
        <p:spPr>
          <a:xfrm>
            <a:off x="3383280" y="3291840"/>
            <a:ext cx="2377440" cy="11887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SG"/>
          </a:p>
        </p:txBody>
      </p:sp>
      <p:sp>
        <p:nvSpPr>
          <p:cNvPr id="11" name="Text 9"/>
          <p:cNvSpPr/>
          <p:nvPr/>
        </p:nvSpPr>
        <p:spPr>
          <a:xfrm>
            <a:off x="3383280" y="3383280"/>
            <a:ext cx="2377440" cy="548640"/>
          </a:xfrm>
          <a:prstGeom prst="rect">
            <a:avLst/>
          </a:prstGeom>
          <a:noFill/>
          <a:ln/>
        </p:spPr>
        <p:txBody>
          <a:bodyPr wrap="square" lIns="0" tIns="0" rIns="0" bIns="0" rtlCol="0" anchor="ctr"/>
          <a:lstStyle/>
          <a:p>
            <a:pPr marL="0" indent="0" algn="ctr">
              <a:buNone/>
            </a:pPr>
            <a:r>
              <a:rPr lang="en-US" sz="2800" b="1" dirty="0">
                <a:solidFill>
                  <a:srgbClr val="0F6E56"/>
                </a:solidFill>
                <a:latin typeface="Calibri" pitchFamily="34" charset="0"/>
                <a:ea typeface="Calibri" pitchFamily="34" charset="-122"/>
                <a:cs typeface="Calibri" pitchFamily="34" charset="-120"/>
              </a:rPr>
              <a:t>30%</a:t>
            </a:r>
            <a:endParaRPr lang="en-US" sz="2800" dirty="0"/>
          </a:p>
        </p:txBody>
      </p:sp>
      <p:sp>
        <p:nvSpPr>
          <p:cNvPr id="12" name="Text 10"/>
          <p:cNvSpPr/>
          <p:nvPr/>
        </p:nvSpPr>
        <p:spPr>
          <a:xfrm>
            <a:off x="3383280" y="3931920"/>
            <a:ext cx="2377440" cy="45720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Harness weight</a:t>
            </a:r>
            <a:endParaRPr lang="en-US" sz="1000" dirty="0"/>
          </a:p>
          <a:p>
            <a:pPr marL="0" indent="0" algn="ctr">
              <a:buNone/>
            </a:pPr>
            <a:r>
              <a:rPr lang="en-US" sz="1000" dirty="0">
                <a:solidFill>
                  <a:srgbClr val="94A3B8"/>
                </a:solidFill>
                <a:latin typeface="Calibri" pitchFamily="34" charset="0"/>
                <a:ea typeface="Calibri" pitchFamily="34" charset="-122"/>
                <a:cs typeface="Calibri" pitchFamily="34" charset="-120"/>
              </a:rPr>
              <a:t>reduction target</a:t>
            </a:r>
            <a:endParaRPr lang="en-US" sz="1000" dirty="0"/>
          </a:p>
        </p:txBody>
      </p:sp>
      <p:sp>
        <p:nvSpPr>
          <p:cNvPr id="13" name="Shape 11"/>
          <p:cNvSpPr/>
          <p:nvPr/>
        </p:nvSpPr>
        <p:spPr>
          <a:xfrm>
            <a:off x="6035040" y="3291840"/>
            <a:ext cx="2377440" cy="11887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SG"/>
          </a:p>
        </p:txBody>
      </p:sp>
      <p:sp>
        <p:nvSpPr>
          <p:cNvPr id="14" name="Text 12"/>
          <p:cNvSpPr/>
          <p:nvPr/>
        </p:nvSpPr>
        <p:spPr>
          <a:xfrm>
            <a:off x="6035040" y="3383280"/>
            <a:ext cx="2377440" cy="548640"/>
          </a:xfrm>
          <a:prstGeom prst="rect">
            <a:avLst/>
          </a:prstGeom>
          <a:noFill/>
          <a:ln/>
        </p:spPr>
        <p:txBody>
          <a:bodyPr wrap="square" lIns="0" tIns="0" rIns="0" bIns="0" rtlCol="0" anchor="ctr"/>
          <a:lstStyle/>
          <a:p>
            <a:pPr marL="0" indent="0" algn="ctr">
              <a:buNone/>
            </a:pPr>
            <a:r>
              <a:rPr lang="en-US" sz="2800" b="1" dirty="0">
                <a:solidFill>
                  <a:srgbClr val="EF9F27"/>
                </a:solidFill>
                <a:latin typeface="Calibri" pitchFamily="34" charset="0"/>
                <a:ea typeface="Calibri" pitchFamily="34" charset="-122"/>
                <a:cs typeface="Calibri" pitchFamily="34" charset="-120"/>
              </a:rPr>
              <a:t>10 Gbps</a:t>
            </a:r>
            <a:endParaRPr lang="en-US" sz="2800" dirty="0"/>
          </a:p>
        </p:txBody>
      </p:sp>
      <p:sp>
        <p:nvSpPr>
          <p:cNvPr id="15" name="Text 13"/>
          <p:cNvSpPr/>
          <p:nvPr/>
        </p:nvSpPr>
        <p:spPr>
          <a:xfrm>
            <a:off x="6035040" y="3931920"/>
            <a:ext cx="2377440" cy="45720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Backbone bandwidth</a:t>
            </a:r>
            <a:endParaRPr lang="en-US" sz="1000" dirty="0"/>
          </a:p>
          <a:p>
            <a:pPr marL="0" indent="0" algn="ctr">
              <a:buNone/>
            </a:pPr>
            <a:r>
              <a:rPr lang="en-US" sz="1000" dirty="0">
                <a:solidFill>
                  <a:srgbClr val="94A3B8"/>
                </a:solidFill>
                <a:latin typeface="Calibri" pitchFamily="34" charset="0"/>
                <a:ea typeface="Calibri" pitchFamily="34" charset="-122"/>
                <a:cs typeface="Calibri" pitchFamily="34" charset="-120"/>
              </a:rPr>
              <a:t>(zonal backbone)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D4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F9F27"/>
          </a:solidFill>
          <a:ln/>
        </p:spPr>
        <p:txBody>
          <a:bodyPr/>
          <a:lstStyle/>
          <a:p>
            <a:endParaRPr lang="en-SG"/>
          </a:p>
        </p:txBody>
      </p:sp>
      <p:sp>
        <p:nvSpPr>
          <p:cNvPr id="3" name="Text 1"/>
          <p:cNvSpPr/>
          <p:nvPr/>
        </p:nvSpPr>
        <p:spPr>
          <a:xfrm>
            <a:off x="731520" y="1371600"/>
            <a:ext cx="1097280" cy="731520"/>
          </a:xfrm>
          <a:prstGeom prst="rect">
            <a:avLst/>
          </a:prstGeom>
          <a:noFill/>
          <a:ln/>
        </p:spPr>
        <p:txBody>
          <a:bodyPr wrap="square" lIns="0" tIns="0" rIns="0" bIns="0" rtlCol="0" anchor="ctr"/>
          <a:lstStyle/>
          <a:p>
            <a:pPr marL="0" indent="0">
              <a:buNone/>
            </a:pPr>
            <a:r>
              <a:rPr lang="en-US" sz="4800" b="1" dirty="0">
                <a:solidFill>
                  <a:srgbClr val="EF9F27"/>
                </a:solidFill>
                <a:latin typeface="Calibri" pitchFamily="34" charset="0"/>
                <a:ea typeface="Calibri" pitchFamily="34" charset="-122"/>
                <a:cs typeface="Calibri" pitchFamily="34" charset="-120"/>
              </a:rPr>
              <a:t>02</a:t>
            </a:r>
            <a:endParaRPr lang="en-US" sz="4800" dirty="0"/>
          </a:p>
        </p:txBody>
      </p:sp>
      <p:sp>
        <p:nvSpPr>
          <p:cNvPr id="4" name="Text 2"/>
          <p:cNvSpPr/>
          <p:nvPr/>
        </p:nvSpPr>
        <p:spPr>
          <a:xfrm>
            <a:off x="731520" y="2194560"/>
            <a:ext cx="6400800" cy="73152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OSI 7-layer model</a:t>
            </a:r>
            <a:endParaRPr lang="en-US" sz="3200" dirty="0"/>
          </a:p>
        </p:txBody>
      </p:sp>
      <p:sp>
        <p:nvSpPr>
          <p:cNvPr id="5" name="Text 3"/>
          <p:cNvSpPr/>
          <p:nvPr/>
        </p:nvSpPr>
        <p:spPr>
          <a:xfrm>
            <a:off x="731520" y="3108960"/>
            <a:ext cx="5486400" cy="36576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Protocol layering and automotive mapping  •  25 minutes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28600"/>
            <a:ext cx="7315200" cy="41148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OSI reference model</a:t>
            </a:r>
            <a:endParaRPr lang="en-US" sz="2800" dirty="0"/>
          </a:p>
        </p:txBody>
      </p:sp>
      <p:sp>
        <p:nvSpPr>
          <p:cNvPr id="3" name="Shape 1"/>
          <p:cNvSpPr/>
          <p:nvPr/>
        </p:nvSpPr>
        <p:spPr>
          <a:xfrm>
            <a:off x="731520" y="777240"/>
            <a:ext cx="502920" cy="475488"/>
          </a:xfrm>
          <a:prstGeom prst="rect">
            <a:avLst/>
          </a:prstGeom>
          <a:solidFill>
            <a:srgbClr val="D85A30"/>
          </a:solidFill>
          <a:ln/>
        </p:spPr>
        <p:txBody>
          <a:bodyPr/>
          <a:lstStyle/>
          <a:p>
            <a:endParaRPr lang="en-SG"/>
          </a:p>
        </p:txBody>
      </p:sp>
      <p:sp>
        <p:nvSpPr>
          <p:cNvPr id="4" name="Text 2"/>
          <p:cNvSpPr/>
          <p:nvPr/>
        </p:nvSpPr>
        <p:spPr>
          <a:xfrm>
            <a:off x="731520" y="777240"/>
            <a:ext cx="502920"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5" name="Shape 3"/>
          <p:cNvSpPr/>
          <p:nvPr/>
        </p:nvSpPr>
        <p:spPr>
          <a:xfrm>
            <a:off x="1325880" y="777240"/>
            <a:ext cx="2011680" cy="475488"/>
          </a:xfrm>
          <a:prstGeom prst="rect">
            <a:avLst/>
          </a:prstGeom>
          <a:solidFill>
            <a:srgbClr val="F0F4F8"/>
          </a:solidFill>
          <a:ln/>
        </p:spPr>
        <p:txBody>
          <a:bodyPr/>
          <a:lstStyle/>
          <a:p>
            <a:endParaRPr lang="en-SG"/>
          </a:p>
        </p:txBody>
      </p:sp>
      <p:sp>
        <p:nvSpPr>
          <p:cNvPr id="6" name="Text 4"/>
          <p:cNvSpPr/>
          <p:nvPr/>
        </p:nvSpPr>
        <p:spPr>
          <a:xfrm>
            <a:off x="1417320" y="777240"/>
            <a:ext cx="1828800" cy="475488"/>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Application</a:t>
            </a:r>
            <a:endParaRPr lang="en-US" sz="1300" dirty="0"/>
          </a:p>
        </p:txBody>
      </p:sp>
      <p:sp>
        <p:nvSpPr>
          <p:cNvPr id="7" name="Shape 5"/>
          <p:cNvSpPr/>
          <p:nvPr/>
        </p:nvSpPr>
        <p:spPr>
          <a:xfrm>
            <a:off x="3429000" y="777240"/>
            <a:ext cx="4983480" cy="475488"/>
          </a:xfrm>
          <a:prstGeom prst="rect">
            <a:avLst/>
          </a:prstGeom>
          <a:solidFill>
            <a:srgbClr val="FFFFFF"/>
          </a:solidFill>
          <a:ln w="6350">
            <a:solidFill>
              <a:srgbClr val="E2E8F0"/>
            </a:solidFill>
            <a:prstDash val="solid"/>
          </a:ln>
        </p:spPr>
        <p:txBody>
          <a:bodyPr/>
          <a:lstStyle/>
          <a:p>
            <a:endParaRPr lang="en-SG"/>
          </a:p>
        </p:txBody>
      </p:sp>
      <p:sp>
        <p:nvSpPr>
          <p:cNvPr id="8" name="Text 6"/>
          <p:cNvSpPr/>
          <p:nvPr/>
        </p:nvSpPr>
        <p:spPr>
          <a:xfrm>
            <a:off x="3566160" y="777240"/>
            <a:ext cx="4754880" cy="475488"/>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SOME/IP, DoIP, HTTP, DDS</a:t>
            </a:r>
            <a:endParaRPr lang="en-US" sz="1100" dirty="0"/>
          </a:p>
        </p:txBody>
      </p:sp>
      <p:sp>
        <p:nvSpPr>
          <p:cNvPr id="9" name="Shape 7"/>
          <p:cNvSpPr/>
          <p:nvPr/>
        </p:nvSpPr>
        <p:spPr>
          <a:xfrm>
            <a:off x="731520" y="1344168"/>
            <a:ext cx="502920" cy="475488"/>
          </a:xfrm>
          <a:prstGeom prst="rect">
            <a:avLst/>
          </a:prstGeom>
          <a:solidFill>
            <a:srgbClr val="D85A30"/>
          </a:solidFill>
          <a:ln/>
        </p:spPr>
        <p:txBody>
          <a:bodyPr/>
          <a:lstStyle/>
          <a:p>
            <a:endParaRPr lang="en-SG"/>
          </a:p>
        </p:txBody>
      </p:sp>
      <p:sp>
        <p:nvSpPr>
          <p:cNvPr id="10" name="Text 8"/>
          <p:cNvSpPr/>
          <p:nvPr/>
        </p:nvSpPr>
        <p:spPr>
          <a:xfrm>
            <a:off x="731520" y="1344168"/>
            <a:ext cx="502920"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11" name="Shape 9"/>
          <p:cNvSpPr/>
          <p:nvPr/>
        </p:nvSpPr>
        <p:spPr>
          <a:xfrm>
            <a:off x="1325880" y="1344168"/>
            <a:ext cx="2011680" cy="475488"/>
          </a:xfrm>
          <a:prstGeom prst="rect">
            <a:avLst/>
          </a:prstGeom>
          <a:solidFill>
            <a:srgbClr val="F0F4F8"/>
          </a:solidFill>
          <a:ln/>
        </p:spPr>
        <p:txBody>
          <a:bodyPr/>
          <a:lstStyle/>
          <a:p>
            <a:endParaRPr lang="en-SG"/>
          </a:p>
        </p:txBody>
      </p:sp>
      <p:sp>
        <p:nvSpPr>
          <p:cNvPr id="12" name="Text 10"/>
          <p:cNvSpPr/>
          <p:nvPr/>
        </p:nvSpPr>
        <p:spPr>
          <a:xfrm>
            <a:off x="1417320" y="1344168"/>
            <a:ext cx="1828800" cy="475488"/>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Presentation</a:t>
            </a:r>
            <a:endParaRPr lang="en-US" sz="1300" dirty="0"/>
          </a:p>
        </p:txBody>
      </p:sp>
      <p:sp>
        <p:nvSpPr>
          <p:cNvPr id="13" name="Shape 11"/>
          <p:cNvSpPr/>
          <p:nvPr/>
        </p:nvSpPr>
        <p:spPr>
          <a:xfrm>
            <a:off x="3429000" y="1344168"/>
            <a:ext cx="4983480" cy="475488"/>
          </a:xfrm>
          <a:prstGeom prst="rect">
            <a:avLst/>
          </a:prstGeom>
          <a:solidFill>
            <a:srgbClr val="FFFFFF"/>
          </a:solidFill>
          <a:ln w="6350">
            <a:solidFill>
              <a:srgbClr val="E2E8F0"/>
            </a:solidFill>
            <a:prstDash val="solid"/>
          </a:ln>
        </p:spPr>
        <p:txBody>
          <a:bodyPr/>
          <a:lstStyle/>
          <a:p>
            <a:endParaRPr lang="en-SG"/>
          </a:p>
        </p:txBody>
      </p:sp>
      <p:sp>
        <p:nvSpPr>
          <p:cNvPr id="14" name="Text 12"/>
          <p:cNvSpPr/>
          <p:nvPr/>
        </p:nvSpPr>
        <p:spPr>
          <a:xfrm>
            <a:off x="3566160" y="1344168"/>
            <a:ext cx="4754880" cy="475488"/>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Serialisation, TLS, IDL</a:t>
            </a:r>
            <a:endParaRPr lang="en-US" sz="1100" dirty="0"/>
          </a:p>
        </p:txBody>
      </p:sp>
      <p:sp>
        <p:nvSpPr>
          <p:cNvPr id="15" name="Shape 13"/>
          <p:cNvSpPr/>
          <p:nvPr/>
        </p:nvSpPr>
        <p:spPr>
          <a:xfrm>
            <a:off x="731520" y="1911096"/>
            <a:ext cx="502920" cy="475488"/>
          </a:xfrm>
          <a:prstGeom prst="rect">
            <a:avLst/>
          </a:prstGeom>
          <a:solidFill>
            <a:srgbClr val="D85A30"/>
          </a:solidFill>
          <a:ln/>
        </p:spPr>
        <p:txBody>
          <a:bodyPr/>
          <a:lstStyle/>
          <a:p>
            <a:endParaRPr lang="en-SG"/>
          </a:p>
        </p:txBody>
      </p:sp>
      <p:sp>
        <p:nvSpPr>
          <p:cNvPr id="16" name="Text 14"/>
          <p:cNvSpPr/>
          <p:nvPr/>
        </p:nvSpPr>
        <p:spPr>
          <a:xfrm>
            <a:off x="731520" y="1911096"/>
            <a:ext cx="502920"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7" name="Shape 15"/>
          <p:cNvSpPr/>
          <p:nvPr/>
        </p:nvSpPr>
        <p:spPr>
          <a:xfrm>
            <a:off x="1325880" y="1911096"/>
            <a:ext cx="2011680" cy="475488"/>
          </a:xfrm>
          <a:prstGeom prst="rect">
            <a:avLst/>
          </a:prstGeom>
          <a:solidFill>
            <a:srgbClr val="F0F4F8"/>
          </a:solidFill>
          <a:ln/>
        </p:spPr>
        <p:txBody>
          <a:bodyPr/>
          <a:lstStyle/>
          <a:p>
            <a:endParaRPr lang="en-SG"/>
          </a:p>
        </p:txBody>
      </p:sp>
      <p:sp>
        <p:nvSpPr>
          <p:cNvPr id="18" name="Text 16"/>
          <p:cNvSpPr/>
          <p:nvPr/>
        </p:nvSpPr>
        <p:spPr>
          <a:xfrm>
            <a:off x="1417320" y="1911096"/>
            <a:ext cx="1828800" cy="475488"/>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Session</a:t>
            </a:r>
            <a:endParaRPr lang="en-US" sz="1300" dirty="0"/>
          </a:p>
        </p:txBody>
      </p:sp>
      <p:sp>
        <p:nvSpPr>
          <p:cNvPr id="19" name="Shape 17"/>
          <p:cNvSpPr/>
          <p:nvPr/>
        </p:nvSpPr>
        <p:spPr>
          <a:xfrm>
            <a:off x="3429000" y="1911096"/>
            <a:ext cx="4983480" cy="475488"/>
          </a:xfrm>
          <a:prstGeom prst="rect">
            <a:avLst/>
          </a:prstGeom>
          <a:solidFill>
            <a:srgbClr val="FFFFFF"/>
          </a:solidFill>
          <a:ln w="6350">
            <a:solidFill>
              <a:srgbClr val="E2E8F0"/>
            </a:solidFill>
            <a:prstDash val="solid"/>
          </a:ln>
        </p:spPr>
        <p:txBody>
          <a:bodyPr/>
          <a:lstStyle/>
          <a:p>
            <a:endParaRPr lang="en-SG"/>
          </a:p>
        </p:txBody>
      </p:sp>
      <p:sp>
        <p:nvSpPr>
          <p:cNvPr id="20" name="Text 18"/>
          <p:cNvSpPr/>
          <p:nvPr/>
        </p:nvSpPr>
        <p:spPr>
          <a:xfrm>
            <a:off x="3566160" y="1911096"/>
            <a:ext cx="4754880" cy="475488"/>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SOME/IP-SD, Socket mgmt</a:t>
            </a:r>
            <a:endParaRPr lang="en-US" sz="1100" dirty="0"/>
          </a:p>
        </p:txBody>
      </p:sp>
      <p:sp>
        <p:nvSpPr>
          <p:cNvPr id="21" name="Shape 19"/>
          <p:cNvSpPr/>
          <p:nvPr/>
        </p:nvSpPr>
        <p:spPr>
          <a:xfrm>
            <a:off x="731520" y="2478024"/>
            <a:ext cx="502920" cy="475488"/>
          </a:xfrm>
          <a:prstGeom prst="rect">
            <a:avLst/>
          </a:prstGeom>
          <a:solidFill>
            <a:srgbClr val="534AB7"/>
          </a:solidFill>
          <a:ln/>
        </p:spPr>
        <p:txBody>
          <a:bodyPr/>
          <a:lstStyle/>
          <a:p>
            <a:endParaRPr lang="en-SG"/>
          </a:p>
        </p:txBody>
      </p:sp>
      <p:sp>
        <p:nvSpPr>
          <p:cNvPr id="22" name="Text 20"/>
          <p:cNvSpPr/>
          <p:nvPr/>
        </p:nvSpPr>
        <p:spPr>
          <a:xfrm>
            <a:off x="731520" y="2478024"/>
            <a:ext cx="502920"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3" name="Shape 21"/>
          <p:cNvSpPr/>
          <p:nvPr/>
        </p:nvSpPr>
        <p:spPr>
          <a:xfrm>
            <a:off x="1325880" y="2478024"/>
            <a:ext cx="2011680" cy="475488"/>
          </a:xfrm>
          <a:prstGeom prst="rect">
            <a:avLst/>
          </a:prstGeom>
          <a:solidFill>
            <a:srgbClr val="F0F4F8"/>
          </a:solidFill>
          <a:ln/>
        </p:spPr>
        <p:txBody>
          <a:bodyPr/>
          <a:lstStyle/>
          <a:p>
            <a:endParaRPr lang="en-SG"/>
          </a:p>
        </p:txBody>
      </p:sp>
      <p:sp>
        <p:nvSpPr>
          <p:cNvPr id="24" name="Text 22"/>
          <p:cNvSpPr/>
          <p:nvPr/>
        </p:nvSpPr>
        <p:spPr>
          <a:xfrm>
            <a:off x="1417320" y="2478024"/>
            <a:ext cx="1828800" cy="475488"/>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Transport</a:t>
            </a:r>
            <a:endParaRPr lang="en-US" sz="1300" dirty="0"/>
          </a:p>
        </p:txBody>
      </p:sp>
      <p:sp>
        <p:nvSpPr>
          <p:cNvPr id="25" name="Shape 23"/>
          <p:cNvSpPr/>
          <p:nvPr/>
        </p:nvSpPr>
        <p:spPr>
          <a:xfrm>
            <a:off x="3429000" y="2478024"/>
            <a:ext cx="4983480" cy="475488"/>
          </a:xfrm>
          <a:prstGeom prst="rect">
            <a:avLst/>
          </a:prstGeom>
          <a:solidFill>
            <a:srgbClr val="FFFFFF"/>
          </a:solidFill>
          <a:ln w="6350">
            <a:solidFill>
              <a:srgbClr val="E2E8F0"/>
            </a:solidFill>
            <a:prstDash val="solid"/>
          </a:ln>
        </p:spPr>
        <p:txBody>
          <a:bodyPr/>
          <a:lstStyle/>
          <a:p>
            <a:endParaRPr lang="en-SG"/>
          </a:p>
        </p:txBody>
      </p:sp>
      <p:sp>
        <p:nvSpPr>
          <p:cNvPr id="26" name="Text 24"/>
          <p:cNvSpPr/>
          <p:nvPr/>
        </p:nvSpPr>
        <p:spPr>
          <a:xfrm>
            <a:off x="3566160" y="2478024"/>
            <a:ext cx="4754880" cy="475488"/>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TCP, UDP</a:t>
            </a:r>
            <a:endParaRPr lang="en-US" sz="1100" dirty="0"/>
          </a:p>
        </p:txBody>
      </p:sp>
      <p:sp>
        <p:nvSpPr>
          <p:cNvPr id="27" name="Shape 25"/>
          <p:cNvSpPr/>
          <p:nvPr/>
        </p:nvSpPr>
        <p:spPr>
          <a:xfrm>
            <a:off x="731520" y="3044952"/>
            <a:ext cx="502920" cy="475488"/>
          </a:xfrm>
          <a:prstGeom prst="rect">
            <a:avLst/>
          </a:prstGeom>
          <a:solidFill>
            <a:srgbClr val="065A82"/>
          </a:solidFill>
          <a:ln/>
        </p:spPr>
        <p:txBody>
          <a:bodyPr/>
          <a:lstStyle/>
          <a:p>
            <a:endParaRPr lang="en-SG"/>
          </a:p>
        </p:txBody>
      </p:sp>
      <p:sp>
        <p:nvSpPr>
          <p:cNvPr id="28" name="Text 26"/>
          <p:cNvSpPr/>
          <p:nvPr/>
        </p:nvSpPr>
        <p:spPr>
          <a:xfrm>
            <a:off x="731520" y="3044952"/>
            <a:ext cx="502920"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9" name="Shape 27"/>
          <p:cNvSpPr/>
          <p:nvPr/>
        </p:nvSpPr>
        <p:spPr>
          <a:xfrm>
            <a:off x="1325880" y="3044952"/>
            <a:ext cx="2011680" cy="475488"/>
          </a:xfrm>
          <a:prstGeom prst="rect">
            <a:avLst/>
          </a:prstGeom>
          <a:solidFill>
            <a:srgbClr val="F0F4F8"/>
          </a:solidFill>
          <a:ln/>
        </p:spPr>
        <p:txBody>
          <a:bodyPr/>
          <a:lstStyle/>
          <a:p>
            <a:endParaRPr lang="en-SG"/>
          </a:p>
        </p:txBody>
      </p:sp>
      <p:sp>
        <p:nvSpPr>
          <p:cNvPr id="30" name="Text 28"/>
          <p:cNvSpPr/>
          <p:nvPr/>
        </p:nvSpPr>
        <p:spPr>
          <a:xfrm>
            <a:off x="1417320" y="3044952"/>
            <a:ext cx="1828800" cy="475488"/>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Network</a:t>
            </a:r>
            <a:endParaRPr lang="en-US" sz="1300" dirty="0"/>
          </a:p>
        </p:txBody>
      </p:sp>
      <p:sp>
        <p:nvSpPr>
          <p:cNvPr id="31" name="Shape 29"/>
          <p:cNvSpPr/>
          <p:nvPr/>
        </p:nvSpPr>
        <p:spPr>
          <a:xfrm>
            <a:off x="3429000" y="3044952"/>
            <a:ext cx="4983480" cy="475488"/>
          </a:xfrm>
          <a:prstGeom prst="rect">
            <a:avLst/>
          </a:prstGeom>
          <a:solidFill>
            <a:srgbClr val="FFFFFF"/>
          </a:solidFill>
          <a:ln w="6350">
            <a:solidFill>
              <a:srgbClr val="E2E8F0"/>
            </a:solidFill>
            <a:prstDash val="solid"/>
          </a:ln>
        </p:spPr>
        <p:txBody>
          <a:bodyPr/>
          <a:lstStyle/>
          <a:p>
            <a:endParaRPr lang="en-SG"/>
          </a:p>
        </p:txBody>
      </p:sp>
      <p:sp>
        <p:nvSpPr>
          <p:cNvPr id="32" name="Text 30"/>
          <p:cNvSpPr/>
          <p:nvPr/>
        </p:nvSpPr>
        <p:spPr>
          <a:xfrm>
            <a:off x="3566160" y="3044952"/>
            <a:ext cx="4754880" cy="475488"/>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IPv4, IPv6, ARP, ICMP</a:t>
            </a:r>
            <a:endParaRPr lang="en-US" sz="1100" dirty="0"/>
          </a:p>
        </p:txBody>
      </p:sp>
      <p:sp>
        <p:nvSpPr>
          <p:cNvPr id="33" name="Shape 31"/>
          <p:cNvSpPr/>
          <p:nvPr/>
        </p:nvSpPr>
        <p:spPr>
          <a:xfrm>
            <a:off x="731520" y="3611880"/>
            <a:ext cx="502920" cy="475488"/>
          </a:xfrm>
          <a:prstGeom prst="rect">
            <a:avLst/>
          </a:prstGeom>
          <a:solidFill>
            <a:srgbClr val="0F6E56"/>
          </a:solidFill>
          <a:ln/>
        </p:spPr>
        <p:txBody>
          <a:bodyPr/>
          <a:lstStyle/>
          <a:p>
            <a:endParaRPr lang="en-SG"/>
          </a:p>
        </p:txBody>
      </p:sp>
      <p:sp>
        <p:nvSpPr>
          <p:cNvPr id="34" name="Text 32"/>
          <p:cNvSpPr/>
          <p:nvPr/>
        </p:nvSpPr>
        <p:spPr>
          <a:xfrm>
            <a:off x="731520" y="3611880"/>
            <a:ext cx="502920"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35" name="Shape 33"/>
          <p:cNvSpPr/>
          <p:nvPr/>
        </p:nvSpPr>
        <p:spPr>
          <a:xfrm>
            <a:off x="1325880" y="3611880"/>
            <a:ext cx="2011680" cy="475488"/>
          </a:xfrm>
          <a:prstGeom prst="rect">
            <a:avLst/>
          </a:prstGeom>
          <a:solidFill>
            <a:srgbClr val="F0F4F8"/>
          </a:solidFill>
          <a:ln/>
        </p:spPr>
        <p:txBody>
          <a:bodyPr/>
          <a:lstStyle/>
          <a:p>
            <a:endParaRPr lang="en-SG"/>
          </a:p>
        </p:txBody>
      </p:sp>
      <p:sp>
        <p:nvSpPr>
          <p:cNvPr id="36" name="Text 34"/>
          <p:cNvSpPr/>
          <p:nvPr/>
        </p:nvSpPr>
        <p:spPr>
          <a:xfrm>
            <a:off x="1417320" y="3611880"/>
            <a:ext cx="1828800" cy="475488"/>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Data link</a:t>
            </a:r>
            <a:endParaRPr lang="en-US" sz="1300" dirty="0"/>
          </a:p>
        </p:txBody>
      </p:sp>
      <p:sp>
        <p:nvSpPr>
          <p:cNvPr id="37" name="Shape 35"/>
          <p:cNvSpPr/>
          <p:nvPr/>
        </p:nvSpPr>
        <p:spPr>
          <a:xfrm>
            <a:off x="3429000" y="3611880"/>
            <a:ext cx="4983480" cy="475488"/>
          </a:xfrm>
          <a:prstGeom prst="rect">
            <a:avLst/>
          </a:prstGeom>
          <a:solidFill>
            <a:srgbClr val="FFFFFF"/>
          </a:solidFill>
          <a:ln w="6350">
            <a:solidFill>
              <a:srgbClr val="E2E8F0"/>
            </a:solidFill>
            <a:prstDash val="solid"/>
          </a:ln>
        </p:spPr>
        <p:txBody>
          <a:bodyPr/>
          <a:lstStyle/>
          <a:p>
            <a:endParaRPr lang="en-SG"/>
          </a:p>
        </p:txBody>
      </p:sp>
      <p:sp>
        <p:nvSpPr>
          <p:cNvPr id="38" name="Text 36"/>
          <p:cNvSpPr/>
          <p:nvPr/>
        </p:nvSpPr>
        <p:spPr>
          <a:xfrm>
            <a:off x="3566160" y="3611880"/>
            <a:ext cx="4754880" cy="475488"/>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Ethernet MAC (802.3), VLAN (802.1Q)</a:t>
            </a:r>
            <a:endParaRPr lang="en-US" sz="1100" dirty="0"/>
          </a:p>
        </p:txBody>
      </p:sp>
      <p:sp>
        <p:nvSpPr>
          <p:cNvPr id="39" name="Shape 37"/>
          <p:cNvSpPr/>
          <p:nvPr/>
        </p:nvSpPr>
        <p:spPr>
          <a:xfrm>
            <a:off x="731520" y="4178808"/>
            <a:ext cx="502920" cy="475488"/>
          </a:xfrm>
          <a:prstGeom prst="rect">
            <a:avLst/>
          </a:prstGeom>
          <a:solidFill>
            <a:srgbClr val="0F6E56"/>
          </a:solidFill>
          <a:ln/>
        </p:spPr>
        <p:txBody>
          <a:bodyPr/>
          <a:lstStyle/>
          <a:p>
            <a:endParaRPr lang="en-SG"/>
          </a:p>
        </p:txBody>
      </p:sp>
      <p:sp>
        <p:nvSpPr>
          <p:cNvPr id="40" name="Text 38"/>
          <p:cNvSpPr/>
          <p:nvPr/>
        </p:nvSpPr>
        <p:spPr>
          <a:xfrm>
            <a:off x="731520" y="4178808"/>
            <a:ext cx="502920" cy="47548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41" name="Shape 39"/>
          <p:cNvSpPr/>
          <p:nvPr/>
        </p:nvSpPr>
        <p:spPr>
          <a:xfrm>
            <a:off x="1325880" y="4178808"/>
            <a:ext cx="2011680" cy="475488"/>
          </a:xfrm>
          <a:prstGeom prst="rect">
            <a:avLst/>
          </a:prstGeom>
          <a:solidFill>
            <a:srgbClr val="F0F4F8"/>
          </a:solidFill>
          <a:ln/>
        </p:spPr>
        <p:txBody>
          <a:bodyPr/>
          <a:lstStyle/>
          <a:p>
            <a:endParaRPr lang="en-SG"/>
          </a:p>
        </p:txBody>
      </p:sp>
      <p:sp>
        <p:nvSpPr>
          <p:cNvPr id="42" name="Text 40"/>
          <p:cNvSpPr/>
          <p:nvPr/>
        </p:nvSpPr>
        <p:spPr>
          <a:xfrm>
            <a:off x="1417320" y="4178808"/>
            <a:ext cx="1828800" cy="475488"/>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Physical</a:t>
            </a:r>
            <a:endParaRPr lang="en-US" sz="1300" dirty="0"/>
          </a:p>
        </p:txBody>
      </p:sp>
      <p:sp>
        <p:nvSpPr>
          <p:cNvPr id="43" name="Shape 41"/>
          <p:cNvSpPr/>
          <p:nvPr/>
        </p:nvSpPr>
        <p:spPr>
          <a:xfrm>
            <a:off x="3429000" y="4178808"/>
            <a:ext cx="4983480" cy="475488"/>
          </a:xfrm>
          <a:prstGeom prst="rect">
            <a:avLst/>
          </a:prstGeom>
          <a:solidFill>
            <a:srgbClr val="FFFFFF"/>
          </a:solidFill>
          <a:ln w="6350">
            <a:solidFill>
              <a:srgbClr val="E2E8F0"/>
            </a:solidFill>
            <a:prstDash val="solid"/>
          </a:ln>
        </p:spPr>
        <p:txBody>
          <a:bodyPr/>
          <a:lstStyle/>
          <a:p>
            <a:endParaRPr lang="en-SG"/>
          </a:p>
        </p:txBody>
      </p:sp>
      <p:sp>
        <p:nvSpPr>
          <p:cNvPr id="44" name="Text 42"/>
          <p:cNvSpPr/>
          <p:nvPr/>
        </p:nvSpPr>
        <p:spPr>
          <a:xfrm>
            <a:off x="3566160" y="4178808"/>
            <a:ext cx="4754880" cy="475488"/>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100BASE-T1, 1000BASE-T1, xMII</a:t>
            </a:r>
            <a:endParaRPr lang="en-US" sz="1100" dirty="0"/>
          </a:p>
        </p:txBody>
      </p:sp>
      <p:sp>
        <p:nvSpPr>
          <p:cNvPr id="45" name="Shape 43"/>
          <p:cNvSpPr/>
          <p:nvPr/>
        </p:nvSpPr>
        <p:spPr>
          <a:xfrm>
            <a:off x="8549640" y="777240"/>
            <a:ext cx="45720" cy="1700784"/>
          </a:xfrm>
          <a:prstGeom prst="rect">
            <a:avLst/>
          </a:prstGeom>
          <a:solidFill>
            <a:srgbClr val="D85A30"/>
          </a:solidFill>
          <a:ln/>
        </p:spPr>
        <p:txBody>
          <a:bodyPr/>
          <a:lstStyle/>
          <a:p>
            <a:endParaRPr lang="en-SG"/>
          </a:p>
        </p:txBody>
      </p:sp>
      <p:sp>
        <p:nvSpPr>
          <p:cNvPr id="46" name="Text 44"/>
          <p:cNvSpPr/>
          <p:nvPr/>
        </p:nvSpPr>
        <p:spPr>
          <a:xfrm>
            <a:off x="8641080" y="1188720"/>
            <a:ext cx="457200" cy="731520"/>
          </a:xfrm>
          <a:prstGeom prst="rect">
            <a:avLst/>
          </a:prstGeom>
          <a:noFill/>
          <a:ln/>
        </p:spPr>
        <p:txBody>
          <a:bodyPr wrap="square" lIns="0" tIns="0" rIns="0" bIns="0" rtlCol="0" anchor="ctr"/>
          <a:lstStyle/>
          <a:p>
            <a:pPr marL="0" indent="0">
              <a:buNone/>
            </a:pPr>
            <a:r>
              <a:rPr lang="en-US" sz="800" b="1" dirty="0">
                <a:solidFill>
                  <a:srgbClr val="D85A30"/>
                </a:solidFill>
                <a:latin typeface="Calibri" pitchFamily="34" charset="0"/>
                <a:ea typeface="Calibri" pitchFamily="34" charset="-122"/>
                <a:cs typeface="Calibri" pitchFamily="34" charset="-120"/>
              </a:rPr>
              <a:t>Upper</a:t>
            </a:r>
            <a:endParaRPr lang="en-US" sz="800" dirty="0"/>
          </a:p>
          <a:p>
            <a:pPr marL="0" indent="0">
              <a:buNone/>
            </a:pPr>
            <a:r>
              <a:rPr lang="en-US" sz="800" b="1" dirty="0">
                <a:solidFill>
                  <a:srgbClr val="D85A30"/>
                </a:solidFill>
                <a:latin typeface="Calibri" pitchFamily="34" charset="0"/>
                <a:ea typeface="Calibri" pitchFamily="34" charset="-122"/>
                <a:cs typeface="Calibri" pitchFamily="34" charset="-120"/>
              </a:rPr>
              <a:t>layers</a:t>
            </a:r>
            <a:endParaRPr lang="en-US" sz="800" dirty="0"/>
          </a:p>
        </p:txBody>
      </p:sp>
      <p:sp>
        <p:nvSpPr>
          <p:cNvPr id="47" name="Shape 45"/>
          <p:cNvSpPr/>
          <p:nvPr/>
        </p:nvSpPr>
        <p:spPr>
          <a:xfrm>
            <a:off x="8549640" y="2478024"/>
            <a:ext cx="45720" cy="475488"/>
          </a:xfrm>
          <a:prstGeom prst="rect">
            <a:avLst/>
          </a:prstGeom>
          <a:solidFill>
            <a:srgbClr val="534AB7"/>
          </a:solidFill>
          <a:ln/>
        </p:spPr>
        <p:txBody>
          <a:bodyPr/>
          <a:lstStyle/>
          <a:p>
            <a:endParaRPr lang="en-SG"/>
          </a:p>
        </p:txBody>
      </p:sp>
      <p:sp>
        <p:nvSpPr>
          <p:cNvPr id="48" name="Shape 46"/>
          <p:cNvSpPr/>
          <p:nvPr/>
        </p:nvSpPr>
        <p:spPr>
          <a:xfrm>
            <a:off x="8549640" y="3044952"/>
            <a:ext cx="45720" cy="475488"/>
          </a:xfrm>
          <a:prstGeom prst="rect">
            <a:avLst/>
          </a:prstGeom>
          <a:solidFill>
            <a:srgbClr val="065A82"/>
          </a:solidFill>
          <a:ln/>
        </p:spPr>
        <p:txBody>
          <a:bodyPr/>
          <a:lstStyle/>
          <a:p>
            <a:endParaRPr lang="en-SG"/>
          </a:p>
        </p:txBody>
      </p:sp>
      <p:sp>
        <p:nvSpPr>
          <p:cNvPr id="49" name="Shape 47"/>
          <p:cNvSpPr/>
          <p:nvPr/>
        </p:nvSpPr>
        <p:spPr>
          <a:xfrm>
            <a:off x="8549640" y="3611880"/>
            <a:ext cx="45720" cy="1042416"/>
          </a:xfrm>
          <a:prstGeom prst="rect">
            <a:avLst/>
          </a:prstGeom>
          <a:solidFill>
            <a:srgbClr val="0F6E56"/>
          </a:solidFill>
          <a:ln/>
        </p:spPr>
        <p:txBody>
          <a:bodyPr/>
          <a:lstStyle/>
          <a:p>
            <a:endParaRPr lang="en-SG"/>
          </a:p>
        </p:txBody>
      </p:sp>
      <p:sp>
        <p:nvSpPr>
          <p:cNvPr id="50" name="Text 48"/>
          <p:cNvSpPr/>
          <p:nvPr/>
        </p:nvSpPr>
        <p:spPr>
          <a:xfrm>
            <a:off x="8641080" y="3749040"/>
            <a:ext cx="457200" cy="640080"/>
          </a:xfrm>
          <a:prstGeom prst="rect">
            <a:avLst/>
          </a:prstGeom>
          <a:noFill/>
          <a:ln/>
        </p:spPr>
        <p:txBody>
          <a:bodyPr wrap="square" lIns="0" tIns="0" rIns="0" bIns="0" rtlCol="0" anchor="ctr"/>
          <a:lstStyle/>
          <a:p>
            <a:pPr marL="0" indent="0">
              <a:buNone/>
            </a:pPr>
            <a:r>
              <a:rPr lang="en-US" sz="800" b="1" dirty="0">
                <a:solidFill>
                  <a:srgbClr val="0F6E56"/>
                </a:solidFill>
                <a:latin typeface="Calibri" pitchFamily="34" charset="0"/>
                <a:ea typeface="Calibri" pitchFamily="34" charset="-122"/>
                <a:cs typeface="Calibri" pitchFamily="34" charset="-120"/>
              </a:rPr>
              <a:t>IEEE 802</a:t>
            </a:r>
            <a:endParaRPr lang="en-US" sz="800" dirty="0"/>
          </a:p>
          <a:p>
            <a:pPr marL="0" indent="0">
              <a:buNone/>
            </a:pPr>
            <a:r>
              <a:rPr lang="en-US" sz="800" b="1" dirty="0">
                <a:solidFill>
                  <a:srgbClr val="0F6E56"/>
                </a:solidFill>
                <a:latin typeface="Calibri" pitchFamily="34" charset="0"/>
                <a:ea typeface="Calibri" pitchFamily="34" charset="-122"/>
                <a:cs typeface="Calibri" pitchFamily="34" charset="-120"/>
              </a:rPr>
              <a:t>scope</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OSI layers in the automotive stack</a:t>
            </a:r>
            <a:endParaRPr lang="en-US" sz="2800" dirty="0"/>
          </a:p>
        </p:txBody>
      </p:sp>
      <p:sp>
        <p:nvSpPr>
          <p:cNvPr id="3" name="Shape 1"/>
          <p:cNvSpPr/>
          <p:nvPr/>
        </p:nvSpPr>
        <p:spPr>
          <a:xfrm>
            <a:off x="731520" y="1005840"/>
            <a:ext cx="1645920" cy="658368"/>
          </a:xfrm>
          <a:prstGeom prst="rect">
            <a:avLst/>
          </a:prstGeom>
          <a:solidFill>
            <a:srgbClr val="1B2D4A"/>
          </a:solidFill>
          <a:ln/>
        </p:spPr>
        <p:txBody>
          <a:bodyPr/>
          <a:lstStyle/>
          <a:p>
            <a:endParaRPr lang="en-SG"/>
          </a:p>
        </p:txBody>
      </p:sp>
      <p:sp>
        <p:nvSpPr>
          <p:cNvPr id="4" name="Text 2"/>
          <p:cNvSpPr/>
          <p:nvPr/>
        </p:nvSpPr>
        <p:spPr>
          <a:xfrm>
            <a:off x="731520" y="1005840"/>
            <a:ext cx="1645920"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Application (L7)</a:t>
            </a:r>
            <a:endParaRPr lang="en-US" sz="1000" dirty="0"/>
          </a:p>
        </p:txBody>
      </p:sp>
      <p:sp>
        <p:nvSpPr>
          <p:cNvPr id="5" name="Shape 3"/>
          <p:cNvSpPr/>
          <p:nvPr/>
        </p:nvSpPr>
        <p:spPr>
          <a:xfrm>
            <a:off x="2468880" y="1005840"/>
            <a:ext cx="1463040" cy="658368"/>
          </a:xfrm>
          <a:prstGeom prst="rect">
            <a:avLst/>
          </a:prstGeom>
          <a:solidFill>
            <a:srgbClr val="F0F4F8"/>
          </a:solidFill>
          <a:ln w="6350">
            <a:solidFill>
              <a:srgbClr val="E2E8F0"/>
            </a:solidFill>
            <a:prstDash val="solid"/>
          </a:ln>
        </p:spPr>
        <p:txBody>
          <a:bodyPr/>
          <a:lstStyle/>
          <a:p>
            <a:endParaRPr lang="en-SG"/>
          </a:p>
        </p:txBody>
      </p:sp>
      <p:sp>
        <p:nvSpPr>
          <p:cNvPr id="6" name="Text 4"/>
          <p:cNvSpPr/>
          <p:nvPr/>
        </p:nvSpPr>
        <p:spPr>
          <a:xfrm>
            <a:off x="2468880" y="1005840"/>
            <a:ext cx="1463040" cy="65836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SOME/IP</a:t>
            </a:r>
            <a:endParaRPr lang="en-US" sz="1000" dirty="0"/>
          </a:p>
        </p:txBody>
      </p:sp>
      <p:sp>
        <p:nvSpPr>
          <p:cNvPr id="7" name="Shape 5"/>
          <p:cNvSpPr/>
          <p:nvPr/>
        </p:nvSpPr>
        <p:spPr>
          <a:xfrm>
            <a:off x="4023360" y="1005840"/>
            <a:ext cx="1645920" cy="658368"/>
          </a:xfrm>
          <a:prstGeom prst="rect">
            <a:avLst/>
          </a:prstGeom>
          <a:solidFill>
            <a:srgbClr val="F0F4F8"/>
          </a:solidFill>
          <a:ln w="6350">
            <a:solidFill>
              <a:srgbClr val="E2E8F0"/>
            </a:solidFill>
            <a:prstDash val="solid"/>
          </a:ln>
        </p:spPr>
        <p:txBody>
          <a:bodyPr/>
          <a:lstStyle/>
          <a:p>
            <a:endParaRPr lang="en-SG"/>
          </a:p>
        </p:txBody>
      </p:sp>
      <p:sp>
        <p:nvSpPr>
          <p:cNvPr id="8" name="Text 6"/>
          <p:cNvSpPr/>
          <p:nvPr/>
        </p:nvSpPr>
        <p:spPr>
          <a:xfrm>
            <a:off x="4023360" y="1005840"/>
            <a:ext cx="1645920" cy="65836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DoIP (ISO 13400)</a:t>
            </a:r>
            <a:endParaRPr lang="en-US" sz="1000" dirty="0"/>
          </a:p>
        </p:txBody>
      </p:sp>
      <p:sp>
        <p:nvSpPr>
          <p:cNvPr id="9" name="Text 7"/>
          <p:cNvSpPr/>
          <p:nvPr/>
        </p:nvSpPr>
        <p:spPr>
          <a:xfrm>
            <a:off x="5852160" y="1005840"/>
            <a:ext cx="2926080" cy="65836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Service-oriented communication / Diagnostics over IP</a:t>
            </a:r>
            <a:endParaRPr lang="en-US" sz="1000" dirty="0"/>
          </a:p>
        </p:txBody>
      </p:sp>
      <p:sp>
        <p:nvSpPr>
          <p:cNvPr id="10" name="Shape 8"/>
          <p:cNvSpPr/>
          <p:nvPr/>
        </p:nvSpPr>
        <p:spPr>
          <a:xfrm>
            <a:off x="731520" y="1783080"/>
            <a:ext cx="1645920" cy="658368"/>
          </a:xfrm>
          <a:prstGeom prst="rect">
            <a:avLst/>
          </a:prstGeom>
          <a:solidFill>
            <a:srgbClr val="1B2D4A"/>
          </a:solidFill>
          <a:ln/>
        </p:spPr>
        <p:txBody>
          <a:bodyPr/>
          <a:lstStyle/>
          <a:p>
            <a:endParaRPr lang="en-SG"/>
          </a:p>
        </p:txBody>
      </p:sp>
      <p:sp>
        <p:nvSpPr>
          <p:cNvPr id="11" name="Text 9"/>
          <p:cNvSpPr/>
          <p:nvPr/>
        </p:nvSpPr>
        <p:spPr>
          <a:xfrm>
            <a:off x="731520" y="1783080"/>
            <a:ext cx="1645920"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Transport (L4)</a:t>
            </a:r>
            <a:endParaRPr lang="en-US" sz="1000" dirty="0"/>
          </a:p>
        </p:txBody>
      </p:sp>
      <p:sp>
        <p:nvSpPr>
          <p:cNvPr id="12" name="Shape 10"/>
          <p:cNvSpPr/>
          <p:nvPr/>
        </p:nvSpPr>
        <p:spPr>
          <a:xfrm>
            <a:off x="2468880" y="1783080"/>
            <a:ext cx="1463040" cy="658368"/>
          </a:xfrm>
          <a:prstGeom prst="rect">
            <a:avLst/>
          </a:prstGeom>
          <a:solidFill>
            <a:srgbClr val="F0F4F8"/>
          </a:solidFill>
          <a:ln w="6350">
            <a:solidFill>
              <a:srgbClr val="E2E8F0"/>
            </a:solidFill>
            <a:prstDash val="solid"/>
          </a:ln>
        </p:spPr>
        <p:txBody>
          <a:bodyPr/>
          <a:lstStyle/>
          <a:p>
            <a:endParaRPr lang="en-SG"/>
          </a:p>
        </p:txBody>
      </p:sp>
      <p:sp>
        <p:nvSpPr>
          <p:cNvPr id="13" name="Text 11"/>
          <p:cNvSpPr/>
          <p:nvPr/>
        </p:nvSpPr>
        <p:spPr>
          <a:xfrm>
            <a:off x="2468880" y="1783080"/>
            <a:ext cx="1463040" cy="65836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UDP</a:t>
            </a:r>
            <a:endParaRPr lang="en-US" sz="1000" dirty="0"/>
          </a:p>
        </p:txBody>
      </p:sp>
      <p:sp>
        <p:nvSpPr>
          <p:cNvPr id="14" name="Shape 12"/>
          <p:cNvSpPr/>
          <p:nvPr/>
        </p:nvSpPr>
        <p:spPr>
          <a:xfrm>
            <a:off x="4023360" y="1783080"/>
            <a:ext cx="1645920" cy="658368"/>
          </a:xfrm>
          <a:prstGeom prst="rect">
            <a:avLst/>
          </a:prstGeom>
          <a:solidFill>
            <a:srgbClr val="F0F4F8"/>
          </a:solidFill>
          <a:ln w="6350">
            <a:solidFill>
              <a:srgbClr val="E2E8F0"/>
            </a:solidFill>
            <a:prstDash val="solid"/>
          </a:ln>
        </p:spPr>
        <p:txBody>
          <a:bodyPr/>
          <a:lstStyle/>
          <a:p>
            <a:endParaRPr lang="en-SG"/>
          </a:p>
        </p:txBody>
      </p:sp>
      <p:sp>
        <p:nvSpPr>
          <p:cNvPr id="15" name="Text 13"/>
          <p:cNvSpPr/>
          <p:nvPr/>
        </p:nvSpPr>
        <p:spPr>
          <a:xfrm>
            <a:off x="4023360" y="1783080"/>
            <a:ext cx="1645920" cy="65836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TCP</a:t>
            </a:r>
            <a:endParaRPr lang="en-US" sz="1000" dirty="0"/>
          </a:p>
        </p:txBody>
      </p:sp>
      <p:sp>
        <p:nvSpPr>
          <p:cNvPr id="16" name="Text 14"/>
          <p:cNvSpPr/>
          <p:nvPr/>
        </p:nvSpPr>
        <p:spPr>
          <a:xfrm>
            <a:off x="5852160" y="1783080"/>
            <a:ext cx="2926080" cy="65836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SOME/IP typically over UDP; DoIP over TCP</a:t>
            </a:r>
            <a:endParaRPr lang="en-US" sz="1000" dirty="0"/>
          </a:p>
        </p:txBody>
      </p:sp>
      <p:sp>
        <p:nvSpPr>
          <p:cNvPr id="17" name="Shape 15"/>
          <p:cNvSpPr/>
          <p:nvPr/>
        </p:nvSpPr>
        <p:spPr>
          <a:xfrm>
            <a:off x="731520" y="2560320"/>
            <a:ext cx="1645920" cy="658368"/>
          </a:xfrm>
          <a:prstGeom prst="rect">
            <a:avLst/>
          </a:prstGeom>
          <a:solidFill>
            <a:srgbClr val="1B2D4A"/>
          </a:solidFill>
          <a:ln/>
        </p:spPr>
        <p:txBody>
          <a:bodyPr/>
          <a:lstStyle/>
          <a:p>
            <a:endParaRPr lang="en-SG"/>
          </a:p>
        </p:txBody>
      </p:sp>
      <p:sp>
        <p:nvSpPr>
          <p:cNvPr id="18" name="Text 16"/>
          <p:cNvSpPr/>
          <p:nvPr/>
        </p:nvSpPr>
        <p:spPr>
          <a:xfrm>
            <a:off x="731520" y="2560320"/>
            <a:ext cx="1645920"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Network (L3)</a:t>
            </a:r>
            <a:endParaRPr lang="en-US" sz="1000" dirty="0"/>
          </a:p>
        </p:txBody>
      </p:sp>
      <p:sp>
        <p:nvSpPr>
          <p:cNvPr id="19" name="Shape 17"/>
          <p:cNvSpPr/>
          <p:nvPr/>
        </p:nvSpPr>
        <p:spPr>
          <a:xfrm>
            <a:off x="2468880" y="2560320"/>
            <a:ext cx="1463040" cy="658368"/>
          </a:xfrm>
          <a:prstGeom prst="rect">
            <a:avLst/>
          </a:prstGeom>
          <a:solidFill>
            <a:srgbClr val="F0F4F8"/>
          </a:solidFill>
          <a:ln w="6350">
            <a:solidFill>
              <a:srgbClr val="E2E8F0"/>
            </a:solidFill>
            <a:prstDash val="solid"/>
          </a:ln>
        </p:spPr>
        <p:txBody>
          <a:bodyPr/>
          <a:lstStyle/>
          <a:p>
            <a:endParaRPr lang="en-SG"/>
          </a:p>
        </p:txBody>
      </p:sp>
      <p:sp>
        <p:nvSpPr>
          <p:cNvPr id="20" name="Text 18"/>
          <p:cNvSpPr/>
          <p:nvPr/>
        </p:nvSpPr>
        <p:spPr>
          <a:xfrm>
            <a:off x="2468880" y="2560320"/>
            <a:ext cx="1463040" cy="65836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IPv4 / IPv6</a:t>
            </a:r>
            <a:endParaRPr lang="en-US" sz="1000" dirty="0"/>
          </a:p>
        </p:txBody>
      </p:sp>
      <p:sp>
        <p:nvSpPr>
          <p:cNvPr id="21" name="Shape 19"/>
          <p:cNvSpPr/>
          <p:nvPr/>
        </p:nvSpPr>
        <p:spPr>
          <a:xfrm>
            <a:off x="4023360" y="2560320"/>
            <a:ext cx="1645920" cy="658368"/>
          </a:xfrm>
          <a:prstGeom prst="rect">
            <a:avLst/>
          </a:prstGeom>
          <a:solidFill>
            <a:srgbClr val="F0F4F8"/>
          </a:solidFill>
          <a:ln w="6350">
            <a:solidFill>
              <a:srgbClr val="E2E8F0"/>
            </a:solidFill>
            <a:prstDash val="solid"/>
          </a:ln>
        </p:spPr>
        <p:txBody>
          <a:bodyPr/>
          <a:lstStyle/>
          <a:p>
            <a:endParaRPr lang="en-SG"/>
          </a:p>
        </p:txBody>
      </p:sp>
      <p:sp>
        <p:nvSpPr>
          <p:cNvPr id="22" name="Text 20"/>
          <p:cNvSpPr/>
          <p:nvPr/>
        </p:nvSpPr>
        <p:spPr>
          <a:xfrm>
            <a:off x="4023360" y="2560320"/>
            <a:ext cx="1645920" cy="65836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ARP / ICMP</a:t>
            </a:r>
            <a:endParaRPr lang="en-US" sz="1000" dirty="0"/>
          </a:p>
        </p:txBody>
      </p:sp>
      <p:sp>
        <p:nvSpPr>
          <p:cNvPr id="23" name="Text 21"/>
          <p:cNvSpPr/>
          <p:nvPr/>
        </p:nvSpPr>
        <p:spPr>
          <a:xfrm>
            <a:off x="5852160" y="2560320"/>
            <a:ext cx="2926080" cy="65836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Standard IP networking — AUTOSAR provides the TCP/IP stack</a:t>
            </a:r>
            <a:endParaRPr lang="en-US" sz="1000" dirty="0"/>
          </a:p>
        </p:txBody>
      </p:sp>
      <p:sp>
        <p:nvSpPr>
          <p:cNvPr id="24" name="Shape 22"/>
          <p:cNvSpPr/>
          <p:nvPr/>
        </p:nvSpPr>
        <p:spPr>
          <a:xfrm>
            <a:off x="731520" y="3337560"/>
            <a:ext cx="1645920" cy="658368"/>
          </a:xfrm>
          <a:prstGeom prst="rect">
            <a:avLst/>
          </a:prstGeom>
          <a:solidFill>
            <a:srgbClr val="0F6E56"/>
          </a:solidFill>
          <a:ln/>
        </p:spPr>
        <p:txBody>
          <a:bodyPr/>
          <a:lstStyle/>
          <a:p>
            <a:endParaRPr lang="en-SG"/>
          </a:p>
        </p:txBody>
      </p:sp>
      <p:sp>
        <p:nvSpPr>
          <p:cNvPr id="25" name="Text 23"/>
          <p:cNvSpPr/>
          <p:nvPr/>
        </p:nvSpPr>
        <p:spPr>
          <a:xfrm>
            <a:off x="731520" y="3337560"/>
            <a:ext cx="1645920"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Data link (L2)</a:t>
            </a:r>
            <a:endParaRPr lang="en-US" sz="1000" dirty="0"/>
          </a:p>
        </p:txBody>
      </p:sp>
      <p:sp>
        <p:nvSpPr>
          <p:cNvPr id="26" name="Shape 24"/>
          <p:cNvSpPr/>
          <p:nvPr/>
        </p:nvSpPr>
        <p:spPr>
          <a:xfrm>
            <a:off x="2468880" y="3337560"/>
            <a:ext cx="1463040" cy="658368"/>
          </a:xfrm>
          <a:prstGeom prst="rect">
            <a:avLst/>
          </a:prstGeom>
          <a:solidFill>
            <a:srgbClr val="F0F4F8"/>
          </a:solidFill>
          <a:ln w="6350">
            <a:solidFill>
              <a:srgbClr val="E2E8F0"/>
            </a:solidFill>
            <a:prstDash val="solid"/>
          </a:ln>
        </p:spPr>
        <p:txBody>
          <a:bodyPr/>
          <a:lstStyle/>
          <a:p>
            <a:endParaRPr lang="en-SG"/>
          </a:p>
        </p:txBody>
      </p:sp>
      <p:sp>
        <p:nvSpPr>
          <p:cNvPr id="27" name="Text 25"/>
          <p:cNvSpPr/>
          <p:nvPr/>
        </p:nvSpPr>
        <p:spPr>
          <a:xfrm>
            <a:off x="2468880" y="3337560"/>
            <a:ext cx="1463040" cy="65836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Ethernet MAC</a:t>
            </a:r>
            <a:endParaRPr lang="en-US" sz="1000" dirty="0"/>
          </a:p>
        </p:txBody>
      </p:sp>
      <p:sp>
        <p:nvSpPr>
          <p:cNvPr id="28" name="Shape 26"/>
          <p:cNvSpPr/>
          <p:nvPr/>
        </p:nvSpPr>
        <p:spPr>
          <a:xfrm>
            <a:off x="4023360" y="3337560"/>
            <a:ext cx="1645920" cy="658368"/>
          </a:xfrm>
          <a:prstGeom prst="rect">
            <a:avLst/>
          </a:prstGeom>
          <a:solidFill>
            <a:srgbClr val="F0F4F8"/>
          </a:solidFill>
          <a:ln w="6350">
            <a:solidFill>
              <a:srgbClr val="E2E8F0"/>
            </a:solidFill>
            <a:prstDash val="solid"/>
          </a:ln>
        </p:spPr>
        <p:txBody>
          <a:bodyPr/>
          <a:lstStyle/>
          <a:p>
            <a:endParaRPr lang="en-SG"/>
          </a:p>
        </p:txBody>
      </p:sp>
      <p:sp>
        <p:nvSpPr>
          <p:cNvPr id="29" name="Text 27"/>
          <p:cNvSpPr/>
          <p:nvPr/>
        </p:nvSpPr>
        <p:spPr>
          <a:xfrm>
            <a:off x="4023360" y="3337560"/>
            <a:ext cx="1645920" cy="65836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802.1Q VLAN</a:t>
            </a:r>
            <a:endParaRPr lang="en-US" sz="1000" dirty="0"/>
          </a:p>
          <a:p>
            <a:pPr marL="0" indent="0" algn="ctr">
              <a:buNone/>
            </a:pPr>
            <a:r>
              <a:rPr lang="en-US" sz="1000" b="1" dirty="0">
                <a:solidFill>
                  <a:srgbClr val="1E293B"/>
                </a:solidFill>
                <a:latin typeface="Calibri" pitchFamily="34" charset="0"/>
                <a:ea typeface="Calibri" pitchFamily="34" charset="-122"/>
                <a:cs typeface="Calibri" pitchFamily="34" charset="-120"/>
              </a:rPr>
              <a:t>802.1AS (gPTP)</a:t>
            </a:r>
            <a:endParaRPr lang="en-US" sz="1000" dirty="0"/>
          </a:p>
          <a:p>
            <a:pPr marL="0" indent="0" algn="ctr">
              <a:buNone/>
            </a:pPr>
            <a:r>
              <a:rPr lang="en-US" sz="1000" b="1" dirty="0">
                <a:solidFill>
                  <a:srgbClr val="1E293B"/>
                </a:solidFill>
                <a:latin typeface="Calibri" pitchFamily="34" charset="0"/>
                <a:ea typeface="Calibri" pitchFamily="34" charset="-122"/>
                <a:cs typeface="Calibri" pitchFamily="34" charset="-120"/>
              </a:rPr>
              <a:t>802.1Qbv (TAS)</a:t>
            </a:r>
            <a:endParaRPr lang="en-US" sz="1000" dirty="0"/>
          </a:p>
        </p:txBody>
      </p:sp>
      <p:sp>
        <p:nvSpPr>
          <p:cNvPr id="30" name="Text 28"/>
          <p:cNvSpPr/>
          <p:nvPr/>
        </p:nvSpPr>
        <p:spPr>
          <a:xfrm>
            <a:off x="5852160" y="3337560"/>
            <a:ext cx="2926080" cy="65836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MAC framing + time-sensitive networking extensions</a:t>
            </a:r>
            <a:endParaRPr lang="en-US" sz="1000" dirty="0"/>
          </a:p>
        </p:txBody>
      </p:sp>
      <p:sp>
        <p:nvSpPr>
          <p:cNvPr id="31" name="Shape 29"/>
          <p:cNvSpPr/>
          <p:nvPr/>
        </p:nvSpPr>
        <p:spPr>
          <a:xfrm>
            <a:off x="731520" y="4114800"/>
            <a:ext cx="1645920" cy="658368"/>
          </a:xfrm>
          <a:prstGeom prst="rect">
            <a:avLst/>
          </a:prstGeom>
          <a:solidFill>
            <a:srgbClr val="0F6E56"/>
          </a:solidFill>
          <a:ln/>
        </p:spPr>
        <p:txBody>
          <a:bodyPr/>
          <a:lstStyle/>
          <a:p>
            <a:endParaRPr lang="en-SG"/>
          </a:p>
        </p:txBody>
      </p:sp>
      <p:sp>
        <p:nvSpPr>
          <p:cNvPr id="32" name="Text 30"/>
          <p:cNvSpPr/>
          <p:nvPr/>
        </p:nvSpPr>
        <p:spPr>
          <a:xfrm>
            <a:off x="731520" y="4114800"/>
            <a:ext cx="1645920" cy="65836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Physical (L1)</a:t>
            </a:r>
            <a:endParaRPr lang="en-US" sz="1000" dirty="0"/>
          </a:p>
        </p:txBody>
      </p:sp>
      <p:sp>
        <p:nvSpPr>
          <p:cNvPr id="33" name="Shape 31"/>
          <p:cNvSpPr/>
          <p:nvPr/>
        </p:nvSpPr>
        <p:spPr>
          <a:xfrm>
            <a:off x="2468880" y="4114800"/>
            <a:ext cx="1463040" cy="658368"/>
          </a:xfrm>
          <a:prstGeom prst="rect">
            <a:avLst/>
          </a:prstGeom>
          <a:solidFill>
            <a:srgbClr val="F0F4F8"/>
          </a:solidFill>
          <a:ln w="6350">
            <a:solidFill>
              <a:srgbClr val="E2E8F0"/>
            </a:solidFill>
            <a:prstDash val="solid"/>
          </a:ln>
        </p:spPr>
        <p:txBody>
          <a:bodyPr/>
          <a:lstStyle/>
          <a:p>
            <a:endParaRPr lang="en-SG"/>
          </a:p>
        </p:txBody>
      </p:sp>
      <p:sp>
        <p:nvSpPr>
          <p:cNvPr id="34" name="Text 32"/>
          <p:cNvSpPr/>
          <p:nvPr/>
        </p:nvSpPr>
        <p:spPr>
          <a:xfrm>
            <a:off x="2468880" y="4114800"/>
            <a:ext cx="1463040" cy="65836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100BASE-T1</a:t>
            </a:r>
            <a:endParaRPr lang="en-US" sz="1000" dirty="0"/>
          </a:p>
          <a:p>
            <a:pPr marL="0" indent="0" algn="ctr">
              <a:buNone/>
            </a:pPr>
            <a:r>
              <a:rPr lang="en-US" sz="1000" b="1" dirty="0">
                <a:solidFill>
                  <a:srgbClr val="1E293B"/>
                </a:solidFill>
                <a:latin typeface="Calibri" pitchFamily="34" charset="0"/>
                <a:ea typeface="Calibri" pitchFamily="34" charset="-122"/>
                <a:cs typeface="Calibri" pitchFamily="34" charset="-120"/>
              </a:rPr>
              <a:t>(BroadR-Reach)</a:t>
            </a:r>
            <a:endParaRPr lang="en-US" sz="1000" dirty="0"/>
          </a:p>
        </p:txBody>
      </p:sp>
      <p:sp>
        <p:nvSpPr>
          <p:cNvPr id="35" name="Shape 33"/>
          <p:cNvSpPr/>
          <p:nvPr/>
        </p:nvSpPr>
        <p:spPr>
          <a:xfrm>
            <a:off x="4023360" y="4114800"/>
            <a:ext cx="1645920" cy="658368"/>
          </a:xfrm>
          <a:prstGeom prst="rect">
            <a:avLst/>
          </a:prstGeom>
          <a:solidFill>
            <a:srgbClr val="F0F4F8"/>
          </a:solidFill>
          <a:ln w="6350">
            <a:solidFill>
              <a:srgbClr val="E2E8F0"/>
            </a:solidFill>
            <a:prstDash val="solid"/>
          </a:ln>
        </p:spPr>
        <p:txBody>
          <a:bodyPr/>
          <a:lstStyle/>
          <a:p>
            <a:endParaRPr lang="en-SG"/>
          </a:p>
        </p:txBody>
      </p:sp>
      <p:sp>
        <p:nvSpPr>
          <p:cNvPr id="36" name="Text 34"/>
          <p:cNvSpPr/>
          <p:nvPr/>
        </p:nvSpPr>
        <p:spPr>
          <a:xfrm>
            <a:off x="4023360" y="4114800"/>
            <a:ext cx="1645920" cy="65836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1000BASE-T1</a:t>
            </a:r>
            <a:endParaRPr lang="en-US" sz="1000" dirty="0"/>
          </a:p>
          <a:p>
            <a:pPr marL="0" indent="0" algn="ctr">
              <a:buNone/>
            </a:pPr>
            <a:r>
              <a:rPr lang="en-US" sz="1000" b="1" dirty="0">
                <a:solidFill>
                  <a:srgbClr val="1E293B"/>
                </a:solidFill>
                <a:latin typeface="Calibri" pitchFamily="34" charset="0"/>
                <a:ea typeface="Calibri" pitchFamily="34" charset="-122"/>
                <a:cs typeface="Calibri" pitchFamily="34" charset="-120"/>
              </a:rPr>
              <a:t>(Multi-Gig)</a:t>
            </a:r>
            <a:endParaRPr lang="en-US" sz="1000" dirty="0"/>
          </a:p>
        </p:txBody>
      </p:sp>
      <p:sp>
        <p:nvSpPr>
          <p:cNvPr id="37" name="Text 35"/>
          <p:cNvSpPr/>
          <p:nvPr/>
        </p:nvSpPr>
        <p:spPr>
          <a:xfrm>
            <a:off x="5852160" y="4114800"/>
            <a:ext cx="2926080" cy="65836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Single unshielded twisted pair — automotive-specific PHY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D4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F9F27"/>
          </a:solidFill>
          <a:ln/>
        </p:spPr>
        <p:txBody>
          <a:bodyPr/>
          <a:lstStyle/>
          <a:p>
            <a:endParaRPr lang="en-SG"/>
          </a:p>
        </p:txBody>
      </p:sp>
      <p:sp>
        <p:nvSpPr>
          <p:cNvPr id="3" name="Text 1"/>
          <p:cNvSpPr/>
          <p:nvPr/>
        </p:nvSpPr>
        <p:spPr>
          <a:xfrm>
            <a:off x="731520" y="1371600"/>
            <a:ext cx="1097280" cy="731520"/>
          </a:xfrm>
          <a:prstGeom prst="rect">
            <a:avLst/>
          </a:prstGeom>
          <a:noFill/>
          <a:ln/>
        </p:spPr>
        <p:txBody>
          <a:bodyPr wrap="square" lIns="0" tIns="0" rIns="0" bIns="0" rtlCol="0" anchor="ctr"/>
          <a:lstStyle/>
          <a:p>
            <a:pPr marL="0" indent="0">
              <a:buNone/>
            </a:pPr>
            <a:r>
              <a:rPr lang="en-US" sz="4800" b="1" dirty="0">
                <a:solidFill>
                  <a:srgbClr val="EF9F27"/>
                </a:solidFill>
                <a:latin typeface="Calibri" pitchFamily="34" charset="0"/>
                <a:ea typeface="Calibri" pitchFamily="34" charset="-122"/>
                <a:cs typeface="Calibri" pitchFamily="34" charset="-120"/>
              </a:rPr>
              <a:t>03</a:t>
            </a:r>
            <a:endParaRPr lang="en-US" sz="4800" dirty="0"/>
          </a:p>
        </p:txBody>
      </p:sp>
      <p:sp>
        <p:nvSpPr>
          <p:cNvPr id="4" name="Text 2"/>
          <p:cNvSpPr/>
          <p:nvPr/>
        </p:nvSpPr>
        <p:spPr>
          <a:xfrm>
            <a:off x="731520" y="2194560"/>
            <a:ext cx="6400800" cy="91440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IEEE 802 family</a:t>
            </a:r>
            <a:endParaRPr lang="en-US" sz="3200" dirty="0"/>
          </a:p>
          <a:p>
            <a:pPr marL="0" indent="0">
              <a:buNone/>
            </a:pPr>
            <a:r>
              <a:rPr lang="en-US" sz="3200" b="1" dirty="0">
                <a:solidFill>
                  <a:srgbClr val="FFFFFF"/>
                </a:solidFill>
                <a:latin typeface="Calibri" pitchFamily="34" charset="0"/>
                <a:ea typeface="Calibri" pitchFamily="34" charset="-122"/>
                <a:cs typeface="Calibri" pitchFamily="34" charset="-120"/>
              </a:rPr>
              <a:t>structure</a:t>
            </a:r>
            <a:endParaRPr lang="en-US" sz="3200" dirty="0"/>
          </a:p>
        </p:txBody>
      </p:sp>
      <p:sp>
        <p:nvSpPr>
          <p:cNvPr id="5" name="Text 3"/>
          <p:cNvSpPr/>
          <p:nvPr/>
        </p:nvSpPr>
        <p:spPr>
          <a:xfrm>
            <a:off x="731520" y="3291840"/>
            <a:ext cx="5486400" cy="36576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Ethernet, bridging, and automotive PHY standards  •  25 minutes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28600"/>
            <a:ext cx="7315200" cy="41148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IEEE 802 family structure</a:t>
            </a:r>
            <a:endParaRPr lang="en-US" sz="2800" dirty="0"/>
          </a:p>
        </p:txBody>
      </p:sp>
      <p:sp>
        <p:nvSpPr>
          <p:cNvPr id="3" name="Text 1"/>
          <p:cNvSpPr/>
          <p:nvPr/>
        </p:nvSpPr>
        <p:spPr>
          <a:xfrm>
            <a:off x="731520" y="640080"/>
            <a:ext cx="7315200" cy="2743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IEEE 802 defines LAN/MAN standards — Layers 1 and 2 of the OSI model</a:t>
            </a:r>
            <a:endParaRPr lang="en-US" sz="1200" dirty="0"/>
          </a:p>
        </p:txBody>
      </p:sp>
      <p:sp>
        <p:nvSpPr>
          <p:cNvPr id="4" name="Shape 2"/>
          <p:cNvSpPr/>
          <p:nvPr/>
        </p:nvSpPr>
        <p:spPr>
          <a:xfrm>
            <a:off x="3200400" y="1005840"/>
            <a:ext cx="2743200" cy="502920"/>
          </a:xfrm>
          <a:prstGeom prst="rect">
            <a:avLst/>
          </a:prstGeom>
          <a:solidFill>
            <a:srgbClr val="0F1B2D"/>
          </a:solidFill>
          <a:ln/>
          <a:effectLst>
            <a:outerShdw blurRad="50800" dist="25400" dir="8100000" algn="bl" rotWithShape="0">
              <a:srgbClr val="000000">
                <a:alpha val="12000"/>
              </a:srgbClr>
            </a:outerShdw>
          </a:effectLst>
        </p:spPr>
        <p:txBody>
          <a:bodyPr/>
          <a:lstStyle/>
          <a:p>
            <a:endParaRPr lang="en-SG"/>
          </a:p>
        </p:txBody>
      </p:sp>
      <p:sp>
        <p:nvSpPr>
          <p:cNvPr id="5" name="Text 3"/>
          <p:cNvSpPr/>
          <p:nvPr/>
        </p:nvSpPr>
        <p:spPr>
          <a:xfrm>
            <a:off x="3200400" y="1005840"/>
            <a:ext cx="274320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IEEE 802 — LAN/MAN Standards</a:t>
            </a:r>
            <a:endParaRPr lang="en-US" sz="1100" dirty="0"/>
          </a:p>
        </p:txBody>
      </p:sp>
      <p:sp>
        <p:nvSpPr>
          <p:cNvPr id="6" name="Shape 4"/>
          <p:cNvSpPr/>
          <p:nvPr/>
        </p:nvSpPr>
        <p:spPr>
          <a:xfrm>
            <a:off x="274320" y="2011680"/>
            <a:ext cx="1280160" cy="822960"/>
          </a:xfrm>
          <a:prstGeom prst="rect">
            <a:avLst/>
          </a:prstGeom>
          <a:solidFill>
            <a:srgbClr val="F0F4F8"/>
          </a:solidFill>
          <a:ln w="19050">
            <a:solidFill>
              <a:srgbClr val="534AB7"/>
            </a:solidFill>
            <a:prstDash val="solid"/>
          </a:ln>
        </p:spPr>
        <p:txBody>
          <a:bodyPr/>
          <a:lstStyle/>
          <a:p>
            <a:endParaRPr lang="en-SG"/>
          </a:p>
        </p:txBody>
      </p:sp>
      <p:sp>
        <p:nvSpPr>
          <p:cNvPr id="7" name="Text 5"/>
          <p:cNvSpPr/>
          <p:nvPr/>
        </p:nvSpPr>
        <p:spPr>
          <a:xfrm>
            <a:off x="274320" y="2057400"/>
            <a:ext cx="1280160" cy="320040"/>
          </a:xfrm>
          <a:prstGeom prst="rect">
            <a:avLst/>
          </a:prstGeom>
          <a:noFill/>
          <a:ln/>
        </p:spPr>
        <p:txBody>
          <a:bodyPr wrap="square" lIns="0" tIns="0" rIns="0" bIns="0" rtlCol="0" anchor="ctr"/>
          <a:lstStyle/>
          <a:p>
            <a:pPr marL="0" indent="0" algn="ctr">
              <a:buNone/>
            </a:pPr>
            <a:r>
              <a:rPr lang="en-US" sz="1300" b="1" dirty="0">
                <a:solidFill>
                  <a:srgbClr val="534AB7"/>
                </a:solidFill>
                <a:latin typeface="Calibri" pitchFamily="34" charset="0"/>
                <a:ea typeface="Calibri" pitchFamily="34" charset="-122"/>
                <a:cs typeface="Calibri" pitchFamily="34" charset="-120"/>
              </a:rPr>
              <a:t>802.1</a:t>
            </a:r>
            <a:endParaRPr lang="en-US" sz="1300" dirty="0"/>
          </a:p>
        </p:txBody>
      </p:sp>
      <p:sp>
        <p:nvSpPr>
          <p:cNvPr id="8" name="Text 6"/>
          <p:cNvSpPr/>
          <p:nvPr/>
        </p:nvSpPr>
        <p:spPr>
          <a:xfrm>
            <a:off x="274320" y="2377440"/>
            <a:ext cx="1280160" cy="411480"/>
          </a:xfrm>
          <a:prstGeom prst="rect">
            <a:avLst/>
          </a:prstGeom>
          <a:noFill/>
          <a:ln/>
        </p:spPr>
        <p:txBody>
          <a:bodyPr wrap="square" lIns="0" tIns="0" rIns="0" bIns="0"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Bridging</a:t>
            </a:r>
            <a:endParaRPr lang="en-US" sz="900" dirty="0"/>
          </a:p>
          <a:p>
            <a:pPr marL="0" indent="0" algn="ctr">
              <a:buNone/>
            </a:pPr>
            <a:r>
              <a:rPr lang="en-US" sz="900" dirty="0">
                <a:solidFill>
                  <a:srgbClr val="475569"/>
                </a:solidFill>
                <a:latin typeface="Calibri" pitchFamily="34" charset="0"/>
                <a:ea typeface="Calibri" pitchFamily="34" charset="-122"/>
                <a:cs typeface="Calibri" pitchFamily="34" charset="-120"/>
              </a:rPr>
              <a:t>&amp; Mgmt</a:t>
            </a:r>
            <a:endParaRPr lang="en-US" sz="900" dirty="0"/>
          </a:p>
        </p:txBody>
      </p:sp>
      <p:sp>
        <p:nvSpPr>
          <p:cNvPr id="9" name="Shape 7"/>
          <p:cNvSpPr/>
          <p:nvPr/>
        </p:nvSpPr>
        <p:spPr>
          <a:xfrm>
            <a:off x="914400" y="1508760"/>
            <a:ext cx="0" cy="502920"/>
          </a:xfrm>
          <a:prstGeom prst="line">
            <a:avLst/>
          </a:prstGeom>
          <a:noFill/>
          <a:ln w="9525">
            <a:solidFill>
              <a:srgbClr val="E2E8F0"/>
            </a:solidFill>
            <a:prstDash val="solid"/>
          </a:ln>
        </p:spPr>
        <p:txBody>
          <a:bodyPr/>
          <a:lstStyle/>
          <a:p>
            <a:endParaRPr lang="en-SG"/>
          </a:p>
        </p:txBody>
      </p:sp>
      <p:sp>
        <p:nvSpPr>
          <p:cNvPr id="10" name="Shape 8"/>
          <p:cNvSpPr/>
          <p:nvPr/>
        </p:nvSpPr>
        <p:spPr>
          <a:xfrm>
            <a:off x="1828800" y="2011680"/>
            <a:ext cx="1280160" cy="822960"/>
          </a:xfrm>
          <a:prstGeom prst="rect">
            <a:avLst/>
          </a:prstGeom>
          <a:solidFill>
            <a:srgbClr val="F0F4F8"/>
          </a:solidFill>
          <a:ln w="19050">
            <a:solidFill>
              <a:srgbClr val="0F6E56"/>
            </a:solidFill>
            <a:prstDash val="solid"/>
          </a:ln>
        </p:spPr>
        <p:txBody>
          <a:bodyPr/>
          <a:lstStyle/>
          <a:p>
            <a:endParaRPr lang="en-SG"/>
          </a:p>
        </p:txBody>
      </p:sp>
      <p:sp>
        <p:nvSpPr>
          <p:cNvPr id="11" name="Text 9"/>
          <p:cNvSpPr/>
          <p:nvPr/>
        </p:nvSpPr>
        <p:spPr>
          <a:xfrm>
            <a:off x="1828800" y="2057400"/>
            <a:ext cx="1280160" cy="320040"/>
          </a:xfrm>
          <a:prstGeom prst="rect">
            <a:avLst/>
          </a:prstGeom>
          <a:noFill/>
          <a:ln/>
        </p:spPr>
        <p:txBody>
          <a:bodyPr wrap="square" lIns="0" tIns="0" rIns="0" bIns="0" rtlCol="0" anchor="ctr"/>
          <a:lstStyle/>
          <a:p>
            <a:pPr marL="0" indent="0" algn="ctr">
              <a:buNone/>
            </a:pPr>
            <a:r>
              <a:rPr lang="en-US" sz="1300" b="1" dirty="0">
                <a:solidFill>
                  <a:srgbClr val="0F6E56"/>
                </a:solidFill>
                <a:latin typeface="Calibri" pitchFamily="34" charset="0"/>
                <a:ea typeface="Calibri" pitchFamily="34" charset="-122"/>
                <a:cs typeface="Calibri" pitchFamily="34" charset="-120"/>
              </a:rPr>
              <a:t>802.3</a:t>
            </a:r>
            <a:endParaRPr lang="en-US" sz="1300" dirty="0"/>
          </a:p>
        </p:txBody>
      </p:sp>
      <p:sp>
        <p:nvSpPr>
          <p:cNvPr id="12" name="Text 10"/>
          <p:cNvSpPr/>
          <p:nvPr/>
        </p:nvSpPr>
        <p:spPr>
          <a:xfrm>
            <a:off x="1828800" y="2377440"/>
            <a:ext cx="1280160" cy="411480"/>
          </a:xfrm>
          <a:prstGeom prst="rect">
            <a:avLst/>
          </a:prstGeom>
          <a:noFill/>
          <a:ln/>
        </p:spPr>
        <p:txBody>
          <a:bodyPr wrap="square" lIns="0" tIns="0" rIns="0" bIns="0"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Ethernet</a:t>
            </a:r>
            <a:endParaRPr lang="en-US" sz="900" dirty="0"/>
          </a:p>
        </p:txBody>
      </p:sp>
      <p:sp>
        <p:nvSpPr>
          <p:cNvPr id="13" name="Shape 11"/>
          <p:cNvSpPr/>
          <p:nvPr/>
        </p:nvSpPr>
        <p:spPr>
          <a:xfrm>
            <a:off x="2468880" y="1508760"/>
            <a:ext cx="0" cy="502920"/>
          </a:xfrm>
          <a:prstGeom prst="line">
            <a:avLst/>
          </a:prstGeom>
          <a:noFill/>
          <a:ln w="9525">
            <a:solidFill>
              <a:srgbClr val="E2E8F0"/>
            </a:solidFill>
            <a:prstDash val="solid"/>
          </a:ln>
        </p:spPr>
        <p:txBody>
          <a:bodyPr/>
          <a:lstStyle/>
          <a:p>
            <a:endParaRPr lang="en-SG"/>
          </a:p>
        </p:txBody>
      </p:sp>
      <p:sp>
        <p:nvSpPr>
          <p:cNvPr id="14" name="Shape 12"/>
          <p:cNvSpPr/>
          <p:nvPr/>
        </p:nvSpPr>
        <p:spPr>
          <a:xfrm>
            <a:off x="3383280" y="2011680"/>
            <a:ext cx="1280160" cy="822960"/>
          </a:xfrm>
          <a:prstGeom prst="rect">
            <a:avLst/>
          </a:prstGeom>
          <a:solidFill>
            <a:srgbClr val="FFFFFF"/>
          </a:solidFill>
          <a:ln w="9525">
            <a:solidFill>
              <a:srgbClr val="E2E8F0"/>
            </a:solidFill>
            <a:prstDash val="solid"/>
          </a:ln>
        </p:spPr>
        <p:txBody>
          <a:bodyPr/>
          <a:lstStyle/>
          <a:p>
            <a:endParaRPr lang="en-SG"/>
          </a:p>
        </p:txBody>
      </p:sp>
      <p:sp>
        <p:nvSpPr>
          <p:cNvPr id="15" name="Text 13"/>
          <p:cNvSpPr/>
          <p:nvPr/>
        </p:nvSpPr>
        <p:spPr>
          <a:xfrm>
            <a:off x="3383280" y="2057400"/>
            <a:ext cx="1280160" cy="320040"/>
          </a:xfrm>
          <a:prstGeom prst="rect">
            <a:avLst/>
          </a:prstGeom>
          <a:noFill/>
          <a:ln/>
        </p:spPr>
        <p:txBody>
          <a:bodyPr wrap="square" lIns="0" tIns="0" rIns="0" bIns="0" rtlCol="0" anchor="ctr"/>
          <a:lstStyle/>
          <a:p>
            <a:pPr marL="0" indent="0" algn="ctr">
              <a:buNone/>
            </a:pPr>
            <a:r>
              <a:rPr lang="en-US" sz="1300" b="1" dirty="0">
                <a:solidFill>
                  <a:srgbClr val="94A3B8"/>
                </a:solidFill>
                <a:latin typeface="Calibri" pitchFamily="34" charset="0"/>
                <a:ea typeface="Calibri" pitchFamily="34" charset="-122"/>
                <a:cs typeface="Calibri" pitchFamily="34" charset="-120"/>
              </a:rPr>
              <a:t>802.11</a:t>
            </a:r>
            <a:endParaRPr lang="en-US" sz="1300" dirty="0"/>
          </a:p>
        </p:txBody>
      </p:sp>
      <p:sp>
        <p:nvSpPr>
          <p:cNvPr id="16" name="Text 14"/>
          <p:cNvSpPr/>
          <p:nvPr/>
        </p:nvSpPr>
        <p:spPr>
          <a:xfrm>
            <a:off x="3383280" y="2377440"/>
            <a:ext cx="1280160" cy="411480"/>
          </a:xfrm>
          <a:prstGeom prst="rect">
            <a:avLst/>
          </a:prstGeom>
          <a:noFill/>
          <a:ln/>
        </p:spPr>
        <p:txBody>
          <a:bodyPr wrap="square" lIns="0" tIns="0" rIns="0" bIns="0"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Wi-Fi</a:t>
            </a:r>
            <a:endParaRPr lang="en-US" sz="900" dirty="0"/>
          </a:p>
        </p:txBody>
      </p:sp>
      <p:sp>
        <p:nvSpPr>
          <p:cNvPr id="17" name="Shape 15"/>
          <p:cNvSpPr/>
          <p:nvPr/>
        </p:nvSpPr>
        <p:spPr>
          <a:xfrm>
            <a:off x="4023360" y="1508760"/>
            <a:ext cx="0" cy="502920"/>
          </a:xfrm>
          <a:prstGeom prst="line">
            <a:avLst/>
          </a:prstGeom>
          <a:noFill/>
          <a:ln w="9525">
            <a:solidFill>
              <a:srgbClr val="E2E8F0"/>
            </a:solidFill>
            <a:prstDash val="solid"/>
          </a:ln>
        </p:spPr>
        <p:txBody>
          <a:bodyPr/>
          <a:lstStyle/>
          <a:p>
            <a:endParaRPr lang="en-SG"/>
          </a:p>
        </p:txBody>
      </p:sp>
      <p:sp>
        <p:nvSpPr>
          <p:cNvPr id="18" name="Shape 16"/>
          <p:cNvSpPr/>
          <p:nvPr/>
        </p:nvSpPr>
        <p:spPr>
          <a:xfrm>
            <a:off x="4937760" y="2011680"/>
            <a:ext cx="1280160" cy="822960"/>
          </a:xfrm>
          <a:prstGeom prst="rect">
            <a:avLst/>
          </a:prstGeom>
          <a:solidFill>
            <a:srgbClr val="FFFFFF"/>
          </a:solidFill>
          <a:ln w="9525">
            <a:solidFill>
              <a:srgbClr val="E2E8F0"/>
            </a:solidFill>
            <a:prstDash val="solid"/>
          </a:ln>
        </p:spPr>
        <p:txBody>
          <a:bodyPr/>
          <a:lstStyle/>
          <a:p>
            <a:endParaRPr lang="en-SG"/>
          </a:p>
        </p:txBody>
      </p:sp>
      <p:sp>
        <p:nvSpPr>
          <p:cNvPr id="19" name="Text 17"/>
          <p:cNvSpPr/>
          <p:nvPr/>
        </p:nvSpPr>
        <p:spPr>
          <a:xfrm>
            <a:off x="4937760" y="2057400"/>
            <a:ext cx="1280160" cy="320040"/>
          </a:xfrm>
          <a:prstGeom prst="rect">
            <a:avLst/>
          </a:prstGeom>
          <a:noFill/>
          <a:ln/>
        </p:spPr>
        <p:txBody>
          <a:bodyPr wrap="square" lIns="0" tIns="0" rIns="0" bIns="0" rtlCol="0" anchor="ctr"/>
          <a:lstStyle/>
          <a:p>
            <a:pPr marL="0" indent="0" algn="ctr">
              <a:buNone/>
            </a:pPr>
            <a:r>
              <a:rPr lang="en-US" sz="1300" b="1" dirty="0">
                <a:solidFill>
                  <a:srgbClr val="94A3B8"/>
                </a:solidFill>
                <a:latin typeface="Calibri" pitchFamily="34" charset="0"/>
                <a:ea typeface="Calibri" pitchFamily="34" charset="-122"/>
                <a:cs typeface="Calibri" pitchFamily="34" charset="-120"/>
              </a:rPr>
              <a:t>802.15</a:t>
            </a:r>
            <a:endParaRPr lang="en-US" sz="1300" dirty="0"/>
          </a:p>
        </p:txBody>
      </p:sp>
      <p:sp>
        <p:nvSpPr>
          <p:cNvPr id="20" name="Text 18"/>
          <p:cNvSpPr/>
          <p:nvPr/>
        </p:nvSpPr>
        <p:spPr>
          <a:xfrm>
            <a:off x="4937760" y="2377440"/>
            <a:ext cx="1280160" cy="411480"/>
          </a:xfrm>
          <a:prstGeom prst="rect">
            <a:avLst/>
          </a:prstGeom>
          <a:noFill/>
          <a:ln/>
        </p:spPr>
        <p:txBody>
          <a:bodyPr wrap="square" lIns="0" tIns="0" rIns="0" bIns="0"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WPAN</a:t>
            </a:r>
            <a:endParaRPr lang="en-US" sz="900" dirty="0"/>
          </a:p>
          <a:p>
            <a:pPr marL="0" indent="0" algn="ctr">
              <a:buNone/>
            </a:pPr>
            <a:r>
              <a:rPr lang="en-US" sz="900" dirty="0">
                <a:solidFill>
                  <a:srgbClr val="475569"/>
                </a:solidFill>
                <a:latin typeface="Calibri" pitchFamily="34" charset="0"/>
                <a:ea typeface="Calibri" pitchFamily="34" charset="-122"/>
                <a:cs typeface="Calibri" pitchFamily="34" charset="-120"/>
              </a:rPr>
              <a:t>(BLE, Zigbee)</a:t>
            </a:r>
            <a:endParaRPr lang="en-US" sz="900" dirty="0"/>
          </a:p>
        </p:txBody>
      </p:sp>
      <p:sp>
        <p:nvSpPr>
          <p:cNvPr id="21" name="Shape 19"/>
          <p:cNvSpPr/>
          <p:nvPr/>
        </p:nvSpPr>
        <p:spPr>
          <a:xfrm>
            <a:off x="5577840" y="1508760"/>
            <a:ext cx="0" cy="502920"/>
          </a:xfrm>
          <a:prstGeom prst="line">
            <a:avLst/>
          </a:prstGeom>
          <a:noFill/>
          <a:ln w="9525">
            <a:solidFill>
              <a:srgbClr val="E2E8F0"/>
            </a:solidFill>
            <a:prstDash val="solid"/>
          </a:ln>
        </p:spPr>
        <p:txBody>
          <a:bodyPr/>
          <a:lstStyle/>
          <a:p>
            <a:endParaRPr lang="en-SG"/>
          </a:p>
        </p:txBody>
      </p:sp>
      <p:sp>
        <p:nvSpPr>
          <p:cNvPr id="22" name="Shape 20"/>
          <p:cNvSpPr/>
          <p:nvPr/>
        </p:nvSpPr>
        <p:spPr>
          <a:xfrm>
            <a:off x="6492240" y="2011680"/>
            <a:ext cx="1280160" cy="822960"/>
          </a:xfrm>
          <a:prstGeom prst="rect">
            <a:avLst/>
          </a:prstGeom>
          <a:solidFill>
            <a:srgbClr val="F0F4F8"/>
          </a:solidFill>
          <a:ln w="19050">
            <a:solidFill>
              <a:srgbClr val="065A82"/>
            </a:solidFill>
            <a:prstDash val="solid"/>
          </a:ln>
        </p:spPr>
        <p:txBody>
          <a:bodyPr/>
          <a:lstStyle/>
          <a:p>
            <a:endParaRPr lang="en-SG"/>
          </a:p>
        </p:txBody>
      </p:sp>
      <p:sp>
        <p:nvSpPr>
          <p:cNvPr id="23" name="Text 21"/>
          <p:cNvSpPr/>
          <p:nvPr/>
        </p:nvSpPr>
        <p:spPr>
          <a:xfrm>
            <a:off x="6492240" y="2057400"/>
            <a:ext cx="1280160" cy="320040"/>
          </a:xfrm>
          <a:prstGeom prst="rect">
            <a:avLst/>
          </a:prstGeom>
          <a:noFill/>
          <a:ln/>
        </p:spPr>
        <p:txBody>
          <a:bodyPr wrap="square" lIns="0" tIns="0" rIns="0" bIns="0" rtlCol="0" anchor="ctr"/>
          <a:lstStyle/>
          <a:p>
            <a:pPr marL="0" indent="0" algn="ctr">
              <a:buNone/>
            </a:pPr>
            <a:r>
              <a:rPr lang="en-US" sz="1300" b="1" dirty="0">
                <a:solidFill>
                  <a:srgbClr val="065A82"/>
                </a:solidFill>
                <a:latin typeface="Calibri" pitchFamily="34" charset="0"/>
                <a:ea typeface="Calibri" pitchFamily="34" charset="-122"/>
                <a:cs typeface="Calibri" pitchFamily="34" charset="-120"/>
              </a:rPr>
              <a:t>802.1Q</a:t>
            </a:r>
            <a:endParaRPr lang="en-US" sz="1300" dirty="0"/>
          </a:p>
        </p:txBody>
      </p:sp>
      <p:sp>
        <p:nvSpPr>
          <p:cNvPr id="24" name="Text 22"/>
          <p:cNvSpPr/>
          <p:nvPr/>
        </p:nvSpPr>
        <p:spPr>
          <a:xfrm>
            <a:off x="6492240" y="2377440"/>
            <a:ext cx="1280160" cy="411480"/>
          </a:xfrm>
          <a:prstGeom prst="rect">
            <a:avLst/>
          </a:prstGeom>
          <a:noFill/>
          <a:ln/>
        </p:spPr>
        <p:txBody>
          <a:bodyPr wrap="square" lIns="0" tIns="0" rIns="0" bIns="0"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VLAN</a:t>
            </a:r>
            <a:endParaRPr lang="en-US" sz="900" dirty="0"/>
          </a:p>
          <a:p>
            <a:pPr marL="0" indent="0" algn="ctr">
              <a:buNone/>
            </a:pPr>
            <a:r>
              <a:rPr lang="en-US" sz="900" dirty="0">
                <a:solidFill>
                  <a:srgbClr val="475569"/>
                </a:solidFill>
                <a:latin typeface="Calibri" pitchFamily="34" charset="0"/>
                <a:ea typeface="Calibri" pitchFamily="34" charset="-122"/>
                <a:cs typeface="Calibri" pitchFamily="34" charset="-120"/>
              </a:rPr>
              <a:t>Tagging</a:t>
            </a:r>
            <a:endParaRPr lang="en-US" sz="900" dirty="0"/>
          </a:p>
        </p:txBody>
      </p:sp>
      <p:sp>
        <p:nvSpPr>
          <p:cNvPr id="25" name="Shape 23"/>
          <p:cNvSpPr/>
          <p:nvPr/>
        </p:nvSpPr>
        <p:spPr>
          <a:xfrm>
            <a:off x="7132320" y="1508760"/>
            <a:ext cx="0" cy="502920"/>
          </a:xfrm>
          <a:prstGeom prst="line">
            <a:avLst/>
          </a:prstGeom>
          <a:noFill/>
          <a:ln w="9525">
            <a:solidFill>
              <a:srgbClr val="E2E8F0"/>
            </a:solidFill>
            <a:prstDash val="solid"/>
          </a:ln>
        </p:spPr>
        <p:txBody>
          <a:bodyPr/>
          <a:lstStyle/>
          <a:p>
            <a:endParaRPr lang="en-SG"/>
          </a:p>
        </p:txBody>
      </p:sp>
      <p:sp>
        <p:nvSpPr>
          <p:cNvPr id="26" name="Shape 24"/>
          <p:cNvSpPr/>
          <p:nvPr/>
        </p:nvSpPr>
        <p:spPr>
          <a:xfrm>
            <a:off x="7772400" y="2011680"/>
            <a:ext cx="1280160" cy="822960"/>
          </a:xfrm>
          <a:prstGeom prst="rect">
            <a:avLst/>
          </a:prstGeom>
          <a:solidFill>
            <a:srgbClr val="F0F4F8"/>
          </a:solidFill>
          <a:ln w="19050">
            <a:solidFill>
              <a:srgbClr val="065A82"/>
            </a:solidFill>
            <a:prstDash val="solid"/>
          </a:ln>
        </p:spPr>
        <p:txBody>
          <a:bodyPr/>
          <a:lstStyle/>
          <a:p>
            <a:endParaRPr lang="en-SG"/>
          </a:p>
        </p:txBody>
      </p:sp>
      <p:sp>
        <p:nvSpPr>
          <p:cNvPr id="27" name="Text 25"/>
          <p:cNvSpPr/>
          <p:nvPr/>
        </p:nvSpPr>
        <p:spPr>
          <a:xfrm>
            <a:off x="7772400" y="2057400"/>
            <a:ext cx="1280160" cy="320040"/>
          </a:xfrm>
          <a:prstGeom prst="rect">
            <a:avLst/>
          </a:prstGeom>
          <a:noFill/>
          <a:ln/>
        </p:spPr>
        <p:txBody>
          <a:bodyPr wrap="square" lIns="0" tIns="0" rIns="0" bIns="0" rtlCol="0" anchor="ctr"/>
          <a:lstStyle/>
          <a:p>
            <a:pPr marL="0" indent="0" algn="ctr">
              <a:buNone/>
            </a:pPr>
            <a:r>
              <a:rPr lang="en-US" sz="1300" b="1" dirty="0">
                <a:solidFill>
                  <a:srgbClr val="065A82"/>
                </a:solidFill>
                <a:latin typeface="Calibri" pitchFamily="34" charset="0"/>
                <a:ea typeface="Calibri" pitchFamily="34" charset="-122"/>
                <a:cs typeface="Calibri" pitchFamily="34" charset="-120"/>
              </a:rPr>
              <a:t>802.1AS</a:t>
            </a:r>
            <a:endParaRPr lang="en-US" sz="1300" dirty="0"/>
          </a:p>
        </p:txBody>
      </p:sp>
      <p:sp>
        <p:nvSpPr>
          <p:cNvPr id="28" name="Text 26"/>
          <p:cNvSpPr/>
          <p:nvPr/>
        </p:nvSpPr>
        <p:spPr>
          <a:xfrm>
            <a:off x="7772400" y="2377440"/>
            <a:ext cx="1280160" cy="411480"/>
          </a:xfrm>
          <a:prstGeom prst="rect">
            <a:avLst/>
          </a:prstGeom>
          <a:noFill/>
          <a:ln/>
        </p:spPr>
        <p:txBody>
          <a:bodyPr wrap="square" lIns="0" tIns="0" rIns="0" bIns="0"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Time</a:t>
            </a:r>
            <a:endParaRPr lang="en-US" sz="900" dirty="0"/>
          </a:p>
          <a:p>
            <a:pPr marL="0" indent="0" algn="ctr">
              <a:buNone/>
            </a:pPr>
            <a:r>
              <a:rPr lang="en-US" sz="900" dirty="0">
                <a:solidFill>
                  <a:srgbClr val="475569"/>
                </a:solidFill>
                <a:latin typeface="Calibri" pitchFamily="34" charset="0"/>
                <a:ea typeface="Calibri" pitchFamily="34" charset="-122"/>
                <a:cs typeface="Calibri" pitchFamily="34" charset="-120"/>
              </a:rPr>
              <a:t>Sync</a:t>
            </a:r>
            <a:endParaRPr lang="en-US" sz="900" dirty="0"/>
          </a:p>
        </p:txBody>
      </p:sp>
      <p:sp>
        <p:nvSpPr>
          <p:cNvPr id="29" name="Shape 27"/>
          <p:cNvSpPr/>
          <p:nvPr/>
        </p:nvSpPr>
        <p:spPr>
          <a:xfrm>
            <a:off x="8412480" y="1508760"/>
            <a:ext cx="0" cy="502920"/>
          </a:xfrm>
          <a:prstGeom prst="line">
            <a:avLst/>
          </a:prstGeom>
          <a:noFill/>
          <a:ln w="9525">
            <a:solidFill>
              <a:srgbClr val="E2E8F0"/>
            </a:solidFill>
            <a:prstDash val="solid"/>
          </a:ln>
        </p:spPr>
        <p:txBody>
          <a:bodyPr/>
          <a:lstStyle/>
          <a:p>
            <a:endParaRPr lang="en-SG"/>
          </a:p>
        </p:txBody>
      </p:sp>
      <p:sp>
        <p:nvSpPr>
          <p:cNvPr id="30" name="Shape 28"/>
          <p:cNvSpPr/>
          <p:nvPr/>
        </p:nvSpPr>
        <p:spPr>
          <a:xfrm>
            <a:off x="274320" y="3017520"/>
            <a:ext cx="8595360" cy="36576"/>
          </a:xfrm>
          <a:prstGeom prst="rect">
            <a:avLst/>
          </a:prstGeom>
          <a:solidFill>
            <a:srgbClr val="E2E8F0"/>
          </a:solidFill>
          <a:ln/>
        </p:spPr>
        <p:txBody>
          <a:bodyPr/>
          <a:lstStyle/>
          <a:p>
            <a:endParaRPr lang="en-SG"/>
          </a:p>
        </p:txBody>
      </p:sp>
      <p:sp>
        <p:nvSpPr>
          <p:cNvPr id="31" name="Text 29"/>
          <p:cNvSpPr/>
          <p:nvPr/>
        </p:nvSpPr>
        <p:spPr>
          <a:xfrm>
            <a:off x="274320" y="3108960"/>
            <a:ext cx="2743200" cy="228600"/>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Automotive-relevant standards highlighted</a:t>
            </a:r>
            <a:endParaRPr lang="en-US" sz="1000" dirty="0"/>
          </a:p>
        </p:txBody>
      </p:sp>
      <p:sp>
        <p:nvSpPr>
          <p:cNvPr id="32" name="Text 30"/>
          <p:cNvSpPr/>
          <p:nvPr/>
        </p:nvSpPr>
        <p:spPr>
          <a:xfrm>
            <a:off x="731520" y="3474720"/>
            <a:ext cx="7315200" cy="32004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IEEE 802.3 — automotive Ethernet PHY standards</a:t>
            </a:r>
            <a:endParaRPr lang="en-US" sz="16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31520" y="3840480"/>
          <a:ext cx="768096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0">
                <a:tc>
                  <a:txBody>
                    <a:bodyPr/>
                    <a:lstStyle/>
                    <a:p>
                      <a:pPr marL="0" indent="0">
                        <a:buNone/>
                      </a:pPr>
                      <a:r>
                        <a:rPr lang="en-US" sz="1000" b="1" dirty="0">
                          <a:solidFill>
                            <a:srgbClr val="FFFFFF"/>
                          </a:solidFill>
                        </a:rPr>
                        <a:t>Standard</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6E56"/>
                    </a:solidFill>
                  </a:tcPr>
                </a:tc>
                <a:tc>
                  <a:txBody>
                    <a:bodyPr/>
                    <a:lstStyle/>
                    <a:p>
                      <a:pPr marL="0" indent="0">
                        <a:buNone/>
                      </a:pPr>
                      <a:r>
                        <a:rPr lang="en-US" sz="1000" b="1" dirty="0">
                          <a:solidFill>
                            <a:srgbClr val="FFFFFF"/>
                          </a:solidFill>
                        </a:rPr>
                        <a:t>Speed</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6E56"/>
                    </a:solidFill>
                  </a:tcPr>
                </a:tc>
                <a:tc>
                  <a:txBody>
                    <a:bodyPr/>
                    <a:lstStyle/>
                    <a:p>
                      <a:pPr marL="0" indent="0">
                        <a:buNone/>
                      </a:pPr>
                      <a:r>
                        <a:rPr lang="en-US" sz="1000" b="1" dirty="0">
                          <a:solidFill>
                            <a:srgbClr val="FFFFFF"/>
                          </a:solidFill>
                        </a:rPr>
                        <a:t>PHY name</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6E56"/>
                    </a:solidFill>
                  </a:tcPr>
                </a:tc>
                <a:tc>
                  <a:txBody>
                    <a:bodyPr/>
                    <a:lstStyle/>
                    <a:p>
                      <a:pPr marL="0" indent="0">
                        <a:buNone/>
                      </a:pPr>
                      <a:r>
                        <a:rPr lang="en-US" sz="1000" b="1" dirty="0">
                          <a:solidFill>
                            <a:srgbClr val="FFFFFF"/>
                          </a:solidFill>
                        </a:rPr>
                        <a:t>Cable</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6E56"/>
                    </a:solidFill>
                  </a:tcPr>
                </a:tc>
                <a:tc>
                  <a:txBody>
                    <a:bodyPr/>
                    <a:lstStyle/>
                    <a:p>
                      <a:pPr marL="0" indent="0">
                        <a:buNone/>
                      </a:pPr>
                      <a:r>
                        <a:rPr lang="en-US" sz="1000" b="1" dirty="0">
                          <a:solidFill>
                            <a:srgbClr val="FFFFFF"/>
                          </a:solidFill>
                        </a:rPr>
                        <a:t>Year</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6E56"/>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000000"/>
                          </a:solidFill>
                        </a:rPr>
                        <a:t>802.3bw</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000000"/>
                          </a:solidFill>
                        </a:rPr>
                        <a:t>100 Mbps</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100BASE-T1</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000000"/>
                          </a:solidFill>
                        </a:rPr>
                        <a:t>1 UTP</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000000"/>
                          </a:solidFill>
                        </a:rPr>
                        <a:t>2015</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extLst>
                  <a:ext uri="{0D108BD9-81ED-4DB2-BD59-A6C34878D82A}">
                    <a16:rowId xmlns:a16="http://schemas.microsoft.com/office/drawing/2014/main" val="10001"/>
                  </a:ext>
                </a:extLst>
              </a:tr>
              <a:tr h="0">
                <a:tc>
                  <a:txBody>
                    <a:bodyPr/>
                    <a:lstStyle/>
                    <a:p>
                      <a:pPr marL="0" indent="0">
                        <a:buNone/>
                      </a:pPr>
                      <a:r>
                        <a:rPr lang="en-US" sz="1000" b="1" dirty="0">
                          <a:solidFill>
                            <a:srgbClr val="000000"/>
                          </a:solidFill>
                        </a:rPr>
                        <a:t>802.3bp</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1 Gbps</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1000BASE-T1</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1 UTP</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2016</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000" b="1" dirty="0">
                          <a:solidFill>
                            <a:srgbClr val="000000"/>
                          </a:solidFill>
                        </a:rPr>
                        <a:t>802.3ch</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000000"/>
                          </a:solidFill>
                        </a:rPr>
                        <a:t>2.5/5/10G</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MultiGBASE-T1</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000000"/>
                          </a:solidFill>
                        </a:rPr>
                        <a:t>1 STP</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000000"/>
                          </a:solidFill>
                        </a:rPr>
                        <a:t>2020</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extLst>
                  <a:ext uri="{0D108BD9-81ED-4DB2-BD59-A6C34878D82A}">
                    <a16:rowId xmlns:a16="http://schemas.microsoft.com/office/drawing/2014/main" val="10003"/>
                  </a:ext>
                </a:extLst>
              </a:tr>
              <a:tr h="0">
                <a:tc>
                  <a:txBody>
                    <a:bodyPr/>
                    <a:lstStyle/>
                    <a:p>
                      <a:pPr marL="0" indent="0">
                        <a:buNone/>
                      </a:pPr>
                      <a:r>
                        <a:rPr lang="en-US" sz="1000" b="1" dirty="0">
                          <a:solidFill>
                            <a:srgbClr val="000000"/>
                          </a:solidFill>
                        </a:rPr>
                        <a:t>802.3cg</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10 Mbps</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10BASE-T1S/T1L</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1 UTP</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2019</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802.3 frame and 802.1 extensions</a:t>
            </a:r>
            <a:endParaRPr lang="en-US" sz="2800" dirty="0"/>
          </a:p>
        </p:txBody>
      </p:sp>
      <p:sp>
        <p:nvSpPr>
          <p:cNvPr id="3" name="Text 1"/>
          <p:cNvSpPr/>
          <p:nvPr/>
        </p:nvSpPr>
        <p:spPr>
          <a:xfrm>
            <a:off x="731520" y="914400"/>
            <a:ext cx="731520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IEEE 802.3 Ethernet frame</a:t>
            </a:r>
            <a:endParaRPr lang="en-US" sz="1400" dirty="0"/>
          </a:p>
        </p:txBody>
      </p:sp>
      <p:sp>
        <p:nvSpPr>
          <p:cNvPr id="4" name="Shape 2"/>
          <p:cNvSpPr/>
          <p:nvPr/>
        </p:nvSpPr>
        <p:spPr>
          <a:xfrm>
            <a:off x="731520" y="1280160"/>
            <a:ext cx="731520" cy="548640"/>
          </a:xfrm>
          <a:prstGeom prst="rect">
            <a:avLst/>
          </a:prstGeom>
          <a:solidFill>
            <a:srgbClr val="94A3B8"/>
          </a:solidFill>
          <a:ln w="6350">
            <a:solidFill>
              <a:srgbClr val="E2E8F0"/>
            </a:solidFill>
            <a:prstDash val="solid"/>
          </a:ln>
        </p:spPr>
        <p:txBody>
          <a:bodyPr/>
          <a:lstStyle/>
          <a:p>
            <a:endParaRPr lang="en-SG"/>
          </a:p>
        </p:txBody>
      </p:sp>
      <p:sp>
        <p:nvSpPr>
          <p:cNvPr id="5" name="Text 3"/>
          <p:cNvSpPr/>
          <p:nvPr/>
        </p:nvSpPr>
        <p:spPr>
          <a:xfrm>
            <a:off x="731520" y="1280160"/>
            <a:ext cx="731520" cy="5486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Pre</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7B</a:t>
            </a:r>
            <a:endParaRPr lang="en-US" sz="900" dirty="0"/>
          </a:p>
        </p:txBody>
      </p:sp>
      <p:sp>
        <p:nvSpPr>
          <p:cNvPr id="6" name="Shape 4"/>
          <p:cNvSpPr/>
          <p:nvPr/>
        </p:nvSpPr>
        <p:spPr>
          <a:xfrm>
            <a:off x="1517904" y="1280160"/>
            <a:ext cx="548640" cy="548640"/>
          </a:xfrm>
          <a:prstGeom prst="rect">
            <a:avLst/>
          </a:prstGeom>
          <a:solidFill>
            <a:srgbClr val="94A3B8"/>
          </a:solidFill>
          <a:ln w="6350">
            <a:solidFill>
              <a:srgbClr val="E2E8F0"/>
            </a:solidFill>
            <a:prstDash val="solid"/>
          </a:ln>
        </p:spPr>
        <p:txBody>
          <a:bodyPr/>
          <a:lstStyle/>
          <a:p>
            <a:endParaRPr lang="en-SG"/>
          </a:p>
        </p:txBody>
      </p:sp>
      <p:sp>
        <p:nvSpPr>
          <p:cNvPr id="7" name="Text 5"/>
          <p:cNvSpPr/>
          <p:nvPr/>
        </p:nvSpPr>
        <p:spPr>
          <a:xfrm>
            <a:off x="1517904" y="1280160"/>
            <a:ext cx="548640" cy="5486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SFD</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1B</a:t>
            </a:r>
            <a:endParaRPr lang="en-US" sz="900" dirty="0"/>
          </a:p>
        </p:txBody>
      </p:sp>
      <p:sp>
        <p:nvSpPr>
          <p:cNvPr id="8" name="Shape 6"/>
          <p:cNvSpPr/>
          <p:nvPr/>
        </p:nvSpPr>
        <p:spPr>
          <a:xfrm>
            <a:off x="2121408" y="1280160"/>
            <a:ext cx="914400" cy="548640"/>
          </a:xfrm>
          <a:prstGeom prst="rect">
            <a:avLst/>
          </a:prstGeom>
          <a:solidFill>
            <a:srgbClr val="065A82"/>
          </a:solidFill>
          <a:ln w="6350">
            <a:solidFill>
              <a:srgbClr val="E2E8F0"/>
            </a:solidFill>
            <a:prstDash val="solid"/>
          </a:ln>
        </p:spPr>
        <p:txBody>
          <a:bodyPr/>
          <a:lstStyle/>
          <a:p>
            <a:endParaRPr lang="en-SG"/>
          </a:p>
        </p:txBody>
      </p:sp>
      <p:sp>
        <p:nvSpPr>
          <p:cNvPr id="9" name="Text 7"/>
          <p:cNvSpPr/>
          <p:nvPr/>
        </p:nvSpPr>
        <p:spPr>
          <a:xfrm>
            <a:off x="2121408" y="1280160"/>
            <a:ext cx="914400" cy="5486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Dst MAC</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6B</a:t>
            </a:r>
            <a:endParaRPr lang="en-US" sz="900" dirty="0"/>
          </a:p>
        </p:txBody>
      </p:sp>
      <p:sp>
        <p:nvSpPr>
          <p:cNvPr id="10" name="Shape 8"/>
          <p:cNvSpPr/>
          <p:nvPr/>
        </p:nvSpPr>
        <p:spPr>
          <a:xfrm>
            <a:off x="3090672" y="1280160"/>
            <a:ext cx="914400" cy="548640"/>
          </a:xfrm>
          <a:prstGeom prst="rect">
            <a:avLst/>
          </a:prstGeom>
          <a:solidFill>
            <a:srgbClr val="065A82"/>
          </a:solidFill>
          <a:ln w="6350">
            <a:solidFill>
              <a:srgbClr val="E2E8F0"/>
            </a:solidFill>
            <a:prstDash val="solid"/>
          </a:ln>
        </p:spPr>
        <p:txBody>
          <a:bodyPr/>
          <a:lstStyle/>
          <a:p>
            <a:endParaRPr lang="en-SG"/>
          </a:p>
        </p:txBody>
      </p:sp>
      <p:sp>
        <p:nvSpPr>
          <p:cNvPr id="11" name="Text 9"/>
          <p:cNvSpPr/>
          <p:nvPr/>
        </p:nvSpPr>
        <p:spPr>
          <a:xfrm>
            <a:off x="3090672" y="1280160"/>
            <a:ext cx="914400" cy="5486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Src MAC</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6B</a:t>
            </a:r>
            <a:endParaRPr lang="en-US" sz="900" dirty="0"/>
          </a:p>
        </p:txBody>
      </p:sp>
      <p:sp>
        <p:nvSpPr>
          <p:cNvPr id="12" name="Shape 10"/>
          <p:cNvSpPr/>
          <p:nvPr/>
        </p:nvSpPr>
        <p:spPr>
          <a:xfrm>
            <a:off x="4059936" y="1280160"/>
            <a:ext cx="640080" cy="548640"/>
          </a:xfrm>
          <a:prstGeom prst="rect">
            <a:avLst/>
          </a:prstGeom>
          <a:solidFill>
            <a:srgbClr val="0F6E56"/>
          </a:solidFill>
          <a:ln w="6350">
            <a:solidFill>
              <a:srgbClr val="E2E8F0"/>
            </a:solidFill>
            <a:prstDash val="solid"/>
          </a:ln>
        </p:spPr>
        <p:txBody>
          <a:bodyPr/>
          <a:lstStyle/>
          <a:p>
            <a:endParaRPr lang="en-SG"/>
          </a:p>
        </p:txBody>
      </p:sp>
      <p:sp>
        <p:nvSpPr>
          <p:cNvPr id="13" name="Text 11"/>
          <p:cNvSpPr/>
          <p:nvPr/>
        </p:nvSpPr>
        <p:spPr>
          <a:xfrm>
            <a:off x="4059936" y="1280160"/>
            <a:ext cx="640080" cy="5486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Type</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2B</a:t>
            </a:r>
            <a:endParaRPr lang="en-US" sz="900" dirty="0"/>
          </a:p>
        </p:txBody>
      </p:sp>
      <p:sp>
        <p:nvSpPr>
          <p:cNvPr id="14" name="Shape 12"/>
          <p:cNvSpPr/>
          <p:nvPr/>
        </p:nvSpPr>
        <p:spPr>
          <a:xfrm>
            <a:off x="4754880" y="1280160"/>
            <a:ext cx="2743200" cy="548640"/>
          </a:xfrm>
          <a:prstGeom prst="rect">
            <a:avLst/>
          </a:prstGeom>
          <a:solidFill>
            <a:srgbClr val="F0F4F8"/>
          </a:solidFill>
          <a:ln w="6350">
            <a:solidFill>
              <a:srgbClr val="E2E8F0"/>
            </a:solidFill>
            <a:prstDash val="solid"/>
          </a:ln>
        </p:spPr>
        <p:txBody>
          <a:bodyPr/>
          <a:lstStyle/>
          <a:p>
            <a:endParaRPr lang="en-SG"/>
          </a:p>
        </p:txBody>
      </p:sp>
      <p:sp>
        <p:nvSpPr>
          <p:cNvPr id="15" name="Text 13"/>
          <p:cNvSpPr/>
          <p:nvPr/>
        </p:nvSpPr>
        <p:spPr>
          <a:xfrm>
            <a:off x="4754880" y="1280160"/>
            <a:ext cx="2743200" cy="548640"/>
          </a:xfrm>
          <a:prstGeom prst="rect">
            <a:avLst/>
          </a:prstGeom>
          <a:noFill/>
          <a:ln/>
        </p:spPr>
        <p:txBody>
          <a:bodyPr wrap="square" lIns="0" tIns="0" rIns="0" bIns="0"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Payload (46–1500 bytes)</a:t>
            </a:r>
            <a:endParaRPr lang="en-US" sz="900" dirty="0"/>
          </a:p>
        </p:txBody>
      </p:sp>
      <p:sp>
        <p:nvSpPr>
          <p:cNvPr id="16" name="Shape 14"/>
          <p:cNvSpPr/>
          <p:nvPr/>
        </p:nvSpPr>
        <p:spPr>
          <a:xfrm>
            <a:off x="7552944" y="1280160"/>
            <a:ext cx="640080" cy="548640"/>
          </a:xfrm>
          <a:prstGeom prst="rect">
            <a:avLst/>
          </a:prstGeom>
          <a:solidFill>
            <a:srgbClr val="D85A30"/>
          </a:solidFill>
          <a:ln w="6350">
            <a:solidFill>
              <a:srgbClr val="E2E8F0"/>
            </a:solidFill>
            <a:prstDash val="solid"/>
          </a:ln>
        </p:spPr>
        <p:txBody>
          <a:bodyPr/>
          <a:lstStyle/>
          <a:p>
            <a:endParaRPr lang="en-SG"/>
          </a:p>
        </p:txBody>
      </p:sp>
      <p:sp>
        <p:nvSpPr>
          <p:cNvPr id="17" name="Text 15"/>
          <p:cNvSpPr/>
          <p:nvPr/>
        </p:nvSpPr>
        <p:spPr>
          <a:xfrm>
            <a:off x="7552944" y="1280160"/>
            <a:ext cx="640080" cy="5486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FCS</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4B</a:t>
            </a:r>
            <a:endParaRPr lang="en-US" sz="900" dirty="0"/>
          </a:p>
        </p:txBody>
      </p:sp>
      <p:sp>
        <p:nvSpPr>
          <p:cNvPr id="18" name="Text 16"/>
          <p:cNvSpPr/>
          <p:nvPr/>
        </p:nvSpPr>
        <p:spPr>
          <a:xfrm>
            <a:off x="731520" y="2011680"/>
            <a:ext cx="731520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802.1Q VLAN-tagged frame (4-byte tag inserted after Src MAC)</a:t>
            </a:r>
            <a:endParaRPr lang="en-US" sz="1400" dirty="0"/>
          </a:p>
        </p:txBody>
      </p:sp>
      <p:sp>
        <p:nvSpPr>
          <p:cNvPr id="19" name="Shape 17"/>
          <p:cNvSpPr/>
          <p:nvPr/>
        </p:nvSpPr>
        <p:spPr>
          <a:xfrm>
            <a:off x="731520" y="2377440"/>
            <a:ext cx="914400" cy="548640"/>
          </a:xfrm>
          <a:prstGeom prst="rect">
            <a:avLst/>
          </a:prstGeom>
          <a:solidFill>
            <a:srgbClr val="065A82"/>
          </a:solidFill>
          <a:ln w="6350">
            <a:solidFill>
              <a:srgbClr val="E2E8F0"/>
            </a:solidFill>
            <a:prstDash val="solid"/>
          </a:ln>
        </p:spPr>
        <p:txBody>
          <a:bodyPr/>
          <a:lstStyle/>
          <a:p>
            <a:endParaRPr lang="en-SG"/>
          </a:p>
        </p:txBody>
      </p:sp>
      <p:sp>
        <p:nvSpPr>
          <p:cNvPr id="20" name="Text 18"/>
          <p:cNvSpPr/>
          <p:nvPr/>
        </p:nvSpPr>
        <p:spPr>
          <a:xfrm>
            <a:off x="731520" y="2377440"/>
            <a:ext cx="914400" cy="5486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Dst MAC</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6B</a:t>
            </a:r>
            <a:endParaRPr lang="en-US" sz="900" dirty="0"/>
          </a:p>
        </p:txBody>
      </p:sp>
      <p:sp>
        <p:nvSpPr>
          <p:cNvPr id="21" name="Shape 19"/>
          <p:cNvSpPr/>
          <p:nvPr/>
        </p:nvSpPr>
        <p:spPr>
          <a:xfrm>
            <a:off x="1700784" y="2377440"/>
            <a:ext cx="914400" cy="548640"/>
          </a:xfrm>
          <a:prstGeom prst="rect">
            <a:avLst/>
          </a:prstGeom>
          <a:solidFill>
            <a:srgbClr val="065A82"/>
          </a:solidFill>
          <a:ln w="6350">
            <a:solidFill>
              <a:srgbClr val="E2E8F0"/>
            </a:solidFill>
            <a:prstDash val="solid"/>
          </a:ln>
        </p:spPr>
        <p:txBody>
          <a:bodyPr/>
          <a:lstStyle/>
          <a:p>
            <a:endParaRPr lang="en-SG"/>
          </a:p>
        </p:txBody>
      </p:sp>
      <p:sp>
        <p:nvSpPr>
          <p:cNvPr id="22" name="Text 20"/>
          <p:cNvSpPr/>
          <p:nvPr/>
        </p:nvSpPr>
        <p:spPr>
          <a:xfrm>
            <a:off x="1700784" y="2377440"/>
            <a:ext cx="914400" cy="5486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Src MAC</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6B</a:t>
            </a:r>
            <a:endParaRPr lang="en-US" sz="900" dirty="0"/>
          </a:p>
        </p:txBody>
      </p:sp>
      <p:sp>
        <p:nvSpPr>
          <p:cNvPr id="23" name="Shape 21"/>
          <p:cNvSpPr/>
          <p:nvPr/>
        </p:nvSpPr>
        <p:spPr>
          <a:xfrm>
            <a:off x="2670048" y="2377440"/>
            <a:ext cx="548640" cy="548640"/>
          </a:xfrm>
          <a:prstGeom prst="rect">
            <a:avLst/>
          </a:prstGeom>
          <a:solidFill>
            <a:srgbClr val="EF9F27"/>
          </a:solidFill>
          <a:ln w="6350">
            <a:solidFill>
              <a:srgbClr val="E2E8F0"/>
            </a:solidFill>
            <a:prstDash val="solid"/>
          </a:ln>
        </p:spPr>
        <p:txBody>
          <a:bodyPr/>
          <a:lstStyle/>
          <a:p>
            <a:endParaRPr lang="en-SG"/>
          </a:p>
        </p:txBody>
      </p:sp>
      <p:sp>
        <p:nvSpPr>
          <p:cNvPr id="24" name="Text 22"/>
          <p:cNvSpPr/>
          <p:nvPr/>
        </p:nvSpPr>
        <p:spPr>
          <a:xfrm>
            <a:off x="2670048" y="2377440"/>
            <a:ext cx="548640" cy="5486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TPID</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0x8100</a:t>
            </a:r>
            <a:endParaRPr lang="en-US" sz="900" dirty="0"/>
          </a:p>
        </p:txBody>
      </p:sp>
      <p:sp>
        <p:nvSpPr>
          <p:cNvPr id="25" name="Shape 23"/>
          <p:cNvSpPr/>
          <p:nvPr/>
        </p:nvSpPr>
        <p:spPr>
          <a:xfrm>
            <a:off x="3273552" y="2377440"/>
            <a:ext cx="548640" cy="548640"/>
          </a:xfrm>
          <a:prstGeom prst="rect">
            <a:avLst/>
          </a:prstGeom>
          <a:solidFill>
            <a:srgbClr val="EF9F27"/>
          </a:solidFill>
          <a:ln w="6350">
            <a:solidFill>
              <a:srgbClr val="E2E8F0"/>
            </a:solidFill>
            <a:prstDash val="solid"/>
          </a:ln>
        </p:spPr>
        <p:txBody>
          <a:bodyPr/>
          <a:lstStyle/>
          <a:p>
            <a:endParaRPr lang="en-SG"/>
          </a:p>
        </p:txBody>
      </p:sp>
      <p:sp>
        <p:nvSpPr>
          <p:cNvPr id="26" name="Text 24"/>
          <p:cNvSpPr/>
          <p:nvPr/>
        </p:nvSpPr>
        <p:spPr>
          <a:xfrm>
            <a:off x="3273552" y="2377440"/>
            <a:ext cx="548640" cy="5486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TCI</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(PCP+VID)</a:t>
            </a:r>
            <a:endParaRPr lang="en-US" sz="900" dirty="0"/>
          </a:p>
        </p:txBody>
      </p:sp>
      <p:sp>
        <p:nvSpPr>
          <p:cNvPr id="27" name="Shape 25"/>
          <p:cNvSpPr/>
          <p:nvPr/>
        </p:nvSpPr>
        <p:spPr>
          <a:xfrm>
            <a:off x="3877056" y="2377440"/>
            <a:ext cx="548640" cy="548640"/>
          </a:xfrm>
          <a:prstGeom prst="rect">
            <a:avLst/>
          </a:prstGeom>
          <a:solidFill>
            <a:srgbClr val="0F6E56"/>
          </a:solidFill>
          <a:ln w="6350">
            <a:solidFill>
              <a:srgbClr val="E2E8F0"/>
            </a:solidFill>
            <a:prstDash val="solid"/>
          </a:ln>
        </p:spPr>
        <p:txBody>
          <a:bodyPr/>
          <a:lstStyle/>
          <a:p>
            <a:endParaRPr lang="en-SG"/>
          </a:p>
        </p:txBody>
      </p:sp>
      <p:sp>
        <p:nvSpPr>
          <p:cNvPr id="28" name="Text 26"/>
          <p:cNvSpPr/>
          <p:nvPr/>
        </p:nvSpPr>
        <p:spPr>
          <a:xfrm>
            <a:off x="3877056" y="2377440"/>
            <a:ext cx="548640" cy="5486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Type</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2B</a:t>
            </a:r>
            <a:endParaRPr lang="en-US" sz="900" dirty="0"/>
          </a:p>
        </p:txBody>
      </p:sp>
      <p:sp>
        <p:nvSpPr>
          <p:cNvPr id="29" name="Shape 27"/>
          <p:cNvSpPr/>
          <p:nvPr/>
        </p:nvSpPr>
        <p:spPr>
          <a:xfrm>
            <a:off x="4480560" y="2377440"/>
            <a:ext cx="3200400" cy="548640"/>
          </a:xfrm>
          <a:prstGeom prst="rect">
            <a:avLst/>
          </a:prstGeom>
          <a:solidFill>
            <a:srgbClr val="F0F4F8"/>
          </a:solidFill>
          <a:ln w="6350">
            <a:solidFill>
              <a:srgbClr val="E2E8F0"/>
            </a:solidFill>
            <a:prstDash val="solid"/>
          </a:ln>
        </p:spPr>
        <p:txBody>
          <a:bodyPr/>
          <a:lstStyle/>
          <a:p>
            <a:endParaRPr lang="en-SG"/>
          </a:p>
        </p:txBody>
      </p:sp>
      <p:sp>
        <p:nvSpPr>
          <p:cNvPr id="30" name="Text 28"/>
          <p:cNvSpPr/>
          <p:nvPr/>
        </p:nvSpPr>
        <p:spPr>
          <a:xfrm>
            <a:off x="4480560" y="2377440"/>
            <a:ext cx="3200400" cy="548640"/>
          </a:xfrm>
          <a:prstGeom prst="rect">
            <a:avLst/>
          </a:prstGeom>
          <a:noFill/>
          <a:ln/>
        </p:spPr>
        <p:txBody>
          <a:bodyPr wrap="square" lIns="0" tIns="0" rIns="0" bIns="0" rtlCol="0" anchor="ctr"/>
          <a:lstStyle/>
          <a:p>
            <a:pPr marL="0" indent="0" algn="ctr">
              <a:buNone/>
            </a:pPr>
            <a:r>
              <a:rPr lang="en-US" sz="900" b="1" dirty="0">
                <a:solidFill>
                  <a:srgbClr val="1E293B"/>
                </a:solidFill>
                <a:latin typeface="Calibri" pitchFamily="34" charset="0"/>
                <a:ea typeface="Calibri" pitchFamily="34" charset="-122"/>
                <a:cs typeface="Calibri" pitchFamily="34" charset="-120"/>
              </a:rPr>
              <a:t>Payload</a:t>
            </a:r>
            <a:endParaRPr lang="en-US" sz="900" dirty="0"/>
          </a:p>
        </p:txBody>
      </p:sp>
      <p:sp>
        <p:nvSpPr>
          <p:cNvPr id="31" name="Shape 29"/>
          <p:cNvSpPr/>
          <p:nvPr/>
        </p:nvSpPr>
        <p:spPr>
          <a:xfrm>
            <a:off x="7735824" y="2377440"/>
            <a:ext cx="640080" cy="548640"/>
          </a:xfrm>
          <a:prstGeom prst="rect">
            <a:avLst/>
          </a:prstGeom>
          <a:solidFill>
            <a:srgbClr val="D85A30"/>
          </a:solidFill>
          <a:ln w="6350">
            <a:solidFill>
              <a:srgbClr val="E2E8F0"/>
            </a:solidFill>
            <a:prstDash val="solid"/>
          </a:ln>
        </p:spPr>
        <p:txBody>
          <a:bodyPr/>
          <a:lstStyle/>
          <a:p>
            <a:endParaRPr lang="en-SG"/>
          </a:p>
        </p:txBody>
      </p:sp>
      <p:sp>
        <p:nvSpPr>
          <p:cNvPr id="32" name="Text 30"/>
          <p:cNvSpPr/>
          <p:nvPr/>
        </p:nvSpPr>
        <p:spPr>
          <a:xfrm>
            <a:off x="7735824" y="2377440"/>
            <a:ext cx="640080" cy="5486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FCS</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4B</a:t>
            </a:r>
            <a:endParaRPr lang="en-US" sz="900" dirty="0"/>
          </a:p>
        </p:txBody>
      </p:sp>
      <p:sp>
        <p:nvSpPr>
          <p:cNvPr id="33" name="Text 31"/>
          <p:cNvSpPr/>
          <p:nvPr/>
        </p:nvSpPr>
        <p:spPr>
          <a:xfrm>
            <a:off x="731520" y="3200400"/>
            <a:ext cx="731520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Key 802.1 TSN extensions for automotive</a:t>
            </a:r>
            <a:endParaRPr lang="en-US" sz="1400" dirty="0"/>
          </a:p>
        </p:txBody>
      </p:sp>
      <p:sp>
        <p:nvSpPr>
          <p:cNvPr id="34" name="Shape 32"/>
          <p:cNvSpPr/>
          <p:nvPr/>
        </p:nvSpPr>
        <p:spPr>
          <a:xfrm>
            <a:off x="731520" y="3566160"/>
            <a:ext cx="685800" cy="292608"/>
          </a:xfrm>
          <a:prstGeom prst="rect">
            <a:avLst/>
          </a:prstGeom>
          <a:solidFill>
            <a:srgbClr val="065A82"/>
          </a:solidFill>
          <a:ln/>
        </p:spPr>
        <p:txBody>
          <a:bodyPr/>
          <a:lstStyle/>
          <a:p>
            <a:endParaRPr lang="en-SG"/>
          </a:p>
        </p:txBody>
      </p:sp>
      <p:sp>
        <p:nvSpPr>
          <p:cNvPr id="35" name="Text 33"/>
          <p:cNvSpPr/>
          <p:nvPr/>
        </p:nvSpPr>
        <p:spPr>
          <a:xfrm>
            <a:off x="731520" y="3566160"/>
            <a:ext cx="685800" cy="29260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802.1AS</a:t>
            </a:r>
            <a:endParaRPr lang="en-US" sz="800" dirty="0"/>
          </a:p>
        </p:txBody>
      </p:sp>
      <p:sp>
        <p:nvSpPr>
          <p:cNvPr id="36" name="Shape 34"/>
          <p:cNvSpPr/>
          <p:nvPr/>
        </p:nvSpPr>
        <p:spPr>
          <a:xfrm>
            <a:off x="1508760" y="3566160"/>
            <a:ext cx="502920" cy="292608"/>
          </a:xfrm>
          <a:prstGeom prst="rect">
            <a:avLst/>
          </a:prstGeom>
          <a:solidFill>
            <a:srgbClr val="F0F4F8"/>
          </a:solidFill>
          <a:ln/>
        </p:spPr>
        <p:txBody>
          <a:bodyPr/>
          <a:lstStyle/>
          <a:p>
            <a:endParaRPr lang="en-SG"/>
          </a:p>
        </p:txBody>
      </p:sp>
      <p:sp>
        <p:nvSpPr>
          <p:cNvPr id="37" name="Text 35"/>
          <p:cNvSpPr/>
          <p:nvPr/>
        </p:nvSpPr>
        <p:spPr>
          <a:xfrm>
            <a:off x="1508760" y="3566160"/>
            <a:ext cx="502920" cy="292608"/>
          </a:xfrm>
          <a:prstGeom prst="rect">
            <a:avLst/>
          </a:prstGeom>
          <a:noFill/>
          <a:ln/>
        </p:spPr>
        <p:txBody>
          <a:bodyPr wrap="square" lIns="0" tIns="0" rIns="0" bIns="0" rtlCol="0" anchor="ctr"/>
          <a:lstStyle/>
          <a:p>
            <a:pPr marL="0" indent="0" algn="ctr">
              <a:buNone/>
            </a:pPr>
            <a:r>
              <a:rPr lang="en-US" sz="800" b="1" dirty="0">
                <a:solidFill>
                  <a:srgbClr val="065A82"/>
                </a:solidFill>
                <a:latin typeface="Calibri" pitchFamily="34" charset="0"/>
                <a:ea typeface="Calibri" pitchFamily="34" charset="-122"/>
                <a:cs typeface="Calibri" pitchFamily="34" charset="-120"/>
              </a:rPr>
              <a:t>gPTP</a:t>
            </a:r>
            <a:endParaRPr lang="en-US" sz="800" dirty="0"/>
          </a:p>
        </p:txBody>
      </p:sp>
      <p:sp>
        <p:nvSpPr>
          <p:cNvPr id="38" name="Text 36"/>
          <p:cNvSpPr/>
          <p:nvPr/>
        </p:nvSpPr>
        <p:spPr>
          <a:xfrm>
            <a:off x="2148840" y="3566160"/>
            <a:ext cx="6263640" cy="292608"/>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Generalised precision time protocol — synchronises all nodes to a common time base (&lt;1 µs accuracy). Essential for sensor fusion in ADAS.</a:t>
            </a:r>
            <a:endParaRPr lang="en-US" sz="900" dirty="0"/>
          </a:p>
        </p:txBody>
      </p:sp>
      <p:sp>
        <p:nvSpPr>
          <p:cNvPr id="39" name="Shape 37"/>
          <p:cNvSpPr/>
          <p:nvPr/>
        </p:nvSpPr>
        <p:spPr>
          <a:xfrm>
            <a:off x="731520" y="3931920"/>
            <a:ext cx="685800" cy="292608"/>
          </a:xfrm>
          <a:prstGeom prst="rect">
            <a:avLst/>
          </a:prstGeom>
          <a:solidFill>
            <a:srgbClr val="065A82"/>
          </a:solidFill>
          <a:ln/>
        </p:spPr>
        <p:txBody>
          <a:bodyPr/>
          <a:lstStyle/>
          <a:p>
            <a:endParaRPr lang="en-SG"/>
          </a:p>
        </p:txBody>
      </p:sp>
      <p:sp>
        <p:nvSpPr>
          <p:cNvPr id="40" name="Text 38"/>
          <p:cNvSpPr/>
          <p:nvPr/>
        </p:nvSpPr>
        <p:spPr>
          <a:xfrm>
            <a:off x="731520" y="3931920"/>
            <a:ext cx="685800" cy="29260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802.1Qbv</a:t>
            </a:r>
            <a:endParaRPr lang="en-US" sz="800" dirty="0"/>
          </a:p>
        </p:txBody>
      </p:sp>
      <p:sp>
        <p:nvSpPr>
          <p:cNvPr id="41" name="Shape 39"/>
          <p:cNvSpPr/>
          <p:nvPr/>
        </p:nvSpPr>
        <p:spPr>
          <a:xfrm>
            <a:off x="1508760" y="3931920"/>
            <a:ext cx="502920" cy="292608"/>
          </a:xfrm>
          <a:prstGeom prst="rect">
            <a:avLst/>
          </a:prstGeom>
          <a:solidFill>
            <a:srgbClr val="F0F4F8"/>
          </a:solidFill>
          <a:ln/>
        </p:spPr>
        <p:txBody>
          <a:bodyPr/>
          <a:lstStyle/>
          <a:p>
            <a:endParaRPr lang="en-SG"/>
          </a:p>
        </p:txBody>
      </p:sp>
      <p:sp>
        <p:nvSpPr>
          <p:cNvPr id="42" name="Text 40"/>
          <p:cNvSpPr/>
          <p:nvPr/>
        </p:nvSpPr>
        <p:spPr>
          <a:xfrm>
            <a:off x="1508760" y="3931920"/>
            <a:ext cx="502920" cy="292608"/>
          </a:xfrm>
          <a:prstGeom prst="rect">
            <a:avLst/>
          </a:prstGeom>
          <a:noFill/>
          <a:ln/>
        </p:spPr>
        <p:txBody>
          <a:bodyPr wrap="square" lIns="0" tIns="0" rIns="0" bIns="0" rtlCol="0" anchor="ctr"/>
          <a:lstStyle/>
          <a:p>
            <a:pPr marL="0" indent="0" algn="ctr">
              <a:buNone/>
            </a:pPr>
            <a:r>
              <a:rPr lang="en-US" sz="800" b="1" dirty="0">
                <a:solidFill>
                  <a:srgbClr val="065A82"/>
                </a:solidFill>
                <a:latin typeface="Calibri" pitchFamily="34" charset="0"/>
                <a:ea typeface="Calibri" pitchFamily="34" charset="-122"/>
                <a:cs typeface="Calibri" pitchFamily="34" charset="-120"/>
              </a:rPr>
              <a:t>TAS</a:t>
            </a:r>
            <a:endParaRPr lang="en-US" sz="800" dirty="0"/>
          </a:p>
        </p:txBody>
      </p:sp>
      <p:sp>
        <p:nvSpPr>
          <p:cNvPr id="43" name="Text 41"/>
          <p:cNvSpPr/>
          <p:nvPr/>
        </p:nvSpPr>
        <p:spPr>
          <a:xfrm>
            <a:off x="2148840" y="3931920"/>
            <a:ext cx="6263640" cy="292608"/>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Time-aware shaper — opens/closes traffic gates on a schedule so critical frames get guaranteed latency. Enables mixing ADAS and infotainment traffic.</a:t>
            </a:r>
            <a:endParaRPr lang="en-US" sz="900" dirty="0"/>
          </a:p>
        </p:txBody>
      </p:sp>
      <p:sp>
        <p:nvSpPr>
          <p:cNvPr id="44" name="Shape 42"/>
          <p:cNvSpPr/>
          <p:nvPr/>
        </p:nvSpPr>
        <p:spPr>
          <a:xfrm>
            <a:off x="731520" y="4297680"/>
            <a:ext cx="685800" cy="292608"/>
          </a:xfrm>
          <a:prstGeom prst="rect">
            <a:avLst/>
          </a:prstGeom>
          <a:solidFill>
            <a:srgbClr val="065A82"/>
          </a:solidFill>
          <a:ln/>
        </p:spPr>
        <p:txBody>
          <a:bodyPr/>
          <a:lstStyle/>
          <a:p>
            <a:endParaRPr lang="en-SG"/>
          </a:p>
        </p:txBody>
      </p:sp>
      <p:sp>
        <p:nvSpPr>
          <p:cNvPr id="45" name="Text 43"/>
          <p:cNvSpPr/>
          <p:nvPr/>
        </p:nvSpPr>
        <p:spPr>
          <a:xfrm>
            <a:off x="731520" y="4297680"/>
            <a:ext cx="685800" cy="29260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802.1Qci</a:t>
            </a:r>
            <a:endParaRPr lang="en-US" sz="800" dirty="0"/>
          </a:p>
        </p:txBody>
      </p:sp>
      <p:sp>
        <p:nvSpPr>
          <p:cNvPr id="46" name="Shape 44"/>
          <p:cNvSpPr/>
          <p:nvPr/>
        </p:nvSpPr>
        <p:spPr>
          <a:xfrm>
            <a:off x="1508760" y="4297680"/>
            <a:ext cx="502920" cy="292608"/>
          </a:xfrm>
          <a:prstGeom prst="rect">
            <a:avLst/>
          </a:prstGeom>
          <a:solidFill>
            <a:srgbClr val="F0F4F8"/>
          </a:solidFill>
          <a:ln/>
        </p:spPr>
        <p:txBody>
          <a:bodyPr/>
          <a:lstStyle/>
          <a:p>
            <a:endParaRPr lang="en-SG"/>
          </a:p>
        </p:txBody>
      </p:sp>
      <p:sp>
        <p:nvSpPr>
          <p:cNvPr id="47" name="Text 45"/>
          <p:cNvSpPr/>
          <p:nvPr/>
        </p:nvSpPr>
        <p:spPr>
          <a:xfrm>
            <a:off x="1508760" y="4297680"/>
            <a:ext cx="502920" cy="292608"/>
          </a:xfrm>
          <a:prstGeom prst="rect">
            <a:avLst/>
          </a:prstGeom>
          <a:noFill/>
          <a:ln/>
        </p:spPr>
        <p:txBody>
          <a:bodyPr wrap="square" lIns="0" tIns="0" rIns="0" bIns="0" rtlCol="0" anchor="ctr"/>
          <a:lstStyle/>
          <a:p>
            <a:pPr marL="0" indent="0" algn="ctr">
              <a:buNone/>
            </a:pPr>
            <a:r>
              <a:rPr lang="en-US" sz="800" b="1" dirty="0">
                <a:solidFill>
                  <a:srgbClr val="065A82"/>
                </a:solidFill>
                <a:latin typeface="Calibri" pitchFamily="34" charset="0"/>
                <a:ea typeface="Calibri" pitchFamily="34" charset="-122"/>
                <a:cs typeface="Calibri" pitchFamily="34" charset="-120"/>
              </a:rPr>
              <a:t>PSFP</a:t>
            </a:r>
            <a:endParaRPr lang="en-US" sz="800" dirty="0"/>
          </a:p>
        </p:txBody>
      </p:sp>
      <p:sp>
        <p:nvSpPr>
          <p:cNvPr id="48" name="Text 46"/>
          <p:cNvSpPr/>
          <p:nvPr/>
        </p:nvSpPr>
        <p:spPr>
          <a:xfrm>
            <a:off x="2148840" y="4297680"/>
            <a:ext cx="6263640" cy="292608"/>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Per-stream filtering and policing — enforces bandwidth and burst limits per traffic stream. Prevents a misbehaving ECU from flooding the network.</a:t>
            </a:r>
            <a:endParaRPr lang="en-US" sz="900" dirty="0"/>
          </a:p>
        </p:txBody>
      </p:sp>
      <p:sp>
        <p:nvSpPr>
          <p:cNvPr id="49" name="Shape 47"/>
          <p:cNvSpPr/>
          <p:nvPr/>
        </p:nvSpPr>
        <p:spPr>
          <a:xfrm>
            <a:off x="731520" y="4663440"/>
            <a:ext cx="685800" cy="292608"/>
          </a:xfrm>
          <a:prstGeom prst="rect">
            <a:avLst/>
          </a:prstGeom>
          <a:solidFill>
            <a:srgbClr val="065A82"/>
          </a:solidFill>
          <a:ln/>
        </p:spPr>
        <p:txBody>
          <a:bodyPr/>
          <a:lstStyle/>
          <a:p>
            <a:endParaRPr lang="en-SG"/>
          </a:p>
        </p:txBody>
      </p:sp>
      <p:sp>
        <p:nvSpPr>
          <p:cNvPr id="50" name="Text 48"/>
          <p:cNvSpPr/>
          <p:nvPr/>
        </p:nvSpPr>
        <p:spPr>
          <a:xfrm>
            <a:off x="731520" y="4663440"/>
            <a:ext cx="685800" cy="29260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802.1CB</a:t>
            </a:r>
            <a:endParaRPr lang="en-US" sz="800" dirty="0"/>
          </a:p>
        </p:txBody>
      </p:sp>
      <p:sp>
        <p:nvSpPr>
          <p:cNvPr id="51" name="Shape 49"/>
          <p:cNvSpPr/>
          <p:nvPr/>
        </p:nvSpPr>
        <p:spPr>
          <a:xfrm>
            <a:off x="1508760" y="4663440"/>
            <a:ext cx="502920" cy="292608"/>
          </a:xfrm>
          <a:prstGeom prst="rect">
            <a:avLst/>
          </a:prstGeom>
          <a:solidFill>
            <a:srgbClr val="F0F4F8"/>
          </a:solidFill>
          <a:ln/>
        </p:spPr>
        <p:txBody>
          <a:bodyPr/>
          <a:lstStyle/>
          <a:p>
            <a:endParaRPr lang="en-SG"/>
          </a:p>
        </p:txBody>
      </p:sp>
      <p:sp>
        <p:nvSpPr>
          <p:cNvPr id="52" name="Text 50"/>
          <p:cNvSpPr/>
          <p:nvPr/>
        </p:nvSpPr>
        <p:spPr>
          <a:xfrm>
            <a:off x="1508760" y="4663440"/>
            <a:ext cx="502920" cy="292608"/>
          </a:xfrm>
          <a:prstGeom prst="rect">
            <a:avLst/>
          </a:prstGeom>
          <a:noFill/>
          <a:ln/>
        </p:spPr>
        <p:txBody>
          <a:bodyPr wrap="square" lIns="0" tIns="0" rIns="0" bIns="0" rtlCol="0" anchor="ctr"/>
          <a:lstStyle/>
          <a:p>
            <a:pPr marL="0" indent="0" algn="ctr">
              <a:buNone/>
            </a:pPr>
            <a:r>
              <a:rPr lang="en-US" sz="800" b="1" dirty="0">
                <a:solidFill>
                  <a:srgbClr val="065A82"/>
                </a:solidFill>
                <a:latin typeface="Calibri" pitchFamily="34" charset="0"/>
                <a:ea typeface="Calibri" pitchFamily="34" charset="-122"/>
                <a:cs typeface="Calibri" pitchFamily="34" charset="-120"/>
              </a:rPr>
              <a:t>FRER</a:t>
            </a:r>
            <a:endParaRPr lang="en-US" sz="800" dirty="0"/>
          </a:p>
        </p:txBody>
      </p:sp>
      <p:sp>
        <p:nvSpPr>
          <p:cNvPr id="53" name="Text 51"/>
          <p:cNvSpPr/>
          <p:nvPr/>
        </p:nvSpPr>
        <p:spPr>
          <a:xfrm>
            <a:off x="2148840" y="4663440"/>
            <a:ext cx="6263640" cy="292608"/>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Frame replication and elimination — sends duplicate frames over disjoint paths for fault tolerance. Used in safety-critical ADAS communication.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D4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F9F27"/>
          </a:solidFill>
          <a:ln/>
        </p:spPr>
        <p:txBody>
          <a:bodyPr/>
          <a:lstStyle/>
          <a:p>
            <a:endParaRPr lang="en-SG"/>
          </a:p>
        </p:txBody>
      </p:sp>
      <p:sp>
        <p:nvSpPr>
          <p:cNvPr id="3" name="Text 1"/>
          <p:cNvSpPr/>
          <p:nvPr/>
        </p:nvSpPr>
        <p:spPr>
          <a:xfrm>
            <a:off x="731520" y="1371600"/>
            <a:ext cx="1097280" cy="731520"/>
          </a:xfrm>
          <a:prstGeom prst="rect">
            <a:avLst/>
          </a:prstGeom>
          <a:noFill/>
          <a:ln/>
        </p:spPr>
        <p:txBody>
          <a:bodyPr wrap="square" lIns="0" tIns="0" rIns="0" bIns="0" rtlCol="0" anchor="ctr"/>
          <a:lstStyle/>
          <a:p>
            <a:pPr marL="0" indent="0">
              <a:buNone/>
            </a:pPr>
            <a:r>
              <a:rPr lang="en-US" sz="4800" b="1" dirty="0">
                <a:solidFill>
                  <a:srgbClr val="EF9F27"/>
                </a:solidFill>
                <a:latin typeface="Calibri" pitchFamily="34" charset="0"/>
                <a:ea typeface="Calibri" pitchFamily="34" charset="-122"/>
                <a:cs typeface="Calibri" pitchFamily="34" charset="-120"/>
              </a:rPr>
              <a:t>04</a:t>
            </a:r>
            <a:endParaRPr lang="en-US" sz="4800" dirty="0"/>
          </a:p>
        </p:txBody>
      </p:sp>
      <p:sp>
        <p:nvSpPr>
          <p:cNvPr id="4" name="Text 2"/>
          <p:cNvSpPr/>
          <p:nvPr/>
        </p:nvSpPr>
        <p:spPr>
          <a:xfrm>
            <a:off x="731520" y="2194560"/>
            <a:ext cx="6400800" cy="91440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OPEN Alliance SIG</a:t>
            </a:r>
            <a:endParaRPr lang="en-US" sz="3200" dirty="0"/>
          </a:p>
          <a:p>
            <a:pPr marL="0" indent="0">
              <a:buNone/>
            </a:pPr>
            <a:r>
              <a:rPr lang="en-US" sz="3200" b="1" dirty="0">
                <a:solidFill>
                  <a:srgbClr val="FFFFFF"/>
                </a:solidFill>
                <a:latin typeface="Calibri" pitchFamily="34" charset="0"/>
                <a:ea typeface="Calibri" pitchFamily="34" charset="-122"/>
                <a:cs typeface="Calibri" pitchFamily="34" charset="-120"/>
              </a:rPr>
              <a:t>TC10 &amp; TC14</a:t>
            </a:r>
            <a:endParaRPr lang="en-US" sz="3200" dirty="0"/>
          </a:p>
        </p:txBody>
      </p:sp>
      <p:sp>
        <p:nvSpPr>
          <p:cNvPr id="5" name="Text 3"/>
          <p:cNvSpPr/>
          <p:nvPr/>
        </p:nvSpPr>
        <p:spPr>
          <a:xfrm>
            <a:off x="731520" y="3291840"/>
            <a:ext cx="5486400" cy="36576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Industry consortium role, sleep/wake, two-pair Ethernet  •  30 minutes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OPEN Alliance SIG — role and structure</a:t>
            </a:r>
            <a:endParaRPr lang="en-US" sz="2800" dirty="0"/>
          </a:p>
        </p:txBody>
      </p:sp>
      <p:sp>
        <p:nvSpPr>
          <p:cNvPr id="3" name="Text 1"/>
          <p:cNvSpPr/>
          <p:nvPr/>
        </p:nvSpPr>
        <p:spPr>
          <a:xfrm>
            <a:off x="731520" y="777240"/>
            <a:ext cx="7315200" cy="2743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One-Pair Ether-Net — industry consortium driving automotive Ethernet adoption</a:t>
            </a:r>
            <a:endParaRPr lang="en-US" sz="1200" dirty="0"/>
          </a:p>
        </p:txBody>
      </p:sp>
      <p:sp>
        <p:nvSpPr>
          <p:cNvPr id="4" name="Shape 2"/>
          <p:cNvSpPr/>
          <p:nvPr/>
        </p:nvSpPr>
        <p:spPr>
          <a:xfrm>
            <a:off x="731520" y="1188720"/>
            <a:ext cx="3657600" cy="3200400"/>
          </a:xfrm>
          <a:prstGeom prst="rect">
            <a:avLst/>
          </a:prstGeom>
          <a:solidFill>
            <a:srgbClr val="F0F4F8"/>
          </a:solidFill>
          <a:ln/>
          <a:effectLst>
            <a:outerShdw blurRad="50800" dist="25400" dir="8100000" algn="bl" rotWithShape="0">
              <a:srgbClr val="000000">
                <a:alpha val="12000"/>
              </a:srgbClr>
            </a:outerShdw>
          </a:effectLst>
        </p:spPr>
        <p:txBody>
          <a:bodyPr/>
          <a:lstStyle/>
          <a:p>
            <a:endParaRPr lang="en-SG"/>
          </a:p>
        </p:txBody>
      </p:sp>
      <p:sp>
        <p:nvSpPr>
          <p:cNvPr id="5" name="Shape 3"/>
          <p:cNvSpPr/>
          <p:nvPr/>
        </p:nvSpPr>
        <p:spPr>
          <a:xfrm>
            <a:off x="731520" y="1188720"/>
            <a:ext cx="3657600" cy="54864"/>
          </a:xfrm>
          <a:prstGeom prst="rect">
            <a:avLst/>
          </a:prstGeom>
          <a:solidFill>
            <a:srgbClr val="0F6E56"/>
          </a:solidFill>
          <a:ln/>
        </p:spPr>
        <p:txBody>
          <a:bodyPr/>
          <a:lstStyle/>
          <a:p>
            <a:endParaRPr lang="en-SG"/>
          </a:p>
        </p:txBody>
      </p:sp>
      <p:sp>
        <p:nvSpPr>
          <p:cNvPr id="6" name="Text 4"/>
          <p:cNvSpPr/>
          <p:nvPr/>
        </p:nvSpPr>
        <p:spPr>
          <a:xfrm>
            <a:off x="914400" y="1371600"/>
            <a:ext cx="3291840" cy="32004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What OPEN Alliance does</a:t>
            </a:r>
            <a:endParaRPr lang="en-US" sz="1400" dirty="0"/>
          </a:p>
        </p:txBody>
      </p:sp>
      <p:sp>
        <p:nvSpPr>
          <p:cNvPr id="7" name="Text 5"/>
          <p:cNvSpPr/>
          <p:nvPr/>
        </p:nvSpPr>
        <p:spPr>
          <a:xfrm>
            <a:off x="914400" y="1737360"/>
            <a:ext cx="3291840" cy="2286000"/>
          </a:xfrm>
          <a:prstGeom prst="rect">
            <a:avLst/>
          </a:prstGeom>
          <a:noFill/>
          <a:ln/>
        </p:spPr>
        <p:txBody>
          <a:bodyPr wrap="square" lIns="0" tIns="0" rIns="0" bIns="0" rtlCol="0" anchor="ctr"/>
          <a:lstStyle/>
          <a:p>
            <a:pPr marL="0" indent="0">
              <a:lnSpc>
                <a:spcPct val="130000"/>
              </a:lnSpc>
              <a:buNone/>
            </a:pPr>
            <a:r>
              <a:rPr lang="en-US" sz="1100" dirty="0">
                <a:solidFill>
                  <a:srgbClr val="475569"/>
                </a:solidFill>
              </a:rPr>
              <a:t>Defines interoperability specifications that complement IEEE/ISO standards:</a:t>
            </a:r>
            <a:endParaRPr lang="en-US" sz="1100" dirty="0"/>
          </a:p>
          <a:p>
            <a:pPr marL="0" indent="0">
              <a:lnSpc>
                <a:spcPct val="130000"/>
              </a:lnSpc>
              <a:buNone/>
            </a:pPr>
            <a:endParaRPr lang="en-US" sz="1100" dirty="0"/>
          </a:p>
          <a:p>
            <a:pPr marL="342900" indent="-342900">
              <a:lnSpc>
                <a:spcPct val="130000"/>
              </a:lnSpc>
              <a:buSzPct val="100000"/>
              <a:buChar char="•"/>
            </a:pPr>
            <a:r>
              <a:rPr lang="en-US" sz="1100" dirty="0">
                <a:solidFill>
                  <a:srgbClr val="1E293B"/>
                </a:solidFill>
              </a:rPr>
              <a:t>Compliance test specifications</a:t>
            </a:r>
            <a:endParaRPr lang="en-US" sz="1100" dirty="0"/>
          </a:p>
          <a:p>
            <a:pPr marL="342900" indent="-342900">
              <a:lnSpc>
                <a:spcPct val="130000"/>
              </a:lnSpc>
              <a:buSzPct val="100000"/>
              <a:buChar char="•"/>
            </a:pPr>
            <a:r>
              <a:rPr lang="en-US" sz="1100" dirty="0">
                <a:solidFill>
                  <a:srgbClr val="1E293B"/>
                </a:solidFill>
              </a:rPr>
              <a:t>PHY-level interoperability requirements</a:t>
            </a:r>
            <a:endParaRPr lang="en-US" sz="1100" dirty="0"/>
          </a:p>
          <a:p>
            <a:pPr marL="342900" indent="-342900">
              <a:lnSpc>
                <a:spcPct val="130000"/>
              </a:lnSpc>
              <a:buSzPct val="100000"/>
              <a:buChar char="•"/>
            </a:pPr>
            <a:r>
              <a:rPr lang="en-US" sz="1100" dirty="0">
                <a:solidFill>
                  <a:srgbClr val="1E293B"/>
                </a:solidFill>
              </a:rPr>
              <a:t>Sleep/wake behaviour (TC10)</a:t>
            </a:r>
            <a:endParaRPr lang="en-US" sz="1100" dirty="0"/>
          </a:p>
          <a:p>
            <a:pPr marL="342900" indent="-342900">
              <a:lnSpc>
                <a:spcPct val="130000"/>
              </a:lnSpc>
              <a:buSzPct val="100000"/>
              <a:buChar char="•"/>
            </a:pPr>
            <a:r>
              <a:rPr lang="en-US" sz="1100" dirty="0">
                <a:solidFill>
                  <a:srgbClr val="1E293B"/>
                </a:solidFill>
              </a:rPr>
              <a:t>Connector &amp; cabling specs (TC2)</a:t>
            </a:r>
            <a:endParaRPr lang="en-US" sz="1100" dirty="0"/>
          </a:p>
          <a:p>
            <a:pPr marL="342900" indent="-342900">
              <a:lnSpc>
                <a:spcPct val="130000"/>
              </a:lnSpc>
              <a:buSzPct val="100000"/>
              <a:buChar char="•"/>
            </a:pPr>
            <a:r>
              <a:rPr lang="en-US" sz="1100" dirty="0">
                <a:solidFill>
                  <a:srgbClr val="1E293B"/>
                </a:solidFill>
              </a:rPr>
              <a:t>EMC test specifications</a:t>
            </a:r>
            <a:endParaRPr lang="en-US" sz="1100" dirty="0"/>
          </a:p>
          <a:p>
            <a:pPr marL="342900" indent="-342900">
              <a:lnSpc>
                <a:spcPct val="130000"/>
              </a:lnSpc>
              <a:buSzPct val="100000"/>
              <a:buChar char="•"/>
            </a:pPr>
            <a:r>
              <a:rPr lang="en-US" sz="1100" dirty="0">
                <a:solidFill>
                  <a:srgbClr val="1E293B"/>
                </a:solidFill>
              </a:rPr>
              <a:t>Link segment models</a:t>
            </a:r>
            <a:endParaRPr lang="en-US" sz="1100" dirty="0"/>
          </a:p>
        </p:txBody>
      </p:sp>
      <p:sp>
        <p:nvSpPr>
          <p:cNvPr id="8" name="Shape 6"/>
          <p:cNvSpPr/>
          <p:nvPr/>
        </p:nvSpPr>
        <p:spPr>
          <a:xfrm>
            <a:off x="4754880" y="1188720"/>
            <a:ext cx="3657600" cy="3200400"/>
          </a:xfrm>
          <a:prstGeom prst="rect">
            <a:avLst/>
          </a:prstGeom>
          <a:solidFill>
            <a:srgbClr val="F0F4F8"/>
          </a:solidFill>
          <a:ln/>
          <a:effectLst>
            <a:outerShdw blurRad="50800" dist="25400" dir="8100000" algn="bl" rotWithShape="0">
              <a:srgbClr val="000000">
                <a:alpha val="12000"/>
              </a:srgbClr>
            </a:outerShdw>
          </a:effectLst>
        </p:spPr>
        <p:txBody>
          <a:bodyPr/>
          <a:lstStyle/>
          <a:p>
            <a:endParaRPr lang="en-SG"/>
          </a:p>
        </p:txBody>
      </p:sp>
      <p:sp>
        <p:nvSpPr>
          <p:cNvPr id="9" name="Shape 7"/>
          <p:cNvSpPr/>
          <p:nvPr/>
        </p:nvSpPr>
        <p:spPr>
          <a:xfrm>
            <a:off x="4754880" y="1188720"/>
            <a:ext cx="3657600" cy="54864"/>
          </a:xfrm>
          <a:prstGeom prst="rect">
            <a:avLst/>
          </a:prstGeom>
          <a:solidFill>
            <a:srgbClr val="EF9F27"/>
          </a:solidFill>
          <a:ln/>
        </p:spPr>
        <p:txBody>
          <a:bodyPr/>
          <a:lstStyle/>
          <a:p>
            <a:endParaRPr lang="en-SG"/>
          </a:p>
        </p:txBody>
      </p:sp>
      <p:sp>
        <p:nvSpPr>
          <p:cNvPr id="10" name="Text 8"/>
          <p:cNvSpPr/>
          <p:nvPr/>
        </p:nvSpPr>
        <p:spPr>
          <a:xfrm>
            <a:off x="4937760" y="1371600"/>
            <a:ext cx="3291840" cy="32004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Key technical committees</a:t>
            </a:r>
            <a:endParaRPr lang="en-US" sz="1400" dirty="0"/>
          </a:p>
        </p:txBody>
      </p:sp>
      <p:sp>
        <p:nvSpPr>
          <p:cNvPr id="11" name="Shape 9"/>
          <p:cNvSpPr/>
          <p:nvPr/>
        </p:nvSpPr>
        <p:spPr>
          <a:xfrm>
            <a:off x="5029200" y="1783080"/>
            <a:ext cx="502920" cy="237744"/>
          </a:xfrm>
          <a:prstGeom prst="rect">
            <a:avLst/>
          </a:prstGeom>
          <a:solidFill>
            <a:srgbClr val="065A82"/>
          </a:solidFill>
          <a:ln/>
        </p:spPr>
        <p:txBody>
          <a:bodyPr/>
          <a:lstStyle/>
          <a:p>
            <a:endParaRPr lang="en-SG"/>
          </a:p>
        </p:txBody>
      </p:sp>
      <p:sp>
        <p:nvSpPr>
          <p:cNvPr id="12" name="Text 10"/>
          <p:cNvSpPr/>
          <p:nvPr/>
        </p:nvSpPr>
        <p:spPr>
          <a:xfrm>
            <a:off x="5029200" y="1783080"/>
            <a:ext cx="50292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TC1</a:t>
            </a:r>
            <a:endParaRPr lang="en-US" sz="900" dirty="0"/>
          </a:p>
        </p:txBody>
      </p:sp>
      <p:sp>
        <p:nvSpPr>
          <p:cNvPr id="13" name="Text 11"/>
          <p:cNvSpPr/>
          <p:nvPr/>
        </p:nvSpPr>
        <p:spPr>
          <a:xfrm>
            <a:off x="5623560" y="1783080"/>
            <a:ext cx="2560320" cy="237744"/>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100BASE-T1 compliance</a:t>
            </a:r>
            <a:endParaRPr lang="en-US" sz="1000" dirty="0"/>
          </a:p>
        </p:txBody>
      </p:sp>
      <p:sp>
        <p:nvSpPr>
          <p:cNvPr id="14" name="Shape 12"/>
          <p:cNvSpPr/>
          <p:nvPr/>
        </p:nvSpPr>
        <p:spPr>
          <a:xfrm>
            <a:off x="5029200" y="2075688"/>
            <a:ext cx="502920" cy="237744"/>
          </a:xfrm>
          <a:prstGeom prst="rect">
            <a:avLst/>
          </a:prstGeom>
          <a:solidFill>
            <a:srgbClr val="065A82"/>
          </a:solidFill>
          <a:ln/>
        </p:spPr>
        <p:txBody>
          <a:bodyPr/>
          <a:lstStyle/>
          <a:p>
            <a:endParaRPr lang="en-SG"/>
          </a:p>
        </p:txBody>
      </p:sp>
      <p:sp>
        <p:nvSpPr>
          <p:cNvPr id="15" name="Text 13"/>
          <p:cNvSpPr/>
          <p:nvPr/>
        </p:nvSpPr>
        <p:spPr>
          <a:xfrm>
            <a:off x="5029200" y="2075688"/>
            <a:ext cx="50292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TC2</a:t>
            </a:r>
            <a:endParaRPr lang="en-US" sz="900" dirty="0"/>
          </a:p>
        </p:txBody>
      </p:sp>
      <p:sp>
        <p:nvSpPr>
          <p:cNvPr id="16" name="Text 14"/>
          <p:cNvSpPr/>
          <p:nvPr/>
        </p:nvSpPr>
        <p:spPr>
          <a:xfrm>
            <a:off x="5623560" y="2075688"/>
            <a:ext cx="2560320" cy="237744"/>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Connector specifications</a:t>
            </a:r>
            <a:endParaRPr lang="en-US" sz="1000" dirty="0"/>
          </a:p>
        </p:txBody>
      </p:sp>
      <p:sp>
        <p:nvSpPr>
          <p:cNvPr id="17" name="Shape 15"/>
          <p:cNvSpPr/>
          <p:nvPr/>
        </p:nvSpPr>
        <p:spPr>
          <a:xfrm>
            <a:off x="5029200" y="2334006"/>
            <a:ext cx="502920" cy="237744"/>
          </a:xfrm>
          <a:prstGeom prst="rect">
            <a:avLst/>
          </a:prstGeom>
          <a:solidFill>
            <a:srgbClr val="065A82"/>
          </a:solidFill>
          <a:ln/>
        </p:spPr>
        <p:txBody>
          <a:bodyPr/>
          <a:lstStyle/>
          <a:p>
            <a:endParaRPr lang="en-SG"/>
          </a:p>
        </p:txBody>
      </p:sp>
      <p:sp>
        <p:nvSpPr>
          <p:cNvPr id="18" name="Text 16"/>
          <p:cNvSpPr/>
          <p:nvPr/>
        </p:nvSpPr>
        <p:spPr>
          <a:xfrm>
            <a:off x="5029200" y="2368296"/>
            <a:ext cx="50292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TC6</a:t>
            </a:r>
            <a:endParaRPr lang="en-US" sz="900" dirty="0"/>
          </a:p>
        </p:txBody>
      </p:sp>
      <p:sp>
        <p:nvSpPr>
          <p:cNvPr id="19" name="Text 17"/>
          <p:cNvSpPr/>
          <p:nvPr/>
        </p:nvSpPr>
        <p:spPr>
          <a:xfrm>
            <a:off x="5623560" y="2368296"/>
            <a:ext cx="2560320" cy="237744"/>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MDI ( </a:t>
            </a:r>
            <a:r>
              <a:rPr lang="en-US" sz="1000" dirty="0" err="1">
                <a:solidFill>
                  <a:srgbClr val="475569"/>
                </a:solidFill>
                <a:latin typeface="Calibri" pitchFamily="34" charset="0"/>
                <a:ea typeface="Calibri" pitchFamily="34" charset="-122"/>
                <a:cs typeface="Calibri" pitchFamily="34" charset="-120"/>
              </a:rPr>
              <a:t>xMII</a:t>
            </a:r>
            <a:r>
              <a:rPr lang="en-US" sz="1000" dirty="0">
                <a:solidFill>
                  <a:srgbClr val="475569"/>
                </a:solidFill>
                <a:latin typeface="Calibri" pitchFamily="34" charset="0"/>
                <a:ea typeface="Calibri" pitchFamily="34" charset="-122"/>
                <a:cs typeface="Calibri" pitchFamily="34" charset="-120"/>
              </a:rPr>
              <a:t>) 10BASE-T1x MAC-PHY SPI</a:t>
            </a:r>
            <a:endParaRPr lang="en-US" sz="1000" dirty="0"/>
          </a:p>
        </p:txBody>
      </p:sp>
      <p:sp>
        <p:nvSpPr>
          <p:cNvPr id="20" name="Shape 18"/>
          <p:cNvSpPr/>
          <p:nvPr/>
        </p:nvSpPr>
        <p:spPr>
          <a:xfrm>
            <a:off x="5029200" y="2660904"/>
            <a:ext cx="502920" cy="237744"/>
          </a:xfrm>
          <a:prstGeom prst="rect">
            <a:avLst/>
          </a:prstGeom>
          <a:solidFill>
            <a:srgbClr val="065A82"/>
          </a:solidFill>
          <a:ln/>
        </p:spPr>
        <p:txBody>
          <a:bodyPr/>
          <a:lstStyle/>
          <a:p>
            <a:endParaRPr lang="en-SG"/>
          </a:p>
        </p:txBody>
      </p:sp>
      <p:sp>
        <p:nvSpPr>
          <p:cNvPr id="21" name="Text 19"/>
          <p:cNvSpPr/>
          <p:nvPr/>
        </p:nvSpPr>
        <p:spPr>
          <a:xfrm>
            <a:off x="5029200" y="2660904"/>
            <a:ext cx="50292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TC8</a:t>
            </a:r>
            <a:endParaRPr lang="en-US" sz="900" dirty="0"/>
          </a:p>
        </p:txBody>
      </p:sp>
      <p:sp>
        <p:nvSpPr>
          <p:cNvPr id="22" name="Text 20"/>
          <p:cNvSpPr/>
          <p:nvPr/>
        </p:nvSpPr>
        <p:spPr>
          <a:xfrm>
            <a:off x="5623560" y="2660904"/>
            <a:ext cx="2560320" cy="237744"/>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EMC test specifications</a:t>
            </a:r>
            <a:endParaRPr lang="en-US" sz="1000" dirty="0"/>
          </a:p>
        </p:txBody>
      </p:sp>
      <p:sp>
        <p:nvSpPr>
          <p:cNvPr id="23" name="Shape 21"/>
          <p:cNvSpPr/>
          <p:nvPr/>
        </p:nvSpPr>
        <p:spPr>
          <a:xfrm>
            <a:off x="5029200" y="2953512"/>
            <a:ext cx="502920" cy="237744"/>
          </a:xfrm>
          <a:prstGeom prst="rect">
            <a:avLst/>
          </a:prstGeom>
          <a:solidFill>
            <a:srgbClr val="065A82"/>
          </a:solidFill>
          <a:ln/>
        </p:spPr>
        <p:txBody>
          <a:bodyPr/>
          <a:lstStyle/>
          <a:p>
            <a:endParaRPr lang="en-SG"/>
          </a:p>
        </p:txBody>
      </p:sp>
      <p:sp>
        <p:nvSpPr>
          <p:cNvPr id="24" name="Text 22"/>
          <p:cNvSpPr/>
          <p:nvPr/>
        </p:nvSpPr>
        <p:spPr>
          <a:xfrm>
            <a:off x="5029200" y="2953512"/>
            <a:ext cx="50292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TC9</a:t>
            </a:r>
            <a:endParaRPr lang="en-US" sz="900" dirty="0"/>
          </a:p>
        </p:txBody>
      </p:sp>
      <p:sp>
        <p:nvSpPr>
          <p:cNvPr id="25" name="Text 23"/>
          <p:cNvSpPr/>
          <p:nvPr/>
        </p:nvSpPr>
        <p:spPr>
          <a:xfrm>
            <a:off x="5623560" y="2953512"/>
            <a:ext cx="2560320" cy="237744"/>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1000BASE-T1 compliance</a:t>
            </a:r>
            <a:endParaRPr lang="en-US" sz="1000" dirty="0"/>
          </a:p>
        </p:txBody>
      </p:sp>
      <p:sp>
        <p:nvSpPr>
          <p:cNvPr id="26" name="Shape 24"/>
          <p:cNvSpPr/>
          <p:nvPr/>
        </p:nvSpPr>
        <p:spPr>
          <a:xfrm>
            <a:off x="5029200" y="3246120"/>
            <a:ext cx="502920" cy="237744"/>
          </a:xfrm>
          <a:prstGeom prst="rect">
            <a:avLst/>
          </a:prstGeom>
          <a:solidFill>
            <a:srgbClr val="EF9F27"/>
          </a:solidFill>
          <a:ln/>
        </p:spPr>
        <p:txBody>
          <a:bodyPr/>
          <a:lstStyle/>
          <a:p>
            <a:endParaRPr lang="en-SG"/>
          </a:p>
        </p:txBody>
      </p:sp>
      <p:sp>
        <p:nvSpPr>
          <p:cNvPr id="27" name="Text 25"/>
          <p:cNvSpPr/>
          <p:nvPr/>
        </p:nvSpPr>
        <p:spPr>
          <a:xfrm>
            <a:off x="5029200" y="3246120"/>
            <a:ext cx="50292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TC10</a:t>
            </a:r>
            <a:endParaRPr lang="en-US" sz="900" dirty="0"/>
          </a:p>
        </p:txBody>
      </p:sp>
      <p:sp>
        <p:nvSpPr>
          <p:cNvPr id="28" name="Text 26"/>
          <p:cNvSpPr/>
          <p:nvPr/>
        </p:nvSpPr>
        <p:spPr>
          <a:xfrm>
            <a:off x="5623560" y="3246120"/>
            <a:ext cx="2560320" cy="237744"/>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Sleep/wake (energy mgmt)</a:t>
            </a:r>
            <a:endParaRPr lang="en-US" sz="1000" dirty="0"/>
          </a:p>
        </p:txBody>
      </p:sp>
      <p:sp>
        <p:nvSpPr>
          <p:cNvPr id="29" name="Shape 27"/>
          <p:cNvSpPr/>
          <p:nvPr/>
        </p:nvSpPr>
        <p:spPr>
          <a:xfrm>
            <a:off x="5029200" y="3538728"/>
            <a:ext cx="502920" cy="237744"/>
          </a:xfrm>
          <a:prstGeom prst="rect">
            <a:avLst/>
          </a:prstGeom>
          <a:solidFill>
            <a:srgbClr val="065A82"/>
          </a:solidFill>
          <a:ln/>
        </p:spPr>
        <p:txBody>
          <a:bodyPr/>
          <a:lstStyle/>
          <a:p>
            <a:endParaRPr lang="en-SG"/>
          </a:p>
        </p:txBody>
      </p:sp>
      <p:sp>
        <p:nvSpPr>
          <p:cNvPr id="30" name="Text 28"/>
          <p:cNvSpPr/>
          <p:nvPr/>
        </p:nvSpPr>
        <p:spPr>
          <a:xfrm>
            <a:off x="5029200" y="3538728"/>
            <a:ext cx="50292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TC12</a:t>
            </a:r>
            <a:endParaRPr lang="en-US" sz="900" dirty="0"/>
          </a:p>
        </p:txBody>
      </p:sp>
      <p:sp>
        <p:nvSpPr>
          <p:cNvPr id="31" name="Text 29"/>
          <p:cNvSpPr/>
          <p:nvPr/>
        </p:nvSpPr>
        <p:spPr>
          <a:xfrm>
            <a:off x="5623560" y="3538728"/>
            <a:ext cx="2560320" cy="237744"/>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1000BASE-T1 interop</a:t>
            </a:r>
            <a:endParaRPr lang="en-US" sz="1000" dirty="0"/>
          </a:p>
        </p:txBody>
      </p:sp>
      <p:sp>
        <p:nvSpPr>
          <p:cNvPr id="32" name="Shape 30"/>
          <p:cNvSpPr/>
          <p:nvPr/>
        </p:nvSpPr>
        <p:spPr>
          <a:xfrm>
            <a:off x="5029200" y="3831336"/>
            <a:ext cx="502920" cy="237744"/>
          </a:xfrm>
          <a:prstGeom prst="rect">
            <a:avLst/>
          </a:prstGeom>
          <a:solidFill>
            <a:srgbClr val="EF9F27"/>
          </a:solidFill>
          <a:ln/>
        </p:spPr>
        <p:txBody>
          <a:bodyPr/>
          <a:lstStyle/>
          <a:p>
            <a:endParaRPr lang="en-SG"/>
          </a:p>
        </p:txBody>
      </p:sp>
      <p:sp>
        <p:nvSpPr>
          <p:cNvPr id="33" name="Text 31"/>
          <p:cNvSpPr/>
          <p:nvPr/>
        </p:nvSpPr>
        <p:spPr>
          <a:xfrm>
            <a:off x="5029200" y="3831336"/>
            <a:ext cx="50292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TC14</a:t>
            </a:r>
            <a:endParaRPr lang="en-US" sz="900" dirty="0"/>
          </a:p>
        </p:txBody>
      </p:sp>
      <p:sp>
        <p:nvSpPr>
          <p:cNvPr id="34" name="Text 32"/>
          <p:cNvSpPr/>
          <p:nvPr/>
        </p:nvSpPr>
        <p:spPr>
          <a:xfrm>
            <a:off x="5623560" y="3831336"/>
            <a:ext cx="2560320" cy="237744"/>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10BASE-T1S (Multidrop)</a:t>
            </a:r>
            <a:endParaRPr lang="en-US" sz="1000" dirty="0"/>
          </a:p>
        </p:txBody>
      </p:sp>
      <p:sp>
        <p:nvSpPr>
          <p:cNvPr id="35" name="Text 33"/>
          <p:cNvSpPr/>
          <p:nvPr/>
        </p:nvSpPr>
        <p:spPr>
          <a:xfrm>
            <a:off x="731520" y="4572000"/>
            <a:ext cx="7680960" cy="274320"/>
          </a:xfrm>
          <a:prstGeom prst="rect">
            <a:avLst/>
          </a:prstGeom>
          <a:noFill/>
          <a:ln/>
        </p:spPr>
        <p:txBody>
          <a:bodyPr wrap="square" lIns="0" tIns="0" rIns="0" bIns="0" rtlCol="0" anchor="ctr"/>
          <a:lstStyle/>
          <a:p>
            <a:pPr marL="0" indent="0">
              <a:buNone/>
            </a:pPr>
            <a:r>
              <a:rPr lang="en-US" sz="1100" i="1" dirty="0">
                <a:solidFill>
                  <a:srgbClr val="94A3B8"/>
                </a:solidFill>
                <a:latin typeface="Calibri" pitchFamily="34" charset="0"/>
                <a:ea typeface="Calibri" pitchFamily="34" charset="-122"/>
                <a:cs typeface="Calibri" pitchFamily="34" charset="-120"/>
              </a:rPr>
              <a:t>Members include: BMW, Continental, Marvell, NXP, Broadcom, TI, Bosch, Qualcomm, and 300+ others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TC10 — sleep / wake for automotive Ethernet</a:t>
            </a:r>
            <a:endParaRPr lang="en-US" sz="2800" dirty="0"/>
          </a:p>
        </p:txBody>
      </p:sp>
      <p:sp>
        <p:nvSpPr>
          <p:cNvPr id="3" name="Text 1"/>
          <p:cNvSpPr/>
          <p:nvPr/>
        </p:nvSpPr>
        <p:spPr>
          <a:xfrm>
            <a:off x="731520" y="914400"/>
            <a:ext cx="7315200" cy="27432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Why TC10 exists</a:t>
            </a:r>
            <a:endParaRPr lang="en-US" sz="1600" dirty="0"/>
          </a:p>
        </p:txBody>
      </p:sp>
      <p:sp>
        <p:nvSpPr>
          <p:cNvPr id="4" name="Text 2"/>
          <p:cNvSpPr/>
          <p:nvPr/>
        </p:nvSpPr>
        <p:spPr>
          <a:xfrm>
            <a:off x="731520" y="1234440"/>
            <a:ext cx="7680960" cy="640080"/>
          </a:xfrm>
          <a:prstGeom prst="rect">
            <a:avLst/>
          </a:prstGeom>
          <a:noFill/>
          <a:ln/>
        </p:spPr>
        <p:txBody>
          <a:bodyPr wrap="square" lIns="0" tIns="0" rIns="0" bIns="0" rtlCol="0" anchor="ctr"/>
          <a:lstStyle/>
          <a:p>
            <a:pPr marL="0" indent="0">
              <a:lnSpc>
                <a:spcPct val="140000"/>
              </a:lnSpc>
              <a:buNone/>
            </a:pPr>
            <a:r>
              <a:rPr lang="en-US" sz="1200" dirty="0">
                <a:solidFill>
                  <a:srgbClr val="475569"/>
                </a:solidFill>
                <a:latin typeface="Calibri" pitchFamily="34" charset="0"/>
                <a:ea typeface="Calibri" pitchFamily="34" charset="-122"/>
                <a:cs typeface="Calibri" pitchFamily="34" charset="-120"/>
              </a:rPr>
              <a:t>Standard Ethernet has no concept of sleep — the PHY link is always up and consuming power. In a vehicle with 20+ Ethernet ports, this wastes significant standby current. TC10 defines how an Ethernet link can enter and exit a low-power sleep state while maintaining the ability to wake on network activity.</a:t>
            </a:r>
            <a:endParaRPr lang="en-US" sz="1200" dirty="0"/>
          </a:p>
        </p:txBody>
      </p:sp>
      <p:sp>
        <p:nvSpPr>
          <p:cNvPr id="5" name="Text 3"/>
          <p:cNvSpPr/>
          <p:nvPr/>
        </p:nvSpPr>
        <p:spPr>
          <a:xfrm>
            <a:off x="731520" y="2011680"/>
            <a:ext cx="7315200" cy="27432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TC10 link state machine</a:t>
            </a:r>
            <a:endParaRPr lang="en-US" sz="1600" dirty="0"/>
          </a:p>
        </p:txBody>
      </p:sp>
      <p:sp>
        <p:nvSpPr>
          <p:cNvPr id="6" name="Shape 4"/>
          <p:cNvSpPr/>
          <p:nvPr/>
        </p:nvSpPr>
        <p:spPr>
          <a:xfrm>
            <a:off x="731520" y="2377440"/>
            <a:ext cx="1737360" cy="822960"/>
          </a:xfrm>
          <a:prstGeom prst="rect">
            <a:avLst/>
          </a:prstGeom>
          <a:solidFill>
            <a:srgbClr val="0F6E56"/>
          </a:solidFill>
          <a:ln/>
          <a:effectLst>
            <a:outerShdw blurRad="50800" dist="25400" dir="8100000" algn="bl" rotWithShape="0">
              <a:srgbClr val="000000">
                <a:alpha val="12000"/>
              </a:srgbClr>
            </a:outerShdw>
          </a:effectLst>
        </p:spPr>
        <p:txBody>
          <a:bodyPr/>
          <a:lstStyle/>
          <a:p>
            <a:endParaRPr lang="en-SG"/>
          </a:p>
        </p:txBody>
      </p:sp>
      <p:sp>
        <p:nvSpPr>
          <p:cNvPr id="7" name="Text 5"/>
          <p:cNvSpPr/>
          <p:nvPr/>
        </p:nvSpPr>
        <p:spPr>
          <a:xfrm>
            <a:off x="731520" y="2423160"/>
            <a:ext cx="17373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ACTIVE</a:t>
            </a:r>
            <a:endParaRPr lang="en-US" sz="1300" dirty="0"/>
          </a:p>
        </p:txBody>
      </p:sp>
      <p:sp>
        <p:nvSpPr>
          <p:cNvPr id="8" name="Text 6"/>
          <p:cNvSpPr/>
          <p:nvPr/>
        </p:nvSpPr>
        <p:spPr>
          <a:xfrm>
            <a:off x="731520" y="2788920"/>
            <a:ext cx="1737360" cy="365760"/>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Link up, data</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transfer</a:t>
            </a:r>
            <a:endParaRPr lang="en-US" sz="900" dirty="0"/>
          </a:p>
        </p:txBody>
      </p:sp>
      <p:sp>
        <p:nvSpPr>
          <p:cNvPr id="9" name="Shape 7"/>
          <p:cNvSpPr/>
          <p:nvPr/>
        </p:nvSpPr>
        <p:spPr>
          <a:xfrm>
            <a:off x="2834640" y="2377440"/>
            <a:ext cx="1737360" cy="822960"/>
          </a:xfrm>
          <a:prstGeom prst="rect">
            <a:avLst/>
          </a:prstGeom>
          <a:solidFill>
            <a:srgbClr val="EF9F27"/>
          </a:solidFill>
          <a:ln/>
          <a:effectLst>
            <a:outerShdw blurRad="50800" dist="25400" dir="8100000" algn="bl" rotWithShape="0">
              <a:srgbClr val="000000">
                <a:alpha val="12000"/>
              </a:srgbClr>
            </a:outerShdw>
          </a:effectLst>
        </p:spPr>
        <p:txBody>
          <a:bodyPr/>
          <a:lstStyle/>
          <a:p>
            <a:endParaRPr lang="en-SG"/>
          </a:p>
        </p:txBody>
      </p:sp>
      <p:sp>
        <p:nvSpPr>
          <p:cNvPr id="10" name="Text 8"/>
          <p:cNvSpPr/>
          <p:nvPr/>
        </p:nvSpPr>
        <p:spPr>
          <a:xfrm>
            <a:off x="2834640" y="2423160"/>
            <a:ext cx="17373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SLEEP REQ</a:t>
            </a:r>
            <a:endParaRPr lang="en-US" sz="1300" dirty="0"/>
          </a:p>
        </p:txBody>
      </p:sp>
      <p:sp>
        <p:nvSpPr>
          <p:cNvPr id="11" name="Text 9"/>
          <p:cNvSpPr/>
          <p:nvPr/>
        </p:nvSpPr>
        <p:spPr>
          <a:xfrm>
            <a:off x="2834640" y="2788920"/>
            <a:ext cx="1737360" cy="365760"/>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Coordinated</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shutdown</a:t>
            </a:r>
            <a:endParaRPr lang="en-US" sz="900" dirty="0"/>
          </a:p>
        </p:txBody>
      </p:sp>
      <p:sp>
        <p:nvSpPr>
          <p:cNvPr id="12" name="Shape 10"/>
          <p:cNvSpPr/>
          <p:nvPr/>
        </p:nvSpPr>
        <p:spPr>
          <a:xfrm>
            <a:off x="4937760" y="2377440"/>
            <a:ext cx="1737360" cy="822960"/>
          </a:xfrm>
          <a:prstGeom prst="rect">
            <a:avLst/>
          </a:prstGeom>
          <a:solidFill>
            <a:srgbClr val="1B2D4A"/>
          </a:solidFill>
          <a:ln/>
          <a:effectLst>
            <a:outerShdw blurRad="50800" dist="25400" dir="8100000" algn="bl" rotWithShape="0">
              <a:srgbClr val="000000">
                <a:alpha val="12000"/>
              </a:srgbClr>
            </a:outerShdw>
          </a:effectLst>
        </p:spPr>
        <p:txBody>
          <a:bodyPr/>
          <a:lstStyle/>
          <a:p>
            <a:endParaRPr lang="en-SG"/>
          </a:p>
        </p:txBody>
      </p:sp>
      <p:sp>
        <p:nvSpPr>
          <p:cNvPr id="13" name="Text 11"/>
          <p:cNvSpPr/>
          <p:nvPr/>
        </p:nvSpPr>
        <p:spPr>
          <a:xfrm>
            <a:off x="4937760" y="2423160"/>
            <a:ext cx="17373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SLEEP</a:t>
            </a:r>
            <a:endParaRPr lang="en-US" sz="1300" dirty="0"/>
          </a:p>
        </p:txBody>
      </p:sp>
      <p:sp>
        <p:nvSpPr>
          <p:cNvPr id="14" name="Text 12"/>
          <p:cNvSpPr/>
          <p:nvPr/>
        </p:nvSpPr>
        <p:spPr>
          <a:xfrm>
            <a:off x="4937760" y="2788920"/>
            <a:ext cx="1737360" cy="365760"/>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PHY powered</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down, &lt;1 mW</a:t>
            </a:r>
            <a:endParaRPr lang="en-US" sz="900" dirty="0"/>
          </a:p>
        </p:txBody>
      </p:sp>
      <p:sp>
        <p:nvSpPr>
          <p:cNvPr id="15" name="Shape 13"/>
          <p:cNvSpPr/>
          <p:nvPr/>
        </p:nvSpPr>
        <p:spPr>
          <a:xfrm>
            <a:off x="7040880" y="2377440"/>
            <a:ext cx="1737360" cy="822960"/>
          </a:xfrm>
          <a:prstGeom prst="rect">
            <a:avLst/>
          </a:prstGeom>
          <a:solidFill>
            <a:srgbClr val="D85A30"/>
          </a:solidFill>
          <a:ln/>
          <a:effectLst>
            <a:outerShdw blurRad="50800" dist="25400" dir="8100000" algn="bl" rotWithShape="0">
              <a:srgbClr val="000000">
                <a:alpha val="12000"/>
              </a:srgbClr>
            </a:outerShdw>
          </a:effectLst>
        </p:spPr>
        <p:txBody>
          <a:bodyPr/>
          <a:lstStyle/>
          <a:p>
            <a:endParaRPr lang="en-SG"/>
          </a:p>
        </p:txBody>
      </p:sp>
      <p:sp>
        <p:nvSpPr>
          <p:cNvPr id="16" name="Text 14"/>
          <p:cNvSpPr/>
          <p:nvPr/>
        </p:nvSpPr>
        <p:spPr>
          <a:xfrm>
            <a:off x="7040880" y="2423160"/>
            <a:ext cx="17373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WAKE</a:t>
            </a:r>
            <a:endParaRPr lang="en-US" sz="1300" dirty="0"/>
          </a:p>
        </p:txBody>
      </p:sp>
      <p:sp>
        <p:nvSpPr>
          <p:cNvPr id="17" name="Text 15"/>
          <p:cNvSpPr/>
          <p:nvPr/>
        </p:nvSpPr>
        <p:spPr>
          <a:xfrm>
            <a:off x="7040880" y="2788920"/>
            <a:ext cx="1737360" cy="365760"/>
          </a:xfrm>
          <a:prstGeom prst="rect">
            <a:avLst/>
          </a:prstGeom>
          <a:noFill/>
          <a:ln/>
        </p:spPr>
        <p:txBody>
          <a:bodyPr wrap="square" lIns="0" tIns="0" rIns="0" bIns="0"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Wake pulse</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detected</a:t>
            </a:r>
            <a:endParaRPr lang="en-US" sz="900" dirty="0"/>
          </a:p>
        </p:txBody>
      </p:sp>
      <p:sp>
        <p:nvSpPr>
          <p:cNvPr id="18" name="Shape 16"/>
          <p:cNvSpPr/>
          <p:nvPr/>
        </p:nvSpPr>
        <p:spPr>
          <a:xfrm>
            <a:off x="2468880" y="2788920"/>
            <a:ext cx="365760" cy="0"/>
          </a:xfrm>
          <a:prstGeom prst="line">
            <a:avLst/>
          </a:prstGeom>
          <a:noFill/>
          <a:ln w="19050">
            <a:solidFill>
              <a:srgbClr val="475569"/>
            </a:solidFill>
            <a:prstDash val="solid"/>
          </a:ln>
        </p:spPr>
        <p:txBody>
          <a:bodyPr/>
          <a:lstStyle/>
          <a:p>
            <a:endParaRPr lang="en-SG"/>
          </a:p>
        </p:txBody>
      </p:sp>
      <p:sp>
        <p:nvSpPr>
          <p:cNvPr id="19" name="Shape 17"/>
          <p:cNvSpPr/>
          <p:nvPr/>
        </p:nvSpPr>
        <p:spPr>
          <a:xfrm>
            <a:off x="4572000" y="2788920"/>
            <a:ext cx="365760" cy="0"/>
          </a:xfrm>
          <a:prstGeom prst="line">
            <a:avLst/>
          </a:prstGeom>
          <a:noFill/>
          <a:ln w="19050">
            <a:solidFill>
              <a:srgbClr val="475569"/>
            </a:solidFill>
            <a:prstDash val="solid"/>
          </a:ln>
        </p:spPr>
        <p:txBody>
          <a:bodyPr/>
          <a:lstStyle/>
          <a:p>
            <a:endParaRPr lang="en-SG"/>
          </a:p>
        </p:txBody>
      </p:sp>
      <p:sp>
        <p:nvSpPr>
          <p:cNvPr id="20" name="Shape 18"/>
          <p:cNvSpPr/>
          <p:nvPr/>
        </p:nvSpPr>
        <p:spPr>
          <a:xfrm>
            <a:off x="6675120" y="2788920"/>
            <a:ext cx="365760" cy="0"/>
          </a:xfrm>
          <a:prstGeom prst="line">
            <a:avLst/>
          </a:prstGeom>
          <a:noFill/>
          <a:ln w="19050">
            <a:solidFill>
              <a:srgbClr val="475569"/>
            </a:solidFill>
            <a:prstDash val="solid"/>
          </a:ln>
        </p:spPr>
        <p:txBody>
          <a:bodyPr/>
          <a:lstStyle/>
          <a:p>
            <a:endParaRPr lang="en-SG"/>
          </a:p>
        </p:txBody>
      </p:sp>
      <p:sp>
        <p:nvSpPr>
          <p:cNvPr id="21" name="Text 19"/>
          <p:cNvSpPr/>
          <p:nvPr/>
        </p:nvSpPr>
        <p:spPr>
          <a:xfrm>
            <a:off x="2743200" y="3383280"/>
            <a:ext cx="5029200" cy="182880"/>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Link re-established</a:t>
            </a:r>
            <a:endParaRPr lang="en-US" sz="900" dirty="0"/>
          </a:p>
        </p:txBody>
      </p:sp>
      <p:sp>
        <p:nvSpPr>
          <p:cNvPr id="22" name="Shape 20"/>
          <p:cNvSpPr/>
          <p:nvPr/>
        </p:nvSpPr>
        <p:spPr>
          <a:xfrm>
            <a:off x="1554480" y="3566160"/>
            <a:ext cx="6126480" cy="0"/>
          </a:xfrm>
          <a:prstGeom prst="line">
            <a:avLst/>
          </a:prstGeom>
          <a:noFill/>
          <a:ln w="12700">
            <a:solidFill>
              <a:srgbClr val="94A3B8"/>
            </a:solidFill>
            <a:prstDash val="dash"/>
          </a:ln>
        </p:spPr>
        <p:txBody>
          <a:bodyPr/>
          <a:lstStyle/>
          <a:p>
            <a:endParaRPr lang="en-SG"/>
          </a:p>
        </p:txBody>
      </p:sp>
      <p:sp>
        <p:nvSpPr>
          <p:cNvPr id="23" name="Text 21"/>
          <p:cNvSpPr/>
          <p:nvPr/>
        </p:nvSpPr>
        <p:spPr>
          <a:xfrm>
            <a:off x="731520" y="3840480"/>
            <a:ext cx="731520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Key TC10 mechanisms</a:t>
            </a:r>
            <a:endParaRPr lang="en-US" sz="1400" dirty="0"/>
          </a:p>
        </p:txBody>
      </p:sp>
      <p:sp>
        <p:nvSpPr>
          <p:cNvPr id="24" name="Text 22"/>
          <p:cNvSpPr/>
          <p:nvPr/>
        </p:nvSpPr>
        <p:spPr>
          <a:xfrm>
            <a:off x="731520" y="4160520"/>
            <a:ext cx="1188720" cy="20116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Sleep request:  </a:t>
            </a:r>
            <a:endParaRPr lang="en-US" sz="1000" dirty="0"/>
          </a:p>
        </p:txBody>
      </p:sp>
      <p:sp>
        <p:nvSpPr>
          <p:cNvPr id="25" name="Text 23"/>
          <p:cNvSpPr/>
          <p:nvPr/>
        </p:nvSpPr>
        <p:spPr>
          <a:xfrm>
            <a:off x="1920240" y="4160520"/>
            <a:ext cx="6492240" cy="20116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MAC sends LPI (Low Power Idle) signalling via the MDIO interface, then PHY transitions to sleep</a:t>
            </a:r>
            <a:endParaRPr lang="en-US" sz="1000" dirty="0"/>
          </a:p>
        </p:txBody>
      </p:sp>
      <p:sp>
        <p:nvSpPr>
          <p:cNvPr id="26" name="Text 24"/>
          <p:cNvSpPr/>
          <p:nvPr/>
        </p:nvSpPr>
        <p:spPr>
          <a:xfrm>
            <a:off x="731520" y="4398264"/>
            <a:ext cx="1188720" cy="20116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Wake forward:  </a:t>
            </a:r>
            <a:endParaRPr lang="en-US" sz="1000" dirty="0"/>
          </a:p>
        </p:txBody>
      </p:sp>
      <p:sp>
        <p:nvSpPr>
          <p:cNvPr id="27" name="Text 25"/>
          <p:cNvSpPr/>
          <p:nvPr/>
        </p:nvSpPr>
        <p:spPr>
          <a:xfrm>
            <a:off x="1920240" y="4398264"/>
            <a:ext cx="6492240" cy="20116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A sleeping PHY can detect a wake pulse from the link partner and forward it to the local MAC</a:t>
            </a:r>
            <a:endParaRPr lang="en-US" sz="1000" dirty="0"/>
          </a:p>
        </p:txBody>
      </p:sp>
      <p:sp>
        <p:nvSpPr>
          <p:cNvPr id="28" name="Text 26"/>
          <p:cNvSpPr/>
          <p:nvPr/>
        </p:nvSpPr>
        <p:spPr>
          <a:xfrm>
            <a:off x="731520" y="4636008"/>
            <a:ext cx="1188720" cy="20116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Wake sources:  </a:t>
            </a:r>
            <a:endParaRPr lang="en-US" sz="1000" dirty="0"/>
          </a:p>
        </p:txBody>
      </p:sp>
      <p:sp>
        <p:nvSpPr>
          <p:cNvPr id="29" name="Text 27"/>
          <p:cNvSpPr/>
          <p:nvPr/>
        </p:nvSpPr>
        <p:spPr>
          <a:xfrm>
            <a:off x="1920240" y="4636008"/>
            <a:ext cx="6492240" cy="20116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Local wake (from MCU/hardware pin) or remote wake (from link partner's wake pulse on the wire)</a:t>
            </a:r>
            <a:endParaRPr lang="en-US" sz="1000" dirty="0"/>
          </a:p>
        </p:txBody>
      </p:sp>
      <p:sp>
        <p:nvSpPr>
          <p:cNvPr id="30" name="Text 28"/>
          <p:cNvSpPr/>
          <p:nvPr/>
        </p:nvSpPr>
        <p:spPr>
          <a:xfrm>
            <a:off x="731520" y="4873752"/>
            <a:ext cx="1188720" cy="201168"/>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Timing:  </a:t>
            </a:r>
            <a:endParaRPr lang="en-US" sz="1000" dirty="0"/>
          </a:p>
        </p:txBody>
      </p:sp>
      <p:sp>
        <p:nvSpPr>
          <p:cNvPr id="31" name="Text 29"/>
          <p:cNvSpPr/>
          <p:nvPr/>
        </p:nvSpPr>
        <p:spPr>
          <a:xfrm>
            <a:off x="1920240" y="4873752"/>
            <a:ext cx="6492240" cy="201168"/>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Wake-up latency typically &lt;100 ms for 100BASE-T1, PHY must be ready to receive within spec'd time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TC14 — two-pair automotive Ethernet</a:t>
            </a:r>
            <a:endParaRPr lang="en-US" sz="2800" dirty="0"/>
          </a:p>
        </p:txBody>
      </p:sp>
      <p:sp>
        <p:nvSpPr>
          <p:cNvPr id="3" name="Text 1"/>
          <p:cNvSpPr/>
          <p:nvPr/>
        </p:nvSpPr>
        <p:spPr>
          <a:xfrm>
            <a:off x="731520" y="914400"/>
            <a:ext cx="7315200" cy="27432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Why TC14 exists</a:t>
            </a:r>
            <a:endParaRPr lang="en-US" sz="1600" dirty="0"/>
          </a:p>
        </p:txBody>
      </p:sp>
      <p:sp>
        <p:nvSpPr>
          <p:cNvPr id="4" name="Text 2"/>
          <p:cNvSpPr/>
          <p:nvPr/>
        </p:nvSpPr>
        <p:spPr>
          <a:xfrm>
            <a:off x="731520" y="1234440"/>
            <a:ext cx="7680960" cy="640080"/>
          </a:xfrm>
          <a:prstGeom prst="rect">
            <a:avLst/>
          </a:prstGeom>
          <a:noFill/>
          <a:ln/>
        </p:spPr>
        <p:txBody>
          <a:bodyPr wrap="square" lIns="0" tIns="0" rIns="0" bIns="0" rtlCol="0" anchor="ctr"/>
          <a:lstStyle/>
          <a:p>
            <a:pPr marL="0" indent="0">
              <a:lnSpc>
                <a:spcPct val="140000"/>
              </a:lnSpc>
              <a:buNone/>
            </a:pPr>
            <a:r>
              <a:rPr lang="en-US" sz="1200" dirty="0">
                <a:solidFill>
                  <a:srgbClr val="475569"/>
                </a:solidFill>
                <a:latin typeface="Calibri" pitchFamily="34" charset="0"/>
                <a:ea typeface="Calibri" pitchFamily="34" charset="-122"/>
                <a:cs typeface="Calibri" pitchFamily="34" charset="-120"/>
              </a:rPr>
              <a:t>802.3ch defines multi-gigabit over a single shielded twisted pair (STP), but automotive OEMs also need multi-gigabit over two unshielded pairs (UTP) for longer reach and lower cost. TC14 specifies the physical layer, cabling, and connector requirements for 2.5G/5G/10G Ethernet over two-pair UTP in the vehicle.</a:t>
            </a:r>
            <a:endParaRPr lang="en-US" sz="1200" dirty="0"/>
          </a:p>
        </p:txBody>
      </p:sp>
      <p:sp>
        <p:nvSpPr>
          <p:cNvPr id="5" name="Text 3"/>
          <p:cNvSpPr/>
          <p:nvPr/>
        </p:nvSpPr>
        <p:spPr>
          <a:xfrm>
            <a:off x="731520" y="2011680"/>
            <a:ext cx="731520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Single-pair vs two-pair comparison</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31520" y="2331720"/>
          <a:ext cx="768096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0">
                <a:tc>
                  <a:txBody>
                    <a:bodyPr/>
                    <a:lstStyle/>
                    <a:p>
                      <a:pPr marL="0" indent="0">
                        <a:buNone/>
                      </a:pP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D4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Single-pair (802.3ch)</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D4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Two-pair (TC14 scope)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D4A"/>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Speed</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2.5 / 5 / 10 Gbps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2.5 / 5 / 10 Gbps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Cable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1 × STP (shielded)</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2 × UTP (unshielded)</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extLst>
                  <a:ext uri="{0D108BD9-81ED-4DB2-BD59-A6C34878D82A}">
                    <a16:rowId xmlns:a16="http://schemas.microsoft.com/office/drawing/2014/main" val="10002"/>
                  </a:ext>
                </a:extLst>
              </a:tr>
              <a:tr h="0">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Reach</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Up to 15 m</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Up to 40 m (target)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Cost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Higher (shielding)</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Lower (UTP)</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extLst>
                  <a:ext uri="{0D108BD9-81ED-4DB2-BD59-A6C34878D82A}">
                    <a16:rowId xmlns:a16="http://schemas.microsoft.com/office/drawing/2014/main" val="10004"/>
                  </a:ext>
                </a:extLst>
              </a:tr>
              <a:tr h="0">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EMC</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Better (shielded)</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Requires careful routing</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000" b="1" dirty="0">
                          <a:solidFill>
                            <a:srgbClr val="1E293B"/>
                          </a:solidFill>
                          <a:latin typeface="Calibri" pitchFamily="34" charset="0"/>
                          <a:ea typeface="Calibri" pitchFamily="34" charset="-122"/>
                          <a:cs typeface="Calibri" pitchFamily="34" charset="-120"/>
                        </a:rPr>
                        <a:t>Use case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Short backbone links</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1E293B"/>
                          </a:solidFill>
                          <a:latin typeface="Calibri" pitchFamily="34" charset="0"/>
                          <a:ea typeface="Calibri" pitchFamily="34" charset="-122"/>
                          <a:cs typeface="Calibri" pitchFamily="34" charset="-120"/>
                        </a:rPr>
                        <a:t>Longer backbone / trunk</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extLst>
                  <a:ext uri="{0D108BD9-81ED-4DB2-BD59-A6C34878D82A}">
                    <a16:rowId xmlns:a16="http://schemas.microsoft.com/office/drawing/2014/main" val="10006"/>
                  </a:ext>
                </a:extLst>
              </a:tr>
            </a:tbl>
          </a:graphicData>
        </a:graphic>
      </p:graphicFrame>
      <p:sp>
        <p:nvSpPr>
          <p:cNvPr id="7" name="Shape 4"/>
          <p:cNvSpPr/>
          <p:nvPr/>
        </p:nvSpPr>
        <p:spPr>
          <a:xfrm>
            <a:off x="731520" y="4114800"/>
            <a:ext cx="7680960" cy="640080"/>
          </a:xfrm>
          <a:prstGeom prst="rect">
            <a:avLst/>
          </a:prstGeom>
          <a:solidFill>
            <a:srgbClr val="F0F4F8"/>
          </a:solidFill>
          <a:ln/>
        </p:spPr>
        <p:txBody>
          <a:bodyPr/>
          <a:lstStyle/>
          <a:p>
            <a:endParaRPr lang="en-SG"/>
          </a:p>
        </p:txBody>
      </p:sp>
      <p:sp>
        <p:nvSpPr>
          <p:cNvPr id="8" name="Shape 5"/>
          <p:cNvSpPr/>
          <p:nvPr/>
        </p:nvSpPr>
        <p:spPr>
          <a:xfrm>
            <a:off x="731520" y="4114800"/>
            <a:ext cx="54864" cy="640080"/>
          </a:xfrm>
          <a:prstGeom prst="rect">
            <a:avLst/>
          </a:prstGeom>
          <a:solidFill>
            <a:srgbClr val="EF9F27"/>
          </a:solidFill>
          <a:ln/>
        </p:spPr>
        <p:txBody>
          <a:bodyPr/>
          <a:lstStyle/>
          <a:p>
            <a:endParaRPr lang="en-SG"/>
          </a:p>
        </p:txBody>
      </p:sp>
      <p:sp>
        <p:nvSpPr>
          <p:cNvPr id="9" name="Text 6"/>
          <p:cNvSpPr/>
          <p:nvPr/>
        </p:nvSpPr>
        <p:spPr>
          <a:xfrm>
            <a:off x="1005840" y="4160520"/>
            <a:ext cx="7132320" cy="548640"/>
          </a:xfrm>
          <a:prstGeom prst="rect">
            <a:avLst/>
          </a:prstGeom>
          <a:noFill/>
          <a:ln/>
        </p:spPr>
        <p:txBody>
          <a:bodyPr wrap="square" lIns="0" tIns="0" rIns="0" bIns="0" rtlCol="0" anchor="ctr"/>
          <a:lstStyle/>
          <a:p>
            <a:pPr marL="0" indent="0">
              <a:lnSpc>
                <a:spcPct val="130000"/>
              </a:lnSpc>
              <a:buNone/>
            </a:pPr>
            <a:r>
              <a:rPr lang="en-US" sz="1100" dirty="0">
                <a:solidFill>
                  <a:srgbClr val="475569"/>
                </a:solidFill>
                <a:latin typeface="Calibri" pitchFamily="34" charset="0"/>
                <a:ea typeface="Calibri" pitchFamily="34" charset="-122"/>
                <a:cs typeface="Calibri" pitchFamily="34" charset="-120"/>
              </a:rPr>
              <a:t>TC14 complements 802.3ch — it is not a competing standard. The two address different link segments within the vehicle: 802.3ch for short, high-density backbone connections (e.g., HPC to switch), and TC14 for longer trunk cables (e.g., front zone controller to rear zone controller).</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365760"/>
            <a:ext cx="7315200" cy="45720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Standards ecosystem: how it fits together</a:t>
            </a:r>
            <a:endParaRPr lang="en-US" sz="2800" dirty="0"/>
          </a:p>
        </p:txBody>
      </p:sp>
      <p:sp>
        <p:nvSpPr>
          <p:cNvPr id="3" name="Shape 1"/>
          <p:cNvSpPr/>
          <p:nvPr/>
        </p:nvSpPr>
        <p:spPr>
          <a:xfrm>
            <a:off x="548640" y="1097280"/>
            <a:ext cx="2468880" cy="3657600"/>
          </a:xfrm>
          <a:prstGeom prst="rect">
            <a:avLst/>
          </a:prstGeom>
          <a:solidFill>
            <a:srgbClr val="F0F4F8"/>
          </a:solidFill>
          <a:ln/>
          <a:effectLst>
            <a:outerShdw blurRad="50800" dist="25400" dir="8100000" algn="bl" rotWithShape="0">
              <a:srgbClr val="000000">
                <a:alpha val="12000"/>
              </a:srgbClr>
            </a:outerShdw>
          </a:effectLst>
        </p:spPr>
        <p:txBody>
          <a:bodyPr/>
          <a:lstStyle/>
          <a:p>
            <a:endParaRPr lang="en-SG"/>
          </a:p>
        </p:txBody>
      </p:sp>
      <p:sp>
        <p:nvSpPr>
          <p:cNvPr id="4" name="Shape 2"/>
          <p:cNvSpPr/>
          <p:nvPr/>
        </p:nvSpPr>
        <p:spPr>
          <a:xfrm>
            <a:off x="548640" y="1097280"/>
            <a:ext cx="2468880" cy="54864"/>
          </a:xfrm>
          <a:prstGeom prst="rect">
            <a:avLst/>
          </a:prstGeom>
          <a:solidFill>
            <a:srgbClr val="065A82"/>
          </a:solidFill>
          <a:ln/>
        </p:spPr>
        <p:txBody>
          <a:bodyPr/>
          <a:lstStyle/>
          <a:p>
            <a:endParaRPr lang="en-SG"/>
          </a:p>
        </p:txBody>
      </p:sp>
      <p:sp>
        <p:nvSpPr>
          <p:cNvPr id="5" name="Text 3"/>
          <p:cNvSpPr/>
          <p:nvPr/>
        </p:nvSpPr>
        <p:spPr>
          <a:xfrm>
            <a:off x="685800" y="1234440"/>
            <a:ext cx="2194560" cy="320040"/>
          </a:xfrm>
          <a:prstGeom prst="rect">
            <a:avLst/>
          </a:prstGeom>
          <a:noFill/>
          <a:ln/>
        </p:spPr>
        <p:txBody>
          <a:bodyPr wrap="square" lIns="0" tIns="0" rIns="0" bIns="0" rtlCol="0" anchor="ctr"/>
          <a:lstStyle/>
          <a:p>
            <a:pPr marL="0" indent="0">
              <a:buNone/>
            </a:pPr>
            <a:r>
              <a:rPr lang="en-US" sz="1400" b="1" dirty="0">
                <a:solidFill>
                  <a:srgbClr val="065A82"/>
                </a:solidFill>
                <a:latin typeface="Calibri" pitchFamily="34" charset="0"/>
                <a:ea typeface="Calibri" pitchFamily="34" charset="-122"/>
                <a:cs typeface="Calibri" pitchFamily="34" charset="-120"/>
              </a:rPr>
              <a:t>IEEE 802</a:t>
            </a:r>
            <a:endParaRPr lang="en-US" sz="1400" dirty="0"/>
          </a:p>
        </p:txBody>
      </p:sp>
      <p:sp>
        <p:nvSpPr>
          <p:cNvPr id="6" name="Text 4"/>
          <p:cNvSpPr/>
          <p:nvPr/>
        </p:nvSpPr>
        <p:spPr>
          <a:xfrm>
            <a:off x="685800" y="1554480"/>
            <a:ext cx="2194560" cy="22860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Defines the standard</a:t>
            </a:r>
            <a:endParaRPr lang="en-US" sz="1000" dirty="0"/>
          </a:p>
        </p:txBody>
      </p:sp>
      <p:sp>
        <p:nvSpPr>
          <p:cNvPr id="7" name="Text 5"/>
          <p:cNvSpPr/>
          <p:nvPr/>
        </p:nvSpPr>
        <p:spPr>
          <a:xfrm>
            <a:off x="685800" y="1920240"/>
            <a:ext cx="2194560" cy="274320"/>
          </a:xfrm>
          <a:prstGeom prst="rect">
            <a:avLst/>
          </a:prstGeom>
          <a:noFill/>
          <a:ln/>
        </p:spPr>
        <p:txBody>
          <a:bodyPr wrap="square" lIns="0" tIns="0" rIns="0" bIns="0" rtlCol="0" anchor="ctr"/>
          <a:lstStyle/>
          <a:p>
            <a:pPr marL="342900" indent="-342900">
              <a:buSzPct val="100000"/>
              <a:buChar char="•"/>
            </a:pPr>
            <a:r>
              <a:rPr lang="en-US" sz="1000" dirty="0">
                <a:solidFill>
                  <a:srgbClr val="475569"/>
                </a:solidFill>
              </a:rPr>
              <a:t>802.3bw (100BASE-T1)</a:t>
            </a:r>
            <a:endParaRPr lang="en-US" sz="1000" dirty="0"/>
          </a:p>
        </p:txBody>
      </p:sp>
      <p:sp>
        <p:nvSpPr>
          <p:cNvPr id="8" name="Text 6"/>
          <p:cNvSpPr/>
          <p:nvPr/>
        </p:nvSpPr>
        <p:spPr>
          <a:xfrm>
            <a:off x="685800" y="2240280"/>
            <a:ext cx="2194560" cy="274320"/>
          </a:xfrm>
          <a:prstGeom prst="rect">
            <a:avLst/>
          </a:prstGeom>
          <a:noFill/>
          <a:ln/>
        </p:spPr>
        <p:txBody>
          <a:bodyPr wrap="square" lIns="0" tIns="0" rIns="0" bIns="0" rtlCol="0" anchor="ctr"/>
          <a:lstStyle/>
          <a:p>
            <a:pPr marL="342900" indent="-342900">
              <a:buSzPct val="100000"/>
              <a:buChar char="•"/>
            </a:pPr>
            <a:r>
              <a:rPr lang="en-US" sz="1000" dirty="0">
                <a:solidFill>
                  <a:srgbClr val="475569"/>
                </a:solidFill>
              </a:rPr>
              <a:t>802.3bp (1000BASE-T1)</a:t>
            </a:r>
            <a:endParaRPr lang="en-US" sz="1000" dirty="0"/>
          </a:p>
        </p:txBody>
      </p:sp>
      <p:sp>
        <p:nvSpPr>
          <p:cNvPr id="9" name="Text 7"/>
          <p:cNvSpPr/>
          <p:nvPr/>
        </p:nvSpPr>
        <p:spPr>
          <a:xfrm>
            <a:off x="685800" y="2560320"/>
            <a:ext cx="2194560" cy="274320"/>
          </a:xfrm>
          <a:prstGeom prst="rect">
            <a:avLst/>
          </a:prstGeom>
          <a:noFill/>
          <a:ln/>
        </p:spPr>
        <p:txBody>
          <a:bodyPr wrap="square" lIns="0" tIns="0" rIns="0" bIns="0" rtlCol="0" anchor="ctr"/>
          <a:lstStyle/>
          <a:p>
            <a:pPr marL="342900" indent="-342900">
              <a:buSzPct val="100000"/>
              <a:buChar char="•"/>
            </a:pPr>
            <a:r>
              <a:rPr lang="en-US" sz="1000" dirty="0">
                <a:solidFill>
                  <a:srgbClr val="475569"/>
                </a:solidFill>
              </a:rPr>
              <a:t>802.3ch (MultiGig-T1)</a:t>
            </a:r>
            <a:endParaRPr lang="en-US" sz="1000" dirty="0"/>
          </a:p>
        </p:txBody>
      </p:sp>
      <p:sp>
        <p:nvSpPr>
          <p:cNvPr id="10" name="Text 8"/>
          <p:cNvSpPr/>
          <p:nvPr/>
        </p:nvSpPr>
        <p:spPr>
          <a:xfrm>
            <a:off x="685800" y="2880360"/>
            <a:ext cx="2194560" cy="274320"/>
          </a:xfrm>
          <a:prstGeom prst="rect">
            <a:avLst/>
          </a:prstGeom>
          <a:noFill/>
          <a:ln/>
        </p:spPr>
        <p:txBody>
          <a:bodyPr wrap="square" lIns="0" tIns="0" rIns="0" bIns="0" rtlCol="0" anchor="ctr"/>
          <a:lstStyle/>
          <a:p>
            <a:pPr marL="342900" indent="-342900">
              <a:buSzPct val="100000"/>
              <a:buChar char="•"/>
            </a:pPr>
            <a:r>
              <a:rPr lang="en-US" sz="1000" dirty="0">
                <a:solidFill>
                  <a:srgbClr val="475569"/>
                </a:solidFill>
              </a:rPr>
              <a:t>802.3cg (10BASE-T1S)</a:t>
            </a:r>
            <a:endParaRPr lang="en-US" sz="1000" dirty="0"/>
          </a:p>
        </p:txBody>
      </p:sp>
      <p:sp>
        <p:nvSpPr>
          <p:cNvPr id="11" name="Text 9"/>
          <p:cNvSpPr/>
          <p:nvPr/>
        </p:nvSpPr>
        <p:spPr>
          <a:xfrm>
            <a:off x="685800" y="3200400"/>
            <a:ext cx="2194560" cy="274320"/>
          </a:xfrm>
          <a:prstGeom prst="rect">
            <a:avLst/>
          </a:prstGeom>
          <a:noFill/>
          <a:ln/>
        </p:spPr>
        <p:txBody>
          <a:bodyPr wrap="square" lIns="0" tIns="0" rIns="0" bIns="0" rtlCol="0" anchor="ctr"/>
          <a:lstStyle/>
          <a:p>
            <a:pPr marL="342900" indent="-342900">
              <a:buSzPct val="100000"/>
              <a:buChar char="•"/>
            </a:pPr>
            <a:r>
              <a:rPr lang="en-US" sz="1000" dirty="0">
                <a:solidFill>
                  <a:srgbClr val="475569"/>
                </a:solidFill>
              </a:rPr>
              <a:t>802.1Q (VLAN)</a:t>
            </a:r>
            <a:endParaRPr lang="en-US" sz="1000" dirty="0"/>
          </a:p>
        </p:txBody>
      </p:sp>
      <p:sp>
        <p:nvSpPr>
          <p:cNvPr id="12" name="Text 10"/>
          <p:cNvSpPr/>
          <p:nvPr/>
        </p:nvSpPr>
        <p:spPr>
          <a:xfrm>
            <a:off x="685800" y="3520440"/>
            <a:ext cx="2194560" cy="274320"/>
          </a:xfrm>
          <a:prstGeom prst="rect">
            <a:avLst/>
          </a:prstGeom>
          <a:noFill/>
          <a:ln/>
        </p:spPr>
        <p:txBody>
          <a:bodyPr wrap="square" lIns="0" tIns="0" rIns="0" bIns="0" rtlCol="0" anchor="ctr"/>
          <a:lstStyle/>
          <a:p>
            <a:pPr marL="342900" indent="-342900">
              <a:buSzPct val="100000"/>
              <a:buChar char="•"/>
            </a:pPr>
            <a:r>
              <a:rPr lang="en-US" sz="1000" dirty="0">
                <a:solidFill>
                  <a:srgbClr val="475569"/>
                </a:solidFill>
              </a:rPr>
              <a:t>802.1AS (gPTP)</a:t>
            </a:r>
            <a:endParaRPr lang="en-US" sz="1000" dirty="0"/>
          </a:p>
        </p:txBody>
      </p:sp>
      <p:sp>
        <p:nvSpPr>
          <p:cNvPr id="13" name="Text 11"/>
          <p:cNvSpPr/>
          <p:nvPr/>
        </p:nvSpPr>
        <p:spPr>
          <a:xfrm>
            <a:off x="685800" y="3840480"/>
            <a:ext cx="2194560" cy="274320"/>
          </a:xfrm>
          <a:prstGeom prst="rect">
            <a:avLst/>
          </a:prstGeom>
          <a:noFill/>
          <a:ln/>
        </p:spPr>
        <p:txBody>
          <a:bodyPr wrap="square" lIns="0" tIns="0" rIns="0" bIns="0" rtlCol="0" anchor="ctr"/>
          <a:lstStyle/>
          <a:p>
            <a:pPr marL="342900" indent="-342900">
              <a:buSzPct val="100000"/>
              <a:buChar char="•"/>
            </a:pPr>
            <a:r>
              <a:rPr lang="en-US" sz="1000" dirty="0">
                <a:solidFill>
                  <a:srgbClr val="475569"/>
                </a:solidFill>
              </a:rPr>
              <a:t>802.1Qbv (TAS)</a:t>
            </a:r>
            <a:endParaRPr lang="en-US" sz="1000" dirty="0"/>
          </a:p>
        </p:txBody>
      </p:sp>
      <p:sp>
        <p:nvSpPr>
          <p:cNvPr id="14" name="Shape 12"/>
          <p:cNvSpPr/>
          <p:nvPr/>
        </p:nvSpPr>
        <p:spPr>
          <a:xfrm>
            <a:off x="3337560" y="1097280"/>
            <a:ext cx="2468880" cy="3657600"/>
          </a:xfrm>
          <a:prstGeom prst="rect">
            <a:avLst/>
          </a:prstGeom>
          <a:solidFill>
            <a:srgbClr val="F0F4F8"/>
          </a:solidFill>
          <a:ln/>
          <a:effectLst>
            <a:outerShdw blurRad="50800" dist="25400" dir="8100000" algn="bl" rotWithShape="0">
              <a:srgbClr val="000000">
                <a:alpha val="12000"/>
              </a:srgbClr>
            </a:outerShdw>
          </a:effectLst>
        </p:spPr>
        <p:txBody>
          <a:bodyPr/>
          <a:lstStyle/>
          <a:p>
            <a:endParaRPr lang="en-SG"/>
          </a:p>
        </p:txBody>
      </p:sp>
      <p:sp>
        <p:nvSpPr>
          <p:cNvPr id="15" name="Shape 13"/>
          <p:cNvSpPr/>
          <p:nvPr/>
        </p:nvSpPr>
        <p:spPr>
          <a:xfrm>
            <a:off x="3337560" y="1097280"/>
            <a:ext cx="2468880" cy="54864"/>
          </a:xfrm>
          <a:prstGeom prst="rect">
            <a:avLst/>
          </a:prstGeom>
          <a:solidFill>
            <a:srgbClr val="EF9F27"/>
          </a:solidFill>
          <a:ln/>
        </p:spPr>
        <p:txBody>
          <a:bodyPr/>
          <a:lstStyle/>
          <a:p>
            <a:endParaRPr lang="en-SG"/>
          </a:p>
        </p:txBody>
      </p:sp>
      <p:sp>
        <p:nvSpPr>
          <p:cNvPr id="16" name="Text 14"/>
          <p:cNvSpPr/>
          <p:nvPr/>
        </p:nvSpPr>
        <p:spPr>
          <a:xfrm>
            <a:off x="3474720" y="1234440"/>
            <a:ext cx="2194560" cy="320040"/>
          </a:xfrm>
          <a:prstGeom prst="rect">
            <a:avLst/>
          </a:prstGeom>
          <a:noFill/>
          <a:ln/>
        </p:spPr>
        <p:txBody>
          <a:bodyPr wrap="square" lIns="0" tIns="0" rIns="0" bIns="0" rtlCol="0" anchor="ctr"/>
          <a:lstStyle/>
          <a:p>
            <a:pPr marL="0" indent="0">
              <a:buNone/>
            </a:pPr>
            <a:r>
              <a:rPr lang="en-US" sz="1400" b="1" dirty="0">
                <a:solidFill>
                  <a:srgbClr val="EF9F27"/>
                </a:solidFill>
                <a:latin typeface="Calibri" pitchFamily="34" charset="0"/>
                <a:ea typeface="Calibri" pitchFamily="34" charset="-122"/>
                <a:cs typeface="Calibri" pitchFamily="34" charset="-120"/>
              </a:rPr>
              <a:t>OPEN Alliance SIG</a:t>
            </a:r>
            <a:endParaRPr lang="en-US" sz="1400" dirty="0"/>
          </a:p>
        </p:txBody>
      </p:sp>
      <p:sp>
        <p:nvSpPr>
          <p:cNvPr id="17" name="Text 15"/>
          <p:cNvSpPr/>
          <p:nvPr/>
        </p:nvSpPr>
        <p:spPr>
          <a:xfrm>
            <a:off x="3474720" y="1554480"/>
            <a:ext cx="2194560" cy="22860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Drives adoption</a:t>
            </a:r>
            <a:endParaRPr lang="en-US" sz="1000" dirty="0"/>
          </a:p>
        </p:txBody>
      </p:sp>
      <p:sp>
        <p:nvSpPr>
          <p:cNvPr id="18" name="Text 16"/>
          <p:cNvSpPr/>
          <p:nvPr/>
        </p:nvSpPr>
        <p:spPr>
          <a:xfrm>
            <a:off x="3474720" y="1920240"/>
            <a:ext cx="2194560" cy="274320"/>
          </a:xfrm>
          <a:prstGeom prst="rect">
            <a:avLst/>
          </a:prstGeom>
          <a:noFill/>
          <a:ln/>
        </p:spPr>
        <p:txBody>
          <a:bodyPr wrap="square" lIns="0" tIns="0" rIns="0" bIns="0" rtlCol="0" anchor="ctr"/>
          <a:lstStyle/>
          <a:p>
            <a:pPr marL="342900" indent="-342900">
              <a:buSzPct val="100000"/>
              <a:buChar char="•"/>
            </a:pPr>
            <a:r>
              <a:rPr lang="en-US" sz="1000" dirty="0">
                <a:solidFill>
                  <a:srgbClr val="475569"/>
                </a:solidFill>
              </a:rPr>
              <a:t>TC1/TC9/TC12 — compliance</a:t>
            </a:r>
            <a:endParaRPr lang="en-US" sz="1000" dirty="0"/>
          </a:p>
        </p:txBody>
      </p:sp>
      <p:sp>
        <p:nvSpPr>
          <p:cNvPr id="19" name="Text 17"/>
          <p:cNvSpPr/>
          <p:nvPr/>
        </p:nvSpPr>
        <p:spPr>
          <a:xfrm>
            <a:off x="3474720" y="2240280"/>
            <a:ext cx="2194560" cy="274320"/>
          </a:xfrm>
          <a:prstGeom prst="rect">
            <a:avLst/>
          </a:prstGeom>
          <a:noFill/>
          <a:ln/>
        </p:spPr>
        <p:txBody>
          <a:bodyPr wrap="square" lIns="0" tIns="0" rIns="0" bIns="0" rtlCol="0" anchor="ctr"/>
          <a:lstStyle/>
          <a:p>
            <a:pPr marL="342900" indent="-342900">
              <a:buSzPct val="100000"/>
              <a:buChar char="•"/>
            </a:pPr>
            <a:r>
              <a:rPr lang="en-US" sz="1000" dirty="0">
                <a:solidFill>
                  <a:srgbClr val="475569"/>
                </a:solidFill>
              </a:rPr>
              <a:t>TC10 — sleep/wake</a:t>
            </a:r>
            <a:endParaRPr lang="en-US" sz="1000" dirty="0"/>
          </a:p>
        </p:txBody>
      </p:sp>
      <p:sp>
        <p:nvSpPr>
          <p:cNvPr id="20" name="Text 18"/>
          <p:cNvSpPr/>
          <p:nvPr/>
        </p:nvSpPr>
        <p:spPr>
          <a:xfrm>
            <a:off x="3474720" y="2560320"/>
            <a:ext cx="2194560" cy="274320"/>
          </a:xfrm>
          <a:prstGeom prst="rect">
            <a:avLst/>
          </a:prstGeom>
          <a:noFill/>
          <a:ln/>
        </p:spPr>
        <p:txBody>
          <a:bodyPr wrap="square" lIns="0" tIns="0" rIns="0" bIns="0" rtlCol="0" anchor="ctr"/>
          <a:lstStyle/>
          <a:p>
            <a:pPr marL="342900" indent="-342900">
              <a:buSzPct val="100000"/>
              <a:buChar char="•"/>
            </a:pPr>
            <a:r>
              <a:rPr lang="en-US" sz="1000" dirty="0">
                <a:solidFill>
                  <a:srgbClr val="475569"/>
                </a:solidFill>
              </a:rPr>
              <a:t>TC14 — two-pair Ethernet</a:t>
            </a:r>
            <a:endParaRPr lang="en-US" sz="1000" dirty="0"/>
          </a:p>
        </p:txBody>
      </p:sp>
      <p:sp>
        <p:nvSpPr>
          <p:cNvPr id="21" name="Text 19"/>
          <p:cNvSpPr/>
          <p:nvPr/>
        </p:nvSpPr>
        <p:spPr>
          <a:xfrm>
            <a:off x="3474720" y="2880360"/>
            <a:ext cx="2194560" cy="274320"/>
          </a:xfrm>
          <a:prstGeom prst="rect">
            <a:avLst/>
          </a:prstGeom>
          <a:noFill/>
          <a:ln/>
        </p:spPr>
        <p:txBody>
          <a:bodyPr wrap="square" lIns="0" tIns="0" rIns="0" bIns="0" rtlCol="0" anchor="ctr"/>
          <a:lstStyle/>
          <a:p>
            <a:pPr marL="342900" indent="-342900">
              <a:buSzPct val="100000"/>
              <a:buChar char="•"/>
            </a:pPr>
            <a:r>
              <a:rPr lang="en-US" sz="1000" dirty="0">
                <a:solidFill>
                  <a:srgbClr val="475569"/>
                </a:solidFill>
              </a:rPr>
              <a:t>TC2 — connectors</a:t>
            </a:r>
            <a:endParaRPr lang="en-US" sz="1000" dirty="0"/>
          </a:p>
        </p:txBody>
      </p:sp>
      <p:sp>
        <p:nvSpPr>
          <p:cNvPr id="22" name="Text 20"/>
          <p:cNvSpPr/>
          <p:nvPr/>
        </p:nvSpPr>
        <p:spPr>
          <a:xfrm>
            <a:off x="3474720" y="3200400"/>
            <a:ext cx="2194560" cy="274320"/>
          </a:xfrm>
          <a:prstGeom prst="rect">
            <a:avLst/>
          </a:prstGeom>
          <a:noFill/>
          <a:ln/>
        </p:spPr>
        <p:txBody>
          <a:bodyPr wrap="square" lIns="0" tIns="0" rIns="0" bIns="0" rtlCol="0" anchor="ctr"/>
          <a:lstStyle/>
          <a:p>
            <a:pPr marL="342900" indent="-342900">
              <a:buSzPct val="100000"/>
              <a:buChar char="•"/>
            </a:pPr>
            <a:r>
              <a:rPr lang="en-US" sz="1000" dirty="0">
                <a:solidFill>
                  <a:srgbClr val="475569"/>
                </a:solidFill>
              </a:rPr>
              <a:t>TC6 — 10BASE-T1S profile</a:t>
            </a:r>
            <a:endParaRPr lang="en-US" sz="1000" dirty="0"/>
          </a:p>
        </p:txBody>
      </p:sp>
      <p:sp>
        <p:nvSpPr>
          <p:cNvPr id="23" name="Text 21"/>
          <p:cNvSpPr/>
          <p:nvPr/>
        </p:nvSpPr>
        <p:spPr>
          <a:xfrm>
            <a:off x="3474720" y="3520440"/>
            <a:ext cx="2194560" cy="274320"/>
          </a:xfrm>
          <a:prstGeom prst="rect">
            <a:avLst/>
          </a:prstGeom>
          <a:noFill/>
          <a:ln/>
        </p:spPr>
        <p:txBody>
          <a:bodyPr wrap="square" lIns="0" tIns="0" rIns="0" bIns="0" rtlCol="0" anchor="ctr"/>
          <a:lstStyle/>
          <a:p>
            <a:pPr marL="342900" indent="-342900">
              <a:buSzPct val="100000"/>
              <a:buChar char="•"/>
            </a:pPr>
            <a:r>
              <a:rPr lang="en-US" sz="1000" dirty="0">
                <a:solidFill>
                  <a:srgbClr val="475569"/>
                </a:solidFill>
              </a:rPr>
              <a:t>TC8 — EMC testing</a:t>
            </a:r>
            <a:endParaRPr lang="en-US" sz="1000" dirty="0"/>
          </a:p>
        </p:txBody>
      </p:sp>
      <p:sp>
        <p:nvSpPr>
          <p:cNvPr id="24" name="Text 22"/>
          <p:cNvSpPr/>
          <p:nvPr/>
        </p:nvSpPr>
        <p:spPr>
          <a:xfrm>
            <a:off x="3474720" y="3840480"/>
            <a:ext cx="2194560" cy="274320"/>
          </a:xfrm>
          <a:prstGeom prst="rect">
            <a:avLst/>
          </a:prstGeom>
          <a:noFill/>
          <a:ln/>
        </p:spPr>
        <p:txBody>
          <a:bodyPr wrap="square" lIns="0" tIns="0" rIns="0" bIns="0" rtlCol="0" anchor="ctr"/>
          <a:lstStyle/>
          <a:p>
            <a:pPr marL="342900" indent="-342900">
              <a:buSzPct val="100000"/>
              <a:buChar char="•"/>
            </a:pPr>
            <a:r>
              <a:rPr lang="en-US" sz="1000" dirty="0">
                <a:solidFill>
                  <a:srgbClr val="475569"/>
                </a:solidFill>
              </a:rPr>
              <a:t>Interoperability plugfests</a:t>
            </a:r>
            <a:endParaRPr lang="en-US" sz="1000" dirty="0"/>
          </a:p>
        </p:txBody>
      </p:sp>
      <p:sp>
        <p:nvSpPr>
          <p:cNvPr id="25" name="Shape 23"/>
          <p:cNvSpPr/>
          <p:nvPr/>
        </p:nvSpPr>
        <p:spPr>
          <a:xfrm>
            <a:off x="6126480" y="1097280"/>
            <a:ext cx="2468880" cy="3657600"/>
          </a:xfrm>
          <a:prstGeom prst="rect">
            <a:avLst/>
          </a:prstGeom>
          <a:solidFill>
            <a:srgbClr val="F0F4F8"/>
          </a:solidFill>
          <a:ln/>
          <a:effectLst>
            <a:outerShdw blurRad="50800" dist="25400" dir="8100000" algn="bl" rotWithShape="0">
              <a:srgbClr val="000000">
                <a:alpha val="12000"/>
              </a:srgbClr>
            </a:outerShdw>
          </a:effectLst>
        </p:spPr>
        <p:txBody>
          <a:bodyPr/>
          <a:lstStyle/>
          <a:p>
            <a:endParaRPr lang="en-SG"/>
          </a:p>
        </p:txBody>
      </p:sp>
      <p:sp>
        <p:nvSpPr>
          <p:cNvPr id="26" name="Shape 24"/>
          <p:cNvSpPr/>
          <p:nvPr/>
        </p:nvSpPr>
        <p:spPr>
          <a:xfrm>
            <a:off x="6126480" y="1097280"/>
            <a:ext cx="2468880" cy="54864"/>
          </a:xfrm>
          <a:prstGeom prst="rect">
            <a:avLst/>
          </a:prstGeom>
          <a:solidFill>
            <a:srgbClr val="0F6E56"/>
          </a:solidFill>
          <a:ln/>
        </p:spPr>
        <p:txBody>
          <a:bodyPr/>
          <a:lstStyle/>
          <a:p>
            <a:endParaRPr lang="en-SG"/>
          </a:p>
        </p:txBody>
      </p:sp>
      <p:sp>
        <p:nvSpPr>
          <p:cNvPr id="27" name="Text 25"/>
          <p:cNvSpPr/>
          <p:nvPr/>
        </p:nvSpPr>
        <p:spPr>
          <a:xfrm>
            <a:off x="6263640" y="1234440"/>
            <a:ext cx="2194560" cy="320040"/>
          </a:xfrm>
          <a:prstGeom prst="rect">
            <a:avLst/>
          </a:prstGeom>
          <a:noFill/>
          <a:ln/>
        </p:spPr>
        <p:txBody>
          <a:bodyPr wrap="square" lIns="0" tIns="0" rIns="0" bIns="0" rtlCol="0" anchor="ctr"/>
          <a:lstStyle/>
          <a:p>
            <a:pPr marL="0" indent="0">
              <a:buNone/>
            </a:pPr>
            <a:r>
              <a:rPr lang="en-US" sz="1400" b="1" dirty="0">
                <a:solidFill>
                  <a:srgbClr val="0F6E56"/>
                </a:solidFill>
                <a:latin typeface="Calibri" pitchFamily="34" charset="0"/>
                <a:ea typeface="Calibri" pitchFamily="34" charset="-122"/>
                <a:cs typeface="Calibri" pitchFamily="34" charset="-120"/>
              </a:rPr>
              <a:t>OEM / Tier-1</a:t>
            </a:r>
            <a:endParaRPr lang="en-US" sz="1400" dirty="0"/>
          </a:p>
        </p:txBody>
      </p:sp>
      <p:sp>
        <p:nvSpPr>
          <p:cNvPr id="28" name="Text 26"/>
          <p:cNvSpPr/>
          <p:nvPr/>
        </p:nvSpPr>
        <p:spPr>
          <a:xfrm>
            <a:off x="6263640" y="1554480"/>
            <a:ext cx="2194560" cy="22860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Deploys in vehicles</a:t>
            </a:r>
            <a:endParaRPr lang="en-US" sz="1000" dirty="0"/>
          </a:p>
        </p:txBody>
      </p:sp>
      <p:sp>
        <p:nvSpPr>
          <p:cNvPr id="29" name="Text 27"/>
          <p:cNvSpPr/>
          <p:nvPr/>
        </p:nvSpPr>
        <p:spPr>
          <a:xfrm>
            <a:off x="6263640" y="1920240"/>
            <a:ext cx="2194560" cy="274320"/>
          </a:xfrm>
          <a:prstGeom prst="rect">
            <a:avLst/>
          </a:prstGeom>
          <a:noFill/>
          <a:ln/>
        </p:spPr>
        <p:txBody>
          <a:bodyPr wrap="square" lIns="0" tIns="0" rIns="0" bIns="0" rtlCol="0" anchor="ctr"/>
          <a:lstStyle/>
          <a:p>
            <a:pPr marL="342900" indent="-342900">
              <a:buSzPct val="100000"/>
              <a:buChar char="•"/>
            </a:pPr>
            <a:r>
              <a:rPr lang="en-US" sz="1000" dirty="0">
                <a:solidFill>
                  <a:srgbClr val="475569"/>
                </a:solidFill>
              </a:rPr>
              <a:t>System architecture</a:t>
            </a:r>
            <a:endParaRPr lang="en-US" sz="1000" dirty="0"/>
          </a:p>
        </p:txBody>
      </p:sp>
      <p:sp>
        <p:nvSpPr>
          <p:cNvPr id="30" name="Text 28"/>
          <p:cNvSpPr/>
          <p:nvPr/>
        </p:nvSpPr>
        <p:spPr>
          <a:xfrm>
            <a:off x="6263640" y="2240280"/>
            <a:ext cx="2194560" cy="274320"/>
          </a:xfrm>
          <a:prstGeom prst="rect">
            <a:avLst/>
          </a:prstGeom>
          <a:noFill/>
          <a:ln/>
        </p:spPr>
        <p:txBody>
          <a:bodyPr wrap="square" lIns="0" tIns="0" rIns="0" bIns="0" rtlCol="0" anchor="ctr"/>
          <a:lstStyle/>
          <a:p>
            <a:pPr marL="342900" indent="-342900">
              <a:buSzPct val="100000"/>
              <a:buChar char="•"/>
            </a:pPr>
            <a:r>
              <a:rPr lang="en-US" sz="1000" dirty="0">
                <a:solidFill>
                  <a:srgbClr val="475569"/>
                </a:solidFill>
              </a:rPr>
              <a:t>ECU integration</a:t>
            </a:r>
            <a:endParaRPr lang="en-US" sz="1000" dirty="0"/>
          </a:p>
        </p:txBody>
      </p:sp>
      <p:sp>
        <p:nvSpPr>
          <p:cNvPr id="31" name="Text 29"/>
          <p:cNvSpPr/>
          <p:nvPr/>
        </p:nvSpPr>
        <p:spPr>
          <a:xfrm>
            <a:off x="6263640" y="2560320"/>
            <a:ext cx="2194560" cy="274320"/>
          </a:xfrm>
          <a:prstGeom prst="rect">
            <a:avLst/>
          </a:prstGeom>
          <a:noFill/>
          <a:ln/>
        </p:spPr>
        <p:txBody>
          <a:bodyPr wrap="square" lIns="0" tIns="0" rIns="0" bIns="0" rtlCol="0" anchor="ctr"/>
          <a:lstStyle/>
          <a:p>
            <a:pPr marL="342900" indent="-342900">
              <a:buSzPct val="100000"/>
              <a:buChar char="•"/>
            </a:pPr>
            <a:r>
              <a:rPr lang="en-US" sz="1000" dirty="0">
                <a:solidFill>
                  <a:srgbClr val="475569"/>
                </a:solidFill>
              </a:rPr>
              <a:t>AUTOSAR stack config</a:t>
            </a:r>
            <a:endParaRPr lang="en-US" sz="1000" dirty="0"/>
          </a:p>
        </p:txBody>
      </p:sp>
      <p:sp>
        <p:nvSpPr>
          <p:cNvPr id="32" name="Text 30"/>
          <p:cNvSpPr/>
          <p:nvPr/>
        </p:nvSpPr>
        <p:spPr>
          <a:xfrm>
            <a:off x="6263640" y="2880360"/>
            <a:ext cx="2194560" cy="274320"/>
          </a:xfrm>
          <a:prstGeom prst="rect">
            <a:avLst/>
          </a:prstGeom>
          <a:noFill/>
          <a:ln/>
        </p:spPr>
        <p:txBody>
          <a:bodyPr wrap="square" lIns="0" tIns="0" rIns="0" bIns="0" rtlCol="0" anchor="ctr"/>
          <a:lstStyle/>
          <a:p>
            <a:pPr marL="342900" indent="-342900">
              <a:buSzPct val="100000"/>
              <a:buChar char="•"/>
            </a:pPr>
            <a:r>
              <a:rPr lang="en-US" sz="1000" dirty="0">
                <a:solidFill>
                  <a:srgbClr val="475569"/>
                </a:solidFill>
              </a:rPr>
              <a:t>Network design (VLAN, QoS)</a:t>
            </a:r>
            <a:endParaRPr lang="en-US" sz="1000" dirty="0"/>
          </a:p>
        </p:txBody>
      </p:sp>
      <p:sp>
        <p:nvSpPr>
          <p:cNvPr id="33" name="Text 31"/>
          <p:cNvSpPr/>
          <p:nvPr/>
        </p:nvSpPr>
        <p:spPr>
          <a:xfrm>
            <a:off x="6263640" y="3200400"/>
            <a:ext cx="2194560" cy="274320"/>
          </a:xfrm>
          <a:prstGeom prst="rect">
            <a:avLst/>
          </a:prstGeom>
          <a:noFill/>
          <a:ln/>
        </p:spPr>
        <p:txBody>
          <a:bodyPr wrap="square" lIns="0" tIns="0" rIns="0" bIns="0" rtlCol="0" anchor="ctr"/>
          <a:lstStyle/>
          <a:p>
            <a:pPr marL="342900" indent="-342900">
              <a:buSzPct val="100000"/>
              <a:buChar char="•"/>
            </a:pPr>
            <a:r>
              <a:rPr lang="en-US" sz="1000" dirty="0">
                <a:solidFill>
                  <a:srgbClr val="475569"/>
                </a:solidFill>
              </a:rPr>
              <a:t>Wiring harness design</a:t>
            </a:r>
            <a:endParaRPr lang="en-US" sz="1000" dirty="0"/>
          </a:p>
        </p:txBody>
      </p:sp>
      <p:sp>
        <p:nvSpPr>
          <p:cNvPr id="34" name="Text 32"/>
          <p:cNvSpPr/>
          <p:nvPr/>
        </p:nvSpPr>
        <p:spPr>
          <a:xfrm>
            <a:off x="6263640" y="3520440"/>
            <a:ext cx="2194560" cy="274320"/>
          </a:xfrm>
          <a:prstGeom prst="rect">
            <a:avLst/>
          </a:prstGeom>
          <a:noFill/>
          <a:ln/>
        </p:spPr>
        <p:txBody>
          <a:bodyPr wrap="square" lIns="0" tIns="0" rIns="0" bIns="0" rtlCol="0" anchor="ctr"/>
          <a:lstStyle/>
          <a:p>
            <a:pPr marL="342900" indent="-342900">
              <a:buSzPct val="100000"/>
              <a:buChar char="•"/>
            </a:pPr>
            <a:r>
              <a:rPr lang="en-US" sz="1000" dirty="0">
                <a:solidFill>
                  <a:srgbClr val="475569"/>
                </a:solidFill>
              </a:rPr>
              <a:t>End-of-line testing</a:t>
            </a:r>
            <a:endParaRPr lang="en-US" sz="1000" dirty="0"/>
          </a:p>
        </p:txBody>
      </p:sp>
      <p:sp>
        <p:nvSpPr>
          <p:cNvPr id="35" name="Text 33"/>
          <p:cNvSpPr/>
          <p:nvPr/>
        </p:nvSpPr>
        <p:spPr>
          <a:xfrm>
            <a:off x="6263640" y="3840480"/>
            <a:ext cx="2194560" cy="274320"/>
          </a:xfrm>
          <a:prstGeom prst="rect">
            <a:avLst/>
          </a:prstGeom>
          <a:noFill/>
          <a:ln/>
        </p:spPr>
        <p:txBody>
          <a:bodyPr wrap="square" lIns="0" tIns="0" rIns="0" bIns="0" rtlCol="0" anchor="ctr"/>
          <a:lstStyle/>
          <a:p>
            <a:pPr marL="342900" indent="-342900">
              <a:buSzPct val="100000"/>
              <a:buChar char="•"/>
            </a:pPr>
            <a:r>
              <a:rPr lang="en-US" sz="1000" dirty="0">
                <a:solidFill>
                  <a:srgbClr val="475569"/>
                </a:solidFill>
              </a:rPr>
              <a:t>Vehicle validation</a:t>
            </a:r>
            <a:endParaRPr lang="en-US" sz="1000" dirty="0"/>
          </a:p>
        </p:txBody>
      </p:sp>
      <p:sp>
        <p:nvSpPr>
          <p:cNvPr id="36" name="Shape 34"/>
          <p:cNvSpPr/>
          <p:nvPr/>
        </p:nvSpPr>
        <p:spPr>
          <a:xfrm>
            <a:off x="3017520" y="2926080"/>
            <a:ext cx="320040" cy="0"/>
          </a:xfrm>
          <a:prstGeom prst="line">
            <a:avLst/>
          </a:prstGeom>
          <a:noFill/>
          <a:ln w="19050">
            <a:solidFill>
              <a:srgbClr val="94A3B8"/>
            </a:solidFill>
            <a:prstDash val="solid"/>
          </a:ln>
        </p:spPr>
        <p:txBody>
          <a:bodyPr/>
          <a:lstStyle/>
          <a:p>
            <a:endParaRPr lang="en-SG"/>
          </a:p>
        </p:txBody>
      </p:sp>
      <p:sp>
        <p:nvSpPr>
          <p:cNvPr id="37" name="Shape 35"/>
          <p:cNvSpPr/>
          <p:nvPr/>
        </p:nvSpPr>
        <p:spPr>
          <a:xfrm>
            <a:off x="5806440" y="2926080"/>
            <a:ext cx="320040" cy="0"/>
          </a:xfrm>
          <a:prstGeom prst="line">
            <a:avLst/>
          </a:prstGeom>
          <a:noFill/>
          <a:ln w="19050">
            <a:solidFill>
              <a:srgbClr val="94A3B8"/>
            </a:solidFill>
            <a:prstDash val="solid"/>
          </a:ln>
        </p:spPr>
        <p:txBody>
          <a:bodyPr/>
          <a:lstStyle/>
          <a:p>
            <a:endParaRPr lang="en-SG"/>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F9F27"/>
          </a:solidFill>
          <a:ln/>
        </p:spPr>
        <p:txBody>
          <a:bodyPr/>
          <a:lstStyle/>
          <a:p>
            <a:endParaRPr lang="en-SG"/>
          </a:p>
        </p:txBody>
      </p:sp>
      <p:sp>
        <p:nvSpPr>
          <p:cNvPr id="3" name="Text 1"/>
          <p:cNvSpPr/>
          <p:nvPr/>
        </p:nvSpPr>
        <p:spPr>
          <a:xfrm>
            <a:off x="731520" y="365760"/>
            <a:ext cx="731520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Summary — key takeaways</a:t>
            </a:r>
            <a:endParaRPr lang="en-US" sz="2800" dirty="0"/>
          </a:p>
        </p:txBody>
      </p:sp>
      <p:sp>
        <p:nvSpPr>
          <p:cNvPr id="4" name="Shape 2"/>
          <p:cNvSpPr/>
          <p:nvPr/>
        </p:nvSpPr>
        <p:spPr>
          <a:xfrm>
            <a:off x="731520" y="1097280"/>
            <a:ext cx="7680960" cy="777240"/>
          </a:xfrm>
          <a:prstGeom prst="rect">
            <a:avLst/>
          </a:prstGeom>
          <a:solidFill>
            <a:srgbClr val="1B2D4A"/>
          </a:solidFill>
          <a:ln/>
        </p:spPr>
        <p:txBody>
          <a:bodyPr/>
          <a:lstStyle/>
          <a:p>
            <a:endParaRPr lang="en-SG"/>
          </a:p>
        </p:txBody>
      </p:sp>
      <p:sp>
        <p:nvSpPr>
          <p:cNvPr id="5" name="Shape 3"/>
          <p:cNvSpPr/>
          <p:nvPr/>
        </p:nvSpPr>
        <p:spPr>
          <a:xfrm>
            <a:off x="731520" y="1097280"/>
            <a:ext cx="54864" cy="777240"/>
          </a:xfrm>
          <a:prstGeom prst="rect">
            <a:avLst/>
          </a:prstGeom>
          <a:solidFill>
            <a:srgbClr val="EF9F27"/>
          </a:solidFill>
          <a:ln/>
        </p:spPr>
        <p:txBody>
          <a:bodyPr/>
          <a:lstStyle/>
          <a:p>
            <a:endParaRPr lang="en-SG"/>
          </a:p>
        </p:txBody>
      </p:sp>
      <p:sp>
        <p:nvSpPr>
          <p:cNvPr id="6" name="Text 4"/>
          <p:cNvSpPr/>
          <p:nvPr/>
        </p:nvSpPr>
        <p:spPr>
          <a:xfrm>
            <a:off x="1005840" y="1143000"/>
            <a:ext cx="1828800" cy="274320"/>
          </a:xfrm>
          <a:prstGeom prst="rect">
            <a:avLst/>
          </a:prstGeom>
          <a:noFill/>
          <a:ln/>
        </p:spPr>
        <p:txBody>
          <a:bodyPr wrap="square" lIns="0" tIns="0" rIns="0" bIns="0" rtlCol="0" anchor="ctr"/>
          <a:lstStyle/>
          <a:p>
            <a:pPr marL="0" indent="0">
              <a:buNone/>
            </a:pPr>
            <a:r>
              <a:rPr lang="en-US" sz="1400" b="1" dirty="0">
                <a:solidFill>
                  <a:srgbClr val="EF9F27"/>
                </a:solidFill>
                <a:latin typeface="Calibri" pitchFamily="34" charset="0"/>
                <a:ea typeface="Calibri" pitchFamily="34" charset="-122"/>
                <a:cs typeface="Calibri" pitchFamily="34" charset="-120"/>
              </a:rPr>
              <a:t>Domain → Zonal</a:t>
            </a:r>
            <a:endParaRPr lang="en-US" sz="1400" dirty="0"/>
          </a:p>
        </p:txBody>
      </p:sp>
      <p:sp>
        <p:nvSpPr>
          <p:cNvPr id="7" name="Text 5"/>
          <p:cNvSpPr/>
          <p:nvPr/>
        </p:nvSpPr>
        <p:spPr>
          <a:xfrm>
            <a:off x="1005840" y="1417320"/>
            <a:ext cx="7132320" cy="411480"/>
          </a:xfrm>
          <a:prstGeom prst="rect">
            <a:avLst/>
          </a:prstGeom>
          <a:noFill/>
          <a:ln/>
        </p:spPr>
        <p:txBody>
          <a:bodyPr wrap="square" lIns="0" tIns="0" rIns="0" bIns="0" rtlCol="0" anchor="ctr"/>
          <a:lstStyle/>
          <a:p>
            <a:pPr marL="0" indent="0">
              <a:lnSpc>
                <a:spcPct val="130000"/>
              </a:lnSpc>
              <a:buNone/>
            </a:pPr>
            <a:r>
              <a:rPr lang="en-US" sz="1100" dirty="0">
                <a:solidFill>
                  <a:srgbClr val="94A3B8"/>
                </a:solidFill>
                <a:latin typeface="Calibri" pitchFamily="34" charset="0"/>
                <a:ea typeface="Calibri" pitchFamily="34" charset="-122"/>
                <a:cs typeface="Calibri" pitchFamily="34" charset="-120"/>
              </a:rPr>
              <a:t>Vehicle E/E architecture is transitioning from functional domain grouping to location-based zonal grouping, driven by wiring cost reduction and SDV enablement. Ethernet is the backbone technology.</a:t>
            </a:r>
            <a:endParaRPr lang="en-US" sz="1100" dirty="0"/>
          </a:p>
        </p:txBody>
      </p:sp>
      <p:sp>
        <p:nvSpPr>
          <p:cNvPr id="8" name="Shape 6"/>
          <p:cNvSpPr/>
          <p:nvPr/>
        </p:nvSpPr>
        <p:spPr>
          <a:xfrm>
            <a:off x="731520" y="2011680"/>
            <a:ext cx="7680960" cy="777240"/>
          </a:xfrm>
          <a:prstGeom prst="rect">
            <a:avLst/>
          </a:prstGeom>
          <a:solidFill>
            <a:srgbClr val="1B2D4A"/>
          </a:solidFill>
          <a:ln/>
        </p:spPr>
        <p:txBody>
          <a:bodyPr/>
          <a:lstStyle/>
          <a:p>
            <a:endParaRPr lang="en-SG"/>
          </a:p>
        </p:txBody>
      </p:sp>
      <p:sp>
        <p:nvSpPr>
          <p:cNvPr id="9" name="Shape 7"/>
          <p:cNvSpPr/>
          <p:nvPr/>
        </p:nvSpPr>
        <p:spPr>
          <a:xfrm>
            <a:off x="731520" y="2011680"/>
            <a:ext cx="54864" cy="777240"/>
          </a:xfrm>
          <a:prstGeom prst="rect">
            <a:avLst/>
          </a:prstGeom>
          <a:solidFill>
            <a:srgbClr val="EF9F27"/>
          </a:solidFill>
          <a:ln/>
        </p:spPr>
        <p:txBody>
          <a:bodyPr/>
          <a:lstStyle/>
          <a:p>
            <a:endParaRPr lang="en-SG"/>
          </a:p>
        </p:txBody>
      </p:sp>
      <p:sp>
        <p:nvSpPr>
          <p:cNvPr id="10" name="Text 8"/>
          <p:cNvSpPr/>
          <p:nvPr/>
        </p:nvSpPr>
        <p:spPr>
          <a:xfrm>
            <a:off x="1005840" y="2057400"/>
            <a:ext cx="1828800" cy="274320"/>
          </a:xfrm>
          <a:prstGeom prst="rect">
            <a:avLst/>
          </a:prstGeom>
          <a:noFill/>
          <a:ln/>
        </p:spPr>
        <p:txBody>
          <a:bodyPr wrap="square" lIns="0" tIns="0" rIns="0" bIns="0" rtlCol="0" anchor="ctr"/>
          <a:lstStyle/>
          <a:p>
            <a:pPr marL="0" indent="0">
              <a:buNone/>
            </a:pPr>
            <a:r>
              <a:rPr lang="en-US" sz="1400" b="1" dirty="0">
                <a:solidFill>
                  <a:srgbClr val="EF9F27"/>
                </a:solidFill>
                <a:latin typeface="Calibri" pitchFamily="34" charset="0"/>
                <a:ea typeface="Calibri" pitchFamily="34" charset="-122"/>
                <a:cs typeface="Calibri" pitchFamily="34" charset="-120"/>
              </a:rPr>
              <a:t>OSI model</a:t>
            </a:r>
            <a:endParaRPr lang="en-US" sz="1400" dirty="0"/>
          </a:p>
        </p:txBody>
      </p:sp>
      <p:sp>
        <p:nvSpPr>
          <p:cNvPr id="11" name="Text 9"/>
          <p:cNvSpPr/>
          <p:nvPr/>
        </p:nvSpPr>
        <p:spPr>
          <a:xfrm>
            <a:off x="1005840" y="2331720"/>
            <a:ext cx="7132320" cy="411480"/>
          </a:xfrm>
          <a:prstGeom prst="rect">
            <a:avLst/>
          </a:prstGeom>
          <a:noFill/>
          <a:ln/>
        </p:spPr>
        <p:txBody>
          <a:bodyPr wrap="square" lIns="0" tIns="0" rIns="0" bIns="0" rtlCol="0" anchor="ctr"/>
          <a:lstStyle/>
          <a:p>
            <a:pPr marL="0" indent="0">
              <a:lnSpc>
                <a:spcPct val="130000"/>
              </a:lnSpc>
              <a:buNone/>
            </a:pPr>
            <a:r>
              <a:rPr lang="en-US" sz="1100" dirty="0">
                <a:solidFill>
                  <a:srgbClr val="94A3B8"/>
                </a:solidFill>
                <a:latin typeface="Calibri" pitchFamily="34" charset="0"/>
                <a:ea typeface="Calibri" pitchFamily="34" charset="-122"/>
                <a:cs typeface="Calibri" pitchFamily="34" charset="-120"/>
              </a:rPr>
              <a:t>IEEE 802 covers Layers 1–2 (PHY + MAC). Automotive adds TSN at L2 (802.1AS, 802.1Qbv) and SOME/IP at L5–7 for service-oriented communication.</a:t>
            </a:r>
            <a:endParaRPr lang="en-US" sz="1100" dirty="0"/>
          </a:p>
        </p:txBody>
      </p:sp>
      <p:sp>
        <p:nvSpPr>
          <p:cNvPr id="12" name="Shape 10"/>
          <p:cNvSpPr/>
          <p:nvPr/>
        </p:nvSpPr>
        <p:spPr>
          <a:xfrm>
            <a:off x="731520" y="2926080"/>
            <a:ext cx="7680960" cy="777240"/>
          </a:xfrm>
          <a:prstGeom prst="rect">
            <a:avLst/>
          </a:prstGeom>
          <a:solidFill>
            <a:srgbClr val="1B2D4A"/>
          </a:solidFill>
          <a:ln/>
        </p:spPr>
        <p:txBody>
          <a:bodyPr/>
          <a:lstStyle/>
          <a:p>
            <a:endParaRPr lang="en-SG"/>
          </a:p>
        </p:txBody>
      </p:sp>
      <p:sp>
        <p:nvSpPr>
          <p:cNvPr id="13" name="Shape 11"/>
          <p:cNvSpPr/>
          <p:nvPr/>
        </p:nvSpPr>
        <p:spPr>
          <a:xfrm>
            <a:off x="731520" y="2926080"/>
            <a:ext cx="54864" cy="777240"/>
          </a:xfrm>
          <a:prstGeom prst="rect">
            <a:avLst/>
          </a:prstGeom>
          <a:solidFill>
            <a:srgbClr val="EF9F27"/>
          </a:solidFill>
          <a:ln/>
        </p:spPr>
        <p:txBody>
          <a:bodyPr/>
          <a:lstStyle/>
          <a:p>
            <a:endParaRPr lang="en-SG"/>
          </a:p>
        </p:txBody>
      </p:sp>
      <p:sp>
        <p:nvSpPr>
          <p:cNvPr id="14" name="Text 12"/>
          <p:cNvSpPr/>
          <p:nvPr/>
        </p:nvSpPr>
        <p:spPr>
          <a:xfrm>
            <a:off x="1005840" y="2971800"/>
            <a:ext cx="1828800" cy="274320"/>
          </a:xfrm>
          <a:prstGeom prst="rect">
            <a:avLst/>
          </a:prstGeom>
          <a:noFill/>
          <a:ln/>
        </p:spPr>
        <p:txBody>
          <a:bodyPr wrap="square" lIns="0" tIns="0" rIns="0" bIns="0" rtlCol="0" anchor="ctr"/>
          <a:lstStyle/>
          <a:p>
            <a:pPr marL="0" indent="0">
              <a:buNone/>
            </a:pPr>
            <a:r>
              <a:rPr lang="en-US" sz="1400" b="1" dirty="0">
                <a:solidFill>
                  <a:srgbClr val="EF9F27"/>
                </a:solidFill>
                <a:latin typeface="Calibri" pitchFamily="34" charset="0"/>
                <a:ea typeface="Calibri" pitchFamily="34" charset="-122"/>
                <a:cs typeface="Calibri" pitchFamily="34" charset="-120"/>
              </a:rPr>
              <a:t>IEEE 802 family</a:t>
            </a:r>
            <a:endParaRPr lang="en-US" sz="1400" dirty="0"/>
          </a:p>
        </p:txBody>
      </p:sp>
      <p:sp>
        <p:nvSpPr>
          <p:cNvPr id="15" name="Text 13"/>
          <p:cNvSpPr/>
          <p:nvPr/>
        </p:nvSpPr>
        <p:spPr>
          <a:xfrm>
            <a:off x="1005840" y="3246120"/>
            <a:ext cx="7132320" cy="411480"/>
          </a:xfrm>
          <a:prstGeom prst="rect">
            <a:avLst/>
          </a:prstGeom>
          <a:noFill/>
          <a:ln/>
        </p:spPr>
        <p:txBody>
          <a:bodyPr wrap="square" lIns="0" tIns="0" rIns="0" bIns="0" rtlCol="0" anchor="ctr"/>
          <a:lstStyle/>
          <a:p>
            <a:pPr marL="0" indent="0">
              <a:lnSpc>
                <a:spcPct val="130000"/>
              </a:lnSpc>
              <a:buNone/>
            </a:pPr>
            <a:r>
              <a:rPr lang="en-US" sz="1100" dirty="0">
                <a:solidFill>
                  <a:srgbClr val="94A3B8"/>
                </a:solidFill>
                <a:latin typeface="Calibri" pitchFamily="34" charset="0"/>
                <a:ea typeface="Calibri" pitchFamily="34" charset="-122"/>
                <a:cs typeface="Calibri" pitchFamily="34" charset="-120"/>
              </a:rPr>
              <a:t>Key automotive PHY standards: 802.3bw (100M), 802.3bp (1G), 802.3ch (multi-gig) — all single twisted pair. 802.1Q/AS/Qbv provide VLAN, time sync, and traffic shaping.</a:t>
            </a:r>
            <a:endParaRPr lang="en-US" sz="1100" dirty="0"/>
          </a:p>
        </p:txBody>
      </p:sp>
      <p:sp>
        <p:nvSpPr>
          <p:cNvPr id="16" name="Shape 14"/>
          <p:cNvSpPr/>
          <p:nvPr/>
        </p:nvSpPr>
        <p:spPr>
          <a:xfrm>
            <a:off x="731520" y="3840480"/>
            <a:ext cx="7680960" cy="777240"/>
          </a:xfrm>
          <a:prstGeom prst="rect">
            <a:avLst/>
          </a:prstGeom>
          <a:solidFill>
            <a:srgbClr val="1B2D4A"/>
          </a:solidFill>
          <a:ln/>
        </p:spPr>
        <p:txBody>
          <a:bodyPr/>
          <a:lstStyle/>
          <a:p>
            <a:endParaRPr lang="en-SG"/>
          </a:p>
        </p:txBody>
      </p:sp>
      <p:sp>
        <p:nvSpPr>
          <p:cNvPr id="17" name="Shape 15"/>
          <p:cNvSpPr/>
          <p:nvPr/>
        </p:nvSpPr>
        <p:spPr>
          <a:xfrm>
            <a:off x="731520" y="3840480"/>
            <a:ext cx="54864" cy="777240"/>
          </a:xfrm>
          <a:prstGeom prst="rect">
            <a:avLst/>
          </a:prstGeom>
          <a:solidFill>
            <a:srgbClr val="EF9F27"/>
          </a:solidFill>
          <a:ln/>
        </p:spPr>
        <p:txBody>
          <a:bodyPr/>
          <a:lstStyle/>
          <a:p>
            <a:endParaRPr lang="en-SG"/>
          </a:p>
        </p:txBody>
      </p:sp>
      <p:sp>
        <p:nvSpPr>
          <p:cNvPr id="18" name="Text 16"/>
          <p:cNvSpPr/>
          <p:nvPr/>
        </p:nvSpPr>
        <p:spPr>
          <a:xfrm>
            <a:off x="1005840" y="3886200"/>
            <a:ext cx="1828800" cy="274320"/>
          </a:xfrm>
          <a:prstGeom prst="rect">
            <a:avLst/>
          </a:prstGeom>
          <a:noFill/>
          <a:ln/>
        </p:spPr>
        <p:txBody>
          <a:bodyPr wrap="square" lIns="0" tIns="0" rIns="0" bIns="0" rtlCol="0" anchor="ctr"/>
          <a:lstStyle/>
          <a:p>
            <a:pPr marL="0" indent="0">
              <a:buNone/>
            </a:pPr>
            <a:r>
              <a:rPr lang="en-US" sz="1400" b="1" dirty="0">
                <a:solidFill>
                  <a:srgbClr val="EF9F27"/>
                </a:solidFill>
                <a:latin typeface="Calibri" pitchFamily="34" charset="0"/>
                <a:ea typeface="Calibri" pitchFamily="34" charset="-122"/>
                <a:cs typeface="Calibri" pitchFamily="34" charset="-120"/>
              </a:rPr>
              <a:t>OPEN Alliance SIG</a:t>
            </a:r>
            <a:endParaRPr lang="en-US" sz="1400" dirty="0"/>
          </a:p>
        </p:txBody>
      </p:sp>
      <p:sp>
        <p:nvSpPr>
          <p:cNvPr id="19" name="Text 17"/>
          <p:cNvSpPr/>
          <p:nvPr/>
        </p:nvSpPr>
        <p:spPr>
          <a:xfrm>
            <a:off x="1005840" y="4160520"/>
            <a:ext cx="7132320" cy="411480"/>
          </a:xfrm>
          <a:prstGeom prst="rect">
            <a:avLst/>
          </a:prstGeom>
          <a:noFill/>
          <a:ln/>
        </p:spPr>
        <p:txBody>
          <a:bodyPr wrap="square" lIns="0" tIns="0" rIns="0" bIns="0" rtlCol="0" anchor="ctr"/>
          <a:lstStyle/>
          <a:p>
            <a:pPr marL="0" indent="0">
              <a:lnSpc>
                <a:spcPct val="130000"/>
              </a:lnSpc>
              <a:buNone/>
            </a:pPr>
            <a:r>
              <a:rPr lang="en-US" sz="1100" dirty="0">
                <a:solidFill>
                  <a:srgbClr val="94A3B8"/>
                </a:solidFill>
                <a:latin typeface="Calibri" pitchFamily="34" charset="0"/>
                <a:ea typeface="Calibri" pitchFamily="34" charset="-122"/>
                <a:cs typeface="Calibri" pitchFamily="34" charset="-120"/>
              </a:rPr>
              <a:t>Bridges the gap between IEEE standards and vehicle deployment. TC10 solves Ethernet sleep/wake for energy management. TC14 enables multi-gig over two-pair UTP for longer reach.</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F9F27"/>
          </a:solidFill>
          <a:ln/>
        </p:spPr>
        <p:txBody>
          <a:bodyPr/>
          <a:lstStyle/>
          <a:p>
            <a:endParaRPr lang="en-SG"/>
          </a:p>
        </p:txBody>
      </p:sp>
      <p:sp>
        <p:nvSpPr>
          <p:cNvPr id="3" name="Text 1"/>
          <p:cNvSpPr/>
          <p:nvPr/>
        </p:nvSpPr>
        <p:spPr>
          <a:xfrm>
            <a:off x="731520" y="457200"/>
            <a:ext cx="731520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Further reading &amp; Q/A</a:t>
            </a:r>
            <a:endParaRPr lang="en-US" sz="2800" dirty="0"/>
          </a:p>
        </p:txBody>
      </p:sp>
      <p:sp>
        <p:nvSpPr>
          <p:cNvPr id="4" name="Text 2"/>
          <p:cNvSpPr/>
          <p:nvPr/>
        </p:nvSpPr>
        <p:spPr>
          <a:xfrm>
            <a:off x="731520" y="1188720"/>
            <a:ext cx="7315200" cy="320040"/>
          </a:xfrm>
          <a:prstGeom prst="rect">
            <a:avLst/>
          </a:prstGeom>
          <a:noFill/>
          <a:ln/>
        </p:spPr>
        <p:txBody>
          <a:bodyPr wrap="square" lIns="0" tIns="0" rIns="0" bIns="0" rtlCol="0" anchor="ctr"/>
          <a:lstStyle/>
          <a:p>
            <a:pPr marL="0" indent="0">
              <a:buNone/>
            </a:pPr>
            <a:r>
              <a:rPr lang="en-US" sz="1600" b="1" dirty="0">
                <a:solidFill>
                  <a:srgbClr val="EF9F27"/>
                </a:solidFill>
                <a:latin typeface="Calibri" pitchFamily="34" charset="0"/>
                <a:ea typeface="Calibri" pitchFamily="34" charset="-122"/>
                <a:cs typeface="Calibri" pitchFamily="34" charset="-120"/>
              </a:rPr>
              <a:t>References</a:t>
            </a:r>
            <a:endParaRPr lang="en-US" sz="1600" dirty="0"/>
          </a:p>
        </p:txBody>
      </p:sp>
      <p:sp>
        <p:nvSpPr>
          <p:cNvPr id="5" name="Text 3"/>
          <p:cNvSpPr/>
          <p:nvPr/>
        </p:nvSpPr>
        <p:spPr>
          <a:xfrm>
            <a:off x="731520" y="1645920"/>
            <a:ext cx="7315200" cy="274320"/>
          </a:xfrm>
          <a:prstGeom prst="rect">
            <a:avLst/>
          </a:prstGeom>
          <a:noFill/>
          <a:ln/>
        </p:spPr>
        <p:txBody>
          <a:bodyPr wrap="square" lIns="0" tIns="0" rIns="0" bIns="0" rtlCol="0" anchor="ctr"/>
          <a:lstStyle/>
          <a:p>
            <a:pPr marL="342900" indent="-342900">
              <a:buSzPct val="100000"/>
              <a:buChar char="•"/>
            </a:pPr>
            <a:r>
              <a:rPr lang="en-US" sz="1200" dirty="0">
                <a:solidFill>
                  <a:srgbClr val="94A3B8"/>
                </a:solidFill>
              </a:rPr>
              <a:t>IEEE 802.3 — ieee802.org/3</a:t>
            </a:r>
            <a:endParaRPr lang="en-US" sz="1200" dirty="0"/>
          </a:p>
        </p:txBody>
      </p:sp>
      <p:sp>
        <p:nvSpPr>
          <p:cNvPr id="6" name="Text 4"/>
          <p:cNvSpPr/>
          <p:nvPr/>
        </p:nvSpPr>
        <p:spPr>
          <a:xfrm>
            <a:off x="731520" y="1975104"/>
            <a:ext cx="7315200" cy="274320"/>
          </a:xfrm>
          <a:prstGeom prst="rect">
            <a:avLst/>
          </a:prstGeom>
          <a:noFill/>
          <a:ln/>
        </p:spPr>
        <p:txBody>
          <a:bodyPr wrap="square" lIns="0" tIns="0" rIns="0" bIns="0" rtlCol="0" anchor="ctr"/>
          <a:lstStyle/>
          <a:p>
            <a:pPr marL="342900" indent="-342900">
              <a:buSzPct val="100000"/>
              <a:buChar char="•"/>
            </a:pPr>
            <a:r>
              <a:rPr lang="en-US" sz="1200" dirty="0">
                <a:solidFill>
                  <a:srgbClr val="94A3B8"/>
                </a:solidFill>
              </a:rPr>
              <a:t>IEEE 802.1 TSN Task Group — ieee802.org/1/pages/tsn.html</a:t>
            </a:r>
            <a:endParaRPr lang="en-US" sz="1200" dirty="0"/>
          </a:p>
        </p:txBody>
      </p:sp>
      <p:sp>
        <p:nvSpPr>
          <p:cNvPr id="7" name="Text 5"/>
          <p:cNvSpPr/>
          <p:nvPr/>
        </p:nvSpPr>
        <p:spPr>
          <a:xfrm>
            <a:off x="731520" y="2304288"/>
            <a:ext cx="7315200" cy="274320"/>
          </a:xfrm>
          <a:prstGeom prst="rect">
            <a:avLst/>
          </a:prstGeom>
          <a:noFill/>
          <a:ln/>
        </p:spPr>
        <p:txBody>
          <a:bodyPr wrap="square" lIns="0" tIns="0" rIns="0" bIns="0" rtlCol="0" anchor="ctr"/>
          <a:lstStyle/>
          <a:p>
            <a:pPr marL="342900" indent="-342900">
              <a:buSzPct val="100000"/>
              <a:buChar char="•"/>
            </a:pPr>
            <a:r>
              <a:rPr lang="en-US" sz="1200" dirty="0">
                <a:solidFill>
                  <a:srgbClr val="94A3B8"/>
                </a:solidFill>
              </a:rPr>
              <a:t>OPEN Alliance SIG — opensig.org</a:t>
            </a:r>
            <a:endParaRPr lang="en-US" sz="1200" dirty="0"/>
          </a:p>
        </p:txBody>
      </p:sp>
      <p:sp>
        <p:nvSpPr>
          <p:cNvPr id="8" name="Text 6"/>
          <p:cNvSpPr/>
          <p:nvPr/>
        </p:nvSpPr>
        <p:spPr>
          <a:xfrm>
            <a:off x="731520" y="2633472"/>
            <a:ext cx="7315200" cy="274320"/>
          </a:xfrm>
          <a:prstGeom prst="rect">
            <a:avLst/>
          </a:prstGeom>
          <a:noFill/>
          <a:ln/>
        </p:spPr>
        <p:txBody>
          <a:bodyPr wrap="square" lIns="0" tIns="0" rIns="0" bIns="0" rtlCol="0" anchor="ctr"/>
          <a:lstStyle/>
          <a:p>
            <a:pPr marL="342900" indent="-342900">
              <a:buSzPct val="100000"/>
              <a:buChar char="•"/>
            </a:pPr>
            <a:r>
              <a:rPr lang="en-US" sz="1200" dirty="0">
                <a:solidFill>
                  <a:srgbClr val="94A3B8"/>
                </a:solidFill>
              </a:rPr>
              <a:t>OPEN Alliance TC10 Sleep/Wake specification v2.x</a:t>
            </a:r>
            <a:endParaRPr lang="en-US" sz="1200" dirty="0"/>
          </a:p>
        </p:txBody>
      </p:sp>
      <p:sp>
        <p:nvSpPr>
          <p:cNvPr id="9" name="Text 7"/>
          <p:cNvSpPr/>
          <p:nvPr/>
        </p:nvSpPr>
        <p:spPr>
          <a:xfrm>
            <a:off x="731520" y="2962656"/>
            <a:ext cx="7315200" cy="274320"/>
          </a:xfrm>
          <a:prstGeom prst="rect">
            <a:avLst/>
          </a:prstGeom>
          <a:noFill/>
          <a:ln/>
        </p:spPr>
        <p:txBody>
          <a:bodyPr wrap="square" lIns="0" tIns="0" rIns="0" bIns="0" rtlCol="0" anchor="ctr"/>
          <a:lstStyle/>
          <a:p>
            <a:pPr marL="342900" indent="-342900">
              <a:buSzPct val="100000"/>
              <a:buChar char="•"/>
            </a:pPr>
            <a:r>
              <a:rPr lang="en-US" sz="1200" dirty="0">
                <a:solidFill>
                  <a:srgbClr val="94A3B8"/>
                </a:solidFill>
              </a:rPr>
              <a:t>AUTOSAR Adaptive Platform — autosar.org</a:t>
            </a:r>
            <a:endParaRPr lang="en-US" sz="1200" dirty="0"/>
          </a:p>
        </p:txBody>
      </p:sp>
      <p:sp>
        <p:nvSpPr>
          <p:cNvPr id="10" name="Text 8"/>
          <p:cNvSpPr/>
          <p:nvPr/>
        </p:nvSpPr>
        <p:spPr>
          <a:xfrm>
            <a:off x="731520" y="3291840"/>
            <a:ext cx="7315200" cy="274320"/>
          </a:xfrm>
          <a:prstGeom prst="rect">
            <a:avLst/>
          </a:prstGeom>
          <a:noFill/>
          <a:ln/>
        </p:spPr>
        <p:txBody>
          <a:bodyPr wrap="square" lIns="0" tIns="0" rIns="0" bIns="0" rtlCol="0" anchor="ctr"/>
          <a:lstStyle/>
          <a:p>
            <a:pPr marL="342900" indent="-342900">
              <a:buSzPct val="100000"/>
              <a:buChar char="•"/>
            </a:pPr>
            <a:r>
              <a:rPr lang="en-US" sz="1200" dirty="0">
                <a:solidFill>
                  <a:srgbClr val="94A3B8"/>
                </a:solidFill>
              </a:rPr>
              <a:t>SOME/IP Protocol Specification — autosar.org/standards</a:t>
            </a:r>
            <a:endParaRPr lang="en-US" sz="1200" dirty="0"/>
          </a:p>
        </p:txBody>
      </p:sp>
      <p:sp>
        <p:nvSpPr>
          <p:cNvPr id="11" name="Shape 9"/>
          <p:cNvSpPr/>
          <p:nvPr/>
        </p:nvSpPr>
        <p:spPr>
          <a:xfrm>
            <a:off x="2743200" y="3657600"/>
            <a:ext cx="3657600" cy="914400"/>
          </a:xfrm>
          <a:prstGeom prst="rect">
            <a:avLst/>
          </a:prstGeom>
          <a:solidFill>
            <a:srgbClr val="1B2D4A"/>
          </a:solidFill>
          <a:ln/>
        </p:spPr>
        <p:txBody>
          <a:bodyPr/>
          <a:lstStyle/>
          <a:p>
            <a:endParaRPr lang="en-SG"/>
          </a:p>
        </p:txBody>
      </p:sp>
      <p:sp>
        <p:nvSpPr>
          <p:cNvPr id="12" name="Text 10"/>
          <p:cNvSpPr/>
          <p:nvPr/>
        </p:nvSpPr>
        <p:spPr>
          <a:xfrm>
            <a:off x="2743200" y="3657600"/>
            <a:ext cx="3657600" cy="91440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Questions?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3223</Words>
  <Application>Microsoft Office PowerPoint</Application>
  <PresentationFormat>On-screen Show (16:9)</PresentationFormat>
  <Paragraphs>458</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Ethernet: Architecture, Standards &amp; OPEN Alliance</dc:title>
  <dc:subject>PptxGenJS Presentation</dc:subject>
  <dc:creator>Arvind Ravichandran</dc:creator>
  <cp:lastModifiedBy>CHOCKALINGAM THIAGARAJAN</cp:lastModifiedBy>
  <cp:revision>4</cp:revision>
  <dcterms:created xsi:type="dcterms:W3CDTF">2026-04-20T08:49:40Z</dcterms:created>
  <dcterms:modified xsi:type="dcterms:W3CDTF">2026-04-21T05:56:15Z</dcterms:modified>
</cp:coreProperties>
</file>